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34" d="100"/>
          <a:sy n="134" d="100"/>
        </p:scale>
        <p:origin x="126" y="7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Apro con la tesi, non con gli algoritmi. ClosetAI nasce da una domanda quotidiana: prima di comprare un altro capo, possiamo usare meglio ciò che abbiamo già? La presentazione è divisa in due parti. Nella prima seguiremo Marta, una persona narrativa, lungo tutto il percorso dell’app: inserimento, uso, outfit, ghost garments, stato, gap e seconda vita. Nella seconda distingueremo con precisione quattro cose diverse: modello pre-addestrato, modelli allenati da noi, regole trasparenti e AI generativa. Dichiariamo fin dall’inizio che l’AI generativa è stata usata anche per sviluppare il progetto, preparare i materiali e creare il concept del logo, sempre con controllo umano. La tesi finale sarà: usare l’AI dove riduce davvero l’incertezza e mantenere spiegabile tutto il resto.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Immaginiamo Marta davanti all’armadio: possiede molti capi, ma finisce per scegliere quasi sempre gli stessi. La giacca verde rimane invisibile. Marta non deriva da uno studio utenti: è una user story che ci aiuta a descrivere il problema. Il contesto ambientale, invece, è documentato. L’European Environment Agency riporta per il 2022 circa 19 chilogrammi di tessili consumati e circa 16 chilogrammi di rifiuti tessili per persona nell’Unione Europea. Non usiamo questi numeri per promettere che l’app risolverà il problema del settore; servono a mostrare perché allungare la vita utile e ridurre acquisti non necessari è una direzione rilevante. La domanda di progetto è quindi: come possiamo restituire a Marta memoria e contesto sulle sue scelte?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Il percorso comincia con una foto. Marta carica l’immagine del capo e crea una scheda con nome, categoria, colore, prezzo e data di acquisto, quando disponibili. Il punto importante da comunicare è che la scheda non diventa una verità incontestabile prodotta dall’AI: i campi restano visibili e correggibili. Questa scelta tutela sia l’usabilità sia la qualità dei dati. Dal punto di vista funzionale la foto collega un gesto semplice a un record strutturato, che potrà poi essere associato agli utilizzi, allo stato, alle raccomandazioni e alle azioni circolari. Durante la demo mostrerei prima il caricamento, poi la scheda, e direi esplicitamente che descrizione del capo e diagnosi dello stato sono due processi distinti.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Quando Marta indossa un capo, registra un utilizzo. Nel tempo, questi eventi rendono visibile la rotazione reale del guardaroba. Da prezzo e numero di utilizzi calcoliamo il cost-per-wear: prezzo diviso utilizzi. L’esempio mostra che un capo da 100 euro passa da 100 euro per uso, dopo il primo utilizzo, a 10 euro per uso dopo dieci utilizzi. È una formula semplice e trasparente, non un modello di machine learning. Va presentata con una cautela: non misura il valore affettivo, la qualità o la sostenibilità totale del capo e dipende dalla completezza del registro. Il suo valore è decisionale: aiuta Marta a distinguere ciò che usa davvero da ciò che occupa spazio senza entrare nella sua routine.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schermata Oggi crea un outfit con capi già presenti. Il ranking è una regola pesata, non una rete neurale addestrata. Considera soprattutto compatibilità dei colori e meteo, può aggiungere un bonus a un ghost garment eleggibile e applica un piccolo aggiustamento dal feedback. Nella spiegazione orale conviene sottolineare due vantaggi: la proposta è comprensibile e può riportare in rotazione la giacca verde senza imporla. Non diciamo che l’AI “capisce lo stile” di Marta: oggi la combinazione deriva da pesi dichiarati. Il feedback rende il sistema adattabile, ma i suoi limiti restano visibili. Questa è una scelta importante del progetto: non usare un modello complesso quando una regola auditabile soddisfa meglio il bisogno.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 rispondo in modo diretto alla domanda sui ghost garments: sì, vengono rilevati. La regola richiede tre condizioni contemporanee: il capo è attivo, ha zero utilizzi registrati ed è posseduto da almeno la soglia scelta, 30 giorni per default. Se manca la data di acquisto, usiamo la data di inserimento. Quindi ghost significa “mai indossato dopo almeno 30 giorni”, non semplicemente “usato poco”: dopo un solo utilizzo non è più ghost secondo questa definizione. Nell’interfaccia il risultato è visibile in tre punti: nella dashboard come metrica e lista dei capi da riscoprire; nel dettaglio come badge con soglia esplicita; nella proposta di outfit come segnale anti-fantasma. Preciso anche che questa è logica deterministica, non machine learning.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Quando Marta ritrova la giacca, vuole sapere in che stato si trova. Le tre classi sono buono, usurato e danneggiato. Con una foto e il checkpoint disponibili, Fashion-CLIP pre-addestrato produce l’embedding visivo e la nostra piccola MLP propone una classe. Se il modello o l’immagine non sono disponibili, l’app può usare un fallback euristico basato sui dati disponibili. In ogni caso il risultato indica la sua origine e Marta può confermare o correggere lo stato. Questo punto è importante durante l’esame: non presentiamo il modello come certificazione professionale né come diagnosi certa. Riduce l’incertezza e collega l’esito a una decisione di cura: continuare a usare, riparare o scegliere una seconda vita.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gap analysis osserva il guardaroba nel suo insieme. Gli input sono 14 segnali aggregati: quantità per ruolo, stagionalità, varietà cromatica, presenza di neutri, rapporto dei ghost e totale dei capi. L’output contiene sei possibili gap e può essere multi-label, quindi più risposte possono essere vere insieme. Il messaggio di prodotto più importante è che un gap non equivale automaticamente a un acquisto: il sistema può concludere che non serve comprare nulla oppure segnalare una sovrabbondanza. Le probabilità sono tradotte in consigli che privilegiano riuso, combinazioni e seconda mano. Il limite va dichiarato: il modello è stato addestrato su guardaroba simulati con label derivate da regole esperte, quindi prima di un uso reale servono dati e validazione esterna.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Il ciclo si chiude con un’azione: continuare a usare il capo, ripararlo, donarlo, venderlo o avviarlo alla corretta seconda vita. L’impatto verde mostrato dall’app è calcolato come media indicativa della categoria moltiplicata per un fattore dell’azione. Lo definiamo sempre stima di scenario in chilogrammi di CO2 equivalente. Non è una misura fisica, non è una Life Cycle Assessment completa e dipende dall’ipotesi che l’azione eviti almeno in parte un nuovo acquisto. Questa trasparenza è essenziale nell’esame: il numero serve a confrontare ordini di grandezza e rendere visibile una conseguenza, non a certificare un beneficio assoluto. Come sviluppo futuro proponiamo dati per materiale, fonti LCA più granulari e intervalli d’incertezza.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Rileggiamo ora la storia come una sequenza verificabile: Marta fotografa, usa, riscopre, cura e decide. Nel dataset dimostrativo abbiamo 12 capi attivi, 2 ghost garments, 2 azioni circolari e 57,5 chilogrammi di CO2 equivalente come stima di scenario. Ho volutamente evitato di fissare in slide il numero degli utilizzi, perché cambia mentre eseguiamo la demo. È importante non confondere questi valori con risultati scientifici: rendono la dimostrazione coerente e ripetibile, ma non sono uno studio utenti e non dimostrano un impatto ambientale reale. A questo punto abbiamo mostrato il prodotto senza sovraccaricarlo di termini tecnici; ora possiamo entrare nelle scelte di AI e spiegare da dove proviene ogni output.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Questa è una slide di passaggio alla demo web. La dimostrazione dovrebbe durare tra tre e quattro minuti e seguire un solo capo, senza visitare ogni schermata. L’ordine suggerito è: aprire il capo nel catalogo; registrare un utilizzo; mostrare la metrica o lista ghost; eseguire o mostrare lo stato e la gap analysis; registrare un’azione circolare e leggere l’impatto come stima. Per ogni passaggio uso la stessa frase guida: qual è l’input, quale trasformazione avviene, quale output vedo, quale beneficio offre e quale limite devo dichiarare. Se una funzione non è disponibile durante la demo, non improvviso: mostro il dato già preparato o passo alla slide successiva, spiegando il comportamento atteso.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Ora separiamo quattro categorie che spesso vengono chiamate tutte genericamente AI. Fashion-CLIP è pre-addestrato da altri e noi lo usiamo congelato. Le due MLP per stato e gap sono addestrate da noi. Ghost, outfit, cost-per-wear e impatto sono regole o formule trasparenti. Infine l’AI generativa è stata usata nel processo di creazione: ideazione, architettura, supporto al codice, test, documentazione, presentazione e concept del logo. Gli output generativi non sono stati accettati automaticamente: sono stati confrontati con repository, test e dati. Nel runtime, testi LLM e virtual try-on restano opzionali e non sono modelli addestrati da noi. Questa distinzione ci consente di rispondere con precisione alla domanda: “che cosa avete davvero allenato?”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modelli allenati da noi sono due. Per lo stato, Fashion-CLIP congelato trasforma la foto in 512 valori; la nostra MLP 512-256-128-3 produce buono, usurato o danneggiato. Sul holdout locale di circa 600 immagini otteniamo circa il 94 per cento di accuracy, senza validazione esterna. Per i gap, una seconda MLP riceve 14 segnali e produce sei probabilità; su 5.000 guardaroba simulati raggiunge una micro-F1 di circa 0,943. Le label derivano da regole, quindi il dato non prova generalizzazione su utenti reali. Abbiamo preparato cinque notebook autonomi e commentati: due riproducono i modelli runtime; tre documentano esperimenti accademici su rischio ghost, previsione degli utilizzi e clustering e non sono collegati alla UI.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Questa slide documenta il workflow generativo richiesto dalla traccia. Un prompt valido include contesto, obiettivo, vincoli, formato di uscita e controlli. L’output diventa una bozza; confrontiamo alternative e trade-off; verifichiamo con repository, test e metriche; infine correggiamo. Tre esempi di allucinazioni bloccate sono: quattro stati inventati invece delle tre classi reali; un VLM dichiarato nella UI ma assente dal runtime; la CO2 presentata come dato certo invece che stima di scenario. Il logo segue lo stesso metodo: concept creato con AI generativa, poi implementato e verificato come SVG editabile nel repository. Il file docs/prompt-register-progetto.md raccoglie tool, prompt riproducibili, tentativi e correzioni; è un registro consolidato, non un log automatico verbatim delle chat storiche.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Durante la demo ML non mi limito a mostrare la percentuale. Per il modello stato mostro una foto, spiego che Fashion-CLIP è congelato, carico il checkpoint della nostra MLP e leggo la classe proposta; poi ricordo il limite del holdout locale. Per il modello gap mostro i 14 segnali aggregati, le sei probabilità e il consiglio finale; poi ricordo che training e label sono simulati. Se apro un notebook, scelgo uno dei due runtime: eseguo le celle principali, faccio vedere caricamento dati, definizione del modello, training, metriche e salvataggio del checkpoint. I notebook sono auto-contenuti e commentati per permettere al professore di seguire il ragionamento anche senza conoscere in dettaglio PyTorch.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L’architettura separa client React, API FastAPI, dati e modelli. Questo rende il prototipo comprensibile e consente di sostituire componenti senza riscrivere tutto. La fattibilità va discussa in tre dimensioni. Costi: lo stack è prevalentemente open source; pesano tempo di sviluppo e servizi cloud generativi opzionali. Materiali: bastano smartphone e laptop esistenti, senza hardware dedicato nel prototipo. Scalabilità: SQLite può diventare PostgreSQL, i file locali object storage, e si possono aggiungere autenticazione, job asincroni e monitoraggio. Per lo smartphone il primo passo razionale è una PWA installabile; wrapper o app nativa hanno senso solo se camera, push e offline diventano requisiti centrali. Prima della produzione servono sicurezza, isolamento utenti e verifica GDPR.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Chiudo con un bilancio. Il beneficio potenziale nasce da maggiore rotazione, cura prima della sostituzione, minori acquisti non necessari e seconda vita documentata. Esiste però un costo digitale: training, inferenza, storage delle immagini, servizi generativi esterni, dispositivi e rete. Le mitigazioni già presenti o progettate sono backbone congelato, reti piccole, inferenza locale, caching e generazione opzionale. Non dichiariamo un impatto netto positivo senza dati reali: servono sperimentazione con utenti, misure del comportamento, fonti LCA e intervalli d’incertezza. La checklist finale mostra che la consegna copre problem setting, workflow e prompt, confronti e allucinazioni, ML con notebook Python, fattibilità e sostenibilità. La frase conclusiva riassume la nostra scelta: usare l’AI dove riduce davvero l’incertezza e mantenere spiegabile tutto il resto.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background">
            <a:extLst>
              <a:ext uri="{FF2B5EF4-FFF2-40B4-BE49-F238E27FC236}">
                <a16:creationId xmlns:a16="http://schemas.microsoft.com/office/drawing/2014/main" id="{1BDC1591-A783-44CD-B77A-58B188B47A25}"/>
              </a:ext>
            </a:extLst>
          </p:cNvPr>
          <p:cNvSpPr>
            <a:spLocks noGrp="1"/>
          </p:cNvSpPr>
          <p:nvPr/>
        </p:nvSpPr>
        <p:spPr>
          <a:xfrm>
            <a:off x="0" y="0"/>
            <a:ext cx="12192000" cy="6858000"/>
          </a:xfrm>
          <a:prstGeom prst="rect">
            <a:avLst/>
          </a:prstGeom>
          <a:solidFill>
            <a:srgbClr val="123C31"/>
          </a:solidFill>
          <a:ln w="0">
            <a:solidFill>
              <a:srgbClr val="000000">
                <a:alpha val="0"/>
              </a:srgbClr>
            </a:solidFill>
            <a:prstDash val="solid"/>
          </a:ln>
        </p:spPr>
        <p:txBody>
          <a:bodyPr/>
          <a:lstStyle/>
          <a:p>
            <a:endParaRPr lang="en-US"/>
          </a:p>
        </p:txBody>
      </p:sp>
      <p:pic>
        <p:nvPicPr>
          <p:cNvPr id="2" name="Picture 1"/>
          <p:cNvPicPr>
            <a:picLocks noChangeAspect="1"/>
          </p:cNvPicPr>
          <p:nvPr/>
        </p:nvPicPr>
        <p:blipFill>
          <a:blip r:embed="rId3"/>
          <a:srcRect l="28895" r="28895"/>
          <a:stretch>
            <a:fillRect/>
          </a:stretch>
        </p:blipFill>
        <p:spPr>
          <a:xfrm>
            <a:off x="7048500" y="0"/>
            <a:ext cx="5143500" cy="6858000"/>
          </a:xfrm>
          <a:prstGeom prst="rect">
            <a:avLst/>
          </a:prstGeom>
        </p:spPr>
      </p:pic>
      <p:sp>
        <p:nvSpPr>
          <p:cNvPr id="3" name="Rectangle 2">
            <a:extLst>
              <a:ext uri="{FF2B5EF4-FFF2-40B4-BE49-F238E27FC236}">
                <a16:creationId xmlns:a16="http://schemas.microsoft.com/office/drawing/2014/main" id="{1556F1DF-A4B4-407C-98FC-8EB58F3BDEAC}"/>
              </a:ext>
            </a:extLst>
          </p:cNvPr>
          <p:cNvSpPr>
            <a:spLocks noGrp="1"/>
          </p:cNvSpPr>
          <p:nvPr/>
        </p:nvSpPr>
        <p:spPr>
          <a:xfrm>
            <a:off x="6667500" y="0"/>
            <a:ext cx="5524500" cy="6858000"/>
          </a:xfrm>
          <a:prstGeom prst="rect">
            <a:avLst/>
          </a:prstGeom>
          <a:solidFill>
            <a:srgbClr val="123C31">
              <a:alpha val="40784"/>
            </a:srgbClr>
          </a:solidFill>
          <a:ln w="0">
            <a:solidFill>
              <a:srgbClr val="000000">
                <a:alpha val="0"/>
              </a:srgbClr>
            </a:solidFill>
            <a:prstDash val="solid"/>
          </a:ln>
        </p:spPr>
        <p:txBody>
          <a:bodyPr/>
          <a:lstStyle/>
          <a:p>
            <a:endParaRPr lang="en-US"/>
          </a:p>
        </p:txBody>
      </p:sp>
      <p:pic>
        <p:nvPicPr>
          <p:cNvPr id="4" name="Picture 3"/>
          <p:cNvPicPr>
            <a:picLocks noChangeAspect="1"/>
          </p:cNvPicPr>
          <p:nvPr/>
        </p:nvPicPr>
        <p:blipFill>
          <a:blip r:embed="rId4"/>
          <a:stretch/>
        </p:blipFill>
        <p:spPr>
          <a:xfrm>
            <a:off x="552450" y="628650"/>
            <a:ext cx="685800" cy="685800"/>
          </a:xfrm>
          <a:prstGeom prst="rect">
            <a:avLst/>
          </a:prstGeom>
        </p:spPr>
      </p:pic>
      <p:sp>
        <p:nvSpPr>
          <p:cNvPr id="5" name="Rectangle 4">
            <a:extLst>
              <a:ext uri="{FF2B5EF4-FFF2-40B4-BE49-F238E27FC236}">
                <a16:creationId xmlns:a16="http://schemas.microsoft.com/office/drawing/2014/main" id="{B1E784E9-83DC-4583-81ED-9A8546EEFF41}"/>
              </a:ext>
            </a:extLst>
          </p:cNvPr>
          <p:cNvSpPr>
            <a:spLocks noGrp="1"/>
          </p:cNvSpPr>
          <p:nvPr/>
        </p:nvSpPr>
        <p:spPr>
          <a:xfrm>
            <a:off x="1466850" y="647700"/>
            <a:ext cx="447675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3900" b="1">
                <a:solidFill>
                  <a:srgbClr val="FFFFFF"/>
                </a:solidFill>
                <a:latin typeface="Georgia"/>
                <a:ea typeface="Georgia"/>
                <a:cs typeface="Georgia"/>
              </a:defRPr>
            </a:pPr>
            <a:r>
              <a:rPr sz="3900" b="1">
                <a:solidFill>
                  <a:srgbClr val="FFFFFF"/>
                </a:solidFill>
                <a:latin typeface="Georgia"/>
                <a:ea typeface="Georgia"/>
                <a:cs typeface="Georgia"/>
              </a:rPr>
              <a:t>ClosetAI</a:t>
            </a:r>
          </a:p>
        </p:txBody>
      </p:sp>
      <p:sp>
        <p:nvSpPr>
          <p:cNvPr id="6" name="Rectangle 5">
            <a:extLst>
              <a:ext uri="{FF2B5EF4-FFF2-40B4-BE49-F238E27FC236}">
                <a16:creationId xmlns:a16="http://schemas.microsoft.com/office/drawing/2014/main" id="{D465DD20-5A3B-44ED-A767-71C8C13BDD8E}"/>
              </a:ext>
            </a:extLst>
          </p:cNvPr>
          <p:cNvSpPr>
            <a:spLocks noGrp="1"/>
          </p:cNvSpPr>
          <p:nvPr/>
        </p:nvSpPr>
        <p:spPr>
          <a:xfrm>
            <a:off x="552450" y="1809750"/>
            <a:ext cx="5905500" cy="1314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775" b="1">
                <a:solidFill>
                  <a:srgbClr val="B9D94A"/>
                </a:solidFill>
                <a:latin typeface="Georgia"/>
                <a:ea typeface="Georgia"/>
                <a:cs typeface="Georgia"/>
              </a:defRPr>
            </a:pPr>
            <a:r>
              <a:rPr sz="2775" b="1">
                <a:solidFill>
                  <a:srgbClr val="B9D94A"/>
                </a:solidFill>
                <a:latin typeface="Georgia"/>
                <a:ea typeface="Georgia"/>
                <a:cs typeface="Georgia"/>
              </a:rPr>
              <a:t>Compra meno.</a:t>
            </a:r>
          </a:p>
          <a:p>
            <a:pPr algn="l">
              <a:defRPr sz="2775" b="1">
                <a:solidFill>
                  <a:srgbClr val="B9D94A"/>
                </a:solidFill>
                <a:latin typeface="Georgia"/>
                <a:ea typeface="Georgia"/>
                <a:cs typeface="Georgia"/>
              </a:defRPr>
            </a:pPr>
            <a:r>
              <a:rPr sz="2775" b="1">
                <a:solidFill>
                  <a:srgbClr val="B9D94A"/>
                </a:solidFill>
                <a:latin typeface="Georgia"/>
                <a:ea typeface="Georgia"/>
                <a:cs typeface="Georgia"/>
              </a:rPr>
              <a:t>Usa meglio ciò che hai già.</a:t>
            </a:r>
          </a:p>
        </p:txBody>
      </p:sp>
      <p:sp>
        <p:nvSpPr>
          <p:cNvPr id="7" name="Rectangle 6">
            <a:extLst>
              <a:ext uri="{FF2B5EF4-FFF2-40B4-BE49-F238E27FC236}">
                <a16:creationId xmlns:a16="http://schemas.microsoft.com/office/drawing/2014/main" id="{A05E70FA-D5A2-46CD-AA7A-FD7C19C920B2}"/>
              </a:ext>
            </a:extLst>
          </p:cNvPr>
          <p:cNvSpPr>
            <a:spLocks noGrp="1"/>
          </p:cNvSpPr>
          <p:nvPr/>
        </p:nvSpPr>
        <p:spPr>
          <a:xfrm>
            <a:off x="552450" y="3600450"/>
            <a:ext cx="5619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0">
                <a:solidFill>
                  <a:srgbClr val="DDE5DD"/>
                </a:solidFill>
                <a:latin typeface="Aptos"/>
                <a:ea typeface="Aptos"/>
                <a:cs typeface="Aptos"/>
              </a:defRPr>
            </a:pPr>
            <a:r>
              <a:rPr sz="1275" b="0">
                <a:solidFill>
                  <a:srgbClr val="DDE5DD"/>
                </a:solidFill>
                <a:latin typeface="Aptos"/>
                <a:ea typeface="Aptos"/>
                <a:cs typeface="Aptos"/>
              </a:rPr>
              <a:t>Una user story completa, poi le scelte tecniche: AI funzionale, AI generativa, notebook, fattibilità e impatto.</a:t>
            </a:r>
          </a:p>
        </p:txBody>
      </p:sp>
      <p:sp>
        <p:nvSpPr>
          <p:cNvPr id="8" name="Rectangle: Rounded Corners 7">
            <a:extLst>
              <a:ext uri="{FF2B5EF4-FFF2-40B4-BE49-F238E27FC236}">
                <a16:creationId xmlns:a16="http://schemas.microsoft.com/office/drawing/2014/main" id="{FA103BAA-C7DC-4D71-A2CF-092DD09015B9}"/>
              </a:ext>
            </a:extLst>
          </p:cNvPr>
          <p:cNvSpPr>
            <a:spLocks noGrp="1"/>
          </p:cNvSpPr>
          <p:nvPr/>
        </p:nvSpPr>
        <p:spPr>
          <a:xfrm>
            <a:off x="552450" y="4857750"/>
            <a:ext cx="3028950" cy="266700"/>
          </a:xfrm>
          <a:prstGeom prst="roundRect">
            <a:avLst>
              <a:gd name="adj" fmla="val 28571"/>
            </a:avLst>
          </a:prstGeom>
          <a:solidFill>
            <a:srgbClr val="1D5946"/>
          </a:solidFill>
          <a:ln w="0">
            <a:solidFill>
              <a:srgbClr val="000000">
                <a:alpha val="0"/>
              </a:srgbClr>
            </a:solidFill>
            <a:prstDash val="solid"/>
          </a:ln>
        </p:spPr>
        <p:txBody>
          <a:bodyPr/>
          <a:lstStyle/>
          <a:p>
            <a:endParaRPr lang="en-US"/>
          </a:p>
        </p:txBody>
      </p:sp>
      <p:sp>
        <p:nvSpPr>
          <p:cNvPr id="9" name="Rectangle 8">
            <a:extLst>
              <a:ext uri="{FF2B5EF4-FFF2-40B4-BE49-F238E27FC236}">
                <a16:creationId xmlns:a16="http://schemas.microsoft.com/office/drawing/2014/main" id="{9501C5CD-BA3A-4DB9-B648-64AA22280581}"/>
              </a:ext>
            </a:extLst>
          </p:cNvPr>
          <p:cNvSpPr>
            <a:spLocks noGrp="1"/>
          </p:cNvSpPr>
          <p:nvPr/>
        </p:nvSpPr>
        <p:spPr>
          <a:xfrm>
            <a:off x="638175" y="487680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1">
                <a:solidFill>
                  <a:srgbClr val="FFFFFF"/>
                </a:solidFill>
                <a:latin typeface="Aptos"/>
                <a:ea typeface="Aptos"/>
                <a:cs typeface="Aptos"/>
              </a:defRPr>
            </a:pPr>
            <a:r>
              <a:rPr sz="675" b="1">
                <a:solidFill>
                  <a:srgbClr val="FFFFFF"/>
                </a:solidFill>
                <a:latin typeface="Aptos"/>
                <a:ea typeface="Aptos"/>
                <a:cs typeface="Aptos"/>
              </a:rPr>
              <a:t>PRODOTTO AI ECO-SOSTENIBILE</a:t>
            </a:r>
          </a:p>
        </p:txBody>
      </p:sp>
      <p:sp>
        <p:nvSpPr>
          <p:cNvPr id="10" name="Rectangle 9">
            <a:extLst>
              <a:ext uri="{FF2B5EF4-FFF2-40B4-BE49-F238E27FC236}">
                <a16:creationId xmlns:a16="http://schemas.microsoft.com/office/drawing/2014/main" id="{D8B798CB-7B78-4FAD-9846-E1AF4FF9329F}"/>
              </a:ext>
            </a:extLst>
          </p:cNvPr>
          <p:cNvSpPr>
            <a:spLocks noGrp="1"/>
          </p:cNvSpPr>
          <p:nvPr/>
        </p:nvSpPr>
        <p:spPr>
          <a:xfrm>
            <a:off x="8496300" y="6153150"/>
            <a:ext cx="29527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00" b="0">
                <a:solidFill>
                  <a:srgbClr val="DDE5DD"/>
                </a:solidFill>
                <a:latin typeface="Aptos"/>
                <a:ea typeface="Aptos"/>
                <a:cs typeface="Aptos"/>
              </a:defRPr>
            </a:pPr>
            <a:r>
              <a:rPr sz="600" b="0">
                <a:solidFill>
                  <a:srgbClr val="DDE5DD"/>
                </a:solidFill>
                <a:latin typeface="Aptos"/>
                <a:ea typeface="Aptos"/>
                <a:cs typeface="Aptos"/>
              </a:rPr>
              <a:t>Immagine illustrativa generata con AI</a:t>
            </a:r>
          </a:p>
        </p:txBody>
      </p:sp>
      <p:sp>
        <p:nvSpPr>
          <p:cNvPr id="11" name="Rectangle 10">
            <a:extLst>
              <a:ext uri="{FF2B5EF4-FFF2-40B4-BE49-F238E27FC236}">
                <a16:creationId xmlns:a16="http://schemas.microsoft.com/office/drawing/2014/main" id="{3A022202-9298-4EFE-9C94-1BCD5FE9E356}"/>
              </a:ext>
            </a:extLst>
          </p:cNvPr>
          <p:cNvSpPr>
            <a:spLocks noGrp="1"/>
          </p:cNvSpPr>
          <p:nvPr/>
        </p:nvSpPr>
        <p:spPr>
          <a:xfrm>
            <a:off x="552450" y="6419850"/>
            <a:ext cx="11087100" cy="9525"/>
          </a:xfrm>
          <a:prstGeom prst="rect">
            <a:avLst/>
          </a:prstGeom>
          <a:solidFill>
            <a:srgbClr val="3F685A"/>
          </a:solidFill>
          <a:ln w="0">
            <a:solidFill>
              <a:srgbClr val="000000">
                <a:alpha val="0"/>
              </a:srgbClr>
            </a:solidFill>
            <a:prstDash val="solid"/>
          </a:ln>
        </p:spPr>
        <p:txBody>
          <a:bodyPr/>
          <a:lstStyle/>
          <a:p>
            <a:endParaRPr lang="en-US"/>
          </a:p>
        </p:txBody>
      </p:sp>
      <p:sp>
        <p:nvSpPr>
          <p:cNvPr id="12" name="Rectangle 11">
            <a:extLst>
              <a:ext uri="{FF2B5EF4-FFF2-40B4-BE49-F238E27FC236}">
                <a16:creationId xmlns:a16="http://schemas.microsoft.com/office/drawing/2014/main" id="{475F29FF-FCE8-4804-B923-B3593D233FB1}"/>
              </a:ext>
            </a:extLst>
          </p:cNvPr>
          <p:cNvSpPr>
            <a:spLocks noGrp="1"/>
          </p:cNvSpPr>
          <p:nvPr/>
        </p:nvSpPr>
        <p:spPr>
          <a:xfrm>
            <a:off x="552450" y="6496050"/>
            <a:ext cx="100393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91AA9F"/>
                </a:solidFill>
                <a:latin typeface="Aptos"/>
                <a:ea typeface="Aptos"/>
                <a:cs typeface="Aptos"/>
              </a:defRPr>
            </a:pPr>
            <a:r>
              <a:rPr sz="563" b="0">
                <a:solidFill>
                  <a:srgbClr val="91AA9F"/>
                </a:solidFill>
                <a:latin typeface="Aptos"/>
                <a:ea typeface="Aptos"/>
                <a:cs typeface="Aptos"/>
              </a:rPr>
              <a:t>Esame universitario ufficiale · AI generativa dichiarata e verificata</a:t>
            </a:r>
          </a:p>
        </p:txBody>
      </p:sp>
      <p:sp>
        <p:nvSpPr>
          <p:cNvPr id="13" name="Rectangle 12">
            <a:extLst>
              <a:ext uri="{FF2B5EF4-FFF2-40B4-BE49-F238E27FC236}">
                <a16:creationId xmlns:a16="http://schemas.microsoft.com/office/drawing/2014/main" id="{13D99433-7F23-4B3E-B8C1-0A77499A9A14}"/>
              </a:ext>
            </a:extLst>
          </p:cNvPr>
          <p:cNvSpPr>
            <a:spLocks noGrp="1"/>
          </p:cNvSpPr>
          <p:nvPr/>
        </p:nvSpPr>
        <p:spPr>
          <a:xfrm>
            <a:off x="11049000" y="6477000"/>
            <a:ext cx="590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91AA9F"/>
                </a:solidFill>
                <a:latin typeface="Georgia"/>
                <a:ea typeface="Georgia"/>
                <a:cs typeface="Georgia"/>
              </a:defRPr>
            </a:pPr>
            <a:r>
              <a:rPr sz="750" b="1">
                <a:solidFill>
                  <a:srgbClr val="91AA9F"/>
                </a:solidFill>
                <a:latin typeface="Georgia"/>
                <a:ea typeface="Georgia"/>
                <a:cs typeface="Georgia"/>
              </a:rPr>
              <a:t>01</a:t>
            </a:r>
          </a:p>
        </p:txBody>
      </p:sp>
    </p:spTree>
    <p:extLst>
      <p:ext uri="{BB962C8B-B14F-4D97-AF65-F5344CB8AC3E}">
        <p14:creationId xmlns:p14="http://schemas.microsoft.com/office/powerpoint/2010/main" val="179621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background">
            <a:extLst>
              <a:ext uri="{FF2B5EF4-FFF2-40B4-BE49-F238E27FC236}">
                <a16:creationId xmlns:a16="http://schemas.microsoft.com/office/drawing/2014/main" id="{BE8F15D0-DB88-4F76-9BC3-A789D1A0E445}"/>
              </a:ext>
            </a:extLst>
          </p:cNvPr>
          <p:cNvSpPr>
            <a:spLocks noGrp="1"/>
          </p:cNvSpPr>
          <p:nvPr/>
        </p:nvSpPr>
        <p:spPr>
          <a:xfrm>
            <a:off x="0" y="0"/>
            <a:ext cx="12192000" cy="6858000"/>
          </a:xfrm>
          <a:prstGeom prst="rect">
            <a:avLst/>
          </a:prstGeom>
          <a:solidFill>
            <a:srgbClr val="F4F0E7"/>
          </a:solidFill>
          <a:ln w="0">
            <a:solidFill>
              <a:srgbClr val="000000">
                <a:alpha val="0"/>
              </a:srgbClr>
            </a:solidFill>
            <a:prstDash val="solid"/>
          </a:ln>
        </p:spPr>
        <p:txBody>
          <a:bodyPr/>
          <a:lstStyle/>
          <a:p>
            <a:endParaRPr lang="en-US"/>
          </a:p>
        </p:txBody>
      </p:sp>
      <p:pic>
        <p:nvPicPr>
          <p:cNvPr id="2" name="Picture 1"/>
          <p:cNvPicPr>
            <a:picLocks noChangeAspect="1"/>
          </p:cNvPicPr>
          <p:nvPr/>
        </p:nvPicPr>
        <p:blipFill>
          <a:blip r:embed="rId3"/>
          <a:srcRect l="31006" r="31006"/>
          <a:stretch>
            <a:fillRect/>
          </a:stretch>
        </p:blipFill>
        <p:spPr>
          <a:xfrm>
            <a:off x="7562850" y="0"/>
            <a:ext cx="4629150" cy="6858000"/>
          </a:xfrm>
          <a:prstGeom prst="rect">
            <a:avLst/>
          </a:prstGeom>
        </p:spPr>
      </p:pic>
      <p:sp>
        <p:nvSpPr>
          <p:cNvPr id="3" name="Rectangle 2">
            <a:extLst>
              <a:ext uri="{FF2B5EF4-FFF2-40B4-BE49-F238E27FC236}">
                <a16:creationId xmlns:a16="http://schemas.microsoft.com/office/drawing/2014/main" id="{2559141E-7C1B-4CEE-B3E3-F4F76EC09505}"/>
              </a:ext>
            </a:extLst>
          </p:cNvPr>
          <p:cNvSpPr>
            <a:spLocks noGrp="1"/>
          </p:cNvSpPr>
          <p:nvPr/>
        </p:nvSpPr>
        <p:spPr>
          <a:xfrm>
            <a:off x="7219950" y="0"/>
            <a:ext cx="4972050" cy="6858000"/>
          </a:xfrm>
          <a:prstGeom prst="rect">
            <a:avLst/>
          </a:prstGeom>
          <a:solidFill>
            <a:srgbClr val="17211D">
              <a:alpha val="18824"/>
            </a:srgbClr>
          </a:solidFill>
          <a:ln w="0">
            <a:solidFill>
              <a:srgbClr val="000000">
                <a:alpha val="0"/>
              </a:srgbClr>
            </a:solidFill>
            <a:prstDash val="solid"/>
          </a:ln>
        </p:spPr>
        <p:txBody>
          <a:bodyPr/>
          <a:lstStyle/>
          <a:p>
            <a:endParaRPr lang="en-US"/>
          </a:p>
        </p:txBody>
      </p:sp>
      <p:sp>
        <p:nvSpPr>
          <p:cNvPr id="4" name="Oval 3">
            <a:extLst>
              <a:ext uri="{FF2B5EF4-FFF2-40B4-BE49-F238E27FC236}">
                <a16:creationId xmlns:a16="http://schemas.microsoft.com/office/drawing/2014/main" id="{60BCFDD8-7375-44D3-A293-414A044B3E23}"/>
              </a:ext>
            </a:extLst>
          </p:cNvPr>
          <p:cNvSpPr>
            <a:spLocks noGrp="1"/>
          </p:cNvSpPr>
          <p:nvPr/>
        </p:nvSpPr>
        <p:spPr>
          <a:xfrm>
            <a:off x="552450" y="409575"/>
            <a:ext cx="85725" cy="85725"/>
          </a:xfrm>
          <a:prstGeom prst="ellipse">
            <a:avLst/>
          </a:prstGeom>
          <a:solidFill>
            <a:srgbClr val="2F7D5B"/>
          </a:solidFill>
          <a:ln w="0">
            <a:solidFill>
              <a:srgbClr val="000000">
                <a:alpha val="0"/>
              </a:srgbClr>
            </a:solidFill>
            <a:prstDash val="solid"/>
          </a:ln>
        </p:spPr>
        <p:txBody>
          <a:bodyPr/>
          <a:lstStyle/>
          <a:p>
            <a:endParaRPr lang="en-US"/>
          </a:p>
        </p:txBody>
      </p:sp>
      <p:sp>
        <p:nvSpPr>
          <p:cNvPr id="5" name="Rectangle 4">
            <a:extLst>
              <a:ext uri="{FF2B5EF4-FFF2-40B4-BE49-F238E27FC236}">
                <a16:creationId xmlns:a16="http://schemas.microsoft.com/office/drawing/2014/main" id="{143BC1F6-0E8D-498A-B5DF-4AD7D5FA73E1}"/>
              </a:ext>
            </a:extLst>
          </p:cNvPr>
          <p:cNvSpPr>
            <a:spLocks noGrp="1"/>
          </p:cNvSpPr>
          <p:nvPr/>
        </p:nvSpPr>
        <p:spPr>
          <a:xfrm>
            <a:off x="742950" y="361950"/>
            <a:ext cx="666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65736B"/>
                </a:solidFill>
                <a:latin typeface="Aptos"/>
                <a:ea typeface="Aptos"/>
                <a:cs typeface="Aptos"/>
              </a:defRPr>
            </a:pPr>
            <a:r>
              <a:rPr sz="638" b="1">
                <a:solidFill>
                  <a:srgbClr val="65736B"/>
                </a:solidFill>
                <a:latin typeface="Aptos"/>
                <a:ea typeface="Aptos"/>
                <a:cs typeface="Aptos"/>
              </a:rPr>
              <a:t>U S E R   S T O R Y   ·   P R O B L E M A</a:t>
            </a:r>
          </a:p>
        </p:txBody>
      </p:sp>
      <p:sp>
        <p:nvSpPr>
          <p:cNvPr id="6" name="claim-title">
            <a:extLst>
              <a:ext uri="{FF2B5EF4-FFF2-40B4-BE49-F238E27FC236}">
                <a16:creationId xmlns:a16="http://schemas.microsoft.com/office/drawing/2014/main" id="{A622DD38-57C4-4572-8CFB-A1D6FDE9FB18}"/>
              </a:ext>
            </a:extLst>
          </p:cNvPr>
          <p:cNvSpPr>
            <a:spLocks noGrp="1"/>
          </p:cNvSpPr>
          <p:nvPr/>
        </p:nvSpPr>
        <p:spPr>
          <a:xfrm>
            <a:off x="552450" y="742950"/>
            <a:ext cx="6381750" cy="914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850" b="1">
                <a:solidFill>
                  <a:srgbClr val="17211D"/>
                </a:solidFill>
                <a:latin typeface="Georgia"/>
                <a:ea typeface="Georgia"/>
                <a:cs typeface="Georgia"/>
              </a:defRPr>
            </a:pPr>
            <a:r>
              <a:rPr sz="2850" b="1">
                <a:solidFill>
                  <a:srgbClr val="17211D"/>
                </a:solidFill>
                <a:latin typeface="Georgia"/>
                <a:ea typeface="Georgia"/>
                <a:cs typeface="Georgia"/>
              </a:rPr>
              <a:t>Marta ha molti capi, ma ogni mattina sceglie sempre gli stessi.</a:t>
            </a:r>
          </a:p>
        </p:txBody>
      </p:sp>
      <p:sp>
        <p:nvSpPr>
          <p:cNvPr id="7" name="Rectangle 6">
            <a:extLst>
              <a:ext uri="{FF2B5EF4-FFF2-40B4-BE49-F238E27FC236}">
                <a16:creationId xmlns:a16="http://schemas.microsoft.com/office/drawing/2014/main" id="{3B6F783C-F92D-4CF8-A11B-8E067535FBF9}"/>
              </a:ext>
            </a:extLst>
          </p:cNvPr>
          <p:cNvSpPr>
            <a:spLocks noGrp="1"/>
          </p:cNvSpPr>
          <p:nvPr/>
        </p:nvSpPr>
        <p:spPr>
          <a:xfrm>
            <a:off x="552450" y="1905000"/>
            <a:ext cx="5905500" cy="704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0">
                <a:solidFill>
                  <a:srgbClr val="65736B"/>
                </a:solidFill>
                <a:latin typeface="Aptos"/>
                <a:ea typeface="Aptos"/>
                <a:cs typeface="Aptos"/>
              </a:defRPr>
            </a:pPr>
            <a:r>
              <a:rPr sz="1275" b="0">
                <a:solidFill>
                  <a:srgbClr val="65736B"/>
                </a:solidFill>
                <a:latin typeface="Aptos"/>
                <a:ea typeface="Aptos"/>
                <a:cs typeface="Aptos"/>
              </a:rPr>
              <a:t>La giacca verde resta invisibile: il problema non è soltanto possedere, ma non vedere l’uso reale.</a:t>
            </a:r>
          </a:p>
        </p:txBody>
      </p:sp>
      <p:sp>
        <p:nvSpPr>
          <p:cNvPr id="8" name="Rectangle: Rounded Corners 7">
            <a:extLst>
              <a:ext uri="{FF2B5EF4-FFF2-40B4-BE49-F238E27FC236}">
                <a16:creationId xmlns:a16="http://schemas.microsoft.com/office/drawing/2014/main" id="{54396D0C-1770-4F7A-BD8C-6BDBC40CC25D}"/>
              </a:ext>
            </a:extLst>
          </p:cNvPr>
          <p:cNvSpPr>
            <a:spLocks noGrp="1"/>
          </p:cNvSpPr>
          <p:nvPr/>
        </p:nvSpPr>
        <p:spPr>
          <a:xfrm>
            <a:off x="552450" y="3086100"/>
            <a:ext cx="2667000" cy="1123950"/>
          </a:xfrm>
          <a:prstGeom prst="roundRect">
            <a:avLst>
              <a:gd name="adj" fmla="val 6780"/>
            </a:avLst>
          </a:prstGeom>
          <a:solidFill>
            <a:srgbClr val="FFFFFF"/>
          </a:solidFill>
          <a:ln w="9525">
            <a:solidFill>
              <a:srgbClr val="B9C3BB"/>
            </a:solidFill>
            <a:prstDash val="solid"/>
          </a:ln>
        </p:spPr>
        <p:txBody>
          <a:bodyPr/>
          <a:lstStyle/>
          <a:p>
            <a:endParaRPr lang="en-US"/>
          </a:p>
        </p:txBody>
      </p:sp>
      <p:sp>
        <p:nvSpPr>
          <p:cNvPr id="9" name="Rectangle 8">
            <a:extLst>
              <a:ext uri="{FF2B5EF4-FFF2-40B4-BE49-F238E27FC236}">
                <a16:creationId xmlns:a16="http://schemas.microsoft.com/office/drawing/2014/main" id="{56BDFF12-C994-4854-9E60-5528EAE5A6D8}"/>
              </a:ext>
            </a:extLst>
          </p:cNvPr>
          <p:cNvSpPr>
            <a:spLocks noGrp="1"/>
          </p:cNvSpPr>
          <p:nvPr/>
        </p:nvSpPr>
        <p:spPr>
          <a:xfrm>
            <a:off x="552450" y="3086100"/>
            <a:ext cx="2667000" cy="47625"/>
          </a:xfrm>
          <a:prstGeom prst="rect">
            <a:avLst/>
          </a:prstGeom>
          <a:solidFill>
            <a:srgbClr val="2F7D5B"/>
          </a:solidFill>
          <a:ln w="0">
            <a:solidFill>
              <a:srgbClr val="000000">
                <a:alpha val="0"/>
              </a:srgbClr>
            </a:solidFill>
            <a:prstDash val="solid"/>
          </a:ln>
        </p:spPr>
        <p:txBody>
          <a:bodyPr/>
          <a:lstStyle/>
          <a:p>
            <a:endParaRPr lang="en-US"/>
          </a:p>
        </p:txBody>
      </p:sp>
      <p:sp>
        <p:nvSpPr>
          <p:cNvPr id="10" name="Rectangle 9">
            <a:extLst>
              <a:ext uri="{FF2B5EF4-FFF2-40B4-BE49-F238E27FC236}">
                <a16:creationId xmlns:a16="http://schemas.microsoft.com/office/drawing/2014/main" id="{B02ED9C0-B0C5-4A64-8A91-7253C5A87F3D}"/>
              </a:ext>
            </a:extLst>
          </p:cNvPr>
          <p:cNvSpPr>
            <a:spLocks noGrp="1"/>
          </p:cNvSpPr>
          <p:nvPr/>
        </p:nvSpPr>
        <p:spPr>
          <a:xfrm>
            <a:off x="723900" y="3257550"/>
            <a:ext cx="23241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700" b="1">
                <a:solidFill>
                  <a:srgbClr val="2F7D5B"/>
                </a:solidFill>
                <a:latin typeface="Georgia"/>
                <a:ea typeface="Georgia"/>
                <a:cs typeface="Georgia"/>
              </a:defRPr>
            </a:pPr>
            <a:r>
              <a:rPr sz="2700" b="1">
                <a:solidFill>
                  <a:srgbClr val="2F7D5B"/>
                </a:solidFill>
                <a:latin typeface="Georgia"/>
                <a:ea typeface="Georgia"/>
                <a:cs typeface="Georgia"/>
              </a:rPr>
              <a:t>19 kg</a:t>
            </a:r>
          </a:p>
        </p:txBody>
      </p:sp>
      <p:sp>
        <p:nvSpPr>
          <p:cNvPr id="11" name="Rectangle 10">
            <a:extLst>
              <a:ext uri="{FF2B5EF4-FFF2-40B4-BE49-F238E27FC236}">
                <a16:creationId xmlns:a16="http://schemas.microsoft.com/office/drawing/2014/main" id="{6A2ED326-9653-4F60-BEF1-9046C4E61A8C}"/>
              </a:ext>
            </a:extLst>
          </p:cNvPr>
          <p:cNvSpPr>
            <a:spLocks noGrp="1"/>
          </p:cNvSpPr>
          <p:nvPr/>
        </p:nvSpPr>
        <p:spPr>
          <a:xfrm>
            <a:off x="723900" y="3829050"/>
            <a:ext cx="23241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65736B"/>
                </a:solidFill>
                <a:latin typeface="Aptos"/>
                <a:ea typeface="Aptos"/>
                <a:cs typeface="Aptos"/>
              </a:defRPr>
            </a:pPr>
            <a:r>
              <a:rPr sz="788" b="1">
                <a:solidFill>
                  <a:srgbClr val="65736B"/>
                </a:solidFill>
                <a:latin typeface="Aptos"/>
                <a:ea typeface="Aptos"/>
                <a:cs typeface="Aptos"/>
              </a:rPr>
              <a:t>tessili consumati per persona · UE 2022</a:t>
            </a:r>
          </a:p>
        </p:txBody>
      </p:sp>
      <p:sp>
        <p:nvSpPr>
          <p:cNvPr id="12" name="Rectangle: Rounded Corners 11">
            <a:extLst>
              <a:ext uri="{FF2B5EF4-FFF2-40B4-BE49-F238E27FC236}">
                <a16:creationId xmlns:a16="http://schemas.microsoft.com/office/drawing/2014/main" id="{E9A655C9-0A74-4425-87C1-1267EF39493A}"/>
              </a:ext>
            </a:extLst>
          </p:cNvPr>
          <p:cNvSpPr>
            <a:spLocks noGrp="1"/>
          </p:cNvSpPr>
          <p:nvPr/>
        </p:nvSpPr>
        <p:spPr>
          <a:xfrm>
            <a:off x="3486150" y="3086100"/>
            <a:ext cx="2667000" cy="1123950"/>
          </a:xfrm>
          <a:prstGeom prst="roundRect">
            <a:avLst>
              <a:gd name="adj" fmla="val 6780"/>
            </a:avLst>
          </a:prstGeom>
          <a:solidFill>
            <a:srgbClr val="FFFFFF"/>
          </a:solidFill>
          <a:ln w="9525">
            <a:solidFill>
              <a:srgbClr val="B9C3BB"/>
            </a:solidFill>
            <a:prstDash val="solid"/>
          </a:ln>
        </p:spPr>
        <p:txBody>
          <a:bodyPr/>
          <a:lstStyle/>
          <a:p>
            <a:endParaRPr lang="en-US"/>
          </a:p>
        </p:txBody>
      </p:sp>
      <p:sp>
        <p:nvSpPr>
          <p:cNvPr id="13" name="Rectangle 12">
            <a:extLst>
              <a:ext uri="{FF2B5EF4-FFF2-40B4-BE49-F238E27FC236}">
                <a16:creationId xmlns:a16="http://schemas.microsoft.com/office/drawing/2014/main" id="{536968E1-2C35-47A8-92C7-59CF0024FAE1}"/>
              </a:ext>
            </a:extLst>
          </p:cNvPr>
          <p:cNvSpPr>
            <a:spLocks noGrp="1"/>
          </p:cNvSpPr>
          <p:nvPr/>
        </p:nvSpPr>
        <p:spPr>
          <a:xfrm>
            <a:off x="3486150" y="3086100"/>
            <a:ext cx="2667000" cy="47625"/>
          </a:xfrm>
          <a:prstGeom prst="rect">
            <a:avLst/>
          </a:prstGeom>
          <a:solidFill>
            <a:srgbClr val="D56E42"/>
          </a:solidFill>
          <a:ln w="0">
            <a:solidFill>
              <a:srgbClr val="000000">
                <a:alpha val="0"/>
              </a:srgbClr>
            </a:solidFill>
            <a:prstDash val="solid"/>
          </a:ln>
        </p:spPr>
        <p:txBody>
          <a:bodyPr/>
          <a:lstStyle/>
          <a:p>
            <a:endParaRPr lang="en-US"/>
          </a:p>
        </p:txBody>
      </p:sp>
      <p:sp>
        <p:nvSpPr>
          <p:cNvPr id="14" name="Rectangle 13">
            <a:extLst>
              <a:ext uri="{FF2B5EF4-FFF2-40B4-BE49-F238E27FC236}">
                <a16:creationId xmlns:a16="http://schemas.microsoft.com/office/drawing/2014/main" id="{CB202F8E-6C5D-4853-A731-4F8B29A4D182}"/>
              </a:ext>
            </a:extLst>
          </p:cNvPr>
          <p:cNvSpPr>
            <a:spLocks noGrp="1"/>
          </p:cNvSpPr>
          <p:nvPr/>
        </p:nvSpPr>
        <p:spPr>
          <a:xfrm>
            <a:off x="3657600" y="3257550"/>
            <a:ext cx="23241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700" b="1">
                <a:solidFill>
                  <a:srgbClr val="D56E42"/>
                </a:solidFill>
                <a:latin typeface="Georgia"/>
                <a:ea typeface="Georgia"/>
                <a:cs typeface="Georgia"/>
              </a:defRPr>
            </a:pPr>
            <a:r>
              <a:rPr sz="2700" b="1">
                <a:solidFill>
                  <a:srgbClr val="D56E42"/>
                </a:solidFill>
                <a:latin typeface="Georgia"/>
                <a:ea typeface="Georgia"/>
                <a:cs typeface="Georgia"/>
              </a:rPr>
              <a:t>16 kg</a:t>
            </a:r>
          </a:p>
        </p:txBody>
      </p:sp>
      <p:sp>
        <p:nvSpPr>
          <p:cNvPr id="15" name="Rectangle 14">
            <a:extLst>
              <a:ext uri="{FF2B5EF4-FFF2-40B4-BE49-F238E27FC236}">
                <a16:creationId xmlns:a16="http://schemas.microsoft.com/office/drawing/2014/main" id="{55579DFD-DAE0-4050-A720-9C36558CCA7C}"/>
              </a:ext>
            </a:extLst>
          </p:cNvPr>
          <p:cNvSpPr>
            <a:spLocks noGrp="1"/>
          </p:cNvSpPr>
          <p:nvPr/>
        </p:nvSpPr>
        <p:spPr>
          <a:xfrm>
            <a:off x="3657600" y="3829050"/>
            <a:ext cx="23241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65736B"/>
                </a:solidFill>
                <a:latin typeface="Aptos"/>
                <a:ea typeface="Aptos"/>
                <a:cs typeface="Aptos"/>
              </a:defRPr>
            </a:pPr>
            <a:r>
              <a:rPr sz="788" b="1">
                <a:solidFill>
                  <a:srgbClr val="65736B"/>
                </a:solidFill>
                <a:latin typeface="Aptos"/>
                <a:ea typeface="Aptos"/>
                <a:cs typeface="Aptos"/>
              </a:rPr>
              <a:t>rifiuti tessili per persona · UE 2022</a:t>
            </a:r>
          </a:p>
        </p:txBody>
      </p:sp>
      <p:sp>
        <p:nvSpPr>
          <p:cNvPr id="16" name="Rectangle: Rounded Corners 15">
            <a:extLst>
              <a:ext uri="{FF2B5EF4-FFF2-40B4-BE49-F238E27FC236}">
                <a16:creationId xmlns:a16="http://schemas.microsoft.com/office/drawing/2014/main" id="{3E983527-55ED-44AB-B089-E3737FADFD59}"/>
              </a:ext>
            </a:extLst>
          </p:cNvPr>
          <p:cNvSpPr>
            <a:spLocks noGrp="1"/>
          </p:cNvSpPr>
          <p:nvPr/>
        </p:nvSpPr>
        <p:spPr>
          <a:xfrm>
            <a:off x="552450" y="4705350"/>
            <a:ext cx="5600700" cy="895350"/>
          </a:xfrm>
          <a:prstGeom prst="roundRect">
            <a:avLst>
              <a:gd name="adj" fmla="val 8511"/>
            </a:avLst>
          </a:prstGeom>
          <a:solidFill>
            <a:srgbClr val="123C31"/>
          </a:solidFill>
          <a:ln w="0">
            <a:solidFill>
              <a:srgbClr val="000000">
                <a:alpha val="0"/>
              </a:srgbClr>
            </a:solidFill>
            <a:prstDash val="solid"/>
          </a:ln>
        </p:spPr>
        <p:txBody>
          <a:bodyPr/>
          <a:lstStyle/>
          <a:p>
            <a:endParaRPr lang="en-US"/>
          </a:p>
        </p:txBody>
      </p:sp>
      <p:sp>
        <p:nvSpPr>
          <p:cNvPr id="17" name="Rectangle 16">
            <a:extLst>
              <a:ext uri="{FF2B5EF4-FFF2-40B4-BE49-F238E27FC236}">
                <a16:creationId xmlns:a16="http://schemas.microsoft.com/office/drawing/2014/main" id="{68712735-2DA1-420E-9D21-36DA266DEFE3}"/>
              </a:ext>
            </a:extLst>
          </p:cNvPr>
          <p:cNvSpPr>
            <a:spLocks noGrp="1"/>
          </p:cNvSpPr>
          <p:nvPr/>
        </p:nvSpPr>
        <p:spPr>
          <a:xfrm>
            <a:off x="781050" y="4895850"/>
            <a:ext cx="1905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B9D94A"/>
                </a:solidFill>
                <a:latin typeface="Aptos"/>
                <a:ea typeface="Aptos"/>
                <a:cs typeface="Aptos"/>
              </a:defRPr>
            </a:pPr>
            <a:r>
              <a:rPr sz="675" b="1">
                <a:solidFill>
                  <a:srgbClr val="B9D94A"/>
                </a:solidFill>
                <a:latin typeface="Aptos"/>
                <a:ea typeface="Aptos"/>
                <a:cs typeface="Aptos"/>
              </a:rPr>
              <a:t>DOMANDA DI PROGETTO</a:t>
            </a:r>
          </a:p>
        </p:txBody>
      </p:sp>
      <p:sp>
        <p:nvSpPr>
          <p:cNvPr id="18" name="Rectangle 17">
            <a:extLst>
              <a:ext uri="{FF2B5EF4-FFF2-40B4-BE49-F238E27FC236}">
                <a16:creationId xmlns:a16="http://schemas.microsoft.com/office/drawing/2014/main" id="{03A76D9B-DD1B-405D-9F53-48AFACFA0770}"/>
              </a:ext>
            </a:extLst>
          </p:cNvPr>
          <p:cNvSpPr>
            <a:spLocks noGrp="1"/>
          </p:cNvSpPr>
          <p:nvPr/>
        </p:nvSpPr>
        <p:spPr>
          <a:xfrm>
            <a:off x="781050" y="5105400"/>
            <a:ext cx="495300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FFFFFF"/>
                </a:solidFill>
                <a:latin typeface="Georgia"/>
                <a:ea typeface="Georgia"/>
                <a:cs typeface="Georgia"/>
              </a:defRPr>
            </a:pPr>
            <a:r>
              <a:rPr sz="1350" b="1">
                <a:solidFill>
                  <a:srgbClr val="FFFFFF"/>
                </a:solidFill>
                <a:latin typeface="Georgia"/>
                <a:ea typeface="Georgia"/>
                <a:cs typeface="Georgia"/>
              </a:rPr>
              <a:t>Come aiutare Marta a usare più a lungo ciò che possiede?</a:t>
            </a:r>
          </a:p>
        </p:txBody>
      </p:sp>
      <p:sp>
        <p:nvSpPr>
          <p:cNvPr id="19" name="Rectangle 18">
            <a:extLst>
              <a:ext uri="{FF2B5EF4-FFF2-40B4-BE49-F238E27FC236}">
                <a16:creationId xmlns:a16="http://schemas.microsoft.com/office/drawing/2014/main" id="{5B540215-28CB-47DB-A45A-AE4C789B6DF1}"/>
              </a:ext>
            </a:extLst>
          </p:cNvPr>
          <p:cNvSpPr>
            <a:spLocks noGrp="1"/>
          </p:cNvSpPr>
          <p:nvPr/>
        </p:nvSpPr>
        <p:spPr>
          <a:xfrm>
            <a:off x="8724900" y="6153150"/>
            <a:ext cx="27241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00" b="0">
                <a:solidFill>
                  <a:srgbClr val="FFFFFF"/>
                </a:solidFill>
                <a:latin typeface="Aptos"/>
                <a:ea typeface="Aptos"/>
                <a:cs typeface="Aptos"/>
              </a:defRPr>
            </a:pPr>
            <a:r>
              <a:rPr sz="600" b="0">
                <a:solidFill>
                  <a:srgbClr val="FFFFFF"/>
                </a:solidFill>
                <a:latin typeface="Aptos"/>
                <a:ea typeface="Aptos"/>
                <a:cs typeface="Aptos"/>
              </a:rPr>
              <a:t>Immagine illustrativa generata con AI</a:t>
            </a:r>
          </a:p>
        </p:txBody>
      </p:sp>
      <p:sp>
        <p:nvSpPr>
          <p:cNvPr id="20" name="Rectangle 19">
            <a:extLst>
              <a:ext uri="{FF2B5EF4-FFF2-40B4-BE49-F238E27FC236}">
                <a16:creationId xmlns:a16="http://schemas.microsoft.com/office/drawing/2014/main" id="{CC6929CB-7E0D-456C-999D-941FEC64AFE6}"/>
              </a:ext>
            </a:extLst>
          </p:cNvPr>
          <p:cNvSpPr>
            <a:spLocks noGrp="1"/>
          </p:cNvSpPr>
          <p:nvPr/>
        </p:nvSpPr>
        <p:spPr>
          <a:xfrm>
            <a:off x="552450" y="6419850"/>
            <a:ext cx="11087100" cy="9525"/>
          </a:xfrm>
          <a:prstGeom prst="rect">
            <a:avLst/>
          </a:prstGeom>
          <a:solidFill>
            <a:srgbClr val="B9C3BB"/>
          </a:solidFill>
          <a:ln w="0">
            <a:solidFill>
              <a:srgbClr val="000000">
                <a:alpha val="0"/>
              </a:srgbClr>
            </a:solidFill>
            <a:prstDash val="solid"/>
          </a:ln>
        </p:spPr>
        <p:txBody>
          <a:bodyPr/>
          <a:lstStyle/>
          <a:p>
            <a:endParaRPr lang="en-US"/>
          </a:p>
        </p:txBody>
      </p:sp>
      <p:sp>
        <p:nvSpPr>
          <p:cNvPr id="21" name="Rectangle 20">
            <a:extLst>
              <a:ext uri="{FF2B5EF4-FFF2-40B4-BE49-F238E27FC236}">
                <a16:creationId xmlns:a16="http://schemas.microsoft.com/office/drawing/2014/main" id="{9092248D-E802-4770-B09B-A51D0806E063}"/>
              </a:ext>
            </a:extLst>
          </p:cNvPr>
          <p:cNvSpPr>
            <a:spLocks noGrp="1"/>
          </p:cNvSpPr>
          <p:nvPr/>
        </p:nvSpPr>
        <p:spPr>
          <a:xfrm>
            <a:off x="552450" y="6496050"/>
            <a:ext cx="100393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65736B"/>
                </a:solidFill>
                <a:latin typeface="Aptos"/>
                <a:ea typeface="Aptos"/>
                <a:cs typeface="Aptos"/>
              </a:defRPr>
            </a:pPr>
            <a:r>
              <a:rPr sz="563" b="0">
                <a:solidFill>
                  <a:srgbClr val="65736B"/>
                </a:solidFill>
                <a:latin typeface="Aptos"/>
                <a:ea typeface="Aptos"/>
                <a:cs typeface="Aptos"/>
              </a:rPr>
              <a:t>Fonte dati: European Environment Agency, UE-27, 2022</a:t>
            </a:r>
          </a:p>
        </p:txBody>
      </p:sp>
      <p:sp>
        <p:nvSpPr>
          <p:cNvPr id="22" name="Rectangle 21">
            <a:extLst>
              <a:ext uri="{FF2B5EF4-FFF2-40B4-BE49-F238E27FC236}">
                <a16:creationId xmlns:a16="http://schemas.microsoft.com/office/drawing/2014/main" id="{3D7450FF-BBB3-4913-99E1-D544CD6B6D85}"/>
              </a:ext>
            </a:extLst>
          </p:cNvPr>
          <p:cNvSpPr>
            <a:spLocks noGrp="1"/>
          </p:cNvSpPr>
          <p:nvPr/>
        </p:nvSpPr>
        <p:spPr>
          <a:xfrm>
            <a:off x="11049000" y="6477000"/>
            <a:ext cx="590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65736B"/>
                </a:solidFill>
                <a:latin typeface="Georgia"/>
                <a:ea typeface="Georgia"/>
                <a:cs typeface="Georgia"/>
              </a:defRPr>
            </a:pPr>
            <a:r>
              <a:rPr sz="750" b="1">
                <a:solidFill>
                  <a:srgbClr val="65736B"/>
                </a:solidFill>
                <a:latin typeface="Georgia"/>
                <a:ea typeface="Georgia"/>
                <a:cs typeface="Georgia"/>
              </a:rPr>
              <a:t>02</a:t>
            </a:r>
          </a:p>
        </p:txBody>
      </p:sp>
    </p:spTree>
    <p:extLst>
      <p:ext uri="{BB962C8B-B14F-4D97-AF65-F5344CB8AC3E}">
        <p14:creationId xmlns:p14="http://schemas.microsoft.com/office/powerpoint/2010/main" val="9007811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background">
            <a:extLst>
              <a:ext uri="{FF2B5EF4-FFF2-40B4-BE49-F238E27FC236}">
                <a16:creationId xmlns:a16="http://schemas.microsoft.com/office/drawing/2014/main" id="{D01F8C6F-DFB5-42F1-9644-A70D7DA3417F}"/>
              </a:ext>
            </a:extLst>
          </p:cNvPr>
          <p:cNvSpPr>
            <a:spLocks noGrp="1"/>
          </p:cNvSpPr>
          <p:nvPr/>
        </p:nvSpPr>
        <p:spPr>
          <a:xfrm>
            <a:off x="0" y="0"/>
            <a:ext cx="12192000" cy="6858000"/>
          </a:xfrm>
          <a:prstGeom prst="rect">
            <a:avLst/>
          </a:prstGeom>
          <a:solidFill>
            <a:srgbClr val="F4F0E7"/>
          </a:solidFill>
          <a:ln w="0">
            <a:solidFill>
              <a:srgbClr val="000000">
                <a:alpha val="0"/>
              </a:srgbClr>
            </a:solidFill>
            <a:prstDash val="solid"/>
          </a:ln>
        </p:spPr>
        <p:txBody>
          <a:bodyPr/>
          <a:lstStyle/>
          <a:p>
            <a:endParaRPr lang="en-US"/>
          </a:p>
        </p:txBody>
      </p:sp>
      <p:sp>
        <p:nvSpPr>
          <p:cNvPr id="2" name="Oval 1">
            <a:extLst>
              <a:ext uri="{FF2B5EF4-FFF2-40B4-BE49-F238E27FC236}">
                <a16:creationId xmlns:a16="http://schemas.microsoft.com/office/drawing/2014/main" id="{0ACF7FC7-D210-49EF-B42A-21B6B6A316E3}"/>
              </a:ext>
            </a:extLst>
          </p:cNvPr>
          <p:cNvSpPr>
            <a:spLocks noGrp="1"/>
          </p:cNvSpPr>
          <p:nvPr/>
        </p:nvSpPr>
        <p:spPr>
          <a:xfrm>
            <a:off x="552450" y="409575"/>
            <a:ext cx="85725" cy="85725"/>
          </a:xfrm>
          <a:prstGeom prst="ellipse">
            <a:avLst/>
          </a:prstGeom>
          <a:solidFill>
            <a:srgbClr val="2F7D5B"/>
          </a:solidFill>
          <a:ln w="0">
            <a:solidFill>
              <a:srgbClr val="000000">
                <a:alpha val="0"/>
              </a:srgbClr>
            </a:solidFill>
            <a:prstDash val="solid"/>
          </a:ln>
        </p:spPr>
        <p:txBody>
          <a:bodyPr/>
          <a:lstStyle/>
          <a:p>
            <a:endParaRPr lang="en-US"/>
          </a:p>
        </p:txBody>
      </p:sp>
      <p:sp>
        <p:nvSpPr>
          <p:cNvPr id="3" name="Rectangle 2">
            <a:extLst>
              <a:ext uri="{FF2B5EF4-FFF2-40B4-BE49-F238E27FC236}">
                <a16:creationId xmlns:a16="http://schemas.microsoft.com/office/drawing/2014/main" id="{19897178-080C-40B6-A3FC-049B7AC84ED0}"/>
              </a:ext>
            </a:extLst>
          </p:cNvPr>
          <p:cNvSpPr>
            <a:spLocks noGrp="1"/>
          </p:cNvSpPr>
          <p:nvPr/>
        </p:nvSpPr>
        <p:spPr>
          <a:xfrm>
            <a:off x="742950" y="361950"/>
            <a:ext cx="666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65736B"/>
                </a:solidFill>
                <a:latin typeface="Aptos"/>
                <a:ea typeface="Aptos"/>
                <a:cs typeface="Aptos"/>
              </a:defRPr>
            </a:pPr>
            <a:r>
              <a:rPr sz="638" b="1">
                <a:solidFill>
                  <a:srgbClr val="65736B"/>
                </a:solidFill>
                <a:latin typeface="Aptos"/>
                <a:ea typeface="Aptos"/>
                <a:cs typeface="Aptos"/>
              </a:rPr>
              <a:t>U S E R   S T O R Y   ·   C A T A L O G A</a:t>
            </a:r>
          </a:p>
        </p:txBody>
      </p:sp>
      <p:sp>
        <p:nvSpPr>
          <p:cNvPr id="4" name="claim-title">
            <a:extLst>
              <a:ext uri="{FF2B5EF4-FFF2-40B4-BE49-F238E27FC236}">
                <a16:creationId xmlns:a16="http://schemas.microsoft.com/office/drawing/2014/main" id="{D79423D2-F3C5-4AB4-9539-E4C5F26ED9BC}"/>
              </a:ext>
            </a:extLst>
          </p:cNvPr>
          <p:cNvSpPr>
            <a:spLocks noGrp="1"/>
          </p:cNvSpPr>
          <p:nvPr/>
        </p:nvSpPr>
        <p:spPr>
          <a:xfrm>
            <a:off x="552450" y="742950"/>
            <a:ext cx="10572750" cy="914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850" b="1">
                <a:solidFill>
                  <a:srgbClr val="17211D"/>
                </a:solidFill>
                <a:latin typeface="Georgia"/>
                <a:ea typeface="Georgia"/>
                <a:cs typeface="Georgia"/>
              </a:defRPr>
            </a:pPr>
            <a:r>
              <a:rPr sz="2850" b="1">
                <a:solidFill>
                  <a:srgbClr val="17211D"/>
                </a:solidFill>
                <a:latin typeface="Georgia"/>
                <a:ea typeface="Georgia"/>
                <a:cs typeface="Georgia"/>
              </a:rPr>
              <a:t>Una foto trasforma un capo in una scheda che Marta può correggere.</a:t>
            </a:r>
          </a:p>
        </p:txBody>
      </p:sp>
      <p:sp>
        <p:nvSpPr>
          <p:cNvPr id="5" name="Rectangle: Rounded Corners 4">
            <a:extLst>
              <a:ext uri="{FF2B5EF4-FFF2-40B4-BE49-F238E27FC236}">
                <a16:creationId xmlns:a16="http://schemas.microsoft.com/office/drawing/2014/main" id="{F31FEDA6-72A0-456D-82DA-821EF15FC940}"/>
              </a:ext>
            </a:extLst>
          </p:cNvPr>
          <p:cNvSpPr>
            <a:spLocks noGrp="1"/>
          </p:cNvSpPr>
          <p:nvPr/>
        </p:nvSpPr>
        <p:spPr>
          <a:xfrm>
            <a:off x="552450" y="1962150"/>
            <a:ext cx="2857500" cy="3505200"/>
          </a:xfrm>
          <a:prstGeom prst="roundRect">
            <a:avLst>
              <a:gd name="adj" fmla="val 2667"/>
            </a:avLst>
          </a:prstGeom>
          <a:solidFill>
            <a:srgbClr val="FFFFFF"/>
          </a:solidFill>
          <a:ln w="9525">
            <a:solidFill>
              <a:srgbClr val="B9C3BB"/>
            </a:solidFill>
            <a:prstDash val="solid"/>
          </a:ln>
        </p:spPr>
        <p:txBody>
          <a:bodyPr/>
          <a:lstStyle/>
          <a:p>
            <a:endParaRPr lang="en-US"/>
          </a:p>
        </p:txBody>
      </p:sp>
      <p:sp>
        <p:nvSpPr>
          <p:cNvPr id="6" name="Oval 5">
            <a:extLst>
              <a:ext uri="{FF2B5EF4-FFF2-40B4-BE49-F238E27FC236}">
                <a16:creationId xmlns:a16="http://schemas.microsoft.com/office/drawing/2014/main" id="{2481903C-8A05-4028-AAFE-CA9410ECDCAC}"/>
              </a:ext>
            </a:extLst>
          </p:cNvPr>
          <p:cNvSpPr>
            <a:spLocks noGrp="1"/>
          </p:cNvSpPr>
          <p:nvPr/>
        </p:nvSpPr>
        <p:spPr>
          <a:xfrm>
            <a:off x="1371600" y="2457450"/>
            <a:ext cx="1219200" cy="1219200"/>
          </a:xfrm>
          <a:prstGeom prst="ellipse">
            <a:avLst/>
          </a:prstGeom>
          <a:solidFill>
            <a:srgbClr val="DDE5DD"/>
          </a:solidFill>
          <a:ln w="0">
            <a:solidFill>
              <a:srgbClr val="000000">
                <a:alpha val="0"/>
              </a:srgbClr>
            </a:solidFill>
            <a:prstDash val="solid"/>
          </a:ln>
        </p:spPr>
        <p:txBody>
          <a:bodyPr/>
          <a:lstStyle/>
          <a:p>
            <a:endParaRPr lang="en-US"/>
          </a:p>
        </p:txBody>
      </p:sp>
      <p:sp>
        <p:nvSpPr>
          <p:cNvPr id="7" name="Rectangle 6">
            <a:extLst>
              <a:ext uri="{FF2B5EF4-FFF2-40B4-BE49-F238E27FC236}">
                <a16:creationId xmlns:a16="http://schemas.microsoft.com/office/drawing/2014/main" id="{928E4398-3A93-4A85-B523-317CD860E412}"/>
              </a:ext>
            </a:extLst>
          </p:cNvPr>
          <p:cNvSpPr>
            <a:spLocks noGrp="1"/>
          </p:cNvSpPr>
          <p:nvPr/>
        </p:nvSpPr>
        <p:spPr>
          <a:xfrm>
            <a:off x="1371600" y="2647950"/>
            <a:ext cx="1219200" cy="6667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3450" b="0">
                <a:solidFill>
                  <a:srgbClr val="123C31"/>
                </a:solidFill>
                <a:latin typeface="Aptos"/>
                <a:ea typeface="Aptos"/>
                <a:cs typeface="Aptos"/>
              </a:defRPr>
            </a:pPr>
            <a:r>
              <a:rPr sz="3450" b="0">
                <a:solidFill>
                  <a:srgbClr val="123C31"/>
                </a:solidFill>
                <a:latin typeface="Aptos"/>
                <a:ea typeface="Aptos"/>
                <a:cs typeface="Aptos"/>
              </a:rPr>
              <a:t>▣</a:t>
            </a:r>
          </a:p>
        </p:txBody>
      </p:sp>
      <p:sp>
        <p:nvSpPr>
          <p:cNvPr id="8" name="Rectangle 7">
            <a:extLst>
              <a:ext uri="{FF2B5EF4-FFF2-40B4-BE49-F238E27FC236}">
                <a16:creationId xmlns:a16="http://schemas.microsoft.com/office/drawing/2014/main" id="{266BA6E2-354A-4910-B90D-53A6C366421F}"/>
              </a:ext>
            </a:extLst>
          </p:cNvPr>
          <p:cNvSpPr>
            <a:spLocks noGrp="1"/>
          </p:cNvSpPr>
          <p:nvPr/>
        </p:nvSpPr>
        <p:spPr>
          <a:xfrm>
            <a:off x="838200" y="4019550"/>
            <a:ext cx="22860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1">
                <a:solidFill>
                  <a:srgbClr val="2F7D5B"/>
                </a:solidFill>
                <a:latin typeface="Aptos"/>
                <a:ea typeface="Aptos"/>
                <a:cs typeface="Aptos"/>
              </a:defRPr>
            </a:pPr>
            <a:r>
              <a:rPr sz="750" b="1">
                <a:solidFill>
                  <a:srgbClr val="2F7D5B"/>
                </a:solidFill>
                <a:latin typeface="Aptos"/>
                <a:ea typeface="Aptos"/>
                <a:cs typeface="Aptos"/>
              </a:rPr>
              <a:t>FOTOGRAFA IL CAPO</a:t>
            </a:r>
          </a:p>
        </p:txBody>
      </p:sp>
      <p:sp>
        <p:nvSpPr>
          <p:cNvPr id="9" name="Rectangle 8">
            <a:extLst>
              <a:ext uri="{FF2B5EF4-FFF2-40B4-BE49-F238E27FC236}">
                <a16:creationId xmlns:a16="http://schemas.microsoft.com/office/drawing/2014/main" id="{4057CAA1-528D-4E80-A769-CC847CC63B9F}"/>
              </a:ext>
            </a:extLst>
          </p:cNvPr>
          <p:cNvSpPr>
            <a:spLocks noGrp="1"/>
          </p:cNvSpPr>
          <p:nvPr/>
        </p:nvSpPr>
        <p:spPr>
          <a:xfrm>
            <a:off x="838200" y="4400550"/>
            <a:ext cx="22860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00" b="0">
                <a:solidFill>
                  <a:srgbClr val="65736B"/>
                </a:solidFill>
                <a:latin typeface="Aptos"/>
                <a:ea typeface="Aptos"/>
                <a:cs typeface="Aptos"/>
              </a:defRPr>
            </a:pPr>
            <a:r>
              <a:rPr sz="900" b="0">
                <a:solidFill>
                  <a:srgbClr val="65736B"/>
                </a:solidFill>
                <a:latin typeface="Aptos"/>
                <a:ea typeface="Aptos"/>
                <a:cs typeface="Aptos"/>
              </a:rPr>
              <a:t>JPG · PNG · WebP</a:t>
            </a:r>
          </a:p>
          <a:p>
            <a:pPr algn="ctr">
              <a:defRPr sz="900" b="0">
                <a:solidFill>
                  <a:srgbClr val="65736B"/>
                </a:solidFill>
                <a:latin typeface="Aptos"/>
                <a:ea typeface="Aptos"/>
                <a:cs typeface="Aptos"/>
              </a:defRPr>
            </a:pPr>
            <a:r>
              <a:rPr sz="900" b="0">
                <a:solidFill>
                  <a:srgbClr val="65736B"/>
                </a:solidFill>
                <a:latin typeface="Aptos"/>
                <a:ea typeface="Aptos"/>
                <a:cs typeface="Aptos"/>
              </a:rPr>
              <a:t>massimo 10 MB</a:t>
            </a:r>
          </a:p>
        </p:txBody>
      </p:sp>
      <p:sp>
        <p:nvSpPr>
          <p:cNvPr id="10" name="Rectangle 9">
            <a:extLst>
              <a:ext uri="{FF2B5EF4-FFF2-40B4-BE49-F238E27FC236}">
                <a16:creationId xmlns:a16="http://schemas.microsoft.com/office/drawing/2014/main" id="{B6CAAC34-E4F4-47A2-88F1-73EF2184F048}"/>
              </a:ext>
            </a:extLst>
          </p:cNvPr>
          <p:cNvSpPr>
            <a:spLocks noGrp="1"/>
          </p:cNvSpPr>
          <p:nvPr/>
        </p:nvSpPr>
        <p:spPr>
          <a:xfrm>
            <a:off x="3619500" y="3714750"/>
            <a:ext cx="1085850" cy="28575"/>
          </a:xfrm>
          <a:prstGeom prst="rect">
            <a:avLst/>
          </a:prstGeom>
          <a:solidFill>
            <a:srgbClr val="2F7D5B"/>
          </a:solidFill>
          <a:ln w="0">
            <a:solidFill>
              <a:srgbClr val="000000">
                <a:alpha val="0"/>
              </a:srgbClr>
            </a:solidFill>
            <a:prstDash val="solid"/>
          </a:ln>
        </p:spPr>
        <p:txBody>
          <a:bodyPr/>
          <a:lstStyle/>
          <a:p>
            <a:endParaRPr lang="en-US"/>
          </a:p>
        </p:txBody>
      </p:sp>
      <p:sp>
        <p:nvSpPr>
          <p:cNvPr id="11" name="Isosceles Triangle 10">
            <a:extLst>
              <a:ext uri="{FF2B5EF4-FFF2-40B4-BE49-F238E27FC236}">
                <a16:creationId xmlns:a16="http://schemas.microsoft.com/office/drawing/2014/main" id="{360F8B41-B6C3-40BD-86EB-133142CB6778}"/>
              </a:ext>
            </a:extLst>
          </p:cNvPr>
          <p:cNvSpPr>
            <a:spLocks noGrp="1"/>
          </p:cNvSpPr>
          <p:nvPr/>
        </p:nvSpPr>
        <p:spPr>
          <a:xfrm>
            <a:off x="4676775" y="3657600"/>
            <a:ext cx="133350" cy="133350"/>
          </a:xfrm>
          <a:prstGeom prst="triangle">
            <a:avLst/>
          </a:prstGeom>
          <a:solidFill>
            <a:srgbClr val="2F7D5B"/>
          </a:solidFill>
          <a:ln w="0">
            <a:solidFill>
              <a:srgbClr val="000000">
                <a:alpha val="0"/>
              </a:srgbClr>
            </a:solidFill>
            <a:prstDash val="solid"/>
          </a:ln>
        </p:spPr>
        <p:txBody>
          <a:bodyPr/>
          <a:lstStyle/>
          <a:p>
            <a:endParaRPr lang="en-US"/>
          </a:p>
        </p:txBody>
      </p:sp>
      <p:sp>
        <p:nvSpPr>
          <p:cNvPr id="12" name="Rectangle: Rounded Corners 11">
            <a:extLst>
              <a:ext uri="{FF2B5EF4-FFF2-40B4-BE49-F238E27FC236}">
                <a16:creationId xmlns:a16="http://schemas.microsoft.com/office/drawing/2014/main" id="{7B36A998-CF4B-4C60-9A42-0E0BCF609CFE}"/>
              </a:ext>
            </a:extLst>
          </p:cNvPr>
          <p:cNvSpPr>
            <a:spLocks noGrp="1"/>
          </p:cNvSpPr>
          <p:nvPr/>
        </p:nvSpPr>
        <p:spPr>
          <a:xfrm>
            <a:off x="5048250" y="1962150"/>
            <a:ext cx="6591300" cy="3505200"/>
          </a:xfrm>
          <a:prstGeom prst="roundRect">
            <a:avLst>
              <a:gd name="adj" fmla="val 2174"/>
            </a:avLst>
          </a:prstGeom>
          <a:solidFill>
            <a:srgbClr val="FFFFFF"/>
          </a:solidFill>
          <a:ln w="9525">
            <a:solidFill>
              <a:srgbClr val="B9C3BB"/>
            </a:solidFill>
            <a:prstDash val="solid"/>
          </a:ln>
        </p:spPr>
        <p:txBody>
          <a:bodyPr/>
          <a:lstStyle/>
          <a:p>
            <a:endParaRPr lang="en-US"/>
          </a:p>
        </p:txBody>
      </p:sp>
      <p:sp>
        <p:nvSpPr>
          <p:cNvPr id="13" name="Rectangle 12">
            <a:extLst>
              <a:ext uri="{FF2B5EF4-FFF2-40B4-BE49-F238E27FC236}">
                <a16:creationId xmlns:a16="http://schemas.microsoft.com/office/drawing/2014/main" id="{92338E87-2CE0-474D-A864-1DF6BDEAFBBC}"/>
              </a:ext>
            </a:extLst>
          </p:cNvPr>
          <p:cNvSpPr>
            <a:spLocks noGrp="1"/>
          </p:cNvSpPr>
          <p:nvPr/>
        </p:nvSpPr>
        <p:spPr>
          <a:xfrm>
            <a:off x="5314950" y="2209800"/>
            <a:ext cx="2476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2F7D5B"/>
                </a:solidFill>
                <a:latin typeface="Aptos"/>
                <a:ea typeface="Aptos"/>
                <a:cs typeface="Aptos"/>
              </a:defRPr>
            </a:pPr>
            <a:r>
              <a:rPr sz="675" b="1">
                <a:solidFill>
                  <a:srgbClr val="2F7D5B"/>
                </a:solidFill>
                <a:latin typeface="Aptos"/>
                <a:ea typeface="Aptos"/>
                <a:cs typeface="Aptos"/>
              </a:rPr>
              <a:t>SCHEDA CORREGGIBILE</a:t>
            </a:r>
          </a:p>
        </p:txBody>
      </p:sp>
      <p:sp>
        <p:nvSpPr>
          <p:cNvPr id="14" name="Rectangle 13">
            <a:extLst>
              <a:ext uri="{FF2B5EF4-FFF2-40B4-BE49-F238E27FC236}">
                <a16:creationId xmlns:a16="http://schemas.microsoft.com/office/drawing/2014/main" id="{6BFFC1C9-02F0-4B38-8C6D-DA4697FE050D}"/>
              </a:ext>
            </a:extLst>
          </p:cNvPr>
          <p:cNvSpPr>
            <a:spLocks noGrp="1"/>
          </p:cNvSpPr>
          <p:nvPr/>
        </p:nvSpPr>
        <p:spPr>
          <a:xfrm>
            <a:off x="5314950" y="3009900"/>
            <a:ext cx="5886450" cy="9525"/>
          </a:xfrm>
          <a:prstGeom prst="rect">
            <a:avLst/>
          </a:prstGeom>
          <a:solidFill>
            <a:srgbClr val="DDE5DD"/>
          </a:solidFill>
          <a:ln w="0">
            <a:solidFill>
              <a:srgbClr val="000000">
                <a:alpha val="0"/>
              </a:srgbClr>
            </a:solidFill>
            <a:prstDash val="solid"/>
          </a:ln>
        </p:spPr>
        <p:txBody>
          <a:bodyPr/>
          <a:lstStyle/>
          <a:p>
            <a:endParaRPr lang="en-US"/>
          </a:p>
        </p:txBody>
      </p:sp>
      <p:sp>
        <p:nvSpPr>
          <p:cNvPr id="15" name="Rectangle 14">
            <a:extLst>
              <a:ext uri="{FF2B5EF4-FFF2-40B4-BE49-F238E27FC236}">
                <a16:creationId xmlns:a16="http://schemas.microsoft.com/office/drawing/2014/main" id="{AC37B535-0A26-4186-A395-0D759364A2AE}"/>
              </a:ext>
            </a:extLst>
          </p:cNvPr>
          <p:cNvSpPr>
            <a:spLocks noGrp="1"/>
          </p:cNvSpPr>
          <p:nvPr/>
        </p:nvSpPr>
        <p:spPr>
          <a:xfrm>
            <a:off x="5314950" y="2686050"/>
            <a:ext cx="1714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65736B"/>
                </a:solidFill>
                <a:latin typeface="Aptos"/>
                <a:ea typeface="Aptos"/>
                <a:cs typeface="Aptos"/>
              </a:defRPr>
            </a:pPr>
            <a:r>
              <a:rPr sz="788" b="0">
                <a:solidFill>
                  <a:srgbClr val="65736B"/>
                </a:solidFill>
                <a:latin typeface="Aptos"/>
                <a:ea typeface="Aptos"/>
                <a:cs typeface="Aptos"/>
              </a:rPr>
              <a:t>Nome</a:t>
            </a:r>
          </a:p>
        </p:txBody>
      </p:sp>
      <p:sp>
        <p:nvSpPr>
          <p:cNvPr id="16" name="Rectangle 15">
            <a:extLst>
              <a:ext uri="{FF2B5EF4-FFF2-40B4-BE49-F238E27FC236}">
                <a16:creationId xmlns:a16="http://schemas.microsoft.com/office/drawing/2014/main" id="{CAD2E71D-3375-48AB-83FA-9CDA9E6B279C}"/>
              </a:ext>
            </a:extLst>
          </p:cNvPr>
          <p:cNvSpPr>
            <a:spLocks noGrp="1"/>
          </p:cNvSpPr>
          <p:nvPr/>
        </p:nvSpPr>
        <p:spPr>
          <a:xfrm>
            <a:off x="7277100" y="2686050"/>
            <a:ext cx="39052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75" b="1">
                <a:solidFill>
                  <a:srgbClr val="17211D"/>
                </a:solidFill>
                <a:latin typeface="Georgia"/>
                <a:ea typeface="Georgia"/>
                <a:cs typeface="Georgia"/>
              </a:defRPr>
            </a:pPr>
            <a:r>
              <a:rPr sz="975" b="1">
                <a:solidFill>
                  <a:srgbClr val="17211D"/>
                </a:solidFill>
                <a:latin typeface="Georgia"/>
                <a:ea typeface="Georgia"/>
                <a:cs typeface="Georgia"/>
              </a:rPr>
              <a:t>Giacca verde</a:t>
            </a:r>
          </a:p>
        </p:txBody>
      </p:sp>
      <p:sp>
        <p:nvSpPr>
          <p:cNvPr id="17" name="Rectangle 16">
            <a:extLst>
              <a:ext uri="{FF2B5EF4-FFF2-40B4-BE49-F238E27FC236}">
                <a16:creationId xmlns:a16="http://schemas.microsoft.com/office/drawing/2014/main" id="{5BE69F81-556C-4613-B38A-1155DA5584AD}"/>
              </a:ext>
            </a:extLst>
          </p:cNvPr>
          <p:cNvSpPr>
            <a:spLocks noGrp="1"/>
          </p:cNvSpPr>
          <p:nvPr/>
        </p:nvSpPr>
        <p:spPr>
          <a:xfrm>
            <a:off x="5314950" y="3467100"/>
            <a:ext cx="5886450" cy="9525"/>
          </a:xfrm>
          <a:prstGeom prst="rect">
            <a:avLst/>
          </a:prstGeom>
          <a:solidFill>
            <a:srgbClr val="DDE5DD"/>
          </a:solidFill>
          <a:ln w="0">
            <a:solidFill>
              <a:srgbClr val="000000">
                <a:alpha val="0"/>
              </a:srgbClr>
            </a:solidFill>
            <a:prstDash val="solid"/>
          </a:ln>
        </p:spPr>
        <p:txBody>
          <a:bodyPr/>
          <a:lstStyle/>
          <a:p>
            <a:endParaRPr lang="en-US"/>
          </a:p>
        </p:txBody>
      </p:sp>
      <p:sp>
        <p:nvSpPr>
          <p:cNvPr id="18" name="Rectangle 17">
            <a:extLst>
              <a:ext uri="{FF2B5EF4-FFF2-40B4-BE49-F238E27FC236}">
                <a16:creationId xmlns:a16="http://schemas.microsoft.com/office/drawing/2014/main" id="{ECCF25DD-3F27-47D3-9FFA-58E16F559BD7}"/>
              </a:ext>
            </a:extLst>
          </p:cNvPr>
          <p:cNvSpPr>
            <a:spLocks noGrp="1"/>
          </p:cNvSpPr>
          <p:nvPr/>
        </p:nvSpPr>
        <p:spPr>
          <a:xfrm>
            <a:off x="5314950" y="3143250"/>
            <a:ext cx="1714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65736B"/>
                </a:solidFill>
                <a:latin typeface="Aptos"/>
                <a:ea typeface="Aptos"/>
                <a:cs typeface="Aptos"/>
              </a:defRPr>
            </a:pPr>
            <a:r>
              <a:rPr sz="788" b="0">
                <a:solidFill>
                  <a:srgbClr val="65736B"/>
                </a:solidFill>
                <a:latin typeface="Aptos"/>
                <a:ea typeface="Aptos"/>
                <a:cs typeface="Aptos"/>
              </a:rPr>
              <a:t>Categoria</a:t>
            </a:r>
          </a:p>
        </p:txBody>
      </p:sp>
      <p:sp>
        <p:nvSpPr>
          <p:cNvPr id="19" name="Rectangle 18">
            <a:extLst>
              <a:ext uri="{FF2B5EF4-FFF2-40B4-BE49-F238E27FC236}">
                <a16:creationId xmlns:a16="http://schemas.microsoft.com/office/drawing/2014/main" id="{136B3E3D-168D-4857-AAD3-B14829106894}"/>
              </a:ext>
            </a:extLst>
          </p:cNvPr>
          <p:cNvSpPr>
            <a:spLocks noGrp="1"/>
          </p:cNvSpPr>
          <p:nvPr/>
        </p:nvSpPr>
        <p:spPr>
          <a:xfrm>
            <a:off x="7277100" y="3143250"/>
            <a:ext cx="39052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75" b="1">
                <a:solidFill>
                  <a:srgbClr val="17211D"/>
                </a:solidFill>
                <a:latin typeface="Georgia"/>
                <a:ea typeface="Georgia"/>
                <a:cs typeface="Georgia"/>
              </a:defRPr>
            </a:pPr>
            <a:r>
              <a:rPr sz="975" b="1">
                <a:solidFill>
                  <a:srgbClr val="17211D"/>
                </a:solidFill>
                <a:latin typeface="Georgia"/>
                <a:ea typeface="Georgia"/>
                <a:cs typeface="Georgia"/>
              </a:rPr>
              <a:t>giacca</a:t>
            </a:r>
          </a:p>
        </p:txBody>
      </p:sp>
      <p:sp>
        <p:nvSpPr>
          <p:cNvPr id="20" name="Rectangle 19">
            <a:extLst>
              <a:ext uri="{FF2B5EF4-FFF2-40B4-BE49-F238E27FC236}">
                <a16:creationId xmlns:a16="http://schemas.microsoft.com/office/drawing/2014/main" id="{422BDC36-1A42-4094-B0BA-02F05D448DCC}"/>
              </a:ext>
            </a:extLst>
          </p:cNvPr>
          <p:cNvSpPr>
            <a:spLocks noGrp="1"/>
          </p:cNvSpPr>
          <p:nvPr/>
        </p:nvSpPr>
        <p:spPr>
          <a:xfrm>
            <a:off x="5314950" y="3924300"/>
            <a:ext cx="5886450" cy="9525"/>
          </a:xfrm>
          <a:prstGeom prst="rect">
            <a:avLst/>
          </a:prstGeom>
          <a:solidFill>
            <a:srgbClr val="DDE5DD"/>
          </a:solidFill>
          <a:ln w="0">
            <a:solidFill>
              <a:srgbClr val="000000">
                <a:alpha val="0"/>
              </a:srgbClr>
            </a:solidFill>
            <a:prstDash val="solid"/>
          </a:ln>
        </p:spPr>
        <p:txBody>
          <a:bodyPr/>
          <a:lstStyle/>
          <a:p>
            <a:endParaRPr lang="en-US"/>
          </a:p>
        </p:txBody>
      </p:sp>
      <p:sp>
        <p:nvSpPr>
          <p:cNvPr id="21" name="Rectangle 20">
            <a:extLst>
              <a:ext uri="{FF2B5EF4-FFF2-40B4-BE49-F238E27FC236}">
                <a16:creationId xmlns:a16="http://schemas.microsoft.com/office/drawing/2014/main" id="{CFB7ECE8-AEA2-4956-B69D-26F1E5E3A4D5}"/>
              </a:ext>
            </a:extLst>
          </p:cNvPr>
          <p:cNvSpPr>
            <a:spLocks noGrp="1"/>
          </p:cNvSpPr>
          <p:nvPr/>
        </p:nvSpPr>
        <p:spPr>
          <a:xfrm>
            <a:off x="5314950" y="3600450"/>
            <a:ext cx="1714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65736B"/>
                </a:solidFill>
                <a:latin typeface="Aptos"/>
                <a:ea typeface="Aptos"/>
                <a:cs typeface="Aptos"/>
              </a:defRPr>
            </a:pPr>
            <a:r>
              <a:rPr sz="788" b="0">
                <a:solidFill>
                  <a:srgbClr val="65736B"/>
                </a:solidFill>
                <a:latin typeface="Aptos"/>
                <a:ea typeface="Aptos"/>
                <a:cs typeface="Aptos"/>
              </a:rPr>
              <a:t>Colore</a:t>
            </a:r>
          </a:p>
        </p:txBody>
      </p:sp>
      <p:sp>
        <p:nvSpPr>
          <p:cNvPr id="22" name="Rectangle 21">
            <a:extLst>
              <a:ext uri="{FF2B5EF4-FFF2-40B4-BE49-F238E27FC236}">
                <a16:creationId xmlns:a16="http://schemas.microsoft.com/office/drawing/2014/main" id="{F81F268A-E399-40B0-A47C-E968FBF93BAB}"/>
              </a:ext>
            </a:extLst>
          </p:cNvPr>
          <p:cNvSpPr>
            <a:spLocks noGrp="1"/>
          </p:cNvSpPr>
          <p:nvPr/>
        </p:nvSpPr>
        <p:spPr>
          <a:xfrm>
            <a:off x="7277100" y="3600450"/>
            <a:ext cx="39052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75" b="1">
                <a:solidFill>
                  <a:srgbClr val="17211D"/>
                </a:solidFill>
                <a:latin typeface="Georgia"/>
                <a:ea typeface="Georgia"/>
                <a:cs typeface="Georgia"/>
              </a:defRPr>
            </a:pPr>
            <a:r>
              <a:rPr sz="975" b="1">
                <a:solidFill>
                  <a:srgbClr val="17211D"/>
                </a:solidFill>
                <a:latin typeface="Georgia"/>
                <a:ea typeface="Georgia"/>
                <a:cs typeface="Georgia"/>
              </a:rPr>
              <a:t>verde</a:t>
            </a:r>
          </a:p>
        </p:txBody>
      </p:sp>
      <p:sp>
        <p:nvSpPr>
          <p:cNvPr id="23" name="Rectangle 22">
            <a:extLst>
              <a:ext uri="{FF2B5EF4-FFF2-40B4-BE49-F238E27FC236}">
                <a16:creationId xmlns:a16="http://schemas.microsoft.com/office/drawing/2014/main" id="{443E47B5-94F9-41C1-9493-46887EDD0981}"/>
              </a:ext>
            </a:extLst>
          </p:cNvPr>
          <p:cNvSpPr>
            <a:spLocks noGrp="1"/>
          </p:cNvSpPr>
          <p:nvPr/>
        </p:nvSpPr>
        <p:spPr>
          <a:xfrm>
            <a:off x="5314950" y="4381500"/>
            <a:ext cx="5886450" cy="9525"/>
          </a:xfrm>
          <a:prstGeom prst="rect">
            <a:avLst/>
          </a:prstGeom>
          <a:solidFill>
            <a:srgbClr val="DDE5DD"/>
          </a:solidFill>
          <a:ln w="0">
            <a:solidFill>
              <a:srgbClr val="000000">
                <a:alpha val="0"/>
              </a:srgbClr>
            </a:solidFill>
            <a:prstDash val="solid"/>
          </a:ln>
        </p:spPr>
        <p:txBody>
          <a:bodyPr/>
          <a:lstStyle/>
          <a:p>
            <a:endParaRPr lang="en-US"/>
          </a:p>
        </p:txBody>
      </p:sp>
      <p:sp>
        <p:nvSpPr>
          <p:cNvPr id="24" name="Rectangle 23">
            <a:extLst>
              <a:ext uri="{FF2B5EF4-FFF2-40B4-BE49-F238E27FC236}">
                <a16:creationId xmlns:a16="http://schemas.microsoft.com/office/drawing/2014/main" id="{1781F5F2-14F7-429E-AF90-17A7C299611F}"/>
              </a:ext>
            </a:extLst>
          </p:cNvPr>
          <p:cNvSpPr>
            <a:spLocks noGrp="1"/>
          </p:cNvSpPr>
          <p:nvPr/>
        </p:nvSpPr>
        <p:spPr>
          <a:xfrm>
            <a:off x="5314950" y="4057650"/>
            <a:ext cx="1714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65736B"/>
                </a:solidFill>
                <a:latin typeface="Aptos"/>
                <a:ea typeface="Aptos"/>
                <a:cs typeface="Aptos"/>
              </a:defRPr>
            </a:pPr>
            <a:r>
              <a:rPr sz="788" b="0">
                <a:solidFill>
                  <a:srgbClr val="65736B"/>
                </a:solidFill>
                <a:latin typeface="Aptos"/>
                <a:ea typeface="Aptos"/>
                <a:cs typeface="Aptos"/>
              </a:rPr>
              <a:t>Prezzo</a:t>
            </a:r>
          </a:p>
        </p:txBody>
      </p:sp>
      <p:sp>
        <p:nvSpPr>
          <p:cNvPr id="25" name="Rectangle 24">
            <a:extLst>
              <a:ext uri="{FF2B5EF4-FFF2-40B4-BE49-F238E27FC236}">
                <a16:creationId xmlns:a16="http://schemas.microsoft.com/office/drawing/2014/main" id="{4A0E14E2-3047-42F8-9069-0266FD7545C7}"/>
              </a:ext>
            </a:extLst>
          </p:cNvPr>
          <p:cNvSpPr>
            <a:spLocks noGrp="1"/>
          </p:cNvSpPr>
          <p:nvPr/>
        </p:nvSpPr>
        <p:spPr>
          <a:xfrm>
            <a:off x="7277100" y="4057650"/>
            <a:ext cx="39052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75" b="1">
                <a:solidFill>
                  <a:srgbClr val="17211D"/>
                </a:solidFill>
                <a:latin typeface="Georgia"/>
                <a:ea typeface="Georgia"/>
                <a:cs typeface="Georgia"/>
              </a:defRPr>
            </a:pPr>
            <a:r>
              <a:rPr sz="975" b="1">
                <a:solidFill>
                  <a:srgbClr val="17211D"/>
                </a:solidFill>
                <a:latin typeface="Georgia"/>
                <a:ea typeface="Georgia"/>
                <a:cs typeface="Georgia"/>
              </a:rPr>
              <a:t>facoltativo</a:t>
            </a:r>
          </a:p>
        </p:txBody>
      </p:sp>
      <p:sp>
        <p:nvSpPr>
          <p:cNvPr id="26" name="Rectangle 25">
            <a:extLst>
              <a:ext uri="{FF2B5EF4-FFF2-40B4-BE49-F238E27FC236}">
                <a16:creationId xmlns:a16="http://schemas.microsoft.com/office/drawing/2014/main" id="{720734B4-0486-460B-9DD7-E0C0826C361F}"/>
              </a:ext>
            </a:extLst>
          </p:cNvPr>
          <p:cNvSpPr>
            <a:spLocks noGrp="1"/>
          </p:cNvSpPr>
          <p:nvPr/>
        </p:nvSpPr>
        <p:spPr>
          <a:xfrm>
            <a:off x="5314950" y="4838700"/>
            <a:ext cx="5886450" cy="9525"/>
          </a:xfrm>
          <a:prstGeom prst="rect">
            <a:avLst/>
          </a:prstGeom>
          <a:solidFill>
            <a:srgbClr val="DDE5DD"/>
          </a:solidFill>
          <a:ln w="0">
            <a:solidFill>
              <a:srgbClr val="000000">
                <a:alpha val="0"/>
              </a:srgbClr>
            </a:solidFill>
            <a:prstDash val="solid"/>
          </a:ln>
        </p:spPr>
        <p:txBody>
          <a:bodyPr/>
          <a:lstStyle/>
          <a:p>
            <a:endParaRPr lang="en-US"/>
          </a:p>
        </p:txBody>
      </p:sp>
      <p:sp>
        <p:nvSpPr>
          <p:cNvPr id="27" name="Rectangle 26">
            <a:extLst>
              <a:ext uri="{FF2B5EF4-FFF2-40B4-BE49-F238E27FC236}">
                <a16:creationId xmlns:a16="http://schemas.microsoft.com/office/drawing/2014/main" id="{571B06E3-1257-45CA-82E2-C995E406EE7F}"/>
              </a:ext>
            </a:extLst>
          </p:cNvPr>
          <p:cNvSpPr>
            <a:spLocks noGrp="1"/>
          </p:cNvSpPr>
          <p:nvPr/>
        </p:nvSpPr>
        <p:spPr>
          <a:xfrm>
            <a:off x="5314950" y="4514850"/>
            <a:ext cx="1714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65736B"/>
                </a:solidFill>
                <a:latin typeface="Aptos"/>
                <a:ea typeface="Aptos"/>
                <a:cs typeface="Aptos"/>
              </a:defRPr>
            </a:pPr>
            <a:r>
              <a:rPr sz="788" b="0">
                <a:solidFill>
                  <a:srgbClr val="65736B"/>
                </a:solidFill>
                <a:latin typeface="Aptos"/>
                <a:ea typeface="Aptos"/>
                <a:cs typeface="Aptos"/>
              </a:rPr>
              <a:t>Data acquisto</a:t>
            </a:r>
          </a:p>
        </p:txBody>
      </p:sp>
      <p:sp>
        <p:nvSpPr>
          <p:cNvPr id="28" name="Rectangle 27">
            <a:extLst>
              <a:ext uri="{FF2B5EF4-FFF2-40B4-BE49-F238E27FC236}">
                <a16:creationId xmlns:a16="http://schemas.microsoft.com/office/drawing/2014/main" id="{AF544108-D499-4671-A53E-8B40D8FFE733}"/>
              </a:ext>
            </a:extLst>
          </p:cNvPr>
          <p:cNvSpPr>
            <a:spLocks noGrp="1"/>
          </p:cNvSpPr>
          <p:nvPr/>
        </p:nvSpPr>
        <p:spPr>
          <a:xfrm>
            <a:off x="7277100" y="4514850"/>
            <a:ext cx="39052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75" b="1">
                <a:solidFill>
                  <a:srgbClr val="17211D"/>
                </a:solidFill>
                <a:latin typeface="Georgia"/>
                <a:ea typeface="Georgia"/>
                <a:cs typeface="Georgia"/>
              </a:defRPr>
            </a:pPr>
            <a:r>
              <a:rPr sz="975" b="1">
                <a:solidFill>
                  <a:srgbClr val="17211D"/>
                </a:solidFill>
                <a:latin typeface="Georgia"/>
                <a:ea typeface="Georgia"/>
                <a:cs typeface="Georgia"/>
              </a:rPr>
              <a:t>facoltativa</a:t>
            </a:r>
          </a:p>
        </p:txBody>
      </p:sp>
      <p:sp>
        <p:nvSpPr>
          <p:cNvPr id="29" name="Rectangle: Rounded Corners 28">
            <a:extLst>
              <a:ext uri="{FF2B5EF4-FFF2-40B4-BE49-F238E27FC236}">
                <a16:creationId xmlns:a16="http://schemas.microsoft.com/office/drawing/2014/main" id="{087B264D-2B39-4CD2-9945-8E97B2DD4959}"/>
              </a:ext>
            </a:extLst>
          </p:cNvPr>
          <p:cNvSpPr>
            <a:spLocks noGrp="1"/>
          </p:cNvSpPr>
          <p:nvPr/>
        </p:nvSpPr>
        <p:spPr>
          <a:xfrm>
            <a:off x="5314950" y="5010150"/>
            <a:ext cx="5886450" cy="266700"/>
          </a:xfrm>
          <a:prstGeom prst="roundRect">
            <a:avLst>
              <a:gd name="adj" fmla="val 28571"/>
            </a:avLst>
          </a:prstGeom>
          <a:solidFill>
            <a:srgbClr val="EAE5DA"/>
          </a:solidFill>
          <a:ln w="0">
            <a:solidFill>
              <a:srgbClr val="000000">
                <a:alpha val="0"/>
              </a:srgbClr>
            </a:solidFill>
            <a:prstDash val="solid"/>
          </a:ln>
        </p:spPr>
        <p:txBody>
          <a:bodyPr/>
          <a:lstStyle/>
          <a:p>
            <a:endParaRPr lang="en-US"/>
          </a:p>
        </p:txBody>
      </p:sp>
      <p:sp>
        <p:nvSpPr>
          <p:cNvPr id="30" name="Rectangle 29">
            <a:extLst>
              <a:ext uri="{FF2B5EF4-FFF2-40B4-BE49-F238E27FC236}">
                <a16:creationId xmlns:a16="http://schemas.microsoft.com/office/drawing/2014/main" id="{D8FF16D8-27F6-4ACB-97C5-A850F30DA647}"/>
              </a:ext>
            </a:extLst>
          </p:cNvPr>
          <p:cNvSpPr>
            <a:spLocks noGrp="1"/>
          </p:cNvSpPr>
          <p:nvPr/>
        </p:nvSpPr>
        <p:spPr>
          <a:xfrm>
            <a:off x="5314950" y="5029200"/>
            <a:ext cx="58864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0">
                <a:solidFill>
                  <a:srgbClr val="65736B"/>
                </a:solidFill>
                <a:latin typeface="Aptos"/>
                <a:ea typeface="Aptos"/>
                <a:cs typeface="Aptos"/>
              </a:defRPr>
            </a:pPr>
            <a:r>
              <a:rPr sz="750" b="0">
                <a:solidFill>
                  <a:srgbClr val="65736B"/>
                </a:solidFill>
                <a:latin typeface="Aptos"/>
                <a:ea typeface="Aptos"/>
                <a:cs typeface="Aptos"/>
              </a:rPr>
              <a:t>L’AI propone; la persona vede e corregge.</a:t>
            </a:r>
          </a:p>
        </p:txBody>
      </p:sp>
      <p:sp>
        <p:nvSpPr>
          <p:cNvPr id="31" name="Rectangle 30">
            <a:extLst>
              <a:ext uri="{FF2B5EF4-FFF2-40B4-BE49-F238E27FC236}">
                <a16:creationId xmlns:a16="http://schemas.microsoft.com/office/drawing/2014/main" id="{6386A467-9E9B-43E0-82E8-A06897CD76B8}"/>
              </a:ext>
            </a:extLst>
          </p:cNvPr>
          <p:cNvSpPr>
            <a:spLocks noGrp="1"/>
          </p:cNvSpPr>
          <p:nvPr/>
        </p:nvSpPr>
        <p:spPr>
          <a:xfrm>
            <a:off x="552450" y="6419850"/>
            <a:ext cx="11087100" cy="9525"/>
          </a:xfrm>
          <a:prstGeom prst="rect">
            <a:avLst/>
          </a:prstGeom>
          <a:solidFill>
            <a:srgbClr val="B9C3BB"/>
          </a:solidFill>
          <a:ln w="0">
            <a:solidFill>
              <a:srgbClr val="000000">
                <a:alpha val="0"/>
              </a:srgbClr>
            </a:solidFill>
            <a:prstDash val="solid"/>
          </a:ln>
        </p:spPr>
        <p:txBody>
          <a:bodyPr/>
          <a:lstStyle/>
          <a:p>
            <a:endParaRPr lang="en-US"/>
          </a:p>
        </p:txBody>
      </p:sp>
      <p:sp>
        <p:nvSpPr>
          <p:cNvPr id="32" name="Rectangle 31">
            <a:extLst>
              <a:ext uri="{FF2B5EF4-FFF2-40B4-BE49-F238E27FC236}">
                <a16:creationId xmlns:a16="http://schemas.microsoft.com/office/drawing/2014/main" id="{3A1DD780-8CD9-40E9-B7A2-09293A5331DE}"/>
              </a:ext>
            </a:extLst>
          </p:cNvPr>
          <p:cNvSpPr>
            <a:spLocks noGrp="1"/>
          </p:cNvSpPr>
          <p:nvPr/>
        </p:nvSpPr>
        <p:spPr>
          <a:xfrm>
            <a:off x="552450" y="6496050"/>
            <a:ext cx="100393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65736B"/>
                </a:solidFill>
                <a:latin typeface="Aptos"/>
                <a:ea typeface="Aptos"/>
                <a:cs typeface="Aptos"/>
              </a:defRPr>
            </a:pPr>
            <a:r>
              <a:rPr sz="563" b="0">
                <a:solidFill>
                  <a:srgbClr val="65736B"/>
                </a:solidFill>
                <a:latin typeface="Aptos"/>
                <a:ea typeface="Aptos"/>
                <a:cs typeface="Aptos"/>
              </a:rPr>
              <a:t>Input utente visibile e modificabile · nessun dato nascosto</a:t>
            </a:r>
          </a:p>
        </p:txBody>
      </p:sp>
      <p:sp>
        <p:nvSpPr>
          <p:cNvPr id="33" name="Rectangle 32">
            <a:extLst>
              <a:ext uri="{FF2B5EF4-FFF2-40B4-BE49-F238E27FC236}">
                <a16:creationId xmlns:a16="http://schemas.microsoft.com/office/drawing/2014/main" id="{4300C42C-AC1D-4C18-81D7-8CA8D874F65E}"/>
              </a:ext>
            </a:extLst>
          </p:cNvPr>
          <p:cNvSpPr>
            <a:spLocks noGrp="1"/>
          </p:cNvSpPr>
          <p:nvPr/>
        </p:nvSpPr>
        <p:spPr>
          <a:xfrm>
            <a:off x="11049000" y="6477000"/>
            <a:ext cx="590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65736B"/>
                </a:solidFill>
                <a:latin typeface="Georgia"/>
                <a:ea typeface="Georgia"/>
                <a:cs typeface="Georgia"/>
              </a:defRPr>
            </a:pPr>
            <a:r>
              <a:rPr sz="750" b="1">
                <a:solidFill>
                  <a:srgbClr val="65736B"/>
                </a:solidFill>
                <a:latin typeface="Georgia"/>
                <a:ea typeface="Georgia"/>
                <a:cs typeface="Georgia"/>
              </a:rPr>
              <a:t>03</a:t>
            </a:r>
          </a:p>
        </p:txBody>
      </p:sp>
    </p:spTree>
    <p:extLst>
      <p:ext uri="{BB962C8B-B14F-4D97-AF65-F5344CB8AC3E}">
        <p14:creationId xmlns:p14="http://schemas.microsoft.com/office/powerpoint/2010/main" val="12263910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background">
            <a:extLst>
              <a:ext uri="{FF2B5EF4-FFF2-40B4-BE49-F238E27FC236}">
                <a16:creationId xmlns:a16="http://schemas.microsoft.com/office/drawing/2014/main" id="{828165EC-312C-420D-A415-B197BA7E27E4}"/>
              </a:ext>
            </a:extLst>
          </p:cNvPr>
          <p:cNvSpPr>
            <a:spLocks noGrp="1"/>
          </p:cNvSpPr>
          <p:nvPr/>
        </p:nvSpPr>
        <p:spPr>
          <a:xfrm>
            <a:off x="0" y="0"/>
            <a:ext cx="12192000" cy="6858000"/>
          </a:xfrm>
          <a:prstGeom prst="rect">
            <a:avLst/>
          </a:prstGeom>
          <a:solidFill>
            <a:srgbClr val="123C31"/>
          </a:solidFill>
          <a:ln w="0">
            <a:solidFill>
              <a:srgbClr val="000000">
                <a:alpha val="0"/>
              </a:srgbClr>
            </a:solidFill>
            <a:prstDash val="solid"/>
          </a:ln>
        </p:spPr>
        <p:txBody>
          <a:bodyPr/>
          <a:lstStyle/>
          <a:p>
            <a:endParaRPr lang="en-US"/>
          </a:p>
        </p:txBody>
      </p:sp>
      <p:sp>
        <p:nvSpPr>
          <p:cNvPr id="2" name="Oval 1">
            <a:extLst>
              <a:ext uri="{FF2B5EF4-FFF2-40B4-BE49-F238E27FC236}">
                <a16:creationId xmlns:a16="http://schemas.microsoft.com/office/drawing/2014/main" id="{ED271D61-88FF-410A-90B6-54B070C3F99A}"/>
              </a:ext>
            </a:extLst>
          </p:cNvPr>
          <p:cNvSpPr>
            <a:spLocks noGrp="1"/>
          </p:cNvSpPr>
          <p:nvPr/>
        </p:nvSpPr>
        <p:spPr>
          <a:xfrm>
            <a:off x="552450" y="409575"/>
            <a:ext cx="85725" cy="85725"/>
          </a:xfrm>
          <a:prstGeom prst="ellipse">
            <a:avLst/>
          </a:prstGeom>
          <a:solidFill>
            <a:srgbClr val="B9D94A"/>
          </a:solidFill>
          <a:ln w="0">
            <a:solidFill>
              <a:srgbClr val="000000">
                <a:alpha val="0"/>
              </a:srgbClr>
            </a:solidFill>
            <a:prstDash val="solid"/>
          </a:ln>
        </p:spPr>
        <p:txBody>
          <a:bodyPr/>
          <a:lstStyle/>
          <a:p>
            <a:endParaRPr lang="en-US"/>
          </a:p>
        </p:txBody>
      </p:sp>
      <p:sp>
        <p:nvSpPr>
          <p:cNvPr id="3" name="Rectangle 2">
            <a:extLst>
              <a:ext uri="{FF2B5EF4-FFF2-40B4-BE49-F238E27FC236}">
                <a16:creationId xmlns:a16="http://schemas.microsoft.com/office/drawing/2014/main" id="{EF8C1B32-D0F4-4BA7-AB54-AF255301A2EA}"/>
              </a:ext>
            </a:extLst>
          </p:cNvPr>
          <p:cNvSpPr>
            <a:spLocks noGrp="1"/>
          </p:cNvSpPr>
          <p:nvPr/>
        </p:nvSpPr>
        <p:spPr>
          <a:xfrm>
            <a:off x="742950" y="361950"/>
            <a:ext cx="666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DDE5DD"/>
                </a:solidFill>
                <a:latin typeface="Aptos"/>
                <a:ea typeface="Aptos"/>
                <a:cs typeface="Aptos"/>
              </a:defRPr>
            </a:pPr>
            <a:r>
              <a:rPr sz="638" b="1">
                <a:solidFill>
                  <a:srgbClr val="DDE5DD"/>
                </a:solidFill>
                <a:latin typeface="Aptos"/>
                <a:ea typeface="Aptos"/>
                <a:cs typeface="Aptos"/>
              </a:rPr>
              <a:t>U S E R   S T O R Y   ·   U S A</a:t>
            </a:r>
          </a:p>
        </p:txBody>
      </p:sp>
      <p:sp>
        <p:nvSpPr>
          <p:cNvPr id="4" name="claim-title">
            <a:extLst>
              <a:ext uri="{FF2B5EF4-FFF2-40B4-BE49-F238E27FC236}">
                <a16:creationId xmlns:a16="http://schemas.microsoft.com/office/drawing/2014/main" id="{2342F20E-E5CE-48EE-9D5E-A7546DE07664}"/>
              </a:ext>
            </a:extLst>
          </p:cNvPr>
          <p:cNvSpPr>
            <a:spLocks noGrp="1"/>
          </p:cNvSpPr>
          <p:nvPr/>
        </p:nvSpPr>
        <p:spPr>
          <a:xfrm>
            <a:off x="552450" y="742950"/>
            <a:ext cx="10572750" cy="914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925" b="1">
                <a:solidFill>
                  <a:srgbClr val="FFFFFF"/>
                </a:solidFill>
                <a:latin typeface="Georgia"/>
                <a:ea typeface="Georgia"/>
                <a:cs typeface="Georgia"/>
              </a:defRPr>
            </a:pPr>
            <a:r>
              <a:rPr sz="2925" b="1">
                <a:solidFill>
                  <a:srgbClr val="FFFFFF"/>
                </a:solidFill>
                <a:latin typeface="Georgia"/>
                <a:ea typeface="Georgia"/>
                <a:cs typeface="Georgia"/>
              </a:rPr>
              <a:t>Registrare gli utilizzi rende visibile il valore reale del capo.</a:t>
            </a:r>
          </a:p>
        </p:txBody>
      </p:sp>
      <p:sp>
        <p:nvSpPr>
          <p:cNvPr id="5" name="Rectangle: Rounded Corners 4">
            <a:extLst>
              <a:ext uri="{FF2B5EF4-FFF2-40B4-BE49-F238E27FC236}">
                <a16:creationId xmlns:a16="http://schemas.microsoft.com/office/drawing/2014/main" id="{A39D4034-8B55-4843-87B8-DEAD39363E0E}"/>
              </a:ext>
            </a:extLst>
          </p:cNvPr>
          <p:cNvSpPr>
            <a:spLocks noGrp="1"/>
          </p:cNvSpPr>
          <p:nvPr/>
        </p:nvSpPr>
        <p:spPr>
          <a:xfrm>
            <a:off x="552450" y="1695450"/>
            <a:ext cx="1924050" cy="266700"/>
          </a:xfrm>
          <a:prstGeom prst="roundRect">
            <a:avLst>
              <a:gd name="adj" fmla="val 28571"/>
            </a:avLst>
          </a:prstGeom>
          <a:solidFill>
            <a:srgbClr val="1D5946"/>
          </a:solidFill>
          <a:ln w="0">
            <a:solidFill>
              <a:srgbClr val="000000">
                <a:alpha val="0"/>
              </a:srgbClr>
            </a:solidFill>
            <a:prstDash val="solid"/>
          </a:ln>
        </p:spPr>
        <p:txBody>
          <a:bodyPr/>
          <a:lstStyle/>
          <a:p>
            <a:endParaRPr lang="en-US"/>
          </a:p>
        </p:txBody>
      </p:sp>
      <p:sp>
        <p:nvSpPr>
          <p:cNvPr id="6" name="Rectangle 5">
            <a:extLst>
              <a:ext uri="{FF2B5EF4-FFF2-40B4-BE49-F238E27FC236}">
                <a16:creationId xmlns:a16="http://schemas.microsoft.com/office/drawing/2014/main" id="{24F80E2F-4692-4744-97C3-4B8E4BE6E599}"/>
              </a:ext>
            </a:extLst>
          </p:cNvPr>
          <p:cNvSpPr>
            <a:spLocks noGrp="1"/>
          </p:cNvSpPr>
          <p:nvPr/>
        </p:nvSpPr>
        <p:spPr>
          <a:xfrm>
            <a:off x="638175" y="1714500"/>
            <a:ext cx="1752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1">
                <a:solidFill>
                  <a:srgbClr val="FFFFFF"/>
                </a:solidFill>
                <a:latin typeface="Aptos"/>
                <a:ea typeface="Aptos"/>
                <a:cs typeface="Aptos"/>
              </a:defRPr>
            </a:pPr>
            <a:r>
              <a:rPr sz="675" b="1">
                <a:solidFill>
                  <a:srgbClr val="FFFFFF"/>
                </a:solidFill>
                <a:latin typeface="Aptos"/>
                <a:ea typeface="Aptos"/>
                <a:cs typeface="Aptos"/>
              </a:rPr>
              <a:t>INDOSSA CAPO OGGI</a:t>
            </a:r>
          </a:p>
        </p:txBody>
      </p:sp>
      <p:sp>
        <p:nvSpPr>
          <p:cNvPr id="7" name="Rectangle 6">
            <a:extLst>
              <a:ext uri="{FF2B5EF4-FFF2-40B4-BE49-F238E27FC236}">
                <a16:creationId xmlns:a16="http://schemas.microsoft.com/office/drawing/2014/main" id="{F665EBDB-2115-435E-8CDC-7AD2183011B8}"/>
              </a:ext>
            </a:extLst>
          </p:cNvPr>
          <p:cNvSpPr>
            <a:spLocks noGrp="1"/>
          </p:cNvSpPr>
          <p:nvPr/>
        </p:nvSpPr>
        <p:spPr>
          <a:xfrm>
            <a:off x="4953000" y="2190750"/>
            <a:ext cx="247650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800" b="1">
                <a:solidFill>
                  <a:srgbClr val="FFFFFF"/>
                </a:solidFill>
                <a:latin typeface="Georgia"/>
                <a:ea typeface="Georgia"/>
                <a:cs typeface="Georgia"/>
              </a:defRPr>
            </a:pPr>
            <a:r>
              <a:rPr sz="1800" b="1">
                <a:solidFill>
                  <a:srgbClr val="FFFFFF"/>
                </a:solidFill>
                <a:latin typeface="Georgia"/>
                <a:ea typeface="Georgia"/>
                <a:cs typeface="Georgia"/>
              </a:rPr>
              <a:t>prezzo ÷ utilizzi</a:t>
            </a:r>
          </a:p>
        </p:txBody>
      </p:sp>
      <p:sp>
        <p:nvSpPr>
          <p:cNvPr id="8" name="Rectangle 7">
            <a:extLst>
              <a:ext uri="{FF2B5EF4-FFF2-40B4-BE49-F238E27FC236}">
                <a16:creationId xmlns:a16="http://schemas.microsoft.com/office/drawing/2014/main" id="{3FC54589-3500-47EB-845D-2D1630B9B4BD}"/>
              </a:ext>
            </a:extLst>
          </p:cNvPr>
          <p:cNvSpPr>
            <a:spLocks noGrp="1"/>
          </p:cNvSpPr>
          <p:nvPr/>
        </p:nvSpPr>
        <p:spPr>
          <a:xfrm>
            <a:off x="1428750" y="3429000"/>
            <a:ext cx="9334500" cy="28575"/>
          </a:xfrm>
          <a:prstGeom prst="rect">
            <a:avLst/>
          </a:prstGeom>
          <a:solidFill>
            <a:srgbClr val="4E7769"/>
          </a:solidFill>
          <a:ln w="0">
            <a:solidFill>
              <a:srgbClr val="000000">
                <a:alpha val="0"/>
              </a:srgbClr>
            </a:solidFill>
            <a:prstDash val="solid"/>
          </a:ln>
        </p:spPr>
        <p:txBody>
          <a:bodyPr/>
          <a:lstStyle/>
          <a:p>
            <a:endParaRPr lang="en-US"/>
          </a:p>
        </p:txBody>
      </p:sp>
      <p:sp>
        <p:nvSpPr>
          <p:cNvPr id="9" name="Oval 8">
            <a:extLst>
              <a:ext uri="{FF2B5EF4-FFF2-40B4-BE49-F238E27FC236}">
                <a16:creationId xmlns:a16="http://schemas.microsoft.com/office/drawing/2014/main" id="{998432D3-A475-4901-A48C-FDD11F196D82}"/>
              </a:ext>
            </a:extLst>
          </p:cNvPr>
          <p:cNvSpPr>
            <a:spLocks noGrp="1"/>
          </p:cNvSpPr>
          <p:nvPr/>
        </p:nvSpPr>
        <p:spPr>
          <a:xfrm>
            <a:off x="1333500" y="3200400"/>
            <a:ext cx="457200" cy="457200"/>
          </a:xfrm>
          <a:prstGeom prst="ellipse">
            <a:avLst/>
          </a:prstGeom>
          <a:solidFill>
            <a:srgbClr val="D56E42"/>
          </a:solidFill>
          <a:ln w="0">
            <a:solidFill>
              <a:srgbClr val="000000">
                <a:alpha val="0"/>
              </a:srgbClr>
            </a:solidFill>
            <a:prstDash val="solid"/>
          </a:ln>
        </p:spPr>
        <p:txBody>
          <a:bodyPr/>
          <a:lstStyle/>
          <a:p>
            <a:endParaRPr lang="en-US"/>
          </a:p>
        </p:txBody>
      </p:sp>
      <p:sp>
        <p:nvSpPr>
          <p:cNvPr id="10" name="Rectangle 9">
            <a:extLst>
              <a:ext uri="{FF2B5EF4-FFF2-40B4-BE49-F238E27FC236}">
                <a16:creationId xmlns:a16="http://schemas.microsoft.com/office/drawing/2014/main" id="{F8DB7C0E-265D-45A9-A5FF-EF15F186C319}"/>
              </a:ext>
            </a:extLst>
          </p:cNvPr>
          <p:cNvSpPr>
            <a:spLocks noGrp="1"/>
          </p:cNvSpPr>
          <p:nvPr/>
        </p:nvSpPr>
        <p:spPr>
          <a:xfrm>
            <a:off x="1333500" y="3257550"/>
            <a:ext cx="45720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200" b="1">
                <a:solidFill>
                  <a:srgbClr val="FFFFFF"/>
                </a:solidFill>
                <a:latin typeface="Georgia"/>
                <a:ea typeface="Georgia"/>
                <a:cs typeface="Georgia"/>
              </a:defRPr>
            </a:pPr>
            <a:r>
              <a:rPr sz="1200" b="1">
                <a:solidFill>
                  <a:srgbClr val="FFFFFF"/>
                </a:solidFill>
                <a:latin typeface="Georgia"/>
                <a:ea typeface="Georgia"/>
                <a:cs typeface="Georgia"/>
              </a:rPr>
              <a:t>1</a:t>
            </a:r>
          </a:p>
        </p:txBody>
      </p:sp>
      <p:sp>
        <p:nvSpPr>
          <p:cNvPr id="11" name="Rectangle 10">
            <a:extLst>
              <a:ext uri="{FF2B5EF4-FFF2-40B4-BE49-F238E27FC236}">
                <a16:creationId xmlns:a16="http://schemas.microsoft.com/office/drawing/2014/main" id="{D05E21E7-4745-4CCF-A953-681B86A73326}"/>
              </a:ext>
            </a:extLst>
          </p:cNvPr>
          <p:cNvSpPr>
            <a:spLocks noGrp="1"/>
          </p:cNvSpPr>
          <p:nvPr/>
        </p:nvSpPr>
        <p:spPr>
          <a:xfrm>
            <a:off x="952500" y="3848100"/>
            <a:ext cx="12192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0">
                <a:solidFill>
                  <a:srgbClr val="DDE5DD"/>
                </a:solidFill>
                <a:latin typeface="Aptos"/>
                <a:ea typeface="Aptos"/>
                <a:cs typeface="Aptos"/>
              </a:defRPr>
            </a:pPr>
            <a:r>
              <a:rPr sz="750" b="0">
                <a:solidFill>
                  <a:srgbClr val="DDE5DD"/>
                </a:solidFill>
                <a:latin typeface="Aptos"/>
                <a:ea typeface="Aptos"/>
                <a:cs typeface="Aptos"/>
              </a:rPr>
              <a:t>1 uso</a:t>
            </a:r>
          </a:p>
        </p:txBody>
      </p:sp>
      <p:sp>
        <p:nvSpPr>
          <p:cNvPr id="12" name="Rectangle 11">
            <a:extLst>
              <a:ext uri="{FF2B5EF4-FFF2-40B4-BE49-F238E27FC236}">
                <a16:creationId xmlns:a16="http://schemas.microsoft.com/office/drawing/2014/main" id="{759E40D0-1151-4358-BF40-7B3B71B91C91}"/>
              </a:ext>
            </a:extLst>
          </p:cNvPr>
          <p:cNvSpPr>
            <a:spLocks noGrp="1"/>
          </p:cNvSpPr>
          <p:nvPr/>
        </p:nvSpPr>
        <p:spPr>
          <a:xfrm>
            <a:off x="952500" y="4229100"/>
            <a:ext cx="12192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2025" b="1">
                <a:solidFill>
                  <a:srgbClr val="FFFFFF"/>
                </a:solidFill>
                <a:latin typeface="Georgia"/>
                <a:ea typeface="Georgia"/>
                <a:cs typeface="Georgia"/>
              </a:defRPr>
            </a:pPr>
            <a:r>
              <a:rPr sz="2025" b="1">
                <a:solidFill>
                  <a:srgbClr val="FFFFFF"/>
                </a:solidFill>
                <a:latin typeface="Georgia"/>
                <a:ea typeface="Georgia"/>
                <a:cs typeface="Georgia"/>
              </a:rPr>
              <a:t>100 €</a:t>
            </a:r>
          </a:p>
        </p:txBody>
      </p:sp>
      <p:sp>
        <p:nvSpPr>
          <p:cNvPr id="13" name="Rectangle 12">
            <a:extLst>
              <a:ext uri="{FF2B5EF4-FFF2-40B4-BE49-F238E27FC236}">
                <a16:creationId xmlns:a16="http://schemas.microsoft.com/office/drawing/2014/main" id="{C7BAE516-0149-4E95-95F9-68E4067C777C}"/>
              </a:ext>
            </a:extLst>
          </p:cNvPr>
          <p:cNvSpPr>
            <a:spLocks noGrp="1"/>
          </p:cNvSpPr>
          <p:nvPr/>
        </p:nvSpPr>
        <p:spPr>
          <a:xfrm>
            <a:off x="952500" y="4686300"/>
            <a:ext cx="12192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94ADA2"/>
                </a:solidFill>
                <a:latin typeface="Aptos"/>
                <a:ea typeface="Aptos"/>
                <a:cs typeface="Aptos"/>
              </a:defRPr>
            </a:pPr>
            <a:r>
              <a:rPr sz="638" b="0">
                <a:solidFill>
                  <a:srgbClr val="94ADA2"/>
                </a:solidFill>
                <a:latin typeface="Aptos"/>
                <a:ea typeface="Aptos"/>
                <a:cs typeface="Aptos"/>
              </a:rPr>
              <a:t>cost per wear</a:t>
            </a:r>
          </a:p>
        </p:txBody>
      </p:sp>
      <p:sp>
        <p:nvSpPr>
          <p:cNvPr id="14" name="Oval 13">
            <a:extLst>
              <a:ext uri="{FF2B5EF4-FFF2-40B4-BE49-F238E27FC236}">
                <a16:creationId xmlns:a16="http://schemas.microsoft.com/office/drawing/2014/main" id="{4C5A72EA-F90E-4106-86C6-79054A473DED}"/>
              </a:ext>
            </a:extLst>
          </p:cNvPr>
          <p:cNvSpPr>
            <a:spLocks noGrp="1"/>
          </p:cNvSpPr>
          <p:nvPr/>
        </p:nvSpPr>
        <p:spPr>
          <a:xfrm>
            <a:off x="6000750" y="3200400"/>
            <a:ext cx="457200" cy="457200"/>
          </a:xfrm>
          <a:prstGeom prst="ellipse">
            <a:avLst/>
          </a:prstGeom>
          <a:solidFill>
            <a:srgbClr val="466D86"/>
          </a:solidFill>
          <a:ln w="0">
            <a:solidFill>
              <a:srgbClr val="000000">
                <a:alpha val="0"/>
              </a:srgbClr>
            </a:solidFill>
            <a:prstDash val="solid"/>
          </a:ln>
        </p:spPr>
        <p:txBody>
          <a:bodyPr/>
          <a:lstStyle/>
          <a:p>
            <a:endParaRPr lang="en-US"/>
          </a:p>
        </p:txBody>
      </p:sp>
      <p:sp>
        <p:nvSpPr>
          <p:cNvPr id="15" name="Rectangle 14">
            <a:extLst>
              <a:ext uri="{FF2B5EF4-FFF2-40B4-BE49-F238E27FC236}">
                <a16:creationId xmlns:a16="http://schemas.microsoft.com/office/drawing/2014/main" id="{2410C683-E6E6-4185-954C-C76E64D62071}"/>
              </a:ext>
            </a:extLst>
          </p:cNvPr>
          <p:cNvSpPr>
            <a:spLocks noGrp="1"/>
          </p:cNvSpPr>
          <p:nvPr/>
        </p:nvSpPr>
        <p:spPr>
          <a:xfrm>
            <a:off x="6000750" y="3257550"/>
            <a:ext cx="45720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200" b="1">
                <a:solidFill>
                  <a:srgbClr val="FFFFFF"/>
                </a:solidFill>
                <a:latin typeface="Georgia"/>
                <a:ea typeface="Georgia"/>
                <a:cs typeface="Georgia"/>
              </a:defRPr>
            </a:pPr>
            <a:r>
              <a:rPr sz="1200" b="1">
                <a:solidFill>
                  <a:srgbClr val="FFFFFF"/>
                </a:solidFill>
                <a:latin typeface="Georgia"/>
                <a:ea typeface="Georgia"/>
                <a:cs typeface="Georgia"/>
              </a:rPr>
              <a:t>5</a:t>
            </a:r>
          </a:p>
        </p:txBody>
      </p:sp>
      <p:sp>
        <p:nvSpPr>
          <p:cNvPr id="16" name="Rectangle 15">
            <a:extLst>
              <a:ext uri="{FF2B5EF4-FFF2-40B4-BE49-F238E27FC236}">
                <a16:creationId xmlns:a16="http://schemas.microsoft.com/office/drawing/2014/main" id="{4790B39D-0285-4289-9E35-5C4032CA7719}"/>
              </a:ext>
            </a:extLst>
          </p:cNvPr>
          <p:cNvSpPr>
            <a:spLocks noGrp="1"/>
          </p:cNvSpPr>
          <p:nvPr/>
        </p:nvSpPr>
        <p:spPr>
          <a:xfrm>
            <a:off x="5619750" y="3848100"/>
            <a:ext cx="12192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0">
                <a:solidFill>
                  <a:srgbClr val="DDE5DD"/>
                </a:solidFill>
                <a:latin typeface="Aptos"/>
                <a:ea typeface="Aptos"/>
                <a:cs typeface="Aptos"/>
              </a:defRPr>
            </a:pPr>
            <a:r>
              <a:rPr sz="750" b="0">
                <a:solidFill>
                  <a:srgbClr val="DDE5DD"/>
                </a:solidFill>
                <a:latin typeface="Aptos"/>
                <a:ea typeface="Aptos"/>
                <a:cs typeface="Aptos"/>
              </a:rPr>
              <a:t>5 usi</a:t>
            </a:r>
          </a:p>
        </p:txBody>
      </p:sp>
      <p:sp>
        <p:nvSpPr>
          <p:cNvPr id="17" name="Rectangle 16">
            <a:extLst>
              <a:ext uri="{FF2B5EF4-FFF2-40B4-BE49-F238E27FC236}">
                <a16:creationId xmlns:a16="http://schemas.microsoft.com/office/drawing/2014/main" id="{BA2EF4C2-1DA3-49B1-8D29-AA8DFE6E5958}"/>
              </a:ext>
            </a:extLst>
          </p:cNvPr>
          <p:cNvSpPr>
            <a:spLocks noGrp="1"/>
          </p:cNvSpPr>
          <p:nvPr/>
        </p:nvSpPr>
        <p:spPr>
          <a:xfrm>
            <a:off x="5619750" y="4229100"/>
            <a:ext cx="12192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2025" b="1">
                <a:solidFill>
                  <a:srgbClr val="FFFFFF"/>
                </a:solidFill>
                <a:latin typeface="Georgia"/>
                <a:ea typeface="Georgia"/>
                <a:cs typeface="Georgia"/>
              </a:defRPr>
            </a:pPr>
            <a:r>
              <a:rPr sz="2025" b="1">
                <a:solidFill>
                  <a:srgbClr val="FFFFFF"/>
                </a:solidFill>
                <a:latin typeface="Georgia"/>
                <a:ea typeface="Georgia"/>
                <a:cs typeface="Georgia"/>
              </a:rPr>
              <a:t>20 €</a:t>
            </a:r>
          </a:p>
        </p:txBody>
      </p:sp>
      <p:sp>
        <p:nvSpPr>
          <p:cNvPr id="18" name="Rectangle 17">
            <a:extLst>
              <a:ext uri="{FF2B5EF4-FFF2-40B4-BE49-F238E27FC236}">
                <a16:creationId xmlns:a16="http://schemas.microsoft.com/office/drawing/2014/main" id="{B69EA96C-90A4-426C-BC02-0866F2BEDBCD}"/>
              </a:ext>
            </a:extLst>
          </p:cNvPr>
          <p:cNvSpPr>
            <a:spLocks noGrp="1"/>
          </p:cNvSpPr>
          <p:nvPr/>
        </p:nvSpPr>
        <p:spPr>
          <a:xfrm>
            <a:off x="5619750" y="4686300"/>
            <a:ext cx="12192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94ADA2"/>
                </a:solidFill>
                <a:latin typeface="Aptos"/>
                <a:ea typeface="Aptos"/>
                <a:cs typeface="Aptos"/>
              </a:defRPr>
            </a:pPr>
            <a:r>
              <a:rPr sz="638" b="0">
                <a:solidFill>
                  <a:srgbClr val="94ADA2"/>
                </a:solidFill>
                <a:latin typeface="Aptos"/>
                <a:ea typeface="Aptos"/>
                <a:cs typeface="Aptos"/>
              </a:rPr>
              <a:t>cost per wear</a:t>
            </a:r>
          </a:p>
        </p:txBody>
      </p:sp>
      <p:sp>
        <p:nvSpPr>
          <p:cNvPr id="19" name="Oval 18">
            <a:extLst>
              <a:ext uri="{FF2B5EF4-FFF2-40B4-BE49-F238E27FC236}">
                <a16:creationId xmlns:a16="http://schemas.microsoft.com/office/drawing/2014/main" id="{13243249-BF5F-485F-87FF-685850A667B9}"/>
              </a:ext>
            </a:extLst>
          </p:cNvPr>
          <p:cNvSpPr>
            <a:spLocks noGrp="1"/>
          </p:cNvSpPr>
          <p:nvPr/>
        </p:nvSpPr>
        <p:spPr>
          <a:xfrm>
            <a:off x="10668000" y="3200400"/>
            <a:ext cx="457200" cy="457200"/>
          </a:xfrm>
          <a:prstGeom prst="ellipse">
            <a:avLst/>
          </a:prstGeom>
          <a:solidFill>
            <a:srgbClr val="B9D94A"/>
          </a:solidFill>
          <a:ln w="0">
            <a:solidFill>
              <a:srgbClr val="000000">
                <a:alpha val="0"/>
              </a:srgbClr>
            </a:solidFill>
            <a:prstDash val="solid"/>
          </a:ln>
        </p:spPr>
        <p:txBody>
          <a:bodyPr/>
          <a:lstStyle/>
          <a:p>
            <a:endParaRPr lang="en-US"/>
          </a:p>
        </p:txBody>
      </p:sp>
      <p:sp>
        <p:nvSpPr>
          <p:cNvPr id="20" name="Rectangle 19">
            <a:extLst>
              <a:ext uri="{FF2B5EF4-FFF2-40B4-BE49-F238E27FC236}">
                <a16:creationId xmlns:a16="http://schemas.microsoft.com/office/drawing/2014/main" id="{7878E624-9E3A-4AE8-9E42-36C069D9EF38}"/>
              </a:ext>
            </a:extLst>
          </p:cNvPr>
          <p:cNvSpPr>
            <a:spLocks noGrp="1"/>
          </p:cNvSpPr>
          <p:nvPr/>
        </p:nvSpPr>
        <p:spPr>
          <a:xfrm>
            <a:off x="10668000" y="3257550"/>
            <a:ext cx="45720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200" b="1">
                <a:solidFill>
                  <a:srgbClr val="FFFFFF"/>
                </a:solidFill>
                <a:latin typeface="Georgia"/>
                <a:ea typeface="Georgia"/>
                <a:cs typeface="Georgia"/>
              </a:defRPr>
            </a:pPr>
            <a:r>
              <a:rPr sz="1200" b="1">
                <a:solidFill>
                  <a:srgbClr val="FFFFFF"/>
                </a:solidFill>
                <a:latin typeface="Georgia"/>
                <a:ea typeface="Georgia"/>
                <a:cs typeface="Georgia"/>
              </a:rPr>
              <a:t>10</a:t>
            </a:r>
          </a:p>
        </p:txBody>
      </p:sp>
      <p:sp>
        <p:nvSpPr>
          <p:cNvPr id="21" name="Rectangle 20">
            <a:extLst>
              <a:ext uri="{FF2B5EF4-FFF2-40B4-BE49-F238E27FC236}">
                <a16:creationId xmlns:a16="http://schemas.microsoft.com/office/drawing/2014/main" id="{22D8406A-25A2-4B8D-84CB-33095AA5CB28}"/>
              </a:ext>
            </a:extLst>
          </p:cNvPr>
          <p:cNvSpPr>
            <a:spLocks noGrp="1"/>
          </p:cNvSpPr>
          <p:nvPr/>
        </p:nvSpPr>
        <p:spPr>
          <a:xfrm>
            <a:off x="10287000" y="3848100"/>
            <a:ext cx="12192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0">
                <a:solidFill>
                  <a:srgbClr val="DDE5DD"/>
                </a:solidFill>
                <a:latin typeface="Aptos"/>
                <a:ea typeface="Aptos"/>
                <a:cs typeface="Aptos"/>
              </a:defRPr>
            </a:pPr>
            <a:r>
              <a:rPr sz="750" b="0">
                <a:solidFill>
                  <a:srgbClr val="DDE5DD"/>
                </a:solidFill>
                <a:latin typeface="Aptos"/>
                <a:ea typeface="Aptos"/>
                <a:cs typeface="Aptos"/>
              </a:rPr>
              <a:t>10 usi</a:t>
            </a:r>
          </a:p>
        </p:txBody>
      </p:sp>
      <p:sp>
        <p:nvSpPr>
          <p:cNvPr id="22" name="Rectangle 21">
            <a:extLst>
              <a:ext uri="{FF2B5EF4-FFF2-40B4-BE49-F238E27FC236}">
                <a16:creationId xmlns:a16="http://schemas.microsoft.com/office/drawing/2014/main" id="{154048E3-064E-4EAF-8DF6-68610A778135}"/>
              </a:ext>
            </a:extLst>
          </p:cNvPr>
          <p:cNvSpPr>
            <a:spLocks noGrp="1"/>
          </p:cNvSpPr>
          <p:nvPr/>
        </p:nvSpPr>
        <p:spPr>
          <a:xfrm>
            <a:off x="10287000" y="4229100"/>
            <a:ext cx="12192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2025" b="1">
                <a:solidFill>
                  <a:srgbClr val="B9D94A"/>
                </a:solidFill>
                <a:latin typeface="Georgia"/>
                <a:ea typeface="Georgia"/>
                <a:cs typeface="Georgia"/>
              </a:defRPr>
            </a:pPr>
            <a:r>
              <a:rPr sz="2025" b="1">
                <a:solidFill>
                  <a:srgbClr val="B9D94A"/>
                </a:solidFill>
                <a:latin typeface="Georgia"/>
                <a:ea typeface="Georgia"/>
                <a:cs typeface="Georgia"/>
              </a:rPr>
              <a:t>10 €</a:t>
            </a:r>
          </a:p>
        </p:txBody>
      </p:sp>
      <p:sp>
        <p:nvSpPr>
          <p:cNvPr id="23" name="Rectangle 22">
            <a:extLst>
              <a:ext uri="{FF2B5EF4-FFF2-40B4-BE49-F238E27FC236}">
                <a16:creationId xmlns:a16="http://schemas.microsoft.com/office/drawing/2014/main" id="{27F9E4C6-24BE-4214-B937-F138CADB87A5}"/>
              </a:ext>
            </a:extLst>
          </p:cNvPr>
          <p:cNvSpPr>
            <a:spLocks noGrp="1"/>
          </p:cNvSpPr>
          <p:nvPr/>
        </p:nvSpPr>
        <p:spPr>
          <a:xfrm>
            <a:off x="10287000" y="4686300"/>
            <a:ext cx="12192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94ADA2"/>
                </a:solidFill>
                <a:latin typeface="Aptos"/>
                <a:ea typeface="Aptos"/>
                <a:cs typeface="Aptos"/>
              </a:defRPr>
            </a:pPr>
            <a:r>
              <a:rPr sz="638" b="0">
                <a:solidFill>
                  <a:srgbClr val="94ADA2"/>
                </a:solidFill>
                <a:latin typeface="Aptos"/>
                <a:ea typeface="Aptos"/>
                <a:cs typeface="Aptos"/>
              </a:rPr>
              <a:t>cost per wear</a:t>
            </a:r>
          </a:p>
        </p:txBody>
      </p:sp>
      <p:sp>
        <p:nvSpPr>
          <p:cNvPr id="24" name="Rectangle: Rounded Corners 23">
            <a:extLst>
              <a:ext uri="{FF2B5EF4-FFF2-40B4-BE49-F238E27FC236}">
                <a16:creationId xmlns:a16="http://schemas.microsoft.com/office/drawing/2014/main" id="{4367830E-5FA7-4615-BBB3-907646148007}"/>
              </a:ext>
            </a:extLst>
          </p:cNvPr>
          <p:cNvSpPr>
            <a:spLocks noGrp="1"/>
          </p:cNvSpPr>
          <p:nvPr/>
        </p:nvSpPr>
        <p:spPr>
          <a:xfrm>
            <a:off x="2952750" y="5448300"/>
            <a:ext cx="6286500" cy="419100"/>
          </a:xfrm>
          <a:prstGeom prst="roundRect">
            <a:avLst>
              <a:gd name="adj" fmla="val 18182"/>
            </a:avLst>
          </a:prstGeom>
          <a:solidFill>
            <a:srgbClr val="1B4C3D"/>
          </a:solidFill>
          <a:ln w="0">
            <a:solidFill>
              <a:srgbClr val="000000">
                <a:alpha val="0"/>
              </a:srgbClr>
            </a:solidFill>
            <a:prstDash val="solid"/>
          </a:ln>
        </p:spPr>
        <p:txBody>
          <a:bodyPr/>
          <a:lstStyle/>
          <a:p>
            <a:endParaRPr lang="en-US"/>
          </a:p>
        </p:txBody>
      </p:sp>
      <p:sp>
        <p:nvSpPr>
          <p:cNvPr id="25" name="Rectangle 24">
            <a:extLst>
              <a:ext uri="{FF2B5EF4-FFF2-40B4-BE49-F238E27FC236}">
                <a16:creationId xmlns:a16="http://schemas.microsoft.com/office/drawing/2014/main" id="{2824886A-B717-40B4-8A48-6F4B0E64A09F}"/>
              </a:ext>
            </a:extLst>
          </p:cNvPr>
          <p:cNvSpPr>
            <a:spLocks noGrp="1"/>
          </p:cNvSpPr>
          <p:nvPr/>
        </p:nvSpPr>
        <p:spPr>
          <a:xfrm>
            <a:off x="3143250" y="5534025"/>
            <a:ext cx="5905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0">
                <a:solidFill>
                  <a:srgbClr val="DDE5DD"/>
                </a:solidFill>
                <a:latin typeface="Aptos"/>
                <a:ea typeface="Aptos"/>
                <a:cs typeface="Aptos"/>
              </a:defRPr>
            </a:pPr>
            <a:r>
              <a:rPr sz="825" b="0">
                <a:solidFill>
                  <a:srgbClr val="DDE5DD"/>
                </a:solidFill>
                <a:latin typeface="Aptos"/>
                <a:ea typeface="Aptos"/>
                <a:cs typeface="Aptos"/>
              </a:rPr>
              <a:t>È costo per uso, non valore affettivo del capo.</a:t>
            </a:r>
          </a:p>
        </p:txBody>
      </p:sp>
      <p:sp>
        <p:nvSpPr>
          <p:cNvPr id="26" name="Rectangle 25">
            <a:extLst>
              <a:ext uri="{FF2B5EF4-FFF2-40B4-BE49-F238E27FC236}">
                <a16:creationId xmlns:a16="http://schemas.microsoft.com/office/drawing/2014/main" id="{FC6C03E6-5395-4998-9AF1-D10F481CA9C4}"/>
              </a:ext>
            </a:extLst>
          </p:cNvPr>
          <p:cNvSpPr>
            <a:spLocks noGrp="1"/>
          </p:cNvSpPr>
          <p:nvPr/>
        </p:nvSpPr>
        <p:spPr>
          <a:xfrm>
            <a:off x="552450" y="6419850"/>
            <a:ext cx="11087100" cy="9525"/>
          </a:xfrm>
          <a:prstGeom prst="rect">
            <a:avLst/>
          </a:prstGeom>
          <a:solidFill>
            <a:srgbClr val="3F685A"/>
          </a:solidFill>
          <a:ln w="0">
            <a:solidFill>
              <a:srgbClr val="000000">
                <a:alpha val="0"/>
              </a:srgbClr>
            </a:solidFill>
            <a:prstDash val="solid"/>
          </a:ln>
        </p:spPr>
        <p:txBody>
          <a:bodyPr/>
          <a:lstStyle/>
          <a:p>
            <a:endParaRPr lang="en-US"/>
          </a:p>
        </p:txBody>
      </p:sp>
      <p:sp>
        <p:nvSpPr>
          <p:cNvPr id="27" name="Rectangle 26">
            <a:extLst>
              <a:ext uri="{FF2B5EF4-FFF2-40B4-BE49-F238E27FC236}">
                <a16:creationId xmlns:a16="http://schemas.microsoft.com/office/drawing/2014/main" id="{396B033D-0A0E-4C36-B5E0-925A00D9AD96}"/>
              </a:ext>
            </a:extLst>
          </p:cNvPr>
          <p:cNvSpPr>
            <a:spLocks noGrp="1"/>
          </p:cNvSpPr>
          <p:nvPr/>
        </p:nvSpPr>
        <p:spPr>
          <a:xfrm>
            <a:off x="552450" y="6496050"/>
            <a:ext cx="100393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91AA9F"/>
                </a:solidFill>
                <a:latin typeface="Aptos"/>
                <a:ea typeface="Aptos"/>
                <a:cs typeface="Aptos"/>
              </a:defRPr>
            </a:pPr>
            <a:r>
              <a:rPr sz="563" b="0">
                <a:solidFill>
                  <a:srgbClr val="91AA9F"/>
                </a:solidFill>
                <a:latin typeface="Aptos"/>
                <a:ea typeface="Aptos"/>
                <a:cs typeface="Aptos"/>
              </a:rPr>
              <a:t>Formula trasparente · accuratezza dipende dalla registrazione degli utilizzi</a:t>
            </a:r>
          </a:p>
        </p:txBody>
      </p:sp>
      <p:sp>
        <p:nvSpPr>
          <p:cNvPr id="28" name="Rectangle 27">
            <a:extLst>
              <a:ext uri="{FF2B5EF4-FFF2-40B4-BE49-F238E27FC236}">
                <a16:creationId xmlns:a16="http://schemas.microsoft.com/office/drawing/2014/main" id="{CCEEA06D-9386-4AC5-9566-D7351C3446EC}"/>
              </a:ext>
            </a:extLst>
          </p:cNvPr>
          <p:cNvSpPr>
            <a:spLocks noGrp="1"/>
          </p:cNvSpPr>
          <p:nvPr/>
        </p:nvSpPr>
        <p:spPr>
          <a:xfrm>
            <a:off x="11049000" y="6477000"/>
            <a:ext cx="590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91AA9F"/>
                </a:solidFill>
                <a:latin typeface="Georgia"/>
                <a:ea typeface="Georgia"/>
                <a:cs typeface="Georgia"/>
              </a:defRPr>
            </a:pPr>
            <a:r>
              <a:rPr sz="750" b="1">
                <a:solidFill>
                  <a:srgbClr val="91AA9F"/>
                </a:solidFill>
                <a:latin typeface="Georgia"/>
                <a:ea typeface="Georgia"/>
                <a:cs typeface="Georgia"/>
              </a:rPr>
              <a:t>04</a:t>
            </a:r>
          </a:p>
        </p:txBody>
      </p:sp>
    </p:spTree>
    <p:extLst>
      <p:ext uri="{BB962C8B-B14F-4D97-AF65-F5344CB8AC3E}">
        <p14:creationId xmlns:p14="http://schemas.microsoft.com/office/powerpoint/2010/main" val="15034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background">
            <a:extLst>
              <a:ext uri="{FF2B5EF4-FFF2-40B4-BE49-F238E27FC236}">
                <a16:creationId xmlns:a16="http://schemas.microsoft.com/office/drawing/2014/main" id="{C6F3B38A-0B52-4A25-A7D0-9FFB37811A83}"/>
              </a:ext>
            </a:extLst>
          </p:cNvPr>
          <p:cNvSpPr>
            <a:spLocks noGrp="1"/>
          </p:cNvSpPr>
          <p:nvPr/>
        </p:nvSpPr>
        <p:spPr>
          <a:xfrm>
            <a:off x="0" y="0"/>
            <a:ext cx="12192000" cy="6858000"/>
          </a:xfrm>
          <a:prstGeom prst="rect">
            <a:avLst/>
          </a:prstGeom>
          <a:solidFill>
            <a:srgbClr val="F4F0E7"/>
          </a:solidFill>
          <a:ln w="0">
            <a:solidFill>
              <a:srgbClr val="000000">
                <a:alpha val="0"/>
              </a:srgbClr>
            </a:solidFill>
            <a:prstDash val="solid"/>
          </a:ln>
        </p:spPr>
        <p:txBody>
          <a:bodyPr/>
          <a:lstStyle/>
          <a:p>
            <a:endParaRPr lang="en-US"/>
          </a:p>
        </p:txBody>
      </p:sp>
      <p:sp>
        <p:nvSpPr>
          <p:cNvPr id="2" name="Oval 1">
            <a:extLst>
              <a:ext uri="{FF2B5EF4-FFF2-40B4-BE49-F238E27FC236}">
                <a16:creationId xmlns:a16="http://schemas.microsoft.com/office/drawing/2014/main" id="{D015669C-D211-41FD-AA12-0657BE666F38}"/>
              </a:ext>
            </a:extLst>
          </p:cNvPr>
          <p:cNvSpPr>
            <a:spLocks noGrp="1"/>
          </p:cNvSpPr>
          <p:nvPr/>
        </p:nvSpPr>
        <p:spPr>
          <a:xfrm>
            <a:off x="552450" y="409575"/>
            <a:ext cx="85725" cy="85725"/>
          </a:xfrm>
          <a:prstGeom prst="ellipse">
            <a:avLst/>
          </a:prstGeom>
          <a:solidFill>
            <a:srgbClr val="2F7D5B"/>
          </a:solidFill>
          <a:ln w="0">
            <a:solidFill>
              <a:srgbClr val="000000">
                <a:alpha val="0"/>
              </a:srgbClr>
            </a:solidFill>
            <a:prstDash val="solid"/>
          </a:ln>
        </p:spPr>
        <p:txBody>
          <a:bodyPr/>
          <a:lstStyle/>
          <a:p>
            <a:endParaRPr lang="en-US"/>
          </a:p>
        </p:txBody>
      </p:sp>
      <p:sp>
        <p:nvSpPr>
          <p:cNvPr id="3" name="Rectangle 2">
            <a:extLst>
              <a:ext uri="{FF2B5EF4-FFF2-40B4-BE49-F238E27FC236}">
                <a16:creationId xmlns:a16="http://schemas.microsoft.com/office/drawing/2014/main" id="{5F3F55C4-653A-4875-A877-60835C9B01C8}"/>
              </a:ext>
            </a:extLst>
          </p:cNvPr>
          <p:cNvSpPr>
            <a:spLocks noGrp="1"/>
          </p:cNvSpPr>
          <p:nvPr/>
        </p:nvSpPr>
        <p:spPr>
          <a:xfrm>
            <a:off x="742950" y="361950"/>
            <a:ext cx="666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65736B"/>
                </a:solidFill>
                <a:latin typeface="Aptos"/>
                <a:ea typeface="Aptos"/>
                <a:cs typeface="Aptos"/>
              </a:defRPr>
            </a:pPr>
            <a:r>
              <a:rPr sz="638" b="1">
                <a:solidFill>
                  <a:srgbClr val="65736B"/>
                </a:solidFill>
                <a:latin typeface="Aptos"/>
                <a:ea typeface="Aptos"/>
                <a:cs typeface="Aptos"/>
              </a:rPr>
              <a:t>U S E R   S T O R Y   ·   S C E G L I E</a:t>
            </a:r>
          </a:p>
        </p:txBody>
      </p:sp>
      <p:sp>
        <p:nvSpPr>
          <p:cNvPr id="4" name="claim-title">
            <a:extLst>
              <a:ext uri="{FF2B5EF4-FFF2-40B4-BE49-F238E27FC236}">
                <a16:creationId xmlns:a16="http://schemas.microsoft.com/office/drawing/2014/main" id="{1649BCEE-FE9D-4EBF-BD86-04E80F4A2E8B}"/>
              </a:ext>
            </a:extLst>
          </p:cNvPr>
          <p:cNvSpPr>
            <a:spLocks noGrp="1"/>
          </p:cNvSpPr>
          <p:nvPr/>
        </p:nvSpPr>
        <p:spPr>
          <a:xfrm>
            <a:off x="552450" y="742950"/>
            <a:ext cx="10287000" cy="914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925" b="1">
                <a:solidFill>
                  <a:srgbClr val="17211D"/>
                </a:solidFill>
                <a:latin typeface="Georgia"/>
                <a:ea typeface="Georgia"/>
                <a:cs typeface="Georgia"/>
              </a:defRPr>
            </a:pPr>
            <a:r>
              <a:rPr sz="2925" b="1">
                <a:solidFill>
                  <a:srgbClr val="17211D"/>
                </a:solidFill>
                <a:latin typeface="Georgia"/>
                <a:ea typeface="Georgia"/>
                <a:cs typeface="Georgia"/>
              </a:rPr>
              <a:t>L’outfit di oggi recupera ciò che Marta possiede già.</a:t>
            </a:r>
          </a:p>
        </p:txBody>
      </p:sp>
      <p:sp>
        <p:nvSpPr>
          <p:cNvPr id="5" name="Rectangle: Rounded Corners 4">
            <a:extLst>
              <a:ext uri="{FF2B5EF4-FFF2-40B4-BE49-F238E27FC236}">
                <a16:creationId xmlns:a16="http://schemas.microsoft.com/office/drawing/2014/main" id="{90F4351F-5A7B-4F94-8BA6-43296B8B2445}"/>
              </a:ext>
            </a:extLst>
          </p:cNvPr>
          <p:cNvSpPr>
            <a:spLocks noGrp="1"/>
          </p:cNvSpPr>
          <p:nvPr/>
        </p:nvSpPr>
        <p:spPr>
          <a:xfrm>
            <a:off x="552450" y="2190750"/>
            <a:ext cx="1943100" cy="2457450"/>
          </a:xfrm>
          <a:prstGeom prst="roundRect">
            <a:avLst>
              <a:gd name="adj" fmla="val 3922"/>
            </a:avLst>
          </a:prstGeom>
          <a:solidFill>
            <a:srgbClr val="FFFFFF"/>
          </a:solidFill>
          <a:ln w="9525">
            <a:solidFill>
              <a:srgbClr val="B9C3BB"/>
            </a:solidFill>
            <a:prstDash val="solid"/>
          </a:ln>
        </p:spPr>
        <p:txBody>
          <a:bodyPr/>
          <a:lstStyle/>
          <a:p>
            <a:endParaRPr lang="en-US"/>
          </a:p>
        </p:txBody>
      </p:sp>
      <p:sp>
        <p:nvSpPr>
          <p:cNvPr id="6" name="Rectangle 5">
            <a:extLst>
              <a:ext uri="{FF2B5EF4-FFF2-40B4-BE49-F238E27FC236}">
                <a16:creationId xmlns:a16="http://schemas.microsoft.com/office/drawing/2014/main" id="{9B5D6915-091B-426F-B366-B9B1142FDC6E}"/>
              </a:ext>
            </a:extLst>
          </p:cNvPr>
          <p:cNvSpPr>
            <a:spLocks noGrp="1"/>
          </p:cNvSpPr>
          <p:nvPr/>
        </p:nvSpPr>
        <p:spPr>
          <a:xfrm>
            <a:off x="1143000" y="2457450"/>
            <a:ext cx="762000" cy="8382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3750" b="1">
                <a:solidFill>
                  <a:srgbClr val="17211D"/>
                </a:solidFill>
                <a:latin typeface="Georgia"/>
                <a:ea typeface="Georgia"/>
                <a:cs typeface="Georgia"/>
              </a:defRPr>
            </a:pPr>
            <a:r>
              <a:rPr sz="3750" b="1">
                <a:solidFill>
                  <a:srgbClr val="17211D"/>
                </a:solidFill>
                <a:latin typeface="Georgia"/>
                <a:ea typeface="Georgia"/>
                <a:cs typeface="Georgia"/>
              </a:rPr>
              <a:t>T</a:t>
            </a:r>
          </a:p>
        </p:txBody>
      </p:sp>
      <p:sp>
        <p:nvSpPr>
          <p:cNvPr id="7" name="Rectangle 6">
            <a:extLst>
              <a:ext uri="{FF2B5EF4-FFF2-40B4-BE49-F238E27FC236}">
                <a16:creationId xmlns:a16="http://schemas.microsoft.com/office/drawing/2014/main" id="{86018C0C-242A-4F24-90B3-D373489F9E24}"/>
              </a:ext>
            </a:extLst>
          </p:cNvPr>
          <p:cNvSpPr>
            <a:spLocks noGrp="1"/>
          </p:cNvSpPr>
          <p:nvPr/>
        </p:nvSpPr>
        <p:spPr>
          <a:xfrm>
            <a:off x="723900" y="3581400"/>
            <a:ext cx="160020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200" b="1">
                <a:solidFill>
                  <a:srgbClr val="17211D"/>
                </a:solidFill>
                <a:latin typeface="Georgia"/>
                <a:ea typeface="Georgia"/>
                <a:cs typeface="Georgia"/>
              </a:defRPr>
            </a:pPr>
            <a:r>
              <a:rPr sz="1200" b="1">
                <a:solidFill>
                  <a:srgbClr val="17211D"/>
                </a:solidFill>
                <a:latin typeface="Georgia"/>
                <a:ea typeface="Georgia"/>
                <a:cs typeface="Georgia"/>
              </a:rPr>
              <a:t>Camicia bianca</a:t>
            </a:r>
          </a:p>
        </p:txBody>
      </p:sp>
      <p:sp>
        <p:nvSpPr>
          <p:cNvPr id="8" name="Rectangle 7">
            <a:extLst>
              <a:ext uri="{FF2B5EF4-FFF2-40B4-BE49-F238E27FC236}">
                <a16:creationId xmlns:a16="http://schemas.microsoft.com/office/drawing/2014/main" id="{758DF686-D519-409D-B073-BC3AF1E94DEC}"/>
              </a:ext>
            </a:extLst>
          </p:cNvPr>
          <p:cNvSpPr>
            <a:spLocks noGrp="1"/>
          </p:cNvSpPr>
          <p:nvPr/>
        </p:nvSpPr>
        <p:spPr>
          <a:xfrm>
            <a:off x="723900" y="4038600"/>
            <a:ext cx="16002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0">
                <a:solidFill>
                  <a:srgbClr val="17211D"/>
                </a:solidFill>
                <a:latin typeface="Aptos"/>
                <a:ea typeface="Aptos"/>
                <a:cs typeface="Aptos"/>
              </a:defRPr>
            </a:pPr>
            <a:r>
              <a:rPr sz="675" b="0">
                <a:solidFill>
                  <a:srgbClr val="17211D"/>
                </a:solidFill>
                <a:latin typeface="Aptos"/>
                <a:ea typeface="Aptos"/>
                <a:cs typeface="Aptos"/>
              </a:rPr>
              <a:t>top</a:t>
            </a:r>
          </a:p>
        </p:txBody>
      </p:sp>
      <p:sp>
        <p:nvSpPr>
          <p:cNvPr id="9" name="Rectangle: Rounded Corners 8">
            <a:extLst>
              <a:ext uri="{FF2B5EF4-FFF2-40B4-BE49-F238E27FC236}">
                <a16:creationId xmlns:a16="http://schemas.microsoft.com/office/drawing/2014/main" id="{E2B081FE-12CA-4B25-81B4-6F2D8982CB97}"/>
              </a:ext>
            </a:extLst>
          </p:cNvPr>
          <p:cNvSpPr>
            <a:spLocks noGrp="1"/>
          </p:cNvSpPr>
          <p:nvPr/>
        </p:nvSpPr>
        <p:spPr>
          <a:xfrm>
            <a:off x="2819400" y="2190750"/>
            <a:ext cx="1943100" cy="2457450"/>
          </a:xfrm>
          <a:prstGeom prst="roundRect">
            <a:avLst>
              <a:gd name="adj" fmla="val 3922"/>
            </a:avLst>
          </a:prstGeom>
          <a:solidFill>
            <a:srgbClr val="466D86"/>
          </a:solidFill>
          <a:ln w="9525">
            <a:solidFill>
              <a:srgbClr val="466D86"/>
            </a:solidFill>
            <a:prstDash val="solid"/>
          </a:ln>
        </p:spPr>
        <p:txBody>
          <a:bodyPr/>
          <a:lstStyle/>
          <a:p>
            <a:endParaRPr lang="en-US"/>
          </a:p>
        </p:txBody>
      </p:sp>
      <p:sp>
        <p:nvSpPr>
          <p:cNvPr id="10" name="Rectangle 9">
            <a:extLst>
              <a:ext uri="{FF2B5EF4-FFF2-40B4-BE49-F238E27FC236}">
                <a16:creationId xmlns:a16="http://schemas.microsoft.com/office/drawing/2014/main" id="{8A11BEDE-1BFE-401F-9703-9884066CD89D}"/>
              </a:ext>
            </a:extLst>
          </p:cNvPr>
          <p:cNvSpPr>
            <a:spLocks noGrp="1"/>
          </p:cNvSpPr>
          <p:nvPr/>
        </p:nvSpPr>
        <p:spPr>
          <a:xfrm>
            <a:off x="3409950" y="2457450"/>
            <a:ext cx="762000" cy="8382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3750" b="1">
                <a:solidFill>
                  <a:srgbClr val="FFFFFF"/>
                </a:solidFill>
                <a:latin typeface="Georgia"/>
                <a:ea typeface="Georgia"/>
                <a:cs typeface="Georgia"/>
              </a:defRPr>
            </a:pPr>
            <a:r>
              <a:rPr sz="3750" b="1">
                <a:solidFill>
                  <a:srgbClr val="FFFFFF"/>
                </a:solidFill>
                <a:latin typeface="Georgia"/>
                <a:ea typeface="Georgia"/>
                <a:cs typeface="Georgia"/>
              </a:rPr>
              <a:t>J</a:t>
            </a:r>
          </a:p>
        </p:txBody>
      </p:sp>
      <p:sp>
        <p:nvSpPr>
          <p:cNvPr id="11" name="Rectangle 10">
            <a:extLst>
              <a:ext uri="{FF2B5EF4-FFF2-40B4-BE49-F238E27FC236}">
                <a16:creationId xmlns:a16="http://schemas.microsoft.com/office/drawing/2014/main" id="{BF853C19-52DE-4F71-8604-D3D72FB26056}"/>
              </a:ext>
            </a:extLst>
          </p:cNvPr>
          <p:cNvSpPr>
            <a:spLocks noGrp="1"/>
          </p:cNvSpPr>
          <p:nvPr/>
        </p:nvSpPr>
        <p:spPr>
          <a:xfrm>
            <a:off x="2990850" y="3581400"/>
            <a:ext cx="160020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200" b="1">
                <a:solidFill>
                  <a:srgbClr val="FFFFFF"/>
                </a:solidFill>
                <a:latin typeface="Georgia"/>
                <a:ea typeface="Georgia"/>
                <a:cs typeface="Georgia"/>
              </a:defRPr>
            </a:pPr>
            <a:r>
              <a:rPr sz="1200" b="1">
                <a:solidFill>
                  <a:srgbClr val="FFFFFF"/>
                </a:solidFill>
                <a:latin typeface="Georgia"/>
                <a:ea typeface="Georgia"/>
                <a:cs typeface="Georgia"/>
              </a:rPr>
              <a:t>Jeans blu</a:t>
            </a:r>
          </a:p>
        </p:txBody>
      </p:sp>
      <p:sp>
        <p:nvSpPr>
          <p:cNvPr id="12" name="Rectangle 11">
            <a:extLst>
              <a:ext uri="{FF2B5EF4-FFF2-40B4-BE49-F238E27FC236}">
                <a16:creationId xmlns:a16="http://schemas.microsoft.com/office/drawing/2014/main" id="{B2D8F05E-9A30-4AB5-88AA-82EE5D4FB4A7}"/>
              </a:ext>
            </a:extLst>
          </p:cNvPr>
          <p:cNvSpPr>
            <a:spLocks noGrp="1"/>
          </p:cNvSpPr>
          <p:nvPr/>
        </p:nvSpPr>
        <p:spPr>
          <a:xfrm>
            <a:off x="2990850" y="4038600"/>
            <a:ext cx="16002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0">
                <a:solidFill>
                  <a:srgbClr val="FFFFFF"/>
                </a:solidFill>
                <a:latin typeface="Aptos"/>
                <a:ea typeface="Aptos"/>
                <a:cs typeface="Aptos"/>
              </a:defRPr>
            </a:pPr>
            <a:r>
              <a:rPr sz="675" b="0">
                <a:solidFill>
                  <a:srgbClr val="FFFFFF"/>
                </a:solidFill>
                <a:latin typeface="Aptos"/>
                <a:ea typeface="Aptos"/>
                <a:cs typeface="Aptos"/>
              </a:rPr>
              <a:t>bottom</a:t>
            </a:r>
          </a:p>
        </p:txBody>
      </p:sp>
      <p:sp>
        <p:nvSpPr>
          <p:cNvPr id="13" name="Rectangle: Rounded Corners 12">
            <a:extLst>
              <a:ext uri="{FF2B5EF4-FFF2-40B4-BE49-F238E27FC236}">
                <a16:creationId xmlns:a16="http://schemas.microsoft.com/office/drawing/2014/main" id="{30949BFC-C800-434A-B791-E99145C9ABAC}"/>
              </a:ext>
            </a:extLst>
          </p:cNvPr>
          <p:cNvSpPr>
            <a:spLocks noGrp="1"/>
          </p:cNvSpPr>
          <p:nvPr/>
        </p:nvSpPr>
        <p:spPr>
          <a:xfrm>
            <a:off x="5086350" y="2190750"/>
            <a:ext cx="1943100" cy="2457450"/>
          </a:xfrm>
          <a:prstGeom prst="roundRect">
            <a:avLst>
              <a:gd name="adj" fmla="val 3922"/>
            </a:avLst>
          </a:prstGeom>
          <a:solidFill>
            <a:srgbClr val="2F7D5B"/>
          </a:solidFill>
          <a:ln w="9525">
            <a:solidFill>
              <a:srgbClr val="2F7D5B"/>
            </a:solidFill>
            <a:prstDash val="solid"/>
          </a:ln>
        </p:spPr>
        <p:txBody>
          <a:bodyPr/>
          <a:lstStyle/>
          <a:p>
            <a:endParaRPr lang="en-US"/>
          </a:p>
        </p:txBody>
      </p:sp>
      <p:sp>
        <p:nvSpPr>
          <p:cNvPr id="14" name="Rectangle 13">
            <a:extLst>
              <a:ext uri="{FF2B5EF4-FFF2-40B4-BE49-F238E27FC236}">
                <a16:creationId xmlns:a16="http://schemas.microsoft.com/office/drawing/2014/main" id="{A17CFF02-187E-4E3D-A381-E14B9411DDC6}"/>
              </a:ext>
            </a:extLst>
          </p:cNvPr>
          <p:cNvSpPr>
            <a:spLocks noGrp="1"/>
          </p:cNvSpPr>
          <p:nvPr/>
        </p:nvSpPr>
        <p:spPr>
          <a:xfrm>
            <a:off x="5676900" y="2457450"/>
            <a:ext cx="762000" cy="8382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3750" b="1">
                <a:solidFill>
                  <a:srgbClr val="FFFFFF"/>
                </a:solidFill>
                <a:latin typeface="Georgia"/>
                <a:ea typeface="Georgia"/>
                <a:cs typeface="Georgia"/>
              </a:defRPr>
            </a:pPr>
            <a:r>
              <a:rPr sz="3750" b="1">
                <a:solidFill>
                  <a:srgbClr val="FFFFFF"/>
                </a:solidFill>
                <a:latin typeface="Georgia"/>
                <a:ea typeface="Georgia"/>
                <a:cs typeface="Georgia"/>
              </a:rPr>
              <a:t>G</a:t>
            </a:r>
          </a:p>
        </p:txBody>
      </p:sp>
      <p:sp>
        <p:nvSpPr>
          <p:cNvPr id="15" name="Rectangle 14">
            <a:extLst>
              <a:ext uri="{FF2B5EF4-FFF2-40B4-BE49-F238E27FC236}">
                <a16:creationId xmlns:a16="http://schemas.microsoft.com/office/drawing/2014/main" id="{C5F4CC06-B43A-41B3-BB2F-F1C1313DFA74}"/>
              </a:ext>
            </a:extLst>
          </p:cNvPr>
          <p:cNvSpPr>
            <a:spLocks noGrp="1"/>
          </p:cNvSpPr>
          <p:nvPr/>
        </p:nvSpPr>
        <p:spPr>
          <a:xfrm>
            <a:off x="5257800" y="3581400"/>
            <a:ext cx="160020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200" b="1">
                <a:solidFill>
                  <a:srgbClr val="FFFFFF"/>
                </a:solidFill>
                <a:latin typeface="Georgia"/>
                <a:ea typeface="Georgia"/>
                <a:cs typeface="Georgia"/>
              </a:defRPr>
            </a:pPr>
            <a:r>
              <a:rPr sz="1200" b="1">
                <a:solidFill>
                  <a:srgbClr val="FFFFFF"/>
                </a:solidFill>
                <a:latin typeface="Georgia"/>
                <a:ea typeface="Georgia"/>
                <a:cs typeface="Georgia"/>
              </a:rPr>
              <a:t>Giacca verde</a:t>
            </a:r>
          </a:p>
        </p:txBody>
      </p:sp>
      <p:sp>
        <p:nvSpPr>
          <p:cNvPr id="16" name="Rectangle 15">
            <a:extLst>
              <a:ext uri="{FF2B5EF4-FFF2-40B4-BE49-F238E27FC236}">
                <a16:creationId xmlns:a16="http://schemas.microsoft.com/office/drawing/2014/main" id="{50A3C912-395B-4FC4-96A5-B5145F3575A4}"/>
              </a:ext>
            </a:extLst>
          </p:cNvPr>
          <p:cNvSpPr>
            <a:spLocks noGrp="1"/>
          </p:cNvSpPr>
          <p:nvPr/>
        </p:nvSpPr>
        <p:spPr>
          <a:xfrm>
            <a:off x="5257800" y="4038600"/>
            <a:ext cx="16002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0">
                <a:solidFill>
                  <a:srgbClr val="FFFFFF"/>
                </a:solidFill>
                <a:latin typeface="Aptos"/>
                <a:ea typeface="Aptos"/>
                <a:cs typeface="Aptos"/>
              </a:defRPr>
            </a:pPr>
            <a:r>
              <a:rPr sz="675" b="0">
                <a:solidFill>
                  <a:srgbClr val="FFFFFF"/>
                </a:solidFill>
                <a:latin typeface="Aptos"/>
                <a:ea typeface="Aptos"/>
                <a:cs typeface="Aptos"/>
              </a:rPr>
              <a:t>capospalla</a:t>
            </a:r>
          </a:p>
        </p:txBody>
      </p:sp>
      <p:sp>
        <p:nvSpPr>
          <p:cNvPr id="17" name="Rectangle: Rounded Corners 16">
            <a:extLst>
              <a:ext uri="{FF2B5EF4-FFF2-40B4-BE49-F238E27FC236}">
                <a16:creationId xmlns:a16="http://schemas.microsoft.com/office/drawing/2014/main" id="{81263335-830B-4AB6-9D79-D19176F429EE}"/>
              </a:ext>
            </a:extLst>
          </p:cNvPr>
          <p:cNvSpPr>
            <a:spLocks noGrp="1"/>
          </p:cNvSpPr>
          <p:nvPr/>
        </p:nvSpPr>
        <p:spPr>
          <a:xfrm>
            <a:off x="7677150" y="2190750"/>
            <a:ext cx="3962400" cy="2952750"/>
          </a:xfrm>
          <a:prstGeom prst="roundRect">
            <a:avLst>
              <a:gd name="adj" fmla="val 2581"/>
            </a:avLst>
          </a:prstGeom>
          <a:solidFill>
            <a:srgbClr val="123C31"/>
          </a:solidFill>
          <a:ln w="9525">
            <a:solidFill>
              <a:srgbClr val="123C31"/>
            </a:solidFill>
            <a:prstDash val="solid"/>
          </a:ln>
        </p:spPr>
        <p:txBody>
          <a:bodyPr/>
          <a:lstStyle/>
          <a:p>
            <a:endParaRPr lang="en-US"/>
          </a:p>
        </p:txBody>
      </p:sp>
      <p:sp>
        <p:nvSpPr>
          <p:cNvPr id="18" name="Rectangle 17">
            <a:extLst>
              <a:ext uri="{FF2B5EF4-FFF2-40B4-BE49-F238E27FC236}">
                <a16:creationId xmlns:a16="http://schemas.microsoft.com/office/drawing/2014/main" id="{A25B3826-629A-4740-9D36-9A5410EC61DE}"/>
              </a:ext>
            </a:extLst>
          </p:cNvPr>
          <p:cNvSpPr>
            <a:spLocks noGrp="1"/>
          </p:cNvSpPr>
          <p:nvPr/>
        </p:nvSpPr>
        <p:spPr>
          <a:xfrm>
            <a:off x="7943850" y="2438400"/>
            <a:ext cx="1905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B9D94A"/>
                </a:solidFill>
                <a:latin typeface="Aptos"/>
                <a:ea typeface="Aptos"/>
                <a:cs typeface="Aptos"/>
              </a:defRPr>
            </a:pPr>
            <a:r>
              <a:rPr sz="675" b="1">
                <a:solidFill>
                  <a:srgbClr val="B9D94A"/>
                </a:solidFill>
                <a:latin typeface="Aptos"/>
                <a:ea typeface="Aptos"/>
                <a:cs typeface="Aptos"/>
              </a:rPr>
              <a:t>PERCHÉ QUESTA?</a:t>
            </a:r>
          </a:p>
        </p:txBody>
      </p:sp>
      <p:sp>
        <p:nvSpPr>
          <p:cNvPr id="19" name="Oval 18">
            <a:extLst>
              <a:ext uri="{FF2B5EF4-FFF2-40B4-BE49-F238E27FC236}">
                <a16:creationId xmlns:a16="http://schemas.microsoft.com/office/drawing/2014/main" id="{4CEA1D3A-F64C-4B2E-85FD-40D2E405B141}"/>
              </a:ext>
            </a:extLst>
          </p:cNvPr>
          <p:cNvSpPr>
            <a:spLocks noGrp="1"/>
          </p:cNvSpPr>
          <p:nvPr/>
        </p:nvSpPr>
        <p:spPr>
          <a:xfrm>
            <a:off x="7943850" y="2952750"/>
            <a:ext cx="152400" cy="152400"/>
          </a:xfrm>
          <a:prstGeom prst="ellipse">
            <a:avLst/>
          </a:prstGeom>
          <a:solidFill>
            <a:srgbClr val="2F7D5B"/>
          </a:solidFill>
          <a:ln w="0">
            <a:solidFill>
              <a:srgbClr val="000000">
                <a:alpha val="0"/>
              </a:srgbClr>
            </a:solidFill>
            <a:prstDash val="solid"/>
          </a:ln>
        </p:spPr>
        <p:txBody>
          <a:bodyPr/>
          <a:lstStyle/>
          <a:p>
            <a:endParaRPr lang="en-US"/>
          </a:p>
        </p:txBody>
      </p:sp>
      <p:sp>
        <p:nvSpPr>
          <p:cNvPr id="20" name="Rectangle 19">
            <a:extLst>
              <a:ext uri="{FF2B5EF4-FFF2-40B4-BE49-F238E27FC236}">
                <a16:creationId xmlns:a16="http://schemas.microsoft.com/office/drawing/2014/main" id="{8A9948B5-7E2E-4AF3-B4FA-5AFB685B0B5B}"/>
              </a:ext>
            </a:extLst>
          </p:cNvPr>
          <p:cNvSpPr>
            <a:spLocks noGrp="1"/>
          </p:cNvSpPr>
          <p:nvPr/>
        </p:nvSpPr>
        <p:spPr>
          <a:xfrm>
            <a:off x="8229600" y="2895600"/>
            <a:ext cx="1333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FFFFFF"/>
                </a:solidFill>
                <a:latin typeface="Aptos"/>
                <a:ea typeface="Aptos"/>
                <a:cs typeface="Aptos"/>
              </a:defRPr>
            </a:pPr>
            <a:r>
              <a:rPr sz="900" b="1">
                <a:solidFill>
                  <a:srgbClr val="FFFFFF"/>
                </a:solidFill>
                <a:latin typeface="Aptos"/>
                <a:ea typeface="Aptos"/>
                <a:cs typeface="Aptos"/>
              </a:rPr>
              <a:t>Palette</a:t>
            </a:r>
          </a:p>
        </p:txBody>
      </p:sp>
      <p:sp>
        <p:nvSpPr>
          <p:cNvPr id="21" name="Rectangle 20">
            <a:extLst>
              <a:ext uri="{FF2B5EF4-FFF2-40B4-BE49-F238E27FC236}">
                <a16:creationId xmlns:a16="http://schemas.microsoft.com/office/drawing/2014/main" id="{E887B0F7-A59B-4888-8BCC-80EBFC7FC1B2}"/>
              </a:ext>
            </a:extLst>
          </p:cNvPr>
          <p:cNvSpPr>
            <a:spLocks noGrp="1"/>
          </p:cNvSpPr>
          <p:nvPr/>
        </p:nvSpPr>
        <p:spPr>
          <a:xfrm>
            <a:off x="8229600" y="3143250"/>
            <a:ext cx="285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DDE5DD"/>
                </a:solidFill>
                <a:latin typeface="Aptos"/>
                <a:ea typeface="Aptos"/>
                <a:cs typeface="Aptos"/>
              </a:defRPr>
            </a:pPr>
            <a:r>
              <a:rPr sz="713" b="0">
                <a:solidFill>
                  <a:srgbClr val="DDE5DD"/>
                </a:solidFill>
                <a:latin typeface="Aptos"/>
                <a:ea typeface="Aptos"/>
                <a:cs typeface="Aptos"/>
              </a:rPr>
              <a:t>colori compatibili</a:t>
            </a:r>
          </a:p>
        </p:txBody>
      </p:sp>
      <p:sp>
        <p:nvSpPr>
          <p:cNvPr id="22" name="Oval 21">
            <a:extLst>
              <a:ext uri="{FF2B5EF4-FFF2-40B4-BE49-F238E27FC236}">
                <a16:creationId xmlns:a16="http://schemas.microsoft.com/office/drawing/2014/main" id="{7BFE7206-07B9-49E3-B7F8-904F31701FAD}"/>
              </a:ext>
            </a:extLst>
          </p:cNvPr>
          <p:cNvSpPr>
            <a:spLocks noGrp="1"/>
          </p:cNvSpPr>
          <p:nvPr/>
        </p:nvSpPr>
        <p:spPr>
          <a:xfrm>
            <a:off x="7943850" y="3581400"/>
            <a:ext cx="152400" cy="152400"/>
          </a:xfrm>
          <a:prstGeom prst="ellipse">
            <a:avLst/>
          </a:prstGeom>
          <a:solidFill>
            <a:srgbClr val="466D86"/>
          </a:solidFill>
          <a:ln w="0">
            <a:solidFill>
              <a:srgbClr val="000000">
                <a:alpha val="0"/>
              </a:srgbClr>
            </a:solidFill>
            <a:prstDash val="solid"/>
          </a:ln>
        </p:spPr>
        <p:txBody>
          <a:bodyPr/>
          <a:lstStyle/>
          <a:p>
            <a:endParaRPr lang="en-US"/>
          </a:p>
        </p:txBody>
      </p:sp>
      <p:sp>
        <p:nvSpPr>
          <p:cNvPr id="23" name="Rectangle 22">
            <a:extLst>
              <a:ext uri="{FF2B5EF4-FFF2-40B4-BE49-F238E27FC236}">
                <a16:creationId xmlns:a16="http://schemas.microsoft.com/office/drawing/2014/main" id="{1A3449AA-8B2F-442C-9931-F0AB35DE0CD7}"/>
              </a:ext>
            </a:extLst>
          </p:cNvPr>
          <p:cNvSpPr>
            <a:spLocks noGrp="1"/>
          </p:cNvSpPr>
          <p:nvPr/>
        </p:nvSpPr>
        <p:spPr>
          <a:xfrm>
            <a:off x="8229600" y="3524250"/>
            <a:ext cx="1333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FFFFFF"/>
                </a:solidFill>
                <a:latin typeface="Aptos"/>
                <a:ea typeface="Aptos"/>
                <a:cs typeface="Aptos"/>
              </a:defRPr>
            </a:pPr>
            <a:r>
              <a:rPr sz="900" b="1">
                <a:solidFill>
                  <a:srgbClr val="FFFFFF"/>
                </a:solidFill>
                <a:latin typeface="Aptos"/>
                <a:ea typeface="Aptos"/>
                <a:cs typeface="Aptos"/>
              </a:rPr>
              <a:t>Meteo</a:t>
            </a:r>
          </a:p>
        </p:txBody>
      </p:sp>
      <p:sp>
        <p:nvSpPr>
          <p:cNvPr id="24" name="Rectangle 23">
            <a:extLst>
              <a:ext uri="{FF2B5EF4-FFF2-40B4-BE49-F238E27FC236}">
                <a16:creationId xmlns:a16="http://schemas.microsoft.com/office/drawing/2014/main" id="{9753148B-4444-46C6-8842-F53FE35F8023}"/>
              </a:ext>
            </a:extLst>
          </p:cNvPr>
          <p:cNvSpPr>
            <a:spLocks noGrp="1"/>
          </p:cNvSpPr>
          <p:nvPr/>
        </p:nvSpPr>
        <p:spPr>
          <a:xfrm>
            <a:off x="8229600" y="3771900"/>
            <a:ext cx="285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DDE5DD"/>
                </a:solidFill>
                <a:latin typeface="Aptos"/>
                <a:ea typeface="Aptos"/>
                <a:cs typeface="Aptos"/>
              </a:defRPr>
            </a:pPr>
            <a:r>
              <a:rPr sz="713" b="0">
                <a:solidFill>
                  <a:srgbClr val="DDE5DD"/>
                </a:solidFill>
                <a:latin typeface="Aptos"/>
                <a:ea typeface="Aptos"/>
                <a:cs typeface="Aptos"/>
              </a:rPr>
              <a:t>adatto alla giornata</a:t>
            </a:r>
          </a:p>
        </p:txBody>
      </p:sp>
      <p:sp>
        <p:nvSpPr>
          <p:cNvPr id="25" name="Oval 24">
            <a:extLst>
              <a:ext uri="{FF2B5EF4-FFF2-40B4-BE49-F238E27FC236}">
                <a16:creationId xmlns:a16="http://schemas.microsoft.com/office/drawing/2014/main" id="{B439A6AE-D0F5-4C46-B31F-10A76D4BC811}"/>
              </a:ext>
            </a:extLst>
          </p:cNvPr>
          <p:cNvSpPr>
            <a:spLocks noGrp="1"/>
          </p:cNvSpPr>
          <p:nvPr/>
        </p:nvSpPr>
        <p:spPr>
          <a:xfrm>
            <a:off x="7943850" y="4210050"/>
            <a:ext cx="152400" cy="152400"/>
          </a:xfrm>
          <a:prstGeom prst="ellipse">
            <a:avLst/>
          </a:prstGeom>
          <a:solidFill>
            <a:srgbClr val="D56E42"/>
          </a:solidFill>
          <a:ln w="0">
            <a:solidFill>
              <a:srgbClr val="000000">
                <a:alpha val="0"/>
              </a:srgbClr>
            </a:solidFill>
            <a:prstDash val="solid"/>
          </a:ln>
        </p:spPr>
        <p:txBody>
          <a:bodyPr/>
          <a:lstStyle/>
          <a:p>
            <a:endParaRPr lang="en-US"/>
          </a:p>
        </p:txBody>
      </p:sp>
      <p:sp>
        <p:nvSpPr>
          <p:cNvPr id="26" name="Rectangle 25">
            <a:extLst>
              <a:ext uri="{FF2B5EF4-FFF2-40B4-BE49-F238E27FC236}">
                <a16:creationId xmlns:a16="http://schemas.microsoft.com/office/drawing/2014/main" id="{EA822A93-CD99-4C65-B94F-0C17F7A0A37E}"/>
              </a:ext>
            </a:extLst>
          </p:cNvPr>
          <p:cNvSpPr>
            <a:spLocks noGrp="1"/>
          </p:cNvSpPr>
          <p:nvPr/>
        </p:nvSpPr>
        <p:spPr>
          <a:xfrm>
            <a:off x="8229600" y="4152900"/>
            <a:ext cx="1333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FFFFFF"/>
                </a:solidFill>
                <a:latin typeface="Aptos"/>
                <a:ea typeface="Aptos"/>
                <a:cs typeface="Aptos"/>
              </a:defRPr>
            </a:pPr>
            <a:r>
              <a:rPr sz="900" b="1">
                <a:solidFill>
                  <a:srgbClr val="FFFFFF"/>
                </a:solidFill>
                <a:latin typeface="Aptos"/>
                <a:ea typeface="Aptos"/>
                <a:cs typeface="Aptos"/>
              </a:rPr>
              <a:t>Anti-fantasma</a:t>
            </a:r>
          </a:p>
        </p:txBody>
      </p:sp>
      <p:sp>
        <p:nvSpPr>
          <p:cNvPr id="27" name="Rectangle 26">
            <a:extLst>
              <a:ext uri="{FF2B5EF4-FFF2-40B4-BE49-F238E27FC236}">
                <a16:creationId xmlns:a16="http://schemas.microsoft.com/office/drawing/2014/main" id="{01587772-BC97-407E-9D62-18EED79C4AB7}"/>
              </a:ext>
            </a:extLst>
          </p:cNvPr>
          <p:cNvSpPr>
            <a:spLocks noGrp="1"/>
          </p:cNvSpPr>
          <p:nvPr/>
        </p:nvSpPr>
        <p:spPr>
          <a:xfrm>
            <a:off x="8229600" y="4400550"/>
            <a:ext cx="285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DDE5DD"/>
                </a:solidFill>
                <a:latin typeface="Aptos"/>
                <a:ea typeface="Aptos"/>
                <a:cs typeface="Aptos"/>
              </a:defRPr>
            </a:pPr>
            <a:r>
              <a:rPr sz="713" b="0">
                <a:solidFill>
                  <a:srgbClr val="DDE5DD"/>
                </a:solidFill>
                <a:latin typeface="Aptos"/>
                <a:ea typeface="Aptos"/>
                <a:cs typeface="Aptos"/>
              </a:rPr>
              <a:t>riporta la giacca in rotazione</a:t>
            </a:r>
          </a:p>
        </p:txBody>
      </p:sp>
      <p:sp>
        <p:nvSpPr>
          <p:cNvPr id="28" name="Rectangle: Rounded Corners 27">
            <a:extLst>
              <a:ext uri="{FF2B5EF4-FFF2-40B4-BE49-F238E27FC236}">
                <a16:creationId xmlns:a16="http://schemas.microsoft.com/office/drawing/2014/main" id="{420D74C4-E984-4B8A-A3B1-E5F9BB701708}"/>
              </a:ext>
            </a:extLst>
          </p:cNvPr>
          <p:cNvSpPr>
            <a:spLocks noGrp="1"/>
          </p:cNvSpPr>
          <p:nvPr/>
        </p:nvSpPr>
        <p:spPr>
          <a:xfrm>
            <a:off x="552450" y="5391150"/>
            <a:ext cx="11087100" cy="476250"/>
          </a:xfrm>
          <a:prstGeom prst="roundRect">
            <a:avLst>
              <a:gd name="adj" fmla="val 16000"/>
            </a:avLst>
          </a:prstGeom>
          <a:solidFill>
            <a:srgbClr val="EAE5DA"/>
          </a:solidFill>
          <a:ln w="0">
            <a:solidFill>
              <a:srgbClr val="000000">
                <a:alpha val="0"/>
              </a:srgbClr>
            </a:solidFill>
            <a:prstDash val="solid"/>
          </a:ln>
        </p:spPr>
        <p:txBody>
          <a:bodyPr/>
          <a:lstStyle/>
          <a:p>
            <a:endParaRPr lang="en-US"/>
          </a:p>
        </p:txBody>
      </p:sp>
      <p:sp>
        <p:nvSpPr>
          <p:cNvPr id="29" name="Rectangle 28">
            <a:extLst>
              <a:ext uri="{FF2B5EF4-FFF2-40B4-BE49-F238E27FC236}">
                <a16:creationId xmlns:a16="http://schemas.microsoft.com/office/drawing/2014/main" id="{B7C63838-9070-4ADA-9170-9278456864A0}"/>
              </a:ext>
            </a:extLst>
          </p:cNvPr>
          <p:cNvSpPr>
            <a:spLocks noGrp="1"/>
          </p:cNvSpPr>
          <p:nvPr/>
        </p:nvSpPr>
        <p:spPr>
          <a:xfrm>
            <a:off x="781050" y="5505450"/>
            <a:ext cx="106299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00" b="0">
                <a:solidFill>
                  <a:srgbClr val="65736B"/>
                </a:solidFill>
                <a:latin typeface="Aptos"/>
                <a:ea typeface="Aptos"/>
                <a:cs typeface="Aptos"/>
              </a:defRPr>
            </a:pPr>
            <a:r>
              <a:rPr sz="900" b="0">
                <a:solidFill>
                  <a:srgbClr val="65736B"/>
                </a:solidFill>
                <a:latin typeface="Aptos"/>
                <a:ea typeface="Aptos"/>
                <a:cs typeface="Aptos"/>
              </a:rPr>
              <a:t>Il ranking è una regola pesata con feedback: non è una rete neurale addestrata.</a:t>
            </a:r>
          </a:p>
        </p:txBody>
      </p:sp>
      <p:sp>
        <p:nvSpPr>
          <p:cNvPr id="30" name="Rectangle 29">
            <a:extLst>
              <a:ext uri="{FF2B5EF4-FFF2-40B4-BE49-F238E27FC236}">
                <a16:creationId xmlns:a16="http://schemas.microsoft.com/office/drawing/2014/main" id="{E1B76B8A-F2E0-4D65-BE35-DBE3DE136641}"/>
              </a:ext>
            </a:extLst>
          </p:cNvPr>
          <p:cNvSpPr>
            <a:spLocks noGrp="1"/>
          </p:cNvSpPr>
          <p:nvPr/>
        </p:nvSpPr>
        <p:spPr>
          <a:xfrm>
            <a:off x="552450" y="6419850"/>
            <a:ext cx="11087100" cy="9525"/>
          </a:xfrm>
          <a:prstGeom prst="rect">
            <a:avLst/>
          </a:prstGeom>
          <a:solidFill>
            <a:srgbClr val="B9C3BB"/>
          </a:solidFill>
          <a:ln w="0">
            <a:solidFill>
              <a:srgbClr val="000000">
                <a:alpha val="0"/>
              </a:srgbClr>
            </a:solidFill>
            <a:prstDash val="solid"/>
          </a:ln>
        </p:spPr>
        <p:txBody>
          <a:bodyPr/>
          <a:lstStyle/>
          <a:p>
            <a:endParaRPr lang="en-US"/>
          </a:p>
        </p:txBody>
      </p:sp>
      <p:sp>
        <p:nvSpPr>
          <p:cNvPr id="31" name="Rectangle 30">
            <a:extLst>
              <a:ext uri="{FF2B5EF4-FFF2-40B4-BE49-F238E27FC236}">
                <a16:creationId xmlns:a16="http://schemas.microsoft.com/office/drawing/2014/main" id="{815256CF-BD9F-44DB-B508-FF9104439BB2}"/>
              </a:ext>
            </a:extLst>
          </p:cNvPr>
          <p:cNvSpPr>
            <a:spLocks noGrp="1"/>
          </p:cNvSpPr>
          <p:nvPr/>
        </p:nvSpPr>
        <p:spPr>
          <a:xfrm>
            <a:off x="552450" y="6496050"/>
            <a:ext cx="100393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65736B"/>
                </a:solidFill>
                <a:latin typeface="Aptos"/>
                <a:ea typeface="Aptos"/>
                <a:cs typeface="Aptos"/>
              </a:defRPr>
            </a:pPr>
            <a:r>
              <a:rPr sz="563" b="0">
                <a:solidFill>
                  <a:srgbClr val="65736B"/>
                </a:solidFill>
                <a:latin typeface="Aptos"/>
                <a:ea typeface="Aptos"/>
                <a:cs typeface="Aptos"/>
              </a:rPr>
              <a:t>Regole: colore + meteo + bonus ghost + feedback</a:t>
            </a:r>
          </a:p>
        </p:txBody>
      </p:sp>
      <p:sp>
        <p:nvSpPr>
          <p:cNvPr id="32" name="Rectangle 31">
            <a:extLst>
              <a:ext uri="{FF2B5EF4-FFF2-40B4-BE49-F238E27FC236}">
                <a16:creationId xmlns:a16="http://schemas.microsoft.com/office/drawing/2014/main" id="{2B4E4C7C-3E04-422F-B213-35D805A1D944}"/>
              </a:ext>
            </a:extLst>
          </p:cNvPr>
          <p:cNvSpPr>
            <a:spLocks noGrp="1"/>
          </p:cNvSpPr>
          <p:nvPr/>
        </p:nvSpPr>
        <p:spPr>
          <a:xfrm>
            <a:off x="11049000" y="6477000"/>
            <a:ext cx="590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65736B"/>
                </a:solidFill>
                <a:latin typeface="Georgia"/>
                <a:ea typeface="Georgia"/>
                <a:cs typeface="Georgia"/>
              </a:defRPr>
            </a:pPr>
            <a:r>
              <a:rPr sz="750" b="1">
                <a:solidFill>
                  <a:srgbClr val="65736B"/>
                </a:solidFill>
                <a:latin typeface="Georgia"/>
                <a:ea typeface="Georgia"/>
                <a:cs typeface="Georgia"/>
              </a:rPr>
              <a:t>05</a:t>
            </a:r>
          </a:p>
        </p:txBody>
      </p:sp>
    </p:spTree>
    <p:extLst>
      <p:ext uri="{BB962C8B-B14F-4D97-AF65-F5344CB8AC3E}">
        <p14:creationId xmlns:p14="http://schemas.microsoft.com/office/powerpoint/2010/main" val="7668425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background">
            <a:extLst>
              <a:ext uri="{FF2B5EF4-FFF2-40B4-BE49-F238E27FC236}">
                <a16:creationId xmlns:a16="http://schemas.microsoft.com/office/drawing/2014/main" id="{36F9FF5C-3663-4AF1-A3B0-1146A32BAF7D}"/>
              </a:ext>
            </a:extLst>
          </p:cNvPr>
          <p:cNvSpPr>
            <a:spLocks noGrp="1"/>
          </p:cNvSpPr>
          <p:nvPr/>
        </p:nvSpPr>
        <p:spPr>
          <a:xfrm>
            <a:off x="0" y="0"/>
            <a:ext cx="12192000" cy="6858000"/>
          </a:xfrm>
          <a:prstGeom prst="rect">
            <a:avLst/>
          </a:prstGeom>
          <a:solidFill>
            <a:srgbClr val="123C31"/>
          </a:solidFill>
          <a:ln w="0">
            <a:solidFill>
              <a:srgbClr val="000000">
                <a:alpha val="0"/>
              </a:srgbClr>
            </a:solidFill>
            <a:prstDash val="solid"/>
          </a:ln>
        </p:spPr>
        <p:txBody>
          <a:bodyPr/>
          <a:lstStyle/>
          <a:p>
            <a:endParaRPr lang="en-US"/>
          </a:p>
        </p:txBody>
      </p:sp>
      <p:sp>
        <p:nvSpPr>
          <p:cNvPr id="2" name="Oval 1">
            <a:extLst>
              <a:ext uri="{FF2B5EF4-FFF2-40B4-BE49-F238E27FC236}">
                <a16:creationId xmlns:a16="http://schemas.microsoft.com/office/drawing/2014/main" id="{DE6540BA-B6F1-4F6D-8563-8357C17854F2}"/>
              </a:ext>
            </a:extLst>
          </p:cNvPr>
          <p:cNvSpPr>
            <a:spLocks noGrp="1"/>
          </p:cNvSpPr>
          <p:nvPr/>
        </p:nvSpPr>
        <p:spPr>
          <a:xfrm>
            <a:off x="552450" y="409575"/>
            <a:ext cx="85725" cy="85725"/>
          </a:xfrm>
          <a:prstGeom prst="ellipse">
            <a:avLst/>
          </a:prstGeom>
          <a:solidFill>
            <a:srgbClr val="B9D94A"/>
          </a:solidFill>
          <a:ln w="0">
            <a:solidFill>
              <a:srgbClr val="000000">
                <a:alpha val="0"/>
              </a:srgbClr>
            </a:solidFill>
            <a:prstDash val="solid"/>
          </a:ln>
        </p:spPr>
        <p:txBody>
          <a:bodyPr/>
          <a:lstStyle/>
          <a:p>
            <a:endParaRPr lang="en-US"/>
          </a:p>
        </p:txBody>
      </p:sp>
      <p:sp>
        <p:nvSpPr>
          <p:cNvPr id="3" name="Rectangle 2">
            <a:extLst>
              <a:ext uri="{FF2B5EF4-FFF2-40B4-BE49-F238E27FC236}">
                <a16:creationId xmlns:a16="http://schemas.microsoft.com/office/drawing/2014/main" id="{20270188-E38E-4DC6-BF08-C4FFC4D0F546}"/>
              </a:ext>
            </a:extLst>
          </p:cNvPr>
          <p:cNvSpPr>
            <a:spLocks noGrp="1"/>
          </p:cNvSpPr>
          <p:nvPr/>
        </p:nvSpPr>
        <p:spPr>
          <a:xfrm>
            <a:off x="742950" y="361950"/>
            <a:ext cx="666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DDE5DD"/>
                </a:solidFill>
                <a:latin typeface="Aptos"/>
                <a:ea typeface="Aptos"/>
                <a:cs typeface="Aptos"/>
              </a:defRPr>
            </a:pPr>
            <a:r>
              <a:rPr sz="638" b="1">
                <a:solidFill>
                  <a:srgbClr val="DDE5DD"/>
                </a:solidFill>
                <a:latin typeface="Aptos"/>
                <a:ea typeface="Aptos"/>
                <a:cs typeface="Aptos"/>
              </a:rPr>
              <a:t>U S E R   S T O R Y   ·   R I S C O P R E</a:t>
            </a:r>
          </a:p>
        </p:txBody>
      </p:sp>
      <p:sp>
        <p:nvSpPr>
          <p:cNvPr id="4" name="claim-title">
            <a:extLst>
              <a:ext uri="{FF2B5EF4-FFF2-40B4-BE49-F238E27FC236}">
                <a16:creationId xmlns:a16="http://schemas.microsoft.com/office/drawing/2014/main" id="{183D1A1D-133A-4E9B-B8CD-62DEB6AEED97}"/>
              </a:ext>
            </a:extLst>
          </p:cNvPr>
          <p:cNvSpPr>
            <a:spLocks noGrp="1"/>
          </p:cNvSpPr>
          <p:nvPr/>
        </p:nvSpPr>
        <p:spPr>
          <a:xfrm>
            <a:off x="552450" y="742950"/>
            <a:ext cx="10572750" cy="1009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925" b="1">
                <a:solidFill>
                  <a:srgbClr val="FFFFFF"/>
                </a:solidFill>
                <a:latin typeface="Georgia"/>
                <a:ea typeface="Georgia"/>
                <a:cs typeface="Georgia"/>
              </a:defRPr>
            </a:pPr>
            <a:r>
              <a:rPr sz="2925" b="1">
                <a:solidFill>
                  <a:srgbClr val="FFFFFF"/>
                </a:solidFill>
                <a:latin typeface="Georgia"/>
                <a:ea typeface="Georgia"/>
                <a:cs typeface="Georgia"/>
              </a:rPr>
              <a:t>La giacca dimenticata riappare prima di un nuovo acquisto.</a:t>
            </a:r>
          </a:p>
        </p:txBody>
      </p:sp>
      <p:sp>
        <p:nvSpPr>
          <p:cNvPr id="5" name="Rectangle 4">
            <a:extLst>
              <a:ext uri="{FF2B5EF4-FFF2-40B4-BE49-F238E27FC236}">
                <a16:creationId xmlns:a16="http://schemas.microsoft.com/office/drawing/2014/main" id="{62A236C3-2AE1-4B61-84FF-CA681FD73915}"/>
              </a:ext>
            </a:extLst>
          </p:cNvPr>
          <p:cNvSpPr>
            <a:spLocks noGrp="1"/>
          </p:cNvSpPr>
          <p:nvPr/>
        </p:nvSpPr>
        <p:spPr>
          <a:xfrm>
            <a:off x="552450" y="1790700"/>
            <a:ext cx="88582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DDE5DD"/>
                </a:solidFill>
                <a:latin typeface="Aptos"/>
                <a:ea typeface="Aptos"/>
                <a:cs typeface="Aptos"/>
              </a:defRPr>
            </a:pPr>
            <a:r>
              <a:rPr sz="1050" b="0">
                <a:solidFill>
                  <a:srgbClr val="DDE5DD"/>
                </a:solidFill>
                <a:latin typeface="Aptos"/>
                <a:ea typeface="Aptos"/>
                <a:cs typeface="Aptos"/>
              </a:rPr>
              <a:t>Sì: i ghost garments sono rilevati con una regola deterministica.</a:t>
            </a:r>
          </a:p>
        </p:txBody>
      </p:sp>
      <p:sp>
        <p:nvSpPr>
          <p:cNvPr id="6" name="Oval 5">
            <a:extLst>
              <a:ext uri="{FF2B5EF4-FFF2-40B4-BE49-F238E27FC236}">
                <a16:creationId xmlns:a16="http://schemas.microsoft.com/office/drawing/2014/main" id="{ADA5F3FE-62C1-4BD8-9E85-DCA6EFAA00BB}"/>
              </a:ext>
            </a:extLst>
          </p:cNvPr>
          <p:cNvSpPr>
            <a:spLocks noGrp="1"/>
          </p:cNvSpPr>
          <p:nvPr/>
        </p:nvSpPr>
        <p:spPr>
          <a:xfrm>
            <a:off x="552450" y="2381250"/>
            <a:ext cx="361950" cy="361950"/>
          </a:xfrm>
          <a:prstGeom prst="ellipse">
            <a:avLst/>
          </a:prstGeom>
          <a:solidFill>
            <a:srgbClr val="2F7D5B"/>
          </a:solidFill>
          <a:ln w="0">
            <a:solidFill>
              <a:srgbClr val="000000">
                <a:alpha val="0"/>
              </a:srgbClr>
            </a:solidFill>
            <a:prstDash val="solid"/>
          </a:ln>
        </p:spPr>
        <p:txBody>
          <a:bodyPr/>
          <a:lstStyle/>
          <a:p>
            <a:endParaRPr lang="en-US"/>
          </a:p>
        </p:txBody>
      </p:sp>
      <p:sp>
        <p:nvSpPr>
          <p:cNvPr id="7" name="Rectangle 6">
            <a:extLst>
              <a:ext uri="{FF2B5EF4-FFF2-40B4-BE49-F238E27FC236}">
                <a16:creationId xmlns:a16="http://schemas.microsoft.com/office/drawing/2014/main" id="{A32FA938-DED5-4F8D-AA80-335CC0830D84}"/>
              </a:ext>
            </a:extLst>
          </p:cNvPr>
          <p:cNvSpPr>
            <a:spLocks noGrp="1"/>
          </p:cNvSpPr>
          <p:nvPr/>
        </p:nvSpPr>
        <p:spPr>
          <a:xfrm>
            <a:off x="552450" y="2400300"/>
            <a:ext cx="3619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050" b="1">
                <a:solidFill>
                  <a:srgbClr val="FFFFFF"/>
                </a:solidFill>
                <a:latin typeface="Georgia"/>
                <a:ea typeface="Georgia"/>
                <a:cs typeface="Georgia"/>
              </a:defRPr>
            </a:pPr>
            <a:r>
              <a:rPr sz="1050" b="1">
                <a:solidFill>
                  <a:srgbClr val="FFFFFF"/>
                </a:solidFill>
                <a:latin typeface="Georgia"/>
                <a:ea typeface="Georgia"/>
                <a:cs typeface="Georgia"/>
              </a:rPr>
              <a:t>1</a:t>
            </a:r>
          </a:p>
        </p:txBody>
      </p:sp>
      <p:sp>
        <p:nvSpPr>
          <p:cNvPr id="8" name="Rectangle 7">
            <a:extLst>
              <a:ext uri="{FF2B5EF4-FFF2-40B4-BE49-F238E27FC236}">
                <a16:creationId xmlns:a16="http://schemas.microsoft.com/office/drawing/2014/main" id="{F0ABF695-76F0-4608-BCBB-2660C04B1E6B}"/>
              </a:ext>
            </a:extLst>
          </p:cNvPr>
          <p:cNvSpPr>
            <a:spLocks noGrp="1"/>
          </p:cNvSpPr>
          <p:nvPr/>
        </p:nvSpPr>
        <p:spPr>
          <a:xfrm>
            <a:off x="1028700" y="2562225"/>
            <a:ext cx="2667000" cy="28575"/>
          </a:xfrm>
          <a:prstGeom prst="rect">
            <a:avLst/>
          </a:prstGeom>
          <a:solidFill>
            <a:srgbClr val="4E7769"/>
          </a:solidFill>
          <a:ln w="0">
            <a:solidFill>
              <a:srgbClr val="000000">
                <a:alpha val="0"/>
              </a:srgbClr>
            </a:solidFill>
            <a:prstDash val="solid"/>
          </a:ln>
        </p:spPr>
        <p:txBody>
          <a:bodyPr/>
          <a:lstStyle/>
          <a:p>
            <a:endParaRPr lang="en-US"/>
          </a:p>
        </p:txBody>
      </p:sp>
      <p:sp>
        <p:nvSpPr>
          <p:cNvPr id="9" name="Isosceles Triangle 8">
            <a:extLst>
              <a:ext uri="{FF2B5EF4-FFF2-40B4-BE49-F238E27FC236}">
                <a16:creationId xmlns:a16="http://schemas.microsoft.com/office/drawing/2014/main" id="{489FBC8A-2BF7-4F33-9CDC-2DFEF938B78B}"/>
              </a:ext>
            </a:extLst>
          </p:cNvPr>
          <p:cNvSpPr>
            <a:spLocks noGrp="1"/>
          </p:cNvSpPr>
          <p:nvPr/>
        </p:nvSpPr>
        <p:spPr>
          <a:xfrm>
            <a:off x="3667125" y="2505075"/>
            <a:ext cx="133350" cy="133350"/>
          </a:xfrm>
          <a:prstGeom prst="triangle">
            <a:avLst/>
          </a:prstGeom>
          <a:solidFill>
            <a:srgbClr val="4E7769"/>
          </a:solidFill>
          <a:ln w="0">
            <a:solidFill>
              <a:srgbClr val="000000">
                <a:alpha val="0"/>
              </a:srgbClr>
            </a:solidFill>
            <a:prstDash val="solid"/>
          </a:ln>
        </p:spPr>
        <p:txBody>
          <a:bodyPr/>
          <a:lstStyle/>
          <a:p>
            <a:endParaRPr lang="en-US"/>
          </a:p>
        </p:txBody>
      </p:sp>
      <p:sp>
        <p:nvSpPr>
          <p:cNvPr id="10" name="Rectangle 9">
            <a:extLst>
              <a:ext uri="{FF2B5EF4-FFF2-40B4-BE49-F238E27FC236}">
                <a16:creationId xmlns:a16="http://schemas.microsoft.com/office/drawing/2014/main" id="{CF78989F-304E-4F75-A8C3-AC81BF8529E8}"/>
              </a:ext>
            </a:extLst>
          </p:cNvPr>
          <p:cNvSpPr>
            <a:spLocks noGrp="1"/>
          </p:cNvSpPr>
          <p:nvPr/>
        </p:nvSpPr>
        <p:spPr>
          <a:xfrm>
            <a:off x="552450" y="2971800"/>
            <a:ext cx="2857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425" b="1">
                <a:solidFill>
                  <a:srgbClr val="FFFFFF"/>
                </a:solidFill>
                <a:latin typeface="Georgia"/>
                <a:ea typeface="Georgia"/>
                <a:cs typeface="Georgia"/>
              </a:defRPr>
            </a:pPr>
            <a:r>
              <a:rPr sz="1425" b="1">
                <a:solidFill>
                  <a:srgbClr val="FFFFFF"/>
                </a:solidFill>
                <a:latin typeface="Georgia"/>
                <a:ea typeface="Georgia"/>
                <a:cs typeface="Georgia"/>
              </a:rPr>
              <a:t>È attivo</a:t>
            </a:r>
          </a:p>
        </p:txBody>
      </p:sp>
      <p:sp>
        <p:nvSpPr>
          <p:cNvPr id="11" name="Rectangle 10">
            <a:extLst>
              <a:ext uri="{FF2B5EF4-FFF2-40B4-BE49-F238E27FC236}">
                <a16:creationId xmlns:a16="http://schemas.microsoft.com/office/drawing/2014/main" id="{DBFA1569-A84F-4381-8FF4-49884B2A143A}"/>
              </a:ext>
            </a:extLst>
          </p:cNvPr>
          <p:cNvSpPr>
            <a:spLocks noGrp="1"/>
          </p:cNvSpPr>
          <p:nvPr/>
        </p:nvSpPr>
        <p:spPr>
          <a:xfrm>
            <a:off x="552450" y="3371850"/>
            <a:ext cx="28575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DDE5DD"/>
                </a:solidFill>
                <a:latin typeface="Aptos"/>
                <a:ea typeface="Aptos"/>
                <a:cs typeface="Aptos"/>
              </a:defRPr>
            </a:pPr>
            <a:r>
              <a:rPr sz="788" b="0">
                <a:solidFill>
                  <a:srgbClr val="DDE5DD"/>
                </a:solidFill>
                <a:latin typeface="Aptos"/>
                <a:ea typeface="Aptos"/>
                <a:cs typeface="Aptos"/>
              </a:rPr>
              <a:t>non venduto, donato o rimosso</a:t>
            </a:r>
          </a:p>
        </p:txBody>
      </p:sp>
      <p:sp>
        <p:nvSpPr>
          <p:cNvPr id="12" name="Oval 11">
            <a:extLst>
              <a:ext uri="{FF2B5EF4-FFF2-40B4-BE49-F238E27FC236}">
                <a16:creationId xmlns:a16="http://schemas.microsoft.com/office/drawing/2014/main" id="{339D64F0-143F-4FD1-98C4-DE49BFF7DE67}"/>
              </a:ext>
            </a:extLst>
          </p:cNvPr>
          <p:cNvSpPr>
            <a:spLocks noGrp="1"/>
          </p:cNvSpPr>
          <p:nvPr/>
        </p:nvSpPr>
        <p:spPr>
          <a:xfrm>
            <a:off x="3981450" y="2381250"/>
            <a:ext cx="361950" cy="361950"/>
          </a:xfrm>
          <a:prstGeom prst="ellipse">
            <a:avLst/>
          </a:prstGeom>
          <a:solidFill>
            <a:srgbClr val="2F7D5B"/>
          </a:solidFill>
          <a:ln w="0">
            <a:solidFill>
              <a:srgbClr val="000000">
                <a:alpha val="0"/>
              </a:srgbClr>
            </a:solidFill>
            <a:prstDash val="solid"/>
          </a:ln>
        </p:spPr>
        <p:txBody>
          <a:bodyPr/>
          <a:lstStyle/>
          <a:p>
            <a:endParaRPr lang="en-US"/>
          </a:p>
        </p:txBody>
      </p:sp>
      <p:sp>
        <p:nvSpPr>
          <p:cNvPr id="13" name="Rectangle 12">
            <a:extLst>
              <a:ext uri="{FF2B5EF4-FFF2-40B4-BE49-F238E27FC236}">
                <a16:creationId xmlns:a16="http://schemas.microsoft.com/office/drawing/2014/main" id="{426F9615-8108-45AD-8C2E-B80FED756F5B}"/>
              </a:ext>
            </a:extLst>
          </p:cNvPr>
          <p:cNvSpPr>
            <a:spLocks noGrp="1"/>
          </p:cNvSpPr>
          <p:nvPr/>
        </p:nvSpPr>
        <p:spPr>
          <a:xfrm>
            <a:off x="3981450" y="2400300"/>
            <a:ext cx="3619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050" b="1">
                <a:solidFill>
                  <a:srgbClr val="FFFFFF"/>
                </a:solidFill>
                <a:latin typeface="Georgia"/>
                <a:ea typeface="Georgia"/>
                <a:cs typeface="Georgia"/>
              </a:defRPr>
            </a:pPr>
            <a:r>
              <a:rPr sz="1050" b="1">
                <a:solidFill>
                  <a:srgbClr val="FFFFFF"/>
                </a:solidFill>
                <a:latin typeface="Georgia"/>
                <a:ea typeface="Georgia"/>
                <a:cs typeface="Georgia"/>
              </a:rPr>
              <a:t>2</a:t>
            </a:r>
          </a:p>
        </p:txBody>
      </p:sp>
      <p:sp>
        <p:nvSpPr>
          <p:cNvPr id="14" name="Rectangle 13">
            <a:extLst>
              <a:ext uri="{FF2B5EF4-FFF2-40B4-BE49-F238E27FC236}">
                <a16:creationId xmlns:a16="http://schemas.microsoft.com/office/drawing/2014/main" id="{91A1A32F-9B28-4A03-8965-452D92583F0D}"/>
              </a:ext>
            </a:extLst>
          </p:cNvPr>
          <p:cNvSpPr>
            <a:spLocks noGrp="1"/>
          </p:cNvSpPr>
          <p:nvPr/>
        </p:nvSpPr>
        <p:spPr>
          <a:xfrm>
            <a:off x="4457700" y="2562225"/>
            <a:ext cx="2667000" cy="28575"/>
          </a:xfrm>
          <a:prstGeom prst="rect">
            <a:avLst/>
          </a:prstGeom>
          <a:solidFill>
            <a:srgbClr val="4E7769"/>
          </a:solidFill>
          <a:ln w="0">
            <a:solidFill>
              <a:srgbClr val="000000">
                <a:alpha val="0"/>
              </a:srgbClr>
            </a:solidFill>
            <a:prstDash val="solid"/>
          </a:ln>
        </p:spPr>
        <p:txBody>
          <a:bodyPr/>
          <a:lstStyle/>
          <a:p>
            <a:endParaRPr lang="en-US"/>
          </a:p>
        </p:txBody>
      </p:sp>
      <p:sp>
        <p:nvSpPr>
          <p:cNvPr id="15" name="Isosceles Triangle 14">
            <a:extLst>
              <a:ext uri="{FF2B5EF4-FFF2-40B4-BE49-F238E27FC236}">
                <a16:creationId xmlns:a16="http://schemas.microsoft.com/office/drawing/2014/main" id="{0E281CF9-E681-4FA0-B9EB-BF10416E681E}"/>
              </a:ext>
            </a:extLst>
          </p:cNvPr>
          <p:cNvSpPr>
            <a:spLocks noGrp="1"/>
          </p:cNvSpPr>
          <p:nvPr/>
        </p:nvSpPr>
        <p:spPr>
          <a:xfrm>
            <a:off x="7096125" y="2505075"/>
            <a:ext cx="133350" cy="133350"/>
          </a:xfrm>
          <a:prstGeom prst="triangle">
            <a:avLst/>
          </a:prstGeom>
          <a:solidFill>
            <a:srgbClr val="4E7769"/>
          </a:solidFill>
          <a:ln w="0">
            <a:solidFill>
              <a:srgbClr val="000000">
                <a:alpha val="0"/>
              </a:srgbClr>
            </a:solidFill>
            <a:prstDash val="solid"/>
          </a:ln>
        </p:spPr>
        <p:txBody>
          <a:bodyPr/>
          <a:lstStyle/>
          <a:p>
            <a:endParaRPr lang="en-US"/>
          </a:p>
        </p:txBody>
      </p:sp>
      <p:sp>
        <p:nvSpPr>
          <p:cNvPr id="16" name="Rectangle 15">
            <a:extLst>
              <a:ext uri="{FF2B5EF4-FFF2-40B4-BE49-F238E27FC236}">
                <a16:creationId xmlns:a16="http://schemas.microsoft.com/office/drawing/2014/main" id="{49E2FCBA-DFF0-47AA-B615-ABC9D114154B}"/>
              </a:ext>
            </a:extLst>
          </p:cNvPr>
          <p:cNvSpPr>
            <a:spLocks noGrp="1"/>
          </p:cNvSpPr>
          <p:nvPr/>
        </p:nvSpPr>
        <p:spPr>
          <a:xfrm>
            <a:off x="3981450" y="2971800"/>
            <a:ext cx="2857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425" b="1">
                <a:solidFill>
                  <a:srgbClr val="FFFFFF"/>
                </a:solidFill>
                <a:latin typeface="Georgia"/>
                <a:ea typeface="Georgia"/>
                <a:cs typeface="Georgia"/>
              </a:defRPr>
            </a:pPr>
            <a:r>
              <a:rPr sz="1425" b="1">
                <a:solidFill>
                  <a:srgbClr val="FFFFFF"/>
                </a:solidFill>
                <a:latin typeface="Georgia"/>
                <a:ea typeface="Georgia"/>
                <a:cs typeface="Georgia"/>
              </a:rPr>
              <a:t>Ha 0 utilizzi</a:t>
            </a:r>
          </a:p>
        </p:txBody>
      </p:sp>
      <p:sp>
        <p:nvSpPr>
          <p:cNvPr id="17" name="Rectangle 16">
            <a:extLst>
              <a:ext uri="{FF2B5EF4-FFF2-40B4-BE49-F238E27FC236}">
                <a16:creationId xmlns:a16="http://schemas.microsoft.com/office/drawing/2014/main" id="{BF323B8E-EEC3-4D7C-B57B-584CF16828AE}"/>
              </a:ext>
            </a:extLst>
          </p:cNvPr>
          <p:cNvSpPr>
            <a:spLocks noGrp="1"/>
          </p:cNvSpPr>
          <p:nvPr/>
        </p:nvSpPr>
        <p:spPr>
          <a:xfrm>
            <a:off x="3981450" y="3371850"/>
            <a:ext cx="28575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DDE5DD"/>
                </a:solidFill>
                <a:latin typeface="Aptos"/>
                <a:ea typeface="Aptos"/>
                <a:cs typeface="Aptos"/>
              </a:defRPr>
            </a:pPr>
            <a:r>
              <a:rPr sz="788" b="0">
                <a:solidFill>
                  <a:srgbClr val="DDE5DD"/>
                </a:solidFill>
                <a:latin typeface="Aptos"/>
                <a:ea typeface="Aptos"/>
                <a:cs typeface="Aptos"/>
              </a:rPr>
              <a:t>mai registrato come indossato</a:t>
            </a:r>
          </a:p>
        </p:txBody>
      </p:sp>
      <p:sp>
        <p:nvSpPr>
          <p:cNvPr id="18" name="Oval 17">
            <a:extLst>
              <a:ext uri="{FF2B5EF4-FFF2-40B4-BE49-F238E27FC236}">
                <a16:creationId xmlns:a16="http://schemas.microsoft.com/office/drawing/2014/main" id="{DD7B7E52-4D13-45D9-BBD4-B1E5747AF274}"/>
              </a:ext>
            </a:extLst>
          </p:cNvPr>
          <p:cNvSpPr>
            <a:spLocks noGrp="1"/>
          </p:cNvSpPr>
          <p:nvPr/>
        </p:nvSpPr>
        <p:spPr>
          <a:xfrm>
            <a:off x="7410450" y="2381250"/>
            <a:ext cx="361950" cy="361950"/>
          </a:xfrm>
          <a:prstGeom prst="ellipse">
            <a:avLst/>
          </a:prstGeom>
          <a:solidFill>
            <a:srgbClr val="B9D94A"/>
          </a:solidFill>
          <a:ln w="0">
            <a:solidFill>
              <a:srgbClr val="000000">
                <a:alpha val="0"/>
              </a:srgbClr>
            </a:solidFill>
            <a:prstDash val="solid"/>
          </a:ln>
        </p:spPr>
        <p:txBody>
          <a:bodyPr/>
          <a:lstStyle/>
          <a:p>
            <a:endParaRPr lang="en-US"/>
          </a:p>
        </p:txBody>
      </p:sp>
      <p:sp>
        <p:nvSpPr>
          <p:cNvPr id="19" name="Rectangle 18">
            <a:extLst>
              <a:ext uri="{FF2B5EF4-FFF2-40B4-BE49-F238E27FC236}">
                <a16:creationId xmlns:a16="http://schemas.microsoft.com/office/drawing/2014/main" id="{A573C1E7-8814-4044-81C7-55B686D582F4}"/>
              </a:ext>
            </a:extLst>
          </p:cNvPr>
          <p:cNvSpPr>
            <a:spLocks noGrp="1"/>
          </p:cNvSpPr>
          <p:nvPr/>
        </p:nvSpPr>
        <p:spPr>
          <a:xfrm>
            <a:off x="7410450" y="2400300"/>
            <a:ext cx="3619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050" b="1">
                <a:solidFill>
                  <a:srgbClr val="123C31"/>
                </a:solidFill>
                <a:latin typeface="Georgia"/>
                <a:ea typeface="Georgia"/>
                <a:cs typeface="Georgia"/>
              </a:defRPr>
            </a:pPr>
            <a:r>
              <a:rPr sz="1050" b="1">
                <a:solidFill>
                  <a:srgbClr val="123C31"/>
                </a:solidFill>
                <a:latin typeface="Georgia"/>
                <a:ea typeface="Georgia"/>
                <a:cs typeface="Georgia"/>
              </a:rPr>
              <a:t>3</a:t>
            </a:r>
          </a:p>
        </p:txBody>
      </p:sp>
      <p:sp>
        <p:nvSpPr>
          <p:cNvPr id="20" name="Rectangle 19">
            <a:extLst>
              <a:ext uri="{FF2B5EF4-FFF2-40B4-BE49-F238E27FC236}">
                <a16:creationId xmlns:a16="http://schemas.microsoft.com/office/drawing/2014/main" id="{A3C682C2-C531-4F62-A6EA-3E1E87716481}"/>
              </a:ext>
            </a:extLst>
          </p:cNvPr>
          <p:cNvSpPr>
            <a:spLocks noGrp="1"/>
          </p:cNvSpPr>
          <p:nvPr/>
        </p:nvSpPr>
        <p:spPr>
          <a:xfrm>
            <a:off x="7410450" y="2971800"/>
            <a:ext cx="2857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425" b="1">
                <a:solidFill>
                  <a:srgbClr val="FFFFFF"/>
                </a:solidFill>
                <a:latin typeface="Georgia"/>
                <a:ea typeface="Georgia"/>
                <a:cs typeface="Georgia"/>
              </a:defRPr>
            </a:pPr>
            <a:r>
              <a:rPr sz="1425" b="1">
                <a:solidFill>
                  <a:srgbClr val="FFFFFF"/>
                </a:solidFill>
                <a:latin typeface="Georgia"/>
                <a:ea typeface="Georgia"/>
                <a:cs typeface="Georgia"/>
              </a:rPr>
              <a:t>È posseduto da 30+ giorni</a:t>
            </a:r>
          </a:p>
        </p:txBody>
      </p:sp>
      <p:sp>
        <p:nvSpPr>
          <p:cNvPr id="21" name="Rectangle 20">
            <a:extLst>
              <a:ext uri="{FF2B5EF4-FFF2-40B4-BE49-F238E27FC236}">
                <a16:creationId xmlns:a16="http://schemas.microsoft.com/office/drawing/2014/main" id="{9BAB2A23-704F-4304-A999-77F59021FC4D}"/>
              </a:ext>
            </a:extLst>
          </p:cNvPr>
          <p:cNvSpPr>
            <a:spLocks noGrp="1"/>
          </p:cNvSpPr>
          <p:nvPr/>
        </p:nvSpPr>
        <p:spPr>
          <a:xfrm>
            <a:off x="7410450" y="3371850"/>
            <a:ext cx="28575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DDE5DD"/>
                </a:solidFill>
                <a:latin typeface="Aptos"/>
                <a:ea typeface="Aptos"/>
                <a:cs typeface="Aptos"/>
              </a:defRPr>
            </a:pPr>
            <a:r>
              <a:rPr sz="788" b="0">
                <a:solidFill>
                  <a:srgbClr val="DDE5DD"/>
                </a:solidFill>
                <a:latin typeface="Aptos"/>
                <a:ea typeface="Aptos"/>
                <a:cs typeface="Aptos"/>
              </a:rPr>
              <a:t>data di acquisto o inserimento</a:t>
            </a:r>
          </a:p>
        </p:txBody>
      </p:sp>
      <p:sp>
        <p:nvSpPr>
          <p:cNvPr id="22" name="Rectangle: Rounded Corners 21">
            <a:extLst>
              <a:ext uri="{FF2B5EF4-FFF2-40B4-BE49-F238E27FC236}">
                <a16:creationId xmlns:a16="http://schemas.microsoft.com/office/drawing/2014/main" id="{AB61BABD-826C-4F66-A8AE-1B9F6A174152}"/>
              </a:ext>
            </a:extLst>
          </p:cNvPr>
          <p:cNvSpPr>
            <a:spLocks noGrp="1"/>
          </p:cNvSpPr>
          <p:nvPr/>
        </p:nvSpPr>
        <p:spPr>
          <a:xfrm>
            <a:off x="10267950" y="2286000"/>
            <a:ext cx="1371600" cy="1085850"/>
          </a:xfrm>
          <a:prstGeom prst="roundRect">
            <a:avLst>
              <a:gd name="adj" fmla="val 7018"/>
            </a:avLst>
          </a:prstGeom>
          <a:solidFill>
            <a:srgbClr val="B9D94A"/>
          </a:solidFill>
          <a:ln w="0">
            <a:solidFill>
              <a:srgbClr val="000000">
                <a:alpha val="0"/>
              </a:srgbClr>
            </a:solidFill>
            <a:prstDash val="solid"/>
          </a:ln>
        </p:spPr>
        <p:txBody>
          <a:bodyPr/>
          <a:lstStyle/>
          <a:p>
            <a:endParaRPr lang="en-US"/>
          </a:p>
        </p:txBody>
      </p:sp>
      <p:sp>
        <p:nvSpPr>
          <p:cNvPr id="23" name="Rectangle 22">
            <a:extLst>
              <a:ext uri="{FF2B5EF4-FFF2-40B4-BE49-F238E27FC236}">
                <a16:creationId xmlns:a16="http://schemas.microsoft.com/office/drawing/2014/main" id="{F5B7F85E-0582-4835-B51B-8DFAD92E0ABE}"/>
              </a:ext>
            </a:extLst>
          </p:cNvPr>
          <p:cNvSpPr>
            <a:spLocks noGrp="1"/>
          </p:cNvSpPr>
          <p:nvPr/>
        </p:nvSpPr>
        <p:spPr>
          <a:xfrm>
            <a:off x="10363200" y="2476500"/>
            <a:ext cx="1181100" cy="685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500" b="1">
                <a:solidFill>
                  <a:srgbClr val="123C31"/>
                </a:solidFill>
                <a:latin typeface="Georgia"/>
                <a:ea typeface="Georgia"/>
                <a:cs typeface="Georgia"/>
              </a:defRPr>
            </a:pPr>
            <a:r>
              <a:rPr sz="1500" b="1">
                <a:solidFill>
                  <a:srgbClr val="123C31"/>
                </a:solidFill>
                <a:latin typeface="Georgia"/>
                <a:ea typeface="Georgia"/>
                <a:cs typeface="Georgia"/>
              </a:rPr>
              <a:t>CAPO</a:t>
            </a:r>
          </a:p>
          <a:p>
            <a:pPr algn="ctr">
              <a:defRPr sz="1500" b="1">
                <a:solidFill>
                  <a:srgbClr val="123C31"/>
                </a:solidFill>
                <a:latin typeface="Georgia"/>
                <a:ea typeface="Georgia"/>
                <a:cs typeface="Georgia"/>
              </a:defRPr>
            </a:pPr>
            <a:r>
              <a:rPr sz="1500" b="1">
                <a:solidFill>
                  <a:srgbClr val="123C31"/>
                </a:solidFill>
                <a:latin typeface="Georgia"/>
                <a:ea typeface="Georgia"/>
                <a:cs typeface="Georgia"/>
              </a:rPr>
              <a:t>FANTASMA</a:t>
            </a:r>
          </a:p>
        </p:txBody>
      </p:sp>
      <p:sp>
        <p:nvSpPr>
          <p:cNvPr id="24" name="Rectangle 23">
            <a:extLst>
              <a:ext uri="{FF2B5EF4-FFF2-40B4-BE49-F238E27FC236}">
                <a16:creationId xmlns:a16="http://schemas.microsoft.com/office/drawing/2014/main" id="{9CE73BE2-213F-4DCE-9978-76F743C9D9DE}"/>
              </a:ext>
            </a:extLst>
          </p:cNvPr>
          <p:cNvSpPr>
            <a:spLocks noGrp="1"/>
          </p:cNvSpPr>
          <p:nvPr/>
        </p:nvSpPr>
        <p:spPr>
          <a:xfrm>
            <a:off x="552450" y="4171950"/>
            <a:ext cx="11087100" cy="9525"/>
          </a:xfrm>
          <a:prstGeom prst="rect">
            <a:avLst/>
          </a:prstGeom>
          <a:solidFill>
            <a:srgbClr val="406A5C"/>
          </a:solidFill>
          <a:ln w="0">
            <a:solidFill>
              <a:srgbClr val="000000">
                <a:alpha val="0"/>
              </a:srgbClr>
            </a:solidFill>
            <a:prstDash val="solid"/>
          </a:ln>
        </p:spPr>
        <p:txBody>
          <a:bodyPr/>
          <a:lstStyle/>
          <a:p>
            <a:endParaRPr lang="en-US"/>
          </a:p>
        </p:txBody>
      </p:sp>
      <p:sp>
        <p:nvSpPr>
          <p:cNvPr id="25" name="Rectangle 24">
            <a:extLst>
              <a:ext uri="{FF2B5EF4-FFF2-40B4-BE49-F238E27FC236}">
                <a16:creationId xmlns:a16="http://schemas.microsoft.com/office/drawing/2014/main" id="{85A8B602-D22B-4C07-8263-E985C8C58394}"/>
              </a:ext>
            </a:extLst>
          </p:cNvPr>
          <p:cNvSpPr>
            <a:spLocks noGrp="1"/>
          </p:cNvSpPr>
          <p:nvPr/>
        </p:nvSpPr>
        <p:spPr>
          <a:xfrm>
            <a:off x="552450" y="4552950"/>
            <a:ext cx="31432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B9D94A"/>
                </a:solidFill>
                <a:latin typeface="Georgia"/>
                <a:ea typeface="Georgia"/>
                <a:cs typeface="Georgia"/>
              </a:defRPr>
            </a:pPr>
            <a:r>
              <a:rPr sz="1350" b="1">
                <a:solidFill>
                  <a:srgbClr val="B9D94A"/>
                </a:solidFill>
                <a:latin typeface="Georgia"/>
                <a:ea typeface="Georgia"/>
                <a:cs typeface="Georgia"/>
              </a:rPr>
              <a:t>Dashboard</a:t>
            </a:r>
          </a:p>
        </p:txBody>
      </p:sp>
      <p:sp>
        <p:nvSpPr>
          <p:cNvPr id="26" name="Rectangle 25">
            <a:extLst>
              <a:ext uri="{FF2B5EF4-FFF2-40B4-BE49-F238E27FC236}">
                <a16:creationId xmlns:a16="http://schemas.microsoft.com/office/drawing/2014/main" id="{D4B39344-4E50-43E2-A941-5B0079C7E79A}"/>
              </a:ext>
            </a:extLst>
          </p:cNvPr>
          <p:cNvSpPr>
            <a:spLocks noGrp="1"/>
          </p:cNvSpPr>
          <p:nvPr/>
        </p:nvSpPr>
        <p:spPr>
          <a:xfrm>
            <a:off x="552450" y="4953000"/>
            <a:ext cx="31432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DDE5DD"/>
                </a:solidFill>
                <a:latin typeface="Aptos"/>
                <a:ea typeface="Aptos"/>
                <a:cs typeface="Aptos"/>
              </a:defRPr>
            </a:pPr>
            <a:r>
              <a:rPr sz="825" b="0">
                <a:solidFill>
                  <a:srgbClr val="DDE5DD"/>
                </a:solidFill>
                <a:latin typeface="Aptos"/>
                <a:ea typeface="Aptos"/>
                <a:cs typeface="Aptos"/>
              </a:rPr>
              <a:t>metrica + lista da riscoprire</a:t>
            </a:r>
          </a:p>
        </p:txBody>
      </p:sp>
      <p:sp>
        <p:nvSpPr>
          <p:cNvPr id="27" name="Rectangle 26">
            <a:extLst>
              <a:ext uri="{FF2B5EF4-FFF2-40B4-BE49-F238E27FC236}">
                <a16:creationId xmlns:a16="http://schemas.microsoft.com/office/drawing/2014/main" id="{FF86A9B9-C1DA-4DB8-A353-8100F5C17D6B}"/>
              </a:ext>
            </a:extLst>
          </p:cNvPr>
          <p:cNvSpPr>
            <a:spLocks noGrp="1"/>
          </p:cNvSpPr>
          <p:nvPr/>
        </p:nvSpPr>
        <p:spPr>
          <a:xfrm>
            <a:off x="4267200" y="4552950"/>
            <a:ext cx="31432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B9D94A"/>
                </a:solidFill>
                <a:latin typeface="Georgia"/>
                <a:ea typeface="Georgia"/>
                <a:cs typeface="Georgia"/>
              </a:defRPr>
            </a:pPr>
            <a:r>
              <a:rPr sz="1350" b="1">
                <a:solidFill>
                  <a:srgbClr val="B9D94A"/>
                </a:solidFill>
                <a:latin typeface="Georgia"/>
                <a:ea typeface="Georgia"/>
                <a:cs typeface="Georgia"/>
              </a:rPr>
              <a:t>Dettaglio</a:t>
            </a:r>
          </a:p>
        </p:txBody>
      </p:sp>
      <p:sp>
        <p:nvSpPr>
          <p:cNvPr id="28" name="Rectangle 27">
            <a:extLst>
              <a:ext uri="{FF2B5EF4-FFF2-40B4-BE49-F238E27FC236}">
                <a16:creationId xmlns:a16="http://schemas.microsoft.com/office/drawing/2014/main" id="{09610FED-9DF8-495B-960F-8B696B50F80A}"/>
              </a:ext>
            </a:extLst>
          </p:cNvPr>
          <p:cNvSpPr>
            <a:spLocks noGrp="1"/>
          </p:cNvSpPr>
          <p:nvPr/>
        </p:nvSpPr>
        <p:spPr>
          <a:xfrm>
            <a:off x="4267200" y="4953000"/>
            <a:ext cx="31432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DDE5DD"/>
                </a:solidFill>
                <a:latin typeface="Aptos"/>
                <a:ea typeface="Aptos"/>
                <a:cs typeface="Aptos"/>
              </a:defRPr>
            </a:pPr>
            <a:r>
              <a:rPr sz="825" b="0">
                <a:solidFill>
                  <a:srgbClr val="DDE5DD"/>
                </a:solidFill>
                <a:latin typeface="Aptos"/>
                <a:ea typeface="Aptos"/>
                <a:cs typeface="Aptos"/>
              </a:rPr>
              <a:t>badge con soglia esplicita</a:t>
            </a:r>
          </a:p>
        </p:txBody>
      </p:sp>
      <p:sp>
        <p:nvSpPr>
          <p:cNvPr id="29" name="Rectangle 28">
            <a:extLst>
              <a:ext uri="{FF2B5EF4-FFF2-40B4-BE49-F238E27FC236}">
                <a16:creationId xmlns:a16="http://schemas.microsoft.com/office/drawing/2014/main" id="{BC5223CA-12B5-49B9-A50C-9ED6A0BA8996}"/>
              </a:ext>
            </a:extLst>
          </p:cNvPr>
          <p:cNvSpPr>
            <a:spLocks noGrp="1"/>
          </p:cNvSpPr>
          <p:nvPr/>
        </p:nvSpPr>
        <p:spPr>
          <a:xfrm>
            <a:off x="7981950" y="4552950"/>
            <a:ext cx="31432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B9D94A"/>
                </a:solidFill>
                <a:latin typeface="Georgia"/>
                <a:ea typeface="Georgia"/>
                <a:cs typeface="Georgia"/>
              </a:defRPr>
            </a:pPr>
            <a:r>
              <a:rPr sz="1350" b="1">
                <a:solidFill>
                  <a:srgbClr val="B9D94A"/>
                </a:solidFill>
                <a:latin typeface="Georgia"/>
                <a:ea typeface="Georgia"/>
                <a:cs typeface="Georgia"/>
              </a:rPr>
              <a:t>Outfit</a:t>
            </a:r>
          </a:p>
        </p:txBody>
      </p:sp>
      <p:sp>
        <p:nvSpPr>
          <p:cNvPr id="30" name="Rectangle 29">
            <a:extLst>
              <a:ext uri="{FF2B5EF4-FFF2-40B4-BE49-F238E27FC236}">
                <a16:creationId xmlns:a16="http://schemas.microsoft.com/office/drawing/2014/main" id="{95E2BB63-EFA9-4572-B6CB-3EFC6E7F5EFF}"/>
              </a:ext>
            </a:extLst>
          </p:cNvPr>
          <p:cNvSpPr>
            <a:spLocks noGrp="1"/>
          </p:cNvSpPr>
          <p:nvPr/>
        </p:nvSpPr>
        <p:spPr>
          <a:xfrm>
            <a:off x="7981950" y="4953000"/>
            <a:ext cx="31432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DDE5DD"/>
                </a:solidFill>
                <a:latin typeface="Aptos"/>
                <a:ea typeface="Aptos"/>
                <a:cs typeface="Aptos"/>
              </a:defRPr>
            </a:pPr>
            <a:r>
              <a:rPr sz="825" b="0">
                <a:solidFill>
                  <a:srgbClr val="DDE5DD"/>
                </a:solidFill>
                <a:latin typeface="Aptos"/>
                <a:ea typeface="Aptos"/>
                <a:cs typeface="Aptos"/>
              </a:rPr>
              <a:t>segnale anti-fantasma</a:t>
            </a:r>
          </a:p>
        </p:txBody>
      </p:sp>
      <p:sp>
        <p:nvSpPr>
          <p:cNvPr id="31" name="Rectangle: Rounded Corners 30">
            <a:extLst>
              <a:ext uri="{FF2B5EF4-FFF2-40B4-BE49-F238E27FC236}">
                <a16:creationId xmlns:a16="http://schemas.microsoft.com/office/drawing/2014/main" id="{076D956D-4A27-47DA-83E6-7AC33F67E270}"/>
              </a:ext>
            </a:extLst>
          </p:cNvPr>
          <p:cNvSpPr>
            <a:spLocks noGrp="1"/>
          </p:cNvSpPr>
          <p:nvPr/>
        </p:nvSpPr>
        <p:spPr>
          <a:xfrm>
            <a:off x="552450" y="5695950"/>
            <a:ext cx="11087100" cy="323850"/>
          </a:xfrm>
          <a:prstGeom prst="roundRect">
            <a:avLst>
              <a:gd name="adj" fmla="val 23529"/>
            </a:avLst>
          </a:prstGeom>
          <a:solidFill>
            <a:srgbClr val="1A4A3B"/>
          </a:solidFill>
          <a:ln w="0">
            <a:solidFill>
              <a:srgbClr val="000000">
                <a:alpha val="0"/>
              </a:srgbClr>
            </a:solidFill>
            <a:prstDash val="solid"/>
          </a:ln>
        </p:spPr>
        <p:txBody>
          <a:bodyPr/>
          <a:lstStyle/>
          <a:p>
            <a:endParaRPr lang="en-US"/>
          </a:p>
        </p:txBody>
      </p:sp>
      <p:sp>
        <p:nvSpPr>
          <p:cNvPr id="32" name="Rectangle 31">
            <a:extLst>
              <a:ext uri="{FF2B5EF4-FFF2-40B4-BE49-F238E27FC236}">
                <a16:creationId xmlns:a16="http://schemas.microsoft.com/office/drawing/2014/main" id="{65E66F84-96E3-49DB-85D6-CFD17935E354}"/>
              </a:ext>
            </a:extLst>
          </p:cNvPr>
          <p:cNvSpPr>
            <a:spLocks noGrp="1"/>
          </p:cNvSpPr>
          <p:nvPr/>
        </p:nvSpPr>
        <p:spPr>
          <a:xfrm>
            <a:off x="552450" y="5743575"/>
            <a:ext cx="110871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0">
                <a:solidFill>
                  <a:srgbClr val="DDE5DD"/>
                </a:solidFill>
                <a:latin typeface="Aptos"/>
                <a:ea typeface="Aptos"/>
                <a:cs typeface="Aptos"/>
              </a:defRPr>
            </a:pPr>
            <a:r>
              <a:rPr sz="750" b="0">
                <a:solidFill>
                  <a:srgbClr val="DDE5DD"/>
                </a:solidFill>
                <a:latin typeface="Aptos"/>
                <a:ea typeface="Aptos"/>
                <a:cs typeface="Aptos"/>
              </a:rPr>
              <a:t>Definizione: mai indossato dopo la soglia, non semplicemente usato poco.</a:t>
            </a:r>
          </a:p>
        </p:txBody>
      </p:sp>
      <p:sp>
        <p:nvSpPr>
          <p:cNvPr id="33" name="Rectangle 32">
            <a:extLst>
              <a:ext uri="{FF2B5EF4-FFF2-40B4-BE49-F238E27FC236}">
                <a16:creationId xmlns:a16="http://schemas.microsoft.com/office/drawing/2014/main" id="{615B607A-F9B3-4215-8FD1-26A8440D33C3}"/>
              </a:ext>
            </a:extLst>
          </p:cNvPr>
          <p:cNvSpPr>
            <a:spLocks noGrp="1"/>
          </p:cNvSpPr>
          <p:nvPr/>
        </p:nvSpPr>
        <p:spPr>
          <a:xfrm>
            <a:off x="552450" y="6419850"/>
            <a:ext cx="11087100" cy="9525"/>
          </a:xfrm>
          <a:prstGeom prst="rect">
            <a:avLst/>
          </a:prstGeom>
          <a:solidFill>
            <a:srgbClr val="3F685A"/>
          </a:solidFill>
          <a:ln w="0">
            <a:solidFill>
              <a:srgbClr val="000000">
                <a:alpha val="0"/>
              </a:srgbClr>
            </a:solidFill>
            <a:prstDash val="solid"/>
          </a:ln>
        </p:spPr>
        <p:txBody>
          <a:bodyPr/>
          <a:lstStyle/>
          <a:p>
            <a:endParaRPr lang="en-US"/>
          </a:p>
        </p:txBody>
      </p:sp>
      <p:sp>
        <p:nvSpPr>
          <p:cNvPr id="34" name="Rectangle 33">
            <a:extLst>
              <a:ext uri="{FF2B5EF4-FFF2-40B4-BE49-F238E27FC236}">
                <a16:creationId xmlns:a16="http://schemas.microsoft.com/office/drawing/2014/main" id="{C4B20E78-E01D-4BFD-9CB5-03E44A252F9A}"/>
              </a:ext>
            </a:extLst>
          </p:cNvPr>
          <p:cNvSpPr>
            <a:spLocks noGrp="1"/>
          </p:cNvSpPr>
          <p:nvPr/>
        </p:nvSpPr>
        <p:spPr>
          <a:xfrm>
            <a:off x="552450" y="6496050"/>
            <a:ext cx="100393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91AA9F"/>
                </a:solidFill>
                <a:latin typeface="Aptos"/>
                <a:ea typeface="Aptos"/>
                <a:cs typeface="Aptos"/>
              </a:defRPr>
            </a:pPr>
            <a:r>
              <a:rPr sz="563" b="0">
                <a:solidFill>
                  <a:srgbClr val="91AA9F"/>
                </a:solidFill>
                <a:latin typeface="Aptos"/>
                <a:ea typeface="Aptos"/>
                <a:cs typeface="Aptos"/>
              </a:rPr>
              <a:t>UI: Dashboard · dettaglio capo · outfit di oggi · soglia default 30 giorni</a:t>
            </a:r>
          </a:p>
        </p:txBody>
      </p:sp>
      <p:sp>
        <p:nvSpPr>
          <p:cNvPr id="35" name="Rectangle 34">
            <a:extLst>
              <a:ext uri="{FF2B5EF4-FFF2-40B4-BE49-F238E27FC236}">
                <a16:creationId xmlns:a16="http://schemas.microsoft.com/office/drawing/2014/main" id="{893CAD67-20D1-4562-979E-A63F423C7BC1}"/>
              </a:ext>
            </a:extLst>
          </p:cNvPr>
          <p:cNvSpPr>
            <a:spLocks noGrp="1"/>
          </p:cNvSpPr>
          <p:nvPr/>
        </p:nvSpPr>
        <p:spPr>
          <a:xfrm>
            <a:off x="11049000" y="6477000"/>
            <a:ext cx="590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91AA9F"/>
                </a:solidFill>
                <a:latin typeface="Georgia"/>
                <a:ea typeface="Georgia"/>
                <a:cs typeface="Georgia"/>
              </a:defRPr>
            </a:pPr>
            <a:r>
              <a:rPr sz="750" b="1">
                <a:solidFill>
                  <a:srgbClr val="91AA9F"/>
                </a:solidFill>
                <a:latin typeface="Georgia"/>
                <a:ea typeface="Georgia"/>
                <a:cs typeface="Georgia"/>
              </a:rPr>
              <a:t>06</a:t>
            </a:r>
          </a:p>
        </p:txBody>
      </p:sp>
    </p:spTree>
    <p:extLst>
      <p:ext uri="{BB962C8B-B14F-4D97-AF65-F5344CB8AC3E}">
        <p14:creationId xmlns:p14="http://schemas.microsoft.com/office/powerpoint/2010/main" val="12021639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background">
            <a:extLst>
              <a:ext uri="{FF2B5EF4-FFF2-40B4-BE49-F238E27FC236}">
                <a16:creationId xmlns:a16="http://schemas.microsoft.com/office/drawing/2014/main" id="{17DDF55A-A9A5-45BC-A30A-EDC32BBEBD9A}"/>
              </a:ext>
            </a:extLst>
          </p:cNvPr>
          <p:cNvSpPr>
            <a:spLocks noGrp="1"/>
          </p:cNvSpPr>
          <p:nvPr/>
        </p:nvSpPr>
        <p:spPr>
          <a:xfrm>
            <a:off x="0" y="0"/>
            <a:ext cx="12192000" cy="6858000"/>
          </a:xfrm>
          <a:prstGeom prst="rect">
            <a:avLst/>
          </a:prstGeom>
          <a:solidFill>
            <a:srgbClr val="F4F0E7"/>
          </a:solidFill>
          <a:ln w="0">
            <a:solidFill>
              <a:srgbClr val="000000">
                <a:alpha val="0"/>
              </a:srgbClr>
            </a:solidFill>
            <a:prstDash val="solid"/>
          </a:ln>
        </p:spPr>
        <p:txBody>
          <a:bodyPr/>
          <a:lstStyle/>
          <a:p>
            <a:endParaRPr lang="en-US"/>
          </a:p>
        </p:txBody>
      </p:sp>
      <p:sp>
        <p:nvSpPr>
          <p:cNvPr id="2" name="Oval 1">
            <a:extLst>
              <a:ext uri="{FF2B5EF4-FFF2-40B4-BE49-F238E27FC236}">
                <a16:creationId xmlns:a16="http://schemas.microsoft.com/office/drawing/2014/main" id="{C424D267-8D89-4C62-A690-02AFA23EFAE4}"/>
              </a:ext>
            </a:extLst>
          </p:cNvPr>
          <p:cNvSpPr>
            <a:spLocks noGrp="1"/>
          </p:cNvSpPr>
          <p:nvPr/>
        </p:nvSpPr>
        <p:spPr>
          <a:xfrm>
            <a:off x="552450" y="409575"/>
            <a:ext cx="85725" cy="85725"/>
          </a:xfrm>
          <a:prstGeom prst="ellipse">
            <a:avLst/>
          </a:prstGeom>
          <a:solidFill>
            <a:srgbClr val="2F7D5B"/>
          </a:solidFill>
          <a:ln w="0">
            <a:solidFill>
              <a:srgbClr val="000000">
                <a:alpha val="0"/>
              </a:srgbClr>
            </a:solidFill>
            <a:prstDash val="solid"/>
          </a:ln>
        </p:spPr>
        <p:txBody>
          <a:bodyPr/>
          <a:lstStyle/>
          <a:p>
            <a:endParaRPr lang="en-US"/>
          </a:p>
        </p:txBody>
      </p:sp>
      <p:sp>
        <p:nvSpPr>
          <p:cNvPr id="3" name="Rectangle 2">
            <a:extLst>
              <a:ext uri="{FF2B5EF4-FFF2-40B4-BE49-F238E27FC236}">
                <a16:creationId xmlns:a16="http://schemas.microsoft.com/office/drawing/2014/main" id="{434AD3A7-2CDA-4438-A797-4B5F5E192F81}"/>
              </a:ext>
            </a:extLst>
          </p:cNvPr>
          <p:cNvSpPr>
            <a:spLocks noGrp="1"/>
          </p:cNvSpPr>
          <p:nvPr/>
        </p:nvSpPr>
        <p:spPr>
          <a:xfrm>
            <a:off x="742950" y="361950"/>
            <a:ext cx="666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65736B"/>
                </a:solidFill>
                <a:latin typeface="Aptos"/>
                <a:ea typeface="Aptos"/>
                <a:cs typeface="Aptos"/>
              </a:defRPr>
            </a:pPr>
            <a:r>
              <a:rPr sz="638" b="1">
                <a:solidFill>
                  <a:srgbClr val="65736B"/>
                </a:solidFill>
                <a:latin typeface="Aptos"/>
                <a:ea typeface="Aptos"/>
                <a:cs typeface="Aptos"/>
              </a:rPr>
              <a:t>U S E R   S T O R Y   ·   C U R A</a:t>
            </a:r>
          </a:p>
        </p:txBody>
      </p:sp>
      <p:sp>
        <p:nvSpPr>
          <p:cNvPr id="4" name="claim-title">
            <a:extLst>
              <a:ext uri="{FF2B5EF4-FFF2-40B4-BE49-F238E27FC236}">
                <a16:creationId xmlns:a16="http://schemas.microsoft.com/office/drawing/2014/main" id="{7DB226F4-C7F9-4D6E-A026-435B5C2C4D26}"/>
              </a:ext>
            </a:extLst>
          </p:cNvPr>
          <p:cNvSpPr>
            <a:spLocks noGrp="1"/>
          </p:cNvSpPr>
          <p:nvPr/>
        </p:nvSpPr>
        <p:spPr>
          <a:xfrm>
            <a:off x="552450" y="742950"/>
            <a:ext cx="10572750" cy="914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925" b="1">
                <a:solidFill>
                  <a:srgbClr val="17211D"/>
                </a:solidFill>
                <a:latin typeface="Georgia"/>
                <a:ea typeface="Georgia"/>
                <a:cs typeface="Georgia"/>
              </a:defRPr>
            </a:pPr>
            <a:r>
              <a:rPr sz="2925" b="1">
                <a:solidFill>
                  <a:srgbClr val="17211D"/>
                </a:solidFill>
                <a:latin typeface="Georgia"/>
                <a:ea typeface="Georgia"/>
                <a:cs typeface="Georgia"/>
              </a:rPr>
              <a:t>Lo stato del capo diventa una decisione di cura, non un verdetto.</a:t>
            </a:r>
          </a:p>
        </p:txBody>
      </p:sp>
      <p:sp>
        <p:nvSpPr>
          <p:cNvPr id="5" name="Rectangle: Rounded Corners 4">
            <a:extLst>
              <a:ext uri="{FF2B5EF4-FFF2-40B4-BE49-F238E27FC236}">
                <a16:creationId xmlns:a16="http://schemas.microsoft.com/office/drawing/2014/main" id="{EFEF7B3D-15D5-4CE4-B907-BBB4E2520812}"/>
              </a:ext>
            </a:extLst>
          </p:cNvPr>
          <p:cNvSpPr>
            <a:spLocks noGrp="1"/>
          </p:cNvSpPr>
          <p:nvPr/>
        </p:nvSpPr>
        <p:spPr>
          <a:xfrm>
            <a:off x="552450" y="2152650"/>
            <a:ext cx="2533650" cy="1924050"/>
          </a:xfrm>
          <a:prstGeom prst="roundRect">
            <a:avLst>
              <a:gd name="adj" fmla="val 3960"/>
            </a:avLst>
          </a:prstGeom>
          <a:solidFill>
            <a:srgbClr val="FFFFFF"/>
          </a:solidFill>
          <a:ln w="9525">
            <a:solidFill>
              <a:srgbClr val="B9C3BB"/>
            </a:solidFill>
            <a:prstDash val="solid"/>
          </a:ln>
        </p:spPr>
        <p:txBody>
          <a:bodyPr/>
          <a:lstStyle/>
          <a:p>
            <a:endParaRPr lang="en-US"/>
          </a:p>
        </p:txBody>
      </p:sp>
      <p:sp>
        <p:nvSpPr>
          <p:cNvPr id="6" name="Oval 5">
            <a:extLst>
              <a:ext uri="{FF2B5EF4-FFF2-40B4-BE49-F238E27FC236}">
                <a16:creationId xmlns:a16="http://schemas.microsoft.com/office/drawing/2014/main" id="{75719F93-6B41-493D-9D11-CBCCBB390F9F}"/>
              </a:ext>
            </a:extLst>
          </p:cNvPr>
          <p:cNvSpPr>
            <a:spLocks noGrp="1"/>
          </p:cNvSpPr>
          <p:nvPr/>
        </p:nvSpPr>
        <p:spPr>
          <a:xfrm>
            <a:off x="762000" y="2362200"/>
            <a:ext cx="323850" cy="323850"/>
          </a:xfrm>
          <a:prstGeom prst="ellipse">
            <a:avLst/>
          </a:prstGeom>
          <a:solidFill>
            <a:srgbClr val="2F7D5B"/>
          </a:solidFill>
          <a:ln w="0">
            <a:solidFill>
              <a:srgbClr val="000000">
                <a:alpha val="0"/>
              </a:srgbClr>
            </a:solidFill>
            <a:prstDash val="solid"/>
          </a:ln>
        </p:spPr>
        <p:txBody>
          <a:bodyPr/>
          <a:lstStyle/>
          <a:p>
            <a:endParaRPr lang="en-US"/>
          </a:p>
        </p:txBody>
      </p:sp>
      <p:sp>
        <p:nvSpPr>
          <p:cNvPr id="7" name="Rectangle 6">
            <a:extLst>
              <a:ext uri="{FF2B5EF4-FFF2-40B4-BE49-F238E27FC236}">
                <a16:creationId xmlns:a16="http://schemas.microsoft.com/office/drawing/2014/main" id="{87EC3C6F-6E60-495D-AD5A-035F033D409C}"/>
              </a:ext>
            </a:extLst>
          </p:cNvPr>
          <p:cNvSpPr>
            <a:spLocks noGrp="1"/>
          </p:cNvSpPr>
          <p:nvPr/>
        </p:nvSpPr>
        <p:spPr>
          <a:xfrm>
            <a:off x="762000" y="2400300"/>
            <a:ext cx="32385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00" b="1">
                <a:solidFill>
                  <a:srgbClr val="FFFFFF"/>
                </a:solidFill>
                <a:latin typeface="Aptos"/>
                <a:ea typeface="Aptos"/>
                <a:cs typeface="Aptos"/>
              </a:defRPr>
            </a:pPr>
            <a:r>
              <a:rPr sz="900" b="1">
                <a:solidFill>
                  <a:srgbClr val="FFFFFF"/>
                </a:solidFill>
                <a:latin typeface="Aptos"/>
                <a:ea typeface="Aptos"/>
                <a:cs typeface="Aptos"/>
              </a:rPr>
              <a:t>1</a:t>
            </a:r>
          </a:p>
        </p:txBody>
      </p:sp>
      <p:sp>
        <p:nvSpPr>
          <p:cNvPr id="8" name="Rectangle 7">
            <a:extLst>
              <a:ext uri="{FF2B5EF4-FFF2-40B4-BE49-F238E27FC236}">
                <a16:creationId xmlns:a16="http://schemas.microsoft.com/office/drawing/2014/main" id="{6B62E5F4-9C30-4FAD-A244-B1F7B3DD386E}"/>
              </a:ext>
            </a:extLst>
          </p:cNvPr>
          <p:cNvSpPr>
            <a:spLocks noGrp="1"/>
          </p:cNvSpPr>
          <p:nvPr/>
        </p:nvSpPr>
        <p:spPr>
          <a:xfrm>
            <a:off x="1238250" y="2324100"/>
            <a:ext cx="16192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1">
                <a:solidFill>
                  <a:srgbClr val="17211D"/>
                </a:solidFill>
                <a:latin typeface="Georgia"/>
                <a:ea typeface="Georgia"/>
                <a:cs typeface="Georgia"/>
              </a:defRPr>
            </a:pPr>
            <a:r>
              <a:rPr sz="1200" b="1">
                <a:solidFill>
                  <a:srgbClr val="17211D"/>
                </a:solidFill>
                <a:latin typeface="Georgia"/>
                <a:ea typeface="Georgia"/>
                <a:cs typeface="Georgia"/>
              </a:rPr>
              <a:t>In buono stato</a:t>
            </a:r>
          </a:p>
        </p:txBody>
      </p:sp>
      <p:sp>
        <p:nvSpPr>
          <p:cNvPr id="9" name="Rectangle 8">
            <a:extLst>
              <a:ext uri="{FF2B5EF4-FFF2-40B4-BE49-F238E27FC236}">
                <a16:creationId xmlns:a16="http://schemas.microsoft.com/office/drawing/2014/main" id="{20E7ECBF-C6E9-4231-98DC-F5F68A2FDBDA}"/>
              </a:ext>
            </a:extLst>
          </p:cNvPr>
          <p:cNvSpPr>
            <a:spLocks noGrp="1"/>
          </p:cNvSpPr>
          <p:nvPr/>
        </p:nvSpPr>
        <p:spPr>
          <a:xfrm>
            <a:off x="762000" y="3143250"/>
            <a:ext cx="20955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0">
                <a:solidFill>
                  <a:srgbClr val="65736B"/>
                </a:solidFill>
                <a:latin typeface="Aptos"/>
                <a:ea typeface="Aptos"/>
                <a:cs typeface="Aptos"/>
              </a:defRPr>
            </a:pPr>
            <a:r>
              <a:rPr sz="825" b="0">
                <a:solidFill>
                  <a:srgbClr val="65736B"/>
                </a:solidFill>
                <a:latin typeface="Aptos"/>
                <a:ea typeface="Aptos"/>
                <a:cs typeface="Aptos"/>
              </a:rPr>
              <a:t>continua a usarlo</a:t>
            </a:r>
          </a:p>
        </p:txBody>
      </p:sp>
      <p:sp>
        <p:nvSpPr>
          <p:cNvPr id="10" name="Rectangle: Rounded Corners 9">
            <a:extLst>
              <a:ext uri="{FF2B5EF4-FFF2-40B4-BE49-F238E27FC236}">
                <a16:creationId xmlns:a16="http://schemas.microsoft.com/office/drawing/2014/main" id="{43A3C2DC-94BF-4ACC-B2E9-6CDAF2EAC695}"/>
              </a:ext>
            </a:extLst>
          </p:cNvPr>
          <p:cNvSpPr>
            <a:spLocks noGrp="1"/>
          </p:cNvSpPr>
          <p:nvPr/>
        </p:nvSpPr>
        <p:spPr>
          <a:xfrm>
            <a:off x="3409950" y="2152650"/>
            <a:ext cx="2533650" cy="1924050"/>
          </a:xfrm>
          <a:prstGeom prst="roundRect">
            <a:avLst>
              <a:gd name="adj" fmla="val 3960"/>
            </a:avLst>
          </a:prstGeom>
          <a:solidFill>
            <a:srgbClr val="FFFFFF"/>
          </a:solidFill>
          <a:ln w="9525">
            <a:solidFill>
              <a:srgbClr val="B9C3BB"/>
            </a:solidFill>
            <a:prstDash val="solid"/>
          </a:ln>
        </p:spPr>
        <p:txBody>
          <a:bodyPr/>
          <a:lstStyle/>
          <a:p>
            <a:endParaRPr lang="en-US"/>
          </a:p>
        </p:txBody>
      </p:sp>
      <p:sp>
        <p:nvSpPr>
          <p:cNvPr id="11" name="Oval 10">
            <a:extLst>
              <a:ext uri="{FF2B5EF4-FFF2-40B4-BE49-F238E27FC236}">
                <a16:creationId xmlns:a16="http://schemas.microsoft.com/office/drawing/2014/main" id="{C57F0A08-4AE9-4C7C-903A-89BB324B8F03}"/>
              </a:ext>
            </a:extLst>
          </p:cNvPr>
          <p:cNvSpPr>
            <a:spLocks noGrp="1"/>
          </p:cNvSpPr>
          <p:nvPr/>
        </p:nvSpPr>
        <p:spPr>
          <a:xfrm>
            <a:off x="3619500" y="2362200"/>
            <a:ext cx="323850" cy="323850"/>
          </a:xfrm>
          <a:prstGeom prst="ellipse">
            <a:avLst/>
          </a:prstGeom>
          <a:solidFill>
            <a:srgbClr val="D56E42"/>
          </a:solidFill>
          <a:ln w="0">
            <a:solidFill>
              <a:srgbClr val="000000">
                <a:alpha val="0"/>
              </a:srgbClr>
            </a:solidFill>
            <a:prstDash val="solid"/>
          </a:ln>
        </p:spPr>
        <p:txBody>
          <a:bodyPr/>
          <a:lstStyle/>
          <a:p>
            <a:endParaRPr lang="en-US"/>
          </a:p>
        </p:txBody>
      </p:sp>
      <p:sp>
        <p:nvSpPr>
          <p:cNvPr id="12" name="Rectangle 11">
            <a:extLst>
              <a:ext uri="{FF2B5EF4-FFF2-40B4-BE49-F238E27FC236}">
                <a16:creationId xmlns:a16="http://schemas.microsoft.com/office/drawing/2014/main" id="{87745A94-88D6-4AE8-BEF8-CB7CCB7F6072}"/>
              </a:ext>
            </a:extLst>
          </p:cNvPr>
          <p:cNvSpPr>
            <a:spLocks noGrp="1"/>
          </p:cNvSpPr>
          <p:nvPr/>
        </p:nvSpPr>
        <p:spPr>
          <a:xfrm>
            <a:off x="3619500" y="2400300"/>
            <a:ext cx="32385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00" b="1">
                <a:solidFill>
                  <a:srgbClr val="FFFFFF"/>
                </a:solidFill>
                <a:latin typeface="Aptos"/>
                <a:ea typeface="Aptos"/>
                <a:cs typeface="Aptos"/>
              </a:defRPr>
            </a:pPr>
            <a:r>
              <a:rPr sz="900" b="1">
                <a:solidFill>
                  <a:srgbClr val="FFFFFF"/>
                </a:solidFill>
                <a:latin typeface="Aptos"/>
                <a:ea typeface="Aptos"/>
                <a:cs typeface="Aptos"/>
              </a:rPr>
              <a:t>2</a:t>
            </a:r>
          </a:p>
        </p:txBody>
      </p:sp>
      <p:sp>
        <p:nvSpPr>
          <p:cNvPr id="13" name="Rectangle 12">
            <a:extLst>
              <a:ext uri="{FF2B5EF4-FFF2-40B4-BE49-F238E27FC236}">
                <a16:creationId xmlns:a16="http://schemas.microsoft.com/office/drawing/2014/main" id="{D99CE900-69D6-4C99-8227-92A1B7A62183}"/>
              </a:ext>
            </a:extLst>
          </p:cNvPr>
          <p:cNvSpPr>
            <a:spLocks noGrp="1"/>
          </p:cNvSpPr>
          <p:nvPr/>
        </p:nvSpPr>
        <p:spPr>
          <a:xfrm>
            <a:off x="4095750" y="2324100"/>
            <a:ext cx="16192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1">
                <a:solidFill>
                  <a:srgbClr val="17211D"/>
                </a:solidFill>
                <a:latin typeface="Georgia"/>
                <a:ea typeface="Georgia"/>
                <a:cs typeface="Georgia"/>
              </a:defRPr>
            </a:pPr>
            <a:r>
              <a:rPr sz="1200" b="1">
                <a:solidFill>
                  <a:srgbClr val="17211D"/>
                </a:solidFill>
                <a:latin typeface="Georgia"/>
                <a:ea typeface="Georgia"/>
                <a:cs typeface="Georgia"/>
              </a:rPr>
              <a:t>Da curare</a:t>
            </a:r>
          </a:p>
        </p:txBody>
      </p:sp>
      <p:sp>
        <p:nvSpPr>
          <p:cNvPr id="14" name="Rectangle 13">
            <a:extLst>
              <a:ext uri="{FF2B5EF4-FFF2-40B4-BE49-F238E27FC236}">
                <a16:creationId xmlns:a16="http://schemas.microsoft.com/office/drawing/2014/main" id="{5A2C819A-4E7D-4A53-998D-BADE46D536EF}"/>
              </a:ext>
            </a:extLst>
          </p:cNvPr>
          <p:cNvSpPr>
            <a:spLocks noGrp="1"/>
          </p:cNvSpPr>
          <p:nvPr/>
        </p:nvSpPr>
        <p:spPr>
          <a:xfrm>
            <a:off x="3619500" y="3143250"/>
            <a:ext cx="20955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0">
                <a:solidFill>
                  <a:srgbClr val="65736B"/>
                </a:solidFill>
                <a:latin typeface="Aptos"/>
                <a:ea typeface="Aptos"/>
                <a:cs typeface="Aptos"/>
              </a:defRPr>
            </a:pPr>
            <a:r>
              <a:rPr sz="825" b="0">
                <a:solidFill>
                  <a:srgbClr val="65736B"/>
                </a:solidFill>
                <a:latin typeface="Aptos"/>
                <a:ea typeface="Aptos"/>
                <a:cs typeface="Aptos"/>
              </a:rPr>
              <a:t>ripara o mantieni</a:t>
            </a:r>
          </a:p>
        </p:txBody>
      </p:sp>
      <p:sp>
        <p:nvSpPr>
          <p:cNvPr id="15" name="Rectangle: Rounded Corners 14">
            <a:extLst>
              <a:ext uri="{FF2B5EF4-FFF2-40B4-BE49-F238E27FC236}">
                <a16:creationId xmlns:a16="http://schemas.microsoft.com/office/drawing/2014/main" id="{FB0FC69D-9D0C-4D82-907D-A0476BC30BB4}"/>
              </a:ext>
            </a:extLst>
          </p:cNvPr>
          <p:cNvSpPr>
            <a:spLocks noGrp="1"/>
          </p:cNvSpPr>
          <p:nvPr/>
        </p:nvSpPr>
        <p:spPr>
          <a:xfrm>
            <a:off x="6267450" y="2152650"/>
            <a:ext cx="2533650" cy="1924050"/>
          </a:xfrm>
          <a:prstGeom prst="roundRect">
            <a:avLst>
              <a:gd name="adj" fmla="val 3960"/>
            </a:avLst>
          </a:prstGeom>
          <a:solidFill>
            <a:srgbClr val="FFFFFF"/>
          </a:solidFill>
          <a:ln w="9525">
            <a:solidFill>
              <a:srgbClr val="B9C3BB"/>
            </a:solidFill>
            <a:prstDash val="solid"/>
          </a:ln>
        </p:spPr>
        <p:txBody>
          <a:bodyPr/>
          <a:lstStyle/>
          <a:p>
            <a:endParaRPr lang="en-US"/>
          </a:p>
        </p:txBody>
      </p:sp>
      <p:sp>
        <p:nvSpPr>
          <p:cNvPr id="16" name="Oval 15">
            <a:extLst>
              <a:ext uri="{FF2B5EF4-FFF2-40B4-BE49-F238E27FC236}">
                <a16:creationId xmlns:a16="http://schemas.microsoft.com/office/drawing/2014/main" id="{88A90359-32FF-4FD0-93E7-B2524795220F}"/>
              </a:ext>
            </a:extLst>
          </p:cNvPr>
          <p:cNvSpPr>
            <a:spLocks noGrp="1"/>
          </p:cNvSpPr>
          <p:nvPr/>
        </p:nvSpPr>
        <p:spPr>
          <a:xfrm>
            <a:off x="6477000" y="2362200"/>
            <a:ext cx="323850" cy="323850"/>
          </a:xfrm>
          <a:prstGeom prst="ellipse">
            <a:avLst/>
          </a:prstGeom>
          <a:solidFill>
            <a:srgbClr val="123C31"/>
          </a:solidFill>
          <a:ln w="0">
            <a:solidFill>
              <a:srgbClr val="000000">
                <a:alpha val="0"/>
              </a:srgbClr>
            </a:solidFill>
            <a:prstDash val="solid"/>
          </a:ln>
        </p:spPr>
        <p:txBody>
          <a:bodyPr/>
          <a:lstStyle/>
          <a:p>
            <a:endParaRPr lang="en-US"/>
          </a:p>
        </p:txBody>
      </p:sp>
      <p:sp>
        <p:nvSpPr>
          <p:cNvPr id="17" name="Rectangle 16">
            <a:extLst>
              <a:ext uri="{FF2B5EF4-FFF2-40B4-BE49-F238E27FC236}">
                <a16:creationId xmlns:a16="http://schemas.microsoft.com/office/drawing/2014/main" id="{33AE4351-D3EC-445E-BCDC-D3799BCBAFAB}"/>
              </a:ext>
            </a:extLst>
          </p:cNvPr>
          <p:cNvSpPr>
            <a:spLocks noGrp="1"/>
          </p:cNvSpPr>
          <p:nvPr/>
        </p:nvSpPr>
        <p:spPr>
          <a:xfrm>
            <a:off x="6477000" y="2400300"/>
            <a:ext cx="32385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00" b="1">
                <a:solidFill>
                  <a:srgbClr val="FFFFFF"/>
                </a:solidFill>
                <a:latin typeface="Aptos"/>
                <a:ea typeface="Aptos"/>
                <a:cs typeface="Aptos"/>
              </a:defRPr>
            </a:pPr>
            <a:r>
              <a:rPr sz="900" b="1">
                <a:solidFill>
                  <a:srgbClr val="FFFFFF"/>
                </a:solidFill>
                <a:latin typeface="Aptos"/>
                <a:ea typeface="Aptos"/>
                <a:cs typeface="Aptos"/>
              </a:rPr>
              <a:t>3</a:t>
            </a:r>
          </a:p>
        </p:txBody>
      </p:sp>
      <p:sp>
        <p:nvSpPr>
          <p:cNvPr id="18" name="Rectangle 17">
            <a:extLst>
              <a:ext uri="{FF2B5EF4-FFF2-40B4-BE49-F238E27FC236}">
                <a16:creationId xmlns:a16="http://schemas.microsoft.com/office/drawing/2014/main" id="{A7BF540E-2E80-466E-8D90-E5D37018A222}"/>
              </a:ext>
            </a:extLst>
          </p:cNvPr>
          <p:cNvSpPr>
            <a:spLocks noGrp="1"/>
          </p:cNvSpPr>
          <p:nvPr/>
        </p:nvSpPr>
        <p:spPr>
          <a:xfrm>
            <a:off x="6953250" y="2324100"/>
            <a:ext cx="16192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1">
                <a:solidFill>
                  <a:srgbClr val="17211D"/>
                </a:solidFill>
                <a:latin typeface="Georgia"/>
                <a:ea typeface="Georgia"/>
                <a:cs typeface="Georgia"/>
              </a:defRPr>
            </a:pPr>
            <a:r>
              <a:rPr sz="1200" b="1">
                <a:solidFill>
                  <a:srgbClr val="17211D"/>
                </a:solidFill>
                <a:latin typeface="Georgia"/>
                <a:ea typeface="Georgia"/>
                <a:cs typeface="Georgia"/>
              </a:rPr>
              <a:t>Danneggiato</a:t>
            </a:r>
          </a:p>
        </p:txBody>
      </p:sp>
      <p:sp>
        <p:nvSpPr>
          <p:cNvPr id="19" name="Rectangle 18">
            <a:extLst>
              <a:ext uri="{FF2B5EF4-FFF2-40B4-BE49-F238E27FC236}">
                <a16:creationId xmlns:a16="http://schemas.microsoft.com/office/drawing/2014/main" id="{163D4174-6809-45A9-8E72-91DAE81ADE9A}"/>
              </a:ext>
            </a:extLst>
          </p:cNvPr>
          <p:cNvSpPr>
            <a:spLocks noGrp="1"/>
          </p:cNvSpPr>
          <p:nvPr/>
        </p:nvSpPr>
        <p:spPr>
          <a:xfrm>
            <a:off x="6477000" y="3143250"/>
            <a:ext cx="20955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0">
                <a:solidFill>
                  <a:srgbClr val="65736B"/>
                </a:solidFill>
                <a:latin typeface="Aptos"/>
                <a:ea typeface="Aptos"/>
                <a:cs typeface="Aptos"/>
              </a:defRPr>
            </a:pPr>
            <a:r>
              <a:rPr sz="825" b="0">
                <a:solidFill>
                  <a:srgbClr val="65736B"/>
                </a:solidFill>
                <a:latin typeface="Aptos"/>
                <a:ea typeface="Aptos"/>
                <a:cs typeface="Aptos"/>
              </a:rPr>
              <a:t>ripara, ricicla o seconda vita</a:t>
            </a:r>
          </a:p>
        </p:txBody>
      </p:sp>
      <p:sp>
        <p:nvSpPr>
          <p:cNvPr id="20" name="Rectangle 19">
            <a:extLst>
              <a:ext uri="{FF2B5EF4-FFF2-40B4-BE49-F238E27FC236}">
                <a16:creationId xmlns:a16="http://schemas.microsoft.com/office/drawing/2014/main" id="{31882C10-C827-4915-B2DF-261A641244A2}"/>
              </a:ext>
            </a:extLst>
          </p:cNvPr>
          <p:cNvSpPr>
            <a:spLocks noGrp="1"/>
          </p:cNvSpPr>
          <p:nvPr/>
        </p:nvSpPr>
        <p:spPr>
          <a:xfrm>
            <a:off x="8858250" y="3105150"/>
            <a:ext cx="571500" cy="28575"/>
          </a:xfrm>
          <a:prstGeom prst="rect">
            <a:avLst/>
          </a:prstGeom>
          <a:solidFill>
            <a:srgbClr val="2F7D5B"/>
          </a:solidFill>
          <a:ln w="0">
            <a:solidFill>
              <a:srgbClr val="000000">
                <a:alpha val="0"/>
              </a:srgbClr>
            </a:solidFill>
            <a:prstDash val="solid"/>
          </a:ln>
        </p:spPr>
        <p:txBody>
          <a:bodyPr/>
          <a:lstStyle/>
          <a:p>
            <a:endParaRPr lang="en-US"/>
          </a:p>
        </p:txBody>
      </p:sp>
      <p:sp>
        <p:nvSpPr>
          <p:cNvPr id="21" name="Isosceles Triangle 20">
            <a:extLst>
              <a:ext uri="{FF2B5EF4-FFF2-40B4-BE49-F238E27FC236}">
                <a16:creationId xmlns:a16="http://schemas.microsoft.com/office/drawing/2014/main" id="{C0012887-A79F-4974-B3CF-E3735F261CF1}"/>
              </a:ext>
            </a:extLst>
          </p:cNvPr>
          <p:cNvSpPr>
            <a:spLocks noGrp="1"/>
          </p:cNvSpPr>
          <p:nvPr/>
        </p:nvSpPr>
        <p:spPr>
          <a:xfrm>
            <a:off x="9401175" y="3048000"/>
            <a:ext cx="133350" cy="133350"/>
          </a:xfrm>
          <a:prstGeom prst="triangle">
            <a:avLst/>
          </a:prstGeom>
          <a:solidFill>
            <a:srgbClr val="2F7D5B"/>
          </a:solidFill>
          <a:ln w="0">
            <a:solidFill>
              <a:srgbClr val="000000">
                <a:alpha val="0"/>
              </a:srgbClr>
            </a:solidFill>
            <a:prstDash val="solid"/>
          </a:ln>
        </p:spPr>
        <p:txBody>
          <a:bodyPr/>
          <a:lstStyle/>
          <a:p>
            <a:endParaRPr lang="en-US"/>
          </a:p>
        </p:txBody>
      </p:sp>
      <p:sp>
        <p:nvSpPr>
          <p:cNvPr id="22" name="Rectangle: Rounded Corners 21">
            <a:extLst>
              <a:ext uri="{FF2B5EF4-FFF2-40B4-BE49-F238E27FC236}">
                <a16:creationId xmlns:a16="http://schemas.microsoft.com/office/drawing/2014/main" id="{A9649656-9CCA-4822-93B4-EB4FB2EEE15C}"/>
              </a:ext>
            </a:extLst>
          </p:cNvPr>
          <p:cNvSpPr>
            <a:spLocks noGrp="1"/>
          </p:cNvSpPr>
          <p:nvPr/>
        </p:nvSpPr>
        <p:spPr>
          <a:xfrm>
            <a:off x="9753600" y="2152650"/>
            <a:ext cx="1885950" cy="1924050"/>
          </a:xfrm>
          <a:prstGeom prst="roundRect">
            <a:avLst>
              <a:gd name="adj" fmla="val 4040"/>
            </a:avLst>
          </a:prstGeom>
          <a:solidFill>
            <a:srgbClr val="123C31"/>
          </a:solidFill>
          <a:ln w="9525">
            <a:solidFill>
              <a:srgbClr val="123C31"/>
            </a:solidFill>
            <a:prstDash val="solid"/>
          </a:ln>
        </p:spPr>
        <p:txBody>
          <a:bodyPr/>
          <a:lstStyle/>
          <a:p>
            <a:endParaRPr lang="en-US"/>
          </a:p>
        </p:txBody>
      </p:sp>
      <p:sp>
        <p:nvSpPr>
          <p:cNvPr id="23" name="Rectangle 22">
            <a:extLst>
              <a:ext uri="{FF2B5EF4-FFF2-40B4-BE49-F238E27FC236}">
                <a16:creationId xmlns:a16="http://schemas.microsoft.com/office/drawing/2014/main" id="{89585DA0-258E-42A0-95AE-308D03AADAC3}"/>
              </a:ext>
            </a:extLst>
          </p:cNvPr>
          <p:cNvSpPr>
            <a:spLocks noGrp="1"/>
          </p:cNvSpPr>
          <p:nvPr/>
        </p:nvSpPr>
        <p:spPr>
          <a:xfrm>
            <a:off x="10287000" y="2400300"/>
            <a:ext cx="819150" cy="590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3150" b="0">
                <a:solidFill>
                  <a:srgbClr val="B9D94A"/>
                </a:solidFill>
                <a:latin typeface="Aptos"/>
                <a:ea typeface="Aptos"/>
                <a:cs typeface="Aptos"/>
              </a:defRPr>
            </a:pPr>
            <a:r>
              <a:rPr sz="3150" b="0">
                <a:solidFill>
                  <a:srgbClr val="B9D94A"/>
                </a:solidFill>
                <a:latin typeface="Aptos"/>
                <a:ea typeface="Aptos"/>
                <a:cs typeface="Aptos"/>
              </a:rPr>
              <a:t>✓</a:t>
            </a:r>
          </a:p>
        </p:txBody>
      </p:sp>
      <p:sp>
        <p:nvSpPr>
          <p:cNvPr id="24" name="Rectangle 23">
            <a:extLst>
              <a:ext uri="{FF2B5EF4-FFF2-40B4-BE49-F238E27FC236}">
                <a16:creationId xmlns:a16="http://schemas.microsoft.com/office/drawing/2014/main" id="{CA2B726A-CF7D-4724-9509-F329D372C779}"/>
              </a:ext>
            </a:extLst>
          </p:cNvPr>
          <p:cNvSpPr>
            <a:spLocks noGrp="1"/>
          </p:cNvSpPr>
          <p:nvPr/>
        </p:nvSpPr>
        <p:spPr>
          <a:xfrm>
            <a:off x="9925050" y="3143250"/>
            <a:ext cx="15430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275" b="1">
                <a:solidFill>
                  <a:srgbClr val="FFFFFF"/>
                </a:solidFill>
                <a:latin typeface="Georgia"/>
                <a:ea typeface="Georgia"/>
                <a:cs typeface="Georgia"/>
              </a:defRPr>
            </a:pPr>
            <a:r>
              <a:rPr sz="1275" b="1">
                <a:solidFill>
                  <a:srgbClr val="FFFFFF"/>
                </a:solidFill>
                <a:latin typeface="Georgia"/>
                <a:ea typeface="Georgia"/>
                <a:cs typeface="Georgia"/>
              </a:rPr>
              <a:t>Marta verifica</a:t>
            </a:r>
          </a:p>
        </p:txBody>
      </p:sp>
      <p:sp>
        <p:nvSpPr>
          <p:cNvPr id="25" name="Rectangle 24">
            <a:extLst>
              <a:ext uri="{FF2B5EF4-FFF2-40B4-BE49-F238E27FC236}">
                <a16:creationId xmlns:a16="http://schemas.microsoft.com/office/drawing/2014/main" id="{93A89117-31AB-4D88-B9DF-E6254AF7FFC2}"/>
              </a:ext>
            </a:extLst>
          </p:cNvPr>
          <p:cNvSpPr>
            <a:spLocks noGrp="1"/>
          </p:cNvSpPr>
          <p:nvPr/>
        </p:nvSpPr>
        <p:spPr>
          <a:xfrm>
            <a:off x="9925050" y="3524250"/>
            <a:ext cx="15430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13" b="0">
                <a:solidFill>
                  <a:srgbClr val="DDE5DD"/>
                </a:solidFill>
                <a:latin typeface="Aptos"/>
                <a:ea typeface="Aptos"/>
                <a:cs typeface="Aptos"/>
              </a:defRPr>
            </a:pPr>
            <a:r>
              <a:rPr sz="713" b="0">
                <a:solidFill>
                  <a:srgbClr val="DDE5DD"/>
                </a:solidFill>
                <a:latin typeface="Aptos"/>
                <a:ea typeface="Aptos"/>
                <a:cs typeface="Aptos"/>
              </a:rPr>
              <a:t>può correggere lo stato</a:t>
            </a:r>
          </a:p>
        </p:txBody>
      </p:sp>
      <p:sp>
        <p:nvSpPr>
          <p:cNvPr id="26" name="Rectangle: Rounded Corners 25">
            <a:extLst>
              <a:ext uri="{FF2B5EF4-FFF2-40B4-BE49-F238E27FC236}">
                <a16:creationId xmlns:a16="http://schemas.microsoft.com/office/drawing/2014/main" id="{6F697629-C4C5-45AB-8B7C-BB6EF0134F93}"/>
              </a:ext>
            </a:extLst>
          </p:cNvPr>
          <p:cNvSpPr>
            <a:spLocks noGrp="1"/>
          </p:cNvSpPr>
          <p:nvPr/>
        </p:nvSpPr>
        <p:spPr>
          <a:xfrm>
            <a:off x="552450" y="4686300"/>
            <a:ext cx="11087100" cy="876300"/>
          </a:xfrm>
          <a:prstGeom prst="roundRect">
            <a:avLst>
              <a:gd name="adj" fmla="val 8696"/>
            </a:avLst>
          </a:prstGeom>
          <a:solidFill>
            <a:srgbClr val="DDE5DD"/>
          </a:solidFill>
          <a:ln w="0">
            <a:solidFill>
              <a:srgbClr val="000000">
                <a:alpha val="0"/>
              </a:srgbClr>
            </a:solidFill>
            <a:prstDash val="solid"/>
          </a:ln>
        </p:spPr>
        <p:txBody>
          <a:bodyPr/>
          <a:lstStyle/>
          <a:p>
            <a:endParaRPr lang="en-US"/>
          </a:p>
        </p:txBody>
      </p:sp>
      <p:sp>
        <p:nvSpPr>
          <p:cNvPr id="27" name="Rectangle 26">
            <a:extLst>
              <a:ext uri="{FF2B5EF4-FFF2-40B4-BE49-F238E27FC236}">
                <a16:creationId xmlns:a16="http://schemas.microsoft.com/office/drawing/2014/main" id="{5DFF5059-B20E-465F-9273-7A2FA7E7AFB4}"/>
              </a:ext>
            </a:extLst>
          </p:cNvPr>
          <p:cNvSpPr>
            <a:spLocks noGrp="1"/>
          </p:cNvSpPr>
          <p:nvPr/>
        </p:nvSpPr>
        <p:spPr>
          <a:xfrm>
            <a:off x="800100" y="4876800"/>
            <a:ext cx="21907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2F7D5B"/>
                </a:solidFill>
                <a:latin typeface="Aptos"/>
                <a:ea typeface="Aptos"/>
                <a:cs typeface="Aptos"/>
              </a:defRPr>
            </a:pPr>
            <a:r>
              <a:rPr sz="638" b="1">
                <a:solidFill>
                  <a:srgbClr val="2F7D5B"/>
                </a:solidFill>
                <a:latin typeface="Aptos"/>
                <a:ea typeface="Aptos"/>
                <a:cs typeface="Aptos"/>
              </a:rPr>
              <a:t>INPUT</a:t>
            </a:r>
          </a:p>
        </p:txBody>
      </p:sp>
      <p:sp>
        <p:nvSpPr>
          <p:cNvPr id="28" name="Rectangle 27">
            <a:extLst>
              <a:ext uri="{FF2B5EF4-FFF2-40B4-BE49-F238E27FC236}">
                <a16:creationId xmlns:a16="http://schemas.microsoft.com/office/drawing/2014/main" id="{659575E8-21E0-4F92-A283-F7FFBA621E62}"/>
              </a:ext>
            </a:extLst>
          </p:cNvPr>
          <p:cNvSpPr>
            <a:spLocks noGrp="1"/>
          </p:cNvSpPr>
          <p:nvPr/>
        </p:nvSpPr>
        <p:spPr>
          <a:xfrm>
            <a:off x="800100" y="5143500"/>
            <a:ext cx="2190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1">
                <a:solidFill>
                  <a:srgbClr val="17211D"/>
                </a:solidFill>
                <a:latin typeface="Georgia"/>
                <a:ea typeface="Georgia"/>
                <a:cs typeface="Georgia"/>
              </a:defRPr>
            </a:pPr>
            <a:r>
              <a:rPr sz="938" b="1">
                <a:solidFill>
                  <a:srgbClr val="17211D"/>
                </a:solidFill>
                <a:latin typeface="Georgia"/>
                <a:ea typeface="Georgia"/>
                <a:cs typeface="Georgia"/>
              </a:rPr>
              <a:t>foto</a:t>
            </a:r>
          </a:p>
        </p:txBody>
      </p:sp>
      <p:sp>
        <p:nvSpPr>
          <p:cNvPr id="29" name="Rectangle 28">
            <a:extLst>
              <a:ext uri="{FF2B5EF4-FFF2-40B4-BE49-F238E27FC236}">
                <a16:creationId xmlns:a16="http://schemas.microsoft.com/office/drawing/2014/main" id="{CF249C88-653C-41F0-A022-4F8ECEC8BE1E}"/>
              </a:ext>
            </a:extLst>
          </p:cNvPr>
          <p:cNvSpPr>
            <a:spLocks noGrp="1"/>
          </p:cNvSpPr>
          <p:nvPr/>
        </p:nvSpPr>
        <p:spPr>
          <a:xfrm>
            <a:off x="3505200" y="4876800"/>
            <a:ext cx="21907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D56E42"/>
                </a:solidFill>
                <a:latin typeface="Aptos"/>
                <a:ea typeface="Aptos"/>
                <a:cs typeface="Aptos"/>
              </a:defRPr>
            </a:pPr>
            <a:r>
              <a:rPr sz="638" b="1">
                <a:solidFill>
                  <a:srgbClr val="D56E42"/>
                </a:solidFill>
                <a:latin typeface="Aptos"/>
                <a:ea typeface="Aptos"/>
                <a:cs typeface="Aptos"/>
              </a:rPr>
              <a:t>MODELLO</a:t>
            </a:r>
          </a:p>
        </p:txBody>
      </p:sp>
      <p:sp>
        <p:nvSpPr>
          <p:cNvPr id="30" name="Rectangle 29">
            <a:extLst>
              <a:ext uri="{FF2B5EF4-FFF2-40B4-BE49-F238E27FC236}">
                <a16:creationId xmlns:a16="http://schemas.microsoft.com/office/drawing/2014/main" id="{F6D0E1B8-B524-41F5-86C3-2B1666299BE1}"/>
              </a:ext>
            </a:extLst>
          </p:cNvPr>
          <p:cNvSpPr>
            <a:spLocks noGrp="1"/>
          </p:cNvSpPr>
          <p:nvPr/>
        </p:nvSpPr>
        <p:spPr>
          <a:xfrm>
            <a:off x="3505200" y="5143500"/>
            <a:ext cx="2190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1">
                <a:solidFill>
                  <a:srgbClr val="17211D"/>
                </a:solidFill>
                <a:latin typeface="Georgia"/>
                <a:ea typeface="Georgia"/>
                <a:cs typeface="Georgia"/>
              </a:defRPr>
            </a:pPr>
            <a:r>
              <a:rPr sz="938" b="1">
                <a:solidFill>
                  <a:srgbClr val="17211D"/>
                </a:solidFill>
                <a:latin typeface="Georgia"/>
                <a:ea typeface="Georgia"/>
                <a:cs typeface="Georgia"/>
              </a:rPr>
              <a:t>suggerisce lo stato</a:t>
            </a:r>
          </a:p>
        </p:txBody>
      </p:sp>
      <p:sp>
        <p:nvSpPr>
          <p:cNvPr id="31" name="Rectangle 30">
            <a:extLst>
              <a:ext uri="{FF2B5EF4-FFF2-40B4-BE49-F238E27FC236}">
                <a16:creationId xmlns:a16="http://schemas.microsoft.com/office/drawing/2014/main" id="{89B4CF95-E5CA-4B75-A0A1-82A4AB027376}"/>
              </a:ext>
            </a:extLst>
          </p:cNvPr>
          <p:cNvSpPr>
            <a:spLocks noGrp="1"/>
          </p:cNvSpPr>
          <p:nvPr/>
        </p:nvSpPr>
        <p:spPr>
          <a:xfrm>
            <a:off x="6210300" y="4876800"/>
            <a:ext cx="21907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2F7D5B"/>
                </a:solidFill>
                <a:latin typeface="Aptos"/>
                <a:ea typeface="Aptos"/>
                <a:cs typeface="Aptos"/>
              </a:defRPr>
            </a:pPr>
            <a:r>
              <a:rPr sz="638" b="1">
                <a:solidFill>
                  <a:srgbClr val="2F7D5B"/>
                </a:solidFill>
                <a:latin typeface="Aptos"/>
                <a:ea typeface="Aptos"/>
                <a:cs typeface="Aptos"/>
              </a:rPr>
              <a:t>PERSONA</a:t>
            </a:r>
          </a:p>
        </p:txBody>
      </p:sp>
      <p:sp>
        <p:nvSpPr>
          <p:cNvPr id="32" name="Rectangle 31">
            <a:extLst>
              <a:ext uri="{FF2B5EF4-FFF2-40B4-BE49-F238E27FC236}">
                <a16:creationId xmlns:a16="http://schemas.microsoft.com/office/drawing/2014/main" id="{4961B4D1-306F-4D9E-AC6E-F1A793F11C8F}"/>
              </a:ext>
            </a:extLst>
          </p:cNvPr>
          <p:cNvSpPr>
            <a:spLocks noGrp="1"/>
          </p:cNvSpPr>
          <p:nvPr/>
        </p:nvSpPr>
        <p:spPr>
          <a:xfrm>
            <a:off x="6210300" y="5143500"/>
            <a:ext cx="2190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1">
                <a:solidFill>
                  <a:srgbClr val="17211D"/>
                </a:solidFill>
                <a:latin typeface="Georgia"/>
                <a:ea typeface="Georgia"/>
                <a:cs typeface="Georgia"/>
              </a:defRPr>
            </a:pPr>
            <a:r>
              <a:rPr sz="938" b="1">
                <a:solidFill>
                  <a:srgbClr val="17211D"/>
                </a:solidFill>
                <a:latin typeface="Georgia"/>
                <a:ea typeface="Georgia"/>
                <a:cs typeface="Georgia"/>
              </a:rPr>
              <a:t>conferma o corregge</a:t>
            </a:r>
          </a:p>
        </p:txBody>
      </p:sp>
      <p:sp>
        <p:nvSpPr>
          <p:cNvPr id="33" name="Rectangle 32">
            <a:extLst>
              <a:ext uri="{FF2B5EF4-FFF2-40B4-BE49-F238E27FC236}">
                <a16:creationId xmlns:a16="http://schemas.microsoft.com/office/drawing/2014/main" id="{3BE731BD-3A28-4DF3-9EE2-C49127CE3B5D}"/>
              </a:ext>
            </a:extLst>
          </p:cNvPr>
          <p:cNvSpPr>
            <a:spLocks noGrp="1"/>
          </p:cNvSpPr>
          <p:nvPr/>
        </p:nvSpPr>
        <p:spPr>
          <a:xfrm>
            <a:off x="8915400" y="4876800"/>
            <a:ext cx="21907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2F7D5B"/>
                </a:solidFill>
                <a:latin typeface="Aptos"/>
                <a:ea typeface="Aptos"/>
                <a:cs typeface="Aptos"/>
              </a:defRPr>
            </a:pPr>
            <a:r>
              <a:rPr sz="638" b="1">
                <a:solidFill>
                  <a:srgbClr val="2F7D5B"/>
                </a:solidFill>
                <a:latin typeface="Aptos"/>
                <a:ea typeface="Aptos"/>
                <a:cs typeface="Aptos"/>
              </a:rPr>
              <a:t>AZIONE</a:t>
            </a:r>
          </a:p>
        </p:txBody>
      </p:sp>
      <p:sp>
        <p:nvSpPr>
          <p:cNvPr id="34" name="Rectangle 33">
            <a:extLst>
              <a:ext uri="{FF2B5EF4-FFF2-40B4-BE49-F238E27FC236}">
                <a16:creationId xmlns:a16="http://schemas.microsoft.com/office/drawing/2014/main" id="{0E11ECDC-0654-4AAD-9D7A-D51BC7D377D4}"/>
              </a:ext>
            </a:extLst>
          </p:cNvPr>
          <p:cNvSpPr>
            <a:spLocks noGrp="1"/>
          </p:cNvSpPr>
          <p:nvPr/>
        </p:nvSpPr>
        <p:spPr>
          <a:xfrm>
            <a:off x="8915400" y="5143500"/>
            <a:ext cx="2190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1">
                <a:solidFill>
                  <a:srgbClr val="17211D"/>
                </a:solidFill>
                <a:latin typeface="Georgia"/>
                <a:ea typeface="Georgia"/>
                <a:cs typeface="Georgia"/>
              </a:defRPr>
            </a:pPr>
            <a:r>
              <a:rPr sz="938" b="1">
                <a:solidFill>
                  <a:srgbClr val="17211D"/>
                </a:solidFill>
                <a:latin typeface="Georgia"/>
                <a:ea typeface="Georgia"/>
                <a:cs typeface="Georgia"/>
              </a:rPr>
              <a:t>continua · ripara · seconda vita</a:t>
            </a:r>
          </a:p>
        </p:txBody>
      </p:sp>
      <p:sp>
        <p:nvSpPr>
          <p:cNvPr id="35" name="Rectangle 34">
            <a:extLst>
              <a:ext uri="{FF2B5EF4-FFF2-40B4-BE49-F238E27FC236}">
                <a16:creationId xmlns:a16="http://schemas.microsoft.com/office/drawing/2014/main" id="{FEC90566-FD84-4A43-89BE-6E1F59BC1FB4}"/>
              </a:ext>
            </a:extLst>
          </p:cNvPr>
          <p:cNvSpPr>
            <a:spLocks noGrp="1"/>
          </p:cNvSpPr>
          <p:nvPr/>
        </p:nvSpPr>
        <p:spPr>
          <a:xfrm>
            <a:off x="1428750" y="5829300"/>
            <a:ext cx="9334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88" b="0">
                <a:solidFill>
                  <a:srgbClr val="65736B"/>
                </a:solidFill>
                <a:latin typeface="Aptos"/>
                <a:ea typeface="Aptos"/>
                <a:cs typeface="Aptos"/>
              </a:defRPr>
            </a:pPr>
            <a:r>
              <a:rPr sz="788" b="0">
                <a:solidFill>
                  <a:srgbClr val="65736B"/>
                </a:solidFill>
                <a:latin typeface="Aptos"/>
                <a:ea typeface="Aptos"/>
                <a:cs typeface="Aptos"/>
              </a:rPr>
              <a:t>Non è una certificazione professionale: riduce l’incertezza e lascia l’ultima parola alla persona.</a:t>
            </a:r>
          </a:p>
        </p:txBody>
      </p:sp>
      <p:sp>
        <p:nvSpPr>
          <p:cNvPr id="36" name="Rectangle 35">
            <a:extLst>
              <a:ext uri="{FF2B5EF4-FFF2-40B4-BE49-F238E27FC236}">
                <a16:creationId xmlns:a16="http://schemas.microsoft.com/office/drawing/2014/main" id="{9C502687-0A0F-426B-AAC4-2E6A02B57C80}"/>
              </a:ext>
            </a:extLst>
          </p:cNvPr>
          <p:cNvSpPr>
            <a:spLocks noGrp="1"/>
          </p:cNvSpPr>
          <p:nvPr/>
        </p:nvSpPr>
        <p:spPr>
          <a:xfrm>
            <a:off x="552450" y="6419850"/>
            <a:ext cx="11087100" cy="9525"/>
          </a:xfrm>
          <a:prstGeom prst="rect">
            <a:avLst/>
          </a:prstGeom>
          <a:solidFill>
            <a:srgbClr val="B9C3BB"/>
          </a:solidFill>
          <a:ln w="0">
            <a:solidFill>
              <a:srgbClr val="000000">
                <a:alpha val="0"/>
              </a:srgbClr>
            </a:solidFill>
            <a:prstDash val="solid"/>
          </a:ln>
        </p:spPr>
        <p:txBody>
          <a:bodyPr/>
          <a:lstStyle/>
          <a:p>
            <a:endParaRPr lang="en-US"/>
          </a:p>
        </p:txBody>
      </p:sp>
      <p:sp>
        <p:nvSpPr>
          <p:cNvPr id="37" name="Rectangle 36">
            <a:extLst>
              <a:ext uri="{FF2B5EF4-FFF2-40B4-BE49-F238E27FC236}">
                <a16:creationId xmlns:a16="http://schemas.microsoft.com/office/drawing/2014/main" id="{66666946-918C-4946-A136-FC0D47A25A7A}"/>
              </a:ext>
            </a:extLst>
          </p:cNvPr>
          <p:cNvSpPr>
            <a:spLocks noGrp="1"/>
          </p:cNvSpPr>
          <p:nvPr/>
        </p:nvSpPr>
        <p:spPr>
          <a:xfrm>
            <a:off x="552450" y="6496050"/>
            <a:ext cx="100393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65736B"/>
                </a:solidFill>
                <a:latin typeface="Aptos"/>
                <a:ea typeface="Aptos"/>
                <a:cs typeface="Aptos"/>
              </a:defRPr>
            </a:pPr>
            <a:r>
              <a:rPr sz="563" b="0">
                <a:solidFill>
                  <a:srgbClr val="65736B"/>
                </a:solidFill>
                <a:latin typeface="Aptos"/>
                <a:ea typeface="Aptos"/>
                <a:cs typeface="Aptos"/>
              </a:rPr>
              <a:t>Fashion-CLIP pre-addestrato + MLP nostra · fallback euristico se il modello non è disponibile</a:t>
            </a:r>
          </a:p>
        </p:txBody>
      </p:sp>
      <p:sp>
        <p:nvSpPr>
          <p:cNvPr id="38" name="Rectangle 37">
            <a:extLst>
              <a:ext uri="{FF2B5EF4-FFF2-40B4-BE49-F238E27FC236}">
                <a16:creationId xmlns:a16="http://schemas.microsoft.com/office/drawing/2014/main" id="{9908BB2D-677F-477C-AB24-08E8B5E618E1}"/>
              </a:ext>
            </a:extLst>
          </p:cNvPr>
          <p:cNvSpPr>
            <a:spLocks noGrp="1"/>
          </p:cNvSpPr>
          <p:nvPr/>
        </p:nvSpPr>
        <p:spPr>
          <a:xfrm>
            <a:off x="11049000" y="6477000"/>
            <a:ext cx="590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65736B"/>
                </a:solidFill>
                <a:latin typeface="Georgia"/>
                <a:ea typeface="Georgia"/>
                <a:cs typeface="Georgia"/>
              </a:defRPr>
            </a:pPr>
            <a:r>
              <a:rPr sz="750" b="1">
                <a:solidFill>
                  <a:srgbClr val="65736B"/>
                </a:solidFill>
                <a:latin typeface="Georgia"/>
                <a:ea typeface="Georgia"/>
                <a:cs typeface="Georgia"/>
              </a:rPr>
              <a:t>07</a:t>
            </a:r>
          </a:p>
        </p:txBody>
      </p:sp>
    </p:spTree>
    <p:extLst>
      <p:ext uri="{BB962C8B-B14F-4D97-AF65-F5344CB8AC3E}">
        <p14:creationId xmlns:p14="http://schemas.microsoft.com/office/powerpoint/2010/main" val="16956946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background">
            <a:extLst>
              <a:ext uri="{FF2B5EF4-FFF2-40B4-BE49-F238E27FC236}">
                <a16:creationId xmlns:a16="http://schemas.microsoft.com/office/drawing/2014/main" id="{EE8FB8DD-2EBB-411B-893D-F691C2898285}"/>
              </a:ext>
            </a:extLst>
          </p:cNvPr>
          <p:cNvSpPr>
            <a:spLocks noGrp="1"/>
          </p:cNvSpPr>
          <p:nvPr/>
        </p:nvSpPr>
        <p:spPr>
          <a:xfrm>
            <a:off x="0" y="0"/>
            <a:ext cx="12192000" cy="6858000"/>
          </a:xfrm>
          <a:prstGeom prst="rect">
            <a:avLst/>
          </a:prstGeom>
          <a:solidFill>
            <a:srgbClr val="F4F0E7"/>
          </a:solidFill>
          <a:ln w="0">
            <a:solidFill>
              <a:srgbClr val="000000">
                <a:alpha val="0"/>
              </a:srgbClr>
            </a:solidFill>
            <a:prstDash val="solid"/>
          </a:ln>
        </p:spPr>
        <p:txBody>
          <a:bodyPr/>
          <a:lstStyle/>
          <a:p>
            <a:endParaRPr lang="en-US"/>
          </a:p>
        </p:txBody>
      </p:sp>
      <p:sp>
        <p:nvSpPr>
          <p:cNvPr id="2" name="Oval 1">
            <a:extLst>
              <a:ext uri="{FF2B5EF4-FFF2-40B4-BE49-F238E27FC236}">
                <a16:creationId xmlns:a16="http://schemas.microsoft.com/office/drawing/2014/main" id="{08C62F03-5E10-456D-9939-359C135CB3AC}"/>
              </a:ext>
            </a:extLst>
          </p:cNvPr>
          <p:cNvSpPr>
            <a:spLocks noGrp="1"/>
          </p:cNvSpPr>
          <p:nvPr/>
        </p:nvSpPr>
        <p:spPr>
          <a:xfrm>
            <a:off x="552450" y="409575"/>
            <a:ext cx="85725" cy="85725"/>
          </a:xfrm>
          <a:prstGeom prst="ellipse">
            <a:avLst/>
          </a:prstGeom>
          <a:solidFill>
            <a:srgbClr val="2F7D5B"/>
          </a:solidFill>
          <a:ln w="0">
            <a:solidFill>
              <a:srgbClr val="000000">
                <a:alpha val="0"/>
              </a:srgbClr>
            </a:solidFill>
            <a:prstDash val="solid"/>
          </a:ln>
        </p:spPr>
        <p:txBody>
          <a:bodyPr/>
          <a:lstStyle/>
          <a:p>
            <a:endParaRPr lang="en-US"/>
          </a:p>
        </p:txBody>
      </p:sp>
      <p:sp>
        <p:nvSpPr>
          <p:cNvPr id="3" name="Rectangle 2">
            <a:extLst>
              <a:ext uri="{FF2B5EF4-FFF2-40B4-BE49-F238E27FC236}">
                <a16:creationId xmlns:a16="http://schemas.microsoft.com/office/drawing/2014/main" id="{4395E08D-4907-41A2-AE43-C2181AABD0F7}"/>
              </a:ext>
            </a:extLst>
          </p:cNvPr>
          <p:cNvSpPr>
            <a:spLocks noGrp="1"/>
          </p:cNvSpPr>
          <p:nvPr/>
        </p:nvSpPr>
        <p:spPr>
          <a:xfrm>
            <a:off x="742950" y="361950"/>
            <a:ext cx="666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65736B"/>
                </a:solidFill>
                <a:latin typeface="Aptos"/>
                <a:ea typeface="Aptos"/>
                <a:cs typeface="Aptos"/>
              </a:defRPr>
            </a:pPr>
            <a:r>
              <a:rPr sz="638" b="1">
                <a:solidFill>
                  <a:srgbClr val="65736B"/>
                </a:solidFill>
                <a:latin typeface="Aptos"/>
                <a:ea typeface="Aptos"/>
                <a:cs typeface="Aptos"/>
              </a:rPr>
              <a:t>U S E R   S T O R Y   ·   D E C I D E</a:t>
            </a:r>
          </a:p>
        </p:txBody>
      </p:sp>
      <p:sp>
        <p:nvSpPr>
          <p:cNvPr id="4" name="claim-title">
            <a:extLst>
              <a:ext uri="{FF2B5EF4-FFF2-40B4-BE49-F238E27FC236}">
                <a16:creationId xmlns:a16="http://schemas.microsoft.com/office/drawing/2014/main" id="{3AF2ECC5-6FEC-4DA4-8489-ECBE91220C7C}"/>
              </a:ext>
            </a:extLst>
          </p:cNvPr>
          <p:cNvSpPr>
            <a:spLocks noGrp="1"/>
          </p:cNvSpPr>
          <p:nvPr/>
        </p:nvSpPr>
        <p:spPr>
          <a:xfrm>
            <a:off x="552450" y="742950"/>
            <a:ext cx="10001250" cy="914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3075" b="1">
                <a:solidFill>
                  <a:srgbClr val="17211D"/>
                </a:solidFill>
                <a:latin typeface="Georgia"/>
                <a:ea typeface="Georgia"/>
                <a:cs typeface="Georgia"/>
              </a:defRPr>
            </a:pPr>
            <a:r>
              <a:rPr sz="3075" b="1">
                <a:solidFill>
                  <a:srgbClr val="17211D"/>
                </a:solidFill>
                <a:latin typeface="Georgia"/>
                <a:ea typeface="Georgia"/>
                <a:cs typeface="Georgia"/>
              </a:rPr>
              <a:t>Il gap può dire anche: “non serve comprare nulla”.</a:t>
            </a:r>
          </a:p>
        </p:txBody>
      </p:sp>
      <p:sp>
        <p:nvSpPr>
          <p:cNvPr id="5" name="Rectangle: Rounded Corners 4">
            <a:extLst>
              <a:ext uri="{FF2B5EF4-FFF2-40B4-BE49-F238E27FC236}">
                <a16:creationId xmlns:a16="http://schemas.microsoft.com/office/drawing/2014/main" id="{AEBC258A-4A2D-476D-B98A-A35F1EF4824A}"/>
              </a:ext>
            </a:extLst>
          </p:cNvPr>
          <p:cNvSpPr>
            <a:spLocks noGrp="1"/>
          </p:cNvSpPr>
          <p:nvPr/>
        </p:nvSpPr>
        <p:spPr>
          <a:xfrm>
            <a:off x="552450" y="2019300"/>
            <a:ext cx="5848350" cy="3429000"/>
          </a:xfrm>
          <a:prstGeom prst="roundRect">
            <a:avLst>
              <a:gd name="adj" fmla="val 2222"/>
            </a:avLst>
          </a:prstGeom>
          <a:solidFill>
            <a:srgbClr val="FFFFFF"/>
          </a:solidFill>
          <a:ln w="9525">
            <a:solidFill>
              <a:srgbClr val="B9C3BB"/>
            </a:solidFill>
            <a:prstDash val="solid"/>
          </a:ln>
        </p:spPr>
        <p:txBody>
          <a:bodyPr/>
          <a:lstStyle/>
          <a:p>
            <a:endParaRPr lang="en-US"/>
          </a:p>
        </p:txBody>
      </p:sp>
      <p:sp>
        <p:nvSpPr>
          <p:cNvPr id="6" name="Rectangle 5">
            <a:extLst>
              <a:ext uri="{FF2B5EF4-FFF2-40B4-BE49-F238E27FC236}">
                <a16:creationId xmlns:a16="http://schemas.microsoft.com/office/drawing/2014/main" id="{BA81EE6B-32B0-4E16-AB35-768FB14C9C57}"/>
              </a:ext>
            </a:extLst>
          </p:cNvPr>
          <p:cNvSpPr>
            <a:spLocks noGrp="1"/>
          </p:cNvSpPr>
          <p:nvPr/>
        </p:nvSpPr>
        <p:spPr>
          <a:xfrm>
            <a:off x="819150" y="2247900"/>
            <a:ext cx="2286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2F7D5B"/>
                </a:solidFill>
                <a:latin typeface="Aptos"/>
                <a:ea typeface="Aptos"/>
                <a:cs typeface="Aptos"/>
              </a:defRPr>
            </a:pPr>
            <a:r>
              <a:rPr sz="675" b="1">
                <a:solidFill>
                  <a:srgbClr val="2F7D5B"/>
                </a:solidFill>
                <a:latin typeface="Aptos"/>
                <a:ea typeface="Aptos"/>
                <a:cs typeface="Aptos"/>
              </a:rPr>
              <a:t>COPERTURA FUNZIONALE</a:t>
            </a:r>
          </a:p>
        </p:txBody>
      </p:sp>
      <p:sp>
        <p:nvSpPr>
          <p:cNvPr id="7" name="Rectangle 6">
            <a:extLst>
              <a:ext uri="{FF2B5EF4-FFF2-40B4-BE49-F238E27FC236}">
                <a16:creationId xmlns:a16="http://schemas.microsoft.com/office/drawing/2014/main" id="{2685045C-7968-4D68-8622-159E32D4A38F}"/>
              </a:ext>
            </a:extLst>
          </p:cNvPr>
          <p:cNvSpPr>
            <a:spLocks noGrp="1"/>
          </p:cNvSpPr>
          <p:nvPr/>
        </p:nvSpPr>
        <p:spPr>
          <a:xfrm>
            <a:off x="819150" y="2686050"/>
            <a:ext cx="14287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17211D"/>
                </a:solidFill>
                <a:latin typeface="Aptos"/>
                <a:ea typeface="Aptos"/>
                <a:cs typeface="Aptos"/>
              </a:defRPr>
            </a:pPr>
            <a:r>
              <a:rPr sz="788" b="1">
                <a:solidFill>
                  <a:srgbClr val="17211D"/>
                </a:solidFill>
                <a:latin typeface="Aptos"/>
                <a:ea typeface="Aptos"/>
                <a:cs typeface="Aptos"/>
              </a:rPr>
              <a:t>Top</a:t>
            </a:r>
          </a:p>
        </p:txBody>
      </p:sp>
      <p:sp>
        <p:nvSpPr>
          <p:cNvPr id="8" name="Rectangle: Rounded Corners 7">
            <a:extLst>
              <a:ext uri="{FF2B5EF4-FFF2-40B4-BE49-F238E27FC236}">
                <a16:creationId xmlns:a16="http://schemas.microsoft.com/office/drawing/2014/main" id="{4D9609FC-F0B8-47D6-8308-862835E9156B}"/>
              </a:ext>
            </a:extLst>
          </p:cNvPr>
          <p:cNvSpPr>
            <a:spLocks noGrp="1"/>
          </p:cNvSpPr>
          <p:nvPr/>
        </p:nvSpPr>
        <p:spPr>
          <a:xfrm>
            <a:off x="2324100" y="2733675"/>
            <a:ext cx="3143250" cy="114300"/>
          </a:xfrm>
          <a:prstGeom prst="roundRect">
            <a:avLst>
              <a:gd name="adj" fmla="val 50000"/>
            </a:avLst>
          </a:prstGeom>
          <a:solidFill>
            <a:srgbClr val="DDE5DD"/>
          </a:solidFill>
          <a:ln w="0">
            <a:solidFill>
              <a:srgbClr val="000000">
                <a:alpha val="0"/>
              </a:srgbClr>
            </a:solidFill>
            <a:prstDash val="solid"/>
          </a:ln>
        </p:spPr>
        <p:txBody>
          <a:bodyPr/>
          <a:lstStyle/>
          <a:p>
            <a:endParaRPr lang="en-US"/>
          </a:p>
        </p:txBody>
      </p:sp>
      <p:sp>
        <p:nvSpPr>
          <p:cNvPr id="9" name="Rectangle: Rounded Corners 8">
            <a:extLst>
              <a:ext uri="{FF2B5EF4-FFF2-40B4-BE49-F238E27FC236}">
                <a16:creationId xmlns:a16="http://schemas.microsoft.com/office/drawing/2014/main" id="{48B046B5-0DA7-4E57-9D2B-942D47A9F82E}"/>
              </a:ext>
            </a:extLst>
          </p:cNvPr>
          <p:cNvSpPr>
            <a:spLocks noGrp="1"/>
          </p:cNvSpPr>
          <p:nvPr/>
        </p:nvSpPr>
        <p:spPr>
          <a:xfrm>
            <a:off x="2324100" y="2733675"/>
            <a:ext cx="2766060" cy="114300"/>
          </a:xfrm>
          <a:prstGeom prst="roundRect">
            <a:avLst>
              <a:gd name="adj" fmla="val 50000"/>
            </a:avLst>
          </a:prstGeom>
          <a:solidFill>
            <a:srgbClr val="2F7D5B"/>
          </a:solidFill>
          <a:ln w="0">
            <a:solidFill>
              <a:srgbClr val="000000">
                <a:alpha val="0"/>
              </a:srgbClr>
            </a:solidFill>
            <a:prstDash val="solid"/>
          </a:ln>
        </p:spPr>
        <p:txBody>
          <a:bodyPr/>
          <a:lstStyle/>
          <a:p>
            <a:endParaRPr lang="en-US"/>
          </a:p>
        </p:txBody>
      </p:sp>
      <p:sp>
        <p:nvSpPr>
          <p:cNvPr id="10" name="Rectangle 9">
            <a:extLst>
              <a:ext uri="{FF2B5EF4-FFF2-40B4-BE49-F238E27FC236}">
                <a16:creationId xmlns:a16="http://schemas.microsoft.com/office/drawing/2014/main" id="{5940B7FF-82BE-4F12-8FFD-BAE90F5DDD10}"/>
              </a:ext>
            </a:extLst>
          </p:cNvPr>
          <p:cNvSpPr>
            <a:spLocks noGrp="1"/>
          </p:cNvSpPr>
          <p:nvPr/>
        </p:nvSpPr>
        <p:spPr>
          <a:xfrm>
            <a:off x="5534025" y="2686050"/>
            <a:ext cx="428625"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88" b="1">
                <a:solidFill>
                  <a:srgbClr val="17211D"/>
                </a:solidFill>
                <a:latin typeface="Aptos"/>
                <a:ea typeface="Aptos"/>
                <a:cs typeface="Aptos"/>
              </a:defRPr>
            </a:pPr>
            <a:r>
              <a:rPr sz="788" b="1">
                <a:solidFill>
                  <a:srgbClr val="17211D"/>
                </a:solidFill>
                <a:latin typeface="Aptos"/>
                <a:ea typeface="Aptos"/>
                <a:cs typeface="Aptos"/>
              </a:rPr>
              <a:t>88%</a:t>
            </a:r>
          </a:p>
        </p:txBody>
      </p:sp>
      <p:sp>
        <p:nvSpPr>
          <p:cNvPr id="11" name="Rectangle 10">
            <a:extLst>
              <a:ext uri="{FF2B5EF4-FFF2-40B4-BE49-F238E27FC236}">
                <a16:creationId xmlns:a16="http://schemas.microsoft.com/office/drawing/2014/main" id="{5FF74B4C-83E1-40F9-B44A-20737515EA59}"/>
              </a:ext>
            </a:extLst>
          </p:cNvPr>
          <p:cNvSpPr>
            <a:spLocks noGrp="1"/>
          </p:cNvSpPr>
          <p:nvPr/>
        </p:nvSpPr>
        <p:spPr>
          <a:xfrm>
            <a:off x="819150" y="3143250"/>
            <a:ext cx="14287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17211D"/>
                </a:solidFill>
                <a:latin typeface="Aptos"/>
                <a:ea typeface="Aptos"/>
                <a:cs typeface="Aptos"/>
              </a:defRPr>
            </a:pPr>
            <a:r>
              <a:rPr sz="788" b="1">
                <a:solidFill>
                  <a:srgbClr val="17211D"/>
                </a:solidFill>
                <a:latin typeface="Aptos"/>
                <a:ea typeface="Aptos"/>
                <a:cs typeface="Aptos"/>
              </a:rPr>
              <a:t>Bottom</a:t>
            </a:r>
          </a:p>
        </p:txBody>
      </p:sp>
      <p:sp>
        <p:nvSpPr>
          <p:cNvPr id="12" name="Rectangle: Rounded Corners 11">
            <a:extLst>
              <a:ext uri="{FF2B5EF4-FFF2-40B4-BE49-F238E27FC236}">
                <a16:creationId xmlns:a16="http://schemas.microsoft.com/office/drawing/2014/main" id="{CBB2347F-1B47-496E-A1B7-CF5281E2170B}"/>
              </a:ext>
            </a:extLst>
          </p:cNvPr>
          <p:cNvSpPr>
            <a:spLocks noGrp="1"/>
          </p:cNvSpPr>
          <p:nvPr/>
        </p:nvSpPr>
        <p:spPr>
          <a:xfrm>
            <a:off x="2324100" y="3190875"/>
            <a:ext cx="3143250" cy="114300"/>
          </a:xfrm>
          <a:prstGeom prst="roundRect">
            <a:avLst>
              <a:gd name="adj" fmla="val 50000"/>
            </a:avLst>
          </a:prstGeom>
          <a:solidFill>
            <a:srgbClr val="DDE5DD"/>
          </a:solidFill>
          <a:ln w="0">
            <a:solidFill>
              <a:srgbClr val="000000">
                <a:alpha val="0"/>
              </a:srgbClr>
            </a:solidFill>
            <a:prstDash val="solid"/>
          </a:ln>
        </p:spPr>
        <p:txBody>
          <a:bodyPr/>
          <a:lstStyle/>
          <a:p>
            <a:endParaRPr lang="en-US"/>
          </a:p>
        </p:txBody>
      </p:sp>
      <p:sp>
        <p:nvSpPr>
          <p:cNvPr id="13" name="Rectangle: Rounded Corners 12">
            <a:extLst>
              <a:ext uri="{FF2B5EF4-FFF2-40B4-BE49-F238E27FC236}">
                <a16:creationId xmlns:a16="http://schemas.microsoft.com/office/drawing/2014/main" id="{7FA302DB-7099-47F0-A8FB-429217AC3489}"/>
              </a:ext>
            </a:extLst>
          </p:cNvPr>
          <p:cNvSpPr>
            <a:spLocks noGrp="1"/>
          </p:cNvSpPr>
          <p:nvPr/>
        </p:nvSpPr>
        <p:spPr>
          <a:xfrm>
            <a:off x="2324100" y="3190875"/>
            <a:ext cx="2577465" cy="114300"/>
          </a:xfrm>
          <a:prstGeom prst="roundRect">
            <a:avLst>
              <a:gd name="adj" fmla="val 50000"/>
            </a:avLst>
          </a:prstGeom>
          <a:solidFill>
            <a:srgbClr val="2F7D5B"/>
          </a:solidFill>
          <a:ln w="0">
            <a:solidFill>
              <a:srgbClr val="000000">
                <a:alpha val="0"/>
              </a:srgbClr>
            </a:solidFill>
            <a:prstDash val="solid"/>
          </a:ln>
        </p:spPr>
        <p:txBody>
          <a:bodyPr/>
          <a:lstStyle/>
          <a:p>
            <a:endParaRPr lang="en-US"/>
          </a:p>
        </p:txBody>
      </p:sp>
      <p:sp>
        <p:nvSpPr>
          <p:cNvPr id="14" name="Rectangle 13">
            <a:extLst>
              <a:ext uri="{FF2B5EF4-FFF2-40B4-BE49-F238E27FC236}">
                <a16:creationId xmlns:a16="http://schemas.microsoft.com/office/drawing/2014/main" id="{7650AAF3-8A61-4828-A92C-E2441C738EA8}"/>
              </a:ext>
            </a:extLst>
          </p:cNvPr>
          <p:cNvSpPr>
            <a:spLocks noGrp="1"/>
          </p:cNvSpPr>
          <p:nvPr/>
        </p:nvSpPr>
        <p:spPr>
          <a:xfrm>
            <a:off x="5534025" y="3143250"/>
            <a:ext cx="428625"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88" b="1">
                <a:solidFill>
                  <a:srgbClr val="17211D"/>
                </a:solidFill>
                <a:latin typeface="Aptos"/>
                <a:ea typeface="Aptos"/>
                <a:cs typeface="Aptos"/>
              </a:defRPr>
            </a:pPr>
            <a:r>
              <a:rPr sz="788" b="1">
                <a:solidFill>
                  <a:srgbClr val="17211D"/>
                </a:solidFill>
                <a:latin typeface="Aptos"/>
                <a:ea typeface="Aptos"/>
                <a:cs typeface="Aptos"/>
              </a:rPr>
              <a:t>82%</a:t>
            </a:r>
          </a:p>
        </p:txBody>
      </p:sp>
      <p:sp>
        <p:nvSpPr>
          <p:cNvPr id="15" name="Rectangle 14">
            <a:extLst>
              <a:ext uri="{FF2B5EF4-FFF2-40B4-BE49-F238E27FC236}">
                <a16:creationId xmlns:a16="http://schemas.microsoft.com/office/drawing/2014/main" id="{B07D9C3B-9881-4ED3-8487-9A0333AA3129}"/>
              </a:ext>
            </a:extLst>
          </p:cNvPr>
          <p:cNvSpPr>
            <a:spLocks noGrp="1"/>
          </p:cNvSpPr>
          <p:nvPr/>
        </p:nvSpPr>
        <p:spPr>
          <a:xfrm>
            <a:off x="819150" y="3600450"/>
            <a:ext cx="14287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17211D"/>
                </a:solidFill>
                <a:latin typeface="Aptos"/>
                <a:ea typeface="Aptos"/>
                <a:cs typeface="Aptos"/>
              </a:defRPr>
            </a:pPr>
            <a:r>
              <a:rPr sz="788" b="1">
                <a:solidFill>
                  <a:srgbClr val="17211D"/>
                </a:solidFill>
                <a:latin typeface="Aptos"/>
                <a:ea typeface="Aptos"/>
                <a:cs typeface="Aptos"/>
              </a:rPr>
              <a:t>Capospalla</a:t>
            </a:r>
          </a:p>
        </p:txBody>
      </p:sp>
      <p:sp>
        <p:nvSpPr>
          <p:cNvPr id="16" name="Rectangle: Rounded Corners 15">
            <a:extLst>
              <a:ext uri="{FF2B5EF4-FFF2-40B4-BE49-F238E27FC236}">
                <a16:creationId xmlns:a16="http://schemas.microsoft.com/office/drawing/2014/main" id="{D0695EFC-2000-4169-9CDE-2A2C6ECCC45C}"/>
              </a:ext>
            </a:extLst>
          </p:cNvPr>
          <p:cNvSpPr>
            <a:spLocks noGrp="1"/>
          </p:cNvSpPr>
          <p:nvPr/>
        </p:nvSpPr>
        <p:spPr>
          <a:xfrm>
            <a:off x="2324100" y="3648075"/>
            <a:ext cx="3143250" cy="114300"/>
          </a:xfrm>
          <a:prstGeom prst="roundRect">
            <a:avLst>
              <a:gd name="adj" fmla="val 50000"/>
            </a:avLst>
          </a:prstGeom>
          <a:solidFill>
            <a:srgbClr val="DDE5DD"/>
          </a:solidFill>
          <a:ln w="0">
            <a:solidFill>
              <a:srgbClr val="000000">
                <a:alpha val="0"/>
              </a:srgbClr>
            </a:solidFill>
            <a:prstDash val="solid"/>
          </a:ln>
        </p:spPr>
        <p:txBody>
          <a:bodyPr/>
          <a:lstStyle/>
          <a:p>
            <a:endParaRPr lang="en-US"/>
          </a:p>
        </p:txBody>
      </p:sp>
      <p:sp>
        <p:nvSpPr>
          <p:cNvPr id="17" name="Rectangle: Rounded Corners 16">
            <a:extLst>
              <a:ext uri="{FF2B5EF4-FFF2-40B4-BE49-F238E27FC236}">
                <a16:creationId xmlns:a16="http://schemas.microsoft.com/office/drawing/2014/main" id="{906B84EF-9EA6-4726-B938-97BE6999C38B}"/>
              </a:ext>
            </a:extLst>
          </p:cNvPr>
          <p:cNvSpPr>
            <a:spLocks noGrp="1"/>
          </p:cNvSpPr>
          <p:nvPr/>
        </p:nvSpPr>
        <p:spPr>
          <a:xfrm>
            <a:off x="2324100" y="3648075"/>
            <a:ext cx="2326005" cy="114300"/>
          </a:xfrm>
          <a:prstGeom prst="roundRect">
            <a:avLst>
              <a:gd name="adj" fmla="val 50000"/>
            </a:avLst>
          </a:prstGeom>
          <a:solidFill>
            <a:srgbClr val="2F7D5B"/>
          </a:solidFill>
          <a:ln w="0">
            <a:solidFill>
              <a:srgbClr val="000000">
                <a:alpha val="0"/>
              </a:srgbClr>
            </a:solidFill>
            <a:prstDash val="solid"/>
          </a:ln>
        </p:spPr>
        <p:txBody>
          <a:bodyPr/>
          <a:lstStyle/>
          <a:p>
            <a:endParaRPr lang="en-US"/>
          </a:p>
        </p:txBody>
      </p:sp>
      <p:sp>
        <p:nvSpPr>
          <p:cNvPr id="18" name="Rectangle 17">
            <a:extLst>
              <a:ext uri="{FF2B5EF4-FFF2-40B4-BE49-F238E27FC236}">
                <a16:creationId xmlns:a16="http://schemas.microsoft.com/office/drawing/2014/main" id="{4CE0D63D-614F-46E3-B4C6-F7EBA4E7D6F7}"/>
              </a:ext>
            </a:extLst>
          </p:cNvPr>
          <p:cNvSpPr>
            <a:spLocks noGrp="1"/>
          </p:cNvSpPr>
          <p:nvPr/>
        </p:nvSpPr>
        <p:spPr>
          <a:xfrm>
            <a:off x="5534025" y="3600450"/>
            <a:ext cx="428625"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88" b="1">
                <a:solidFill>
                  <a:srgbClr val="17211D"/>
                </a:solidFill>
                <a:latin typeface="Aptos"/>
                <a:ea typeface="Aptos"/>
                <a:cs typeface="Aptos"/>
              </a:defRPr>
            </a:pPr>
            <a:r>
              <a:rPr sz="788" b="1">
                <a:solidFill>
                  <a:srgbClr val="17211D"/>
                </a:solidFill>
                <a:latin typeface="Aptos"/>
                <a:ea typeface="Aptos"/>
                <a:cs typeface="Aptos"/>
              </a:rPr>
              <a:t>74%</a:t>
            </a:r>
          </a:p>
        </p:txBody>
      </p:sp>
      <p:sp>
        <p:nvSpPr>
          <p:cNvPr id="19" name="Rectangle 18">
            <a:extLst>
              <a:ext uri="{FF2B5EF4-FFF2-40B4-BE49-F238E27FC236}">
                <a16:creationId xmlns:a16="http://schemas.microsoft.com/office/drawing/2014/main" id="{80A76631-337A-4CA3-9D49-78D3898B695A}"/>
              </a:ext>
            </a:extLst>
          </p:cNvPr>
          <p:cNvSpPr>
            <a:spLocks noGrp="1"/>
          </p:cNvSpPr>
          <p:nvPr/>
        </p:nvSpPr>
        <p:spPr>
          <a:xfrm>
            <a:off x="819150" y="4057650"/>
            <a:ext cx="14287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17211D"/>
                </a:solidFill>
                <a:latin typeface="Aptos"/>
                <a:ea typeface="Aptos"/>
                <a:cs typeface="Aptos"/>
              </a:defRPr>
            </a:pPr>
            <a:r>
              <a:rPr sz="788" b="1">
                <a:solidFill>
                  <a:srgbClr val="17211D"/>
                </a:solidFill>
                <a:latin typeface="Aptos"/>
                <a:ea typeface="Aptos"/>
                <a:cs typeface="Aptos"/>
              </a:rPr>
              <a:t>Scarpe</a:t>
            </a:r>
          </a:p>
        </p:txBody>
      </p:sp>
      <p:sp>
        <p:nvSpPr>
          <p:cNvPr id="20" name="Rectangle: Rounded Corners 19">
            <a:extLst>
              <a:ext uri="{FF2B5EF4-FFF2-40B4-BE49-F238E27FC236}">
                <a16:creationId xmlns:a16="http://schemas.microsoft.com/office/drawing/2014/main" id="{D584FD1E-69FC-484D-BE78-BEDADCE7557D}"/>
              </a:ext>
            </a:extLst>
          </p:cNvPr>
          <p:cNvSpPr>
            <a:spLocks noGrp="1"/>
          </p:cNvSpPr>
          <p:nvPr/>
        </p:nvSpPr>
        <p:spPr>
          <a:xfrm>
            <a:off x="2324100" y="4105275"/>
            <a:ext cx="3143250" cy="114300"/>
          </a:xfrm>
          <a:prstGeom prst="roundRect">
            <a:avLst>
              <a:gd name="adj" fmla="val 50000"/>
            </a:avLst>
          </a:prstGeom>
          <a:solidFill>
            <a:srgbClr val="DDE5DD"/>
          </a:solidFill>
          <a:ln w="0">
            <a:solidFill>
              <a:srgbClr val="000000">
                <a:alpha val="0"/>
              </a:srgbClr>
            </a:solidFill>
            <a:prstDash val="solid"/>
          </a:ln>
        </p:spPr>
        <p:txBody>
          <a:bodyPr/>
          <a:lstStyle/>
          <a:p>
            <a:endParaRPr lang="en-US"/>
          </a:p>
        </p:txBody>
      </p:sp>
      <p:sp>
        <p:nvSpPr>
          <p:cNvPr id="21" name="Rectangle: Rounded Corners 20">
            <a:extLst>
              <a:ext uri="{FF2B5EF4-FFF2-40B4-BE49-F238E27FC236}">
                <a16:creationId xmlns:a16="http://schemas.microsoft.com/office/drawing/2014/main" id="{B8ED1E9C-0553-44AE-B784-CDF1674303A2}"/>
              </a:ext>
            </a:extLst>
          </p:cNvPr>
          <p:cNvSpPr>
            <a:spLocks noGrp="1"/>
          </p:cNvSpPr>
          <p:nvPr/>
        </p:nvSpPr>
        <p:spPr>
          <a:xfrm>
            <a:off x="2324100" y="4105275"/>
            <a:ext cx="2483168" cy="114300"/>
          </a:xfrm>
          <a:prstGeom prst="roundRect">
            <a:avLst>
              <a:gd name="adj" fmla="val 50000"/>
            </a:avLst>
          </a:prstGeom>
          <a:solidFill>
            <a:srgbClr val="2F7D5B"/>
          </a:solidFill>
          <a:ln w="0">
            <a:solidFill>
              <a:srgbClr val="000000">
                <a:alpha val="0"/>
              </a:srgbClr>
            </a:solidFill>
            <a:prstDash val="solid"/>
          </a:ln>
        </p:spPr>
        <p:txBody>
          <a:bodyPr/>
          <a:lstStyle/>
          <a:p>
            <a:endParaRPr lang="en-US"/>
          </a:p>
        </p:txBody>
      </p:sp>
      <p:sp>
        <p:nvSpPr>
          <p:cNvPr id="22" name="Rectangle 21">
            <a:extLst>
              <a:ext uri="{FF2B5EF4-FFF2-40B4-BE49-F238E27FC236}">
                <a16:creationId xmlns:a16="http://schemas.microsoft.com/office/drawing/2014/main" id="{61616C57-06EB-47EA-B3A5-A31D18BCCEB3}"/>
              </a:ext>
            </a:extLst>
          </p:cNvPr>
          <p:cNvSpPr>
            <a:spLocks noGrp="1"/>
          </p:cNvSpPr>
          <p:nvPr/>
        </p:nvSpPr>
        <p:spPr>
          <a:xfrm>
            <a:off x="5534025" y="4057650"/>
            <a:ext cx="428625"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88" b="1">
                <a:solidFill>
                  <a:srgbClr val="17211D"/>
                </a:solidFill>
                <a:latin typeface="Aptos"/>
                <a:ea typeface="Aptos"/>
                <a:cs typeface="Aptos"/>
              </a:defRPr>
            </a:pPr>
            <a:r>
              <a:rPr sz="788" b="1">
                <a:solidFill>
                  <a:srgbClr val="17211D"/>
                </a:solidFill>
                <a:latin typeface="Aptos"/>
                <a:ea typeface="Aptos"/>
                <a:cs typeface="Aptos"/>
              </a:rPr>
              <a:t>79%</a:t>
            </a:r>
          </a:p>
        </p:txBody>
      </p:sp>
      <p:sp>
        <p:nvSpPr>
          <p:cNvPr id="23" name="Rectangle 22">
            <a:extLst>
              <a:ext uri="{FF2B5EF4-FFF2-40B4-BE49-F238E27FC236}">
                <a16:creationId xmlns:a16="http://schemas.microsoft.com/office/drawing/2014/main" id="{1A0D8CEF-07A5-430F-8781-4AF6B00E80D5}"/>
              </a:ext>
            </a:extLst>
          </p:cNvPr>
          <p:cNvSpPr>
            <a:spLocks noGrp="1"/>
          </p:cNvSpPr>
          <p:nvPr/>
        </p:nvSpPr>
        <p:spPr>
          <a:xfrm>
            <a:off x="819150" y="4514850"/>
            <a:ext cx="14287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17211D"/>
                </a:solidFill>
                <a:latin typeface="Aptos"/>
                <a:ea typeface="Aptos"/>
                <a:cs typeface="Aptos"/>
              </a:defRPr>
            </a:pPr>
            <a:r>
              <a:rPr sz="788" b="1">
                <a:solidFill>
                  <a:srgbClr val="17211D"/>
                </a:solidFill>
                <a:latin typeface="Aptos"/>
                <a:ea typeface="Aptos"/>
                <a:cs typeface="Aptos"/>
              </a:rPr>
              <a:t>Colore neutro</a:t>
            </a:r>
          </a:p>
        </p:txBody>
      </p:sp>
      <p:sp>
        <p:nvSpPr>
          <p:cNvPr id="24" name="Rectangle: Rounded Corners 23">
            <a:extLst>
              <a:ext uri="{FF2B5EF4-FFF2-40B4-BE49-F238E27FC236}">
                <a16:creationId xmlns:a16="http://schemas.microsoft.com/office/drawing/2014/main" id="{4055BB73-4158-48BC-854C-BDD42A1A8EEC}"/>
              </a:ext>
            </a:extLst>
          </p:cNvPr>
          <p:cNvSpPr>
            <a:spLocks noGrp="1"/>
          </p:cNvSpPr>
          <p:nvPr/>
        </p:nvSpPr>
        <p:spPr>
          <a:xfrm>
            <a:off x="2324100" y="4562475"/>
            <a:ext cx="3143250" cy="114300"/>
          </a:xfrm>
          <a:prstGeom prst="roundRect">
            <a:avLst>
              <a:gd name="adj" fmla="val 50000"/>
            </a:avLst>
          </a:prstGeom>
          <a:solidFill>
            <a:srgbClr val="DDE5DD"/>
          </a:solidFill>
          <a:ln w="0">
            <a:solidFill>
              <a:srgbClr val="000000">
                <a:alpha val="0"/>
              </a:srgbClr>
            </a:solidFill>
            <a:prstDash val="solid"/>
          </a:ln>
        </p:spPr>
        <p:txBody>
          <a:bodyPr/>
          <a:lstStyle/>
          <a:p>
            <a:endParaRPr lang="en-US"/>
          </a:p>
        </p:txBody>
      </p:sp>
      <p:sp>
        <p:nvSpPr>
          <p:cNvPr id="25" name="Rectangle: Rounded Corners 24">
            <a:extLst>
              <a:ext uri="{FF2B5EF4-FFF2-40B4-BE49-F238E27FC236}">
                <a16:creationId xmlns:a16="http://schemas.microsoft.com/office/drawing/2014/main" id="{D76AB4A3-385D-4B1E-8C91-60D41C20D409}"/>
              </a:ext>
            </a:extLst>
          </p:cNvPr>
          <p:cNvSpPr>
            <a:spLocks noGrp="1"/>
          </p:cNvSpPr>
          <p:nvPr/>
        </p:nvSpPr>
        <p:spPr>
          <a:xfrm>
            <a:off x="2324100" y="4562475"/>
            <a:ext cx="2074545" cy="114300"/>
          </a:xfrm>
          <a:prstGeom prst="roundRect">
            <a:avLst>
              <a:gd name="adj" fmla="val 50000"/>
            </a:avLst>
          </a:prstGeom>
          <a:solidFill>
            <a:srgbClr val="466D86"/>
          </a:solidFill>
          <a:ln w="0">
            <a:solidFill>
              <a:srgbClr val="000000">
                <a:alpha val="0"/>
              </a:srgbClr>
            </a:solidFill>
            <a:prstDash val="solid"/>
          </a:ln>
        </p:spPr>
        <p:txBody>
          <a:bodyPr/>
          <a:lstStyle/>
          <a:p>
            <a:endParaRPr lang="en-US"/>
          </a:p>
        </p:txBody>
      </p:sp>
      <p:sp>
        <p:nvSpPr>
          <p:cNvPr id="26" name="Rectangle 25">
            <a:extLst>
              <a:ext uri="{FF2B5EF4-FFF2-40B4-BE49-F238E27FC236}">
                <a16:creationId xmlns:a16="http://schemas.microsoft.com/office/drawing/2014/main" id="{4B9FC021-5565-4D55-B552-F46E3F67324C}"/>
              </a:ext>
            </a:extLst>
          </p:cNvPr>
          <p:cNvSpPr>
            <a:spLocks noGrp="1"/>
          </p:cNvSpPr>
          <p:nvPr/>
        </p:nvSpPr>
        <p:spPr>
          <a:xfrm>
            <a:off x="5534025" y="4514850"/>
            <a:ext cx="428625"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88" b="1">
                <a:solidFill>
                  <a:srgbClr val="17211D"/>
                </a:solidFill>
                <a:latin typeface="Aptos"/>
                <a:ea typeface="Aptos"/>
                <a:cs typeface="Aptos"/>
              </a:defRPr>
            </a:pPr>
            <a:r>
              <a:rPr sz="788" b="1">
                <a:solidFill>
                  <a:srgbClr val="17211D"/>
                </a:solidFill>
                <a:latin typeface="Aptos"/>
                <a:ea typeface="Aptos"/>
                <a:cs typeface="Aptos"/>
              </a:rPr>
              <a:t>66%</a:t>
            </a:r>
          </a:p>
        </p:txBody>
      </p:sp>
      <p:sp>
        <p:nvSpPr>
          <p:cNvPr id="27" name="Rectangle 26">
            <a:extLst>
              <a:ext uri="{FF2B5EF4-FFF2-40B4-BE49-F238E27FC236}">
                <a16:creationId xmlns:a16="http://schemas.microsoft.com/office/drawing/2014/main" id="{D6C0AB2D-2200-4EB5-93EE-0DF8F8815475}"/>
              </a:ext>
            </a:extLst>
          </p:cNvPr>
          <p:cNvSpPr>
            <a:spLocks noGrp="1"/>
          </p:cNvSpPr>
          <p:nvPr/>
        </p:nvSpPr>
        <p:spPr>
          <a:xfrm>
            <a:off x="6515100" y="3714750"/>
            <a:ext cx="628650" cy="28575"/>
          </a:xfrm>
          <a:prstGeom prst="rect">
            <a:avLst/>
          </a:prstGeom>
          <a:solidFill>
            <a:srgbClr val="2F7D5B"/>
          </a:solidFill>
          <a:ln w="0">
            <a:solidFill>
              <a:srgbClr val="000000">
                <a:alpha val="0"/>
              </a:srgbClr>
            </a:solidFill>
            <a:prstDash val="solid"/>
          </a:ln>
        </p:spPr>
        <p:txBody>
          <a:bodyPr/>
          <a:lstStyle/>
          <a:p>
            <a:endParaRPr lang="en-US"/>
          </a:p>
        </p:txBody>
      </p:sp>
      <p:sp>
        <p:nvSpPr>
          <p:cNvPr id="28" name="Isosceles Triangle 27">
            <a:extLst>
              <a:ext uri="{FF2B5EF4-FFF2-40B4-BE49-F238E27FC236}">
                <a16:creationId xmlns:a16="http://schemas.microsoft.com/office/drawing/2014/main" id="{DE21C530-B0CE-4CE6-A9C7-B80F1A0C62F9}"/>
              </a:ext>
            </a:extLst>
          </p:cNvPr>
          <p:cNvSpPr>
            <a:spLocks noGrp="1"/>
          </p:cNvSpPr>
          <p:nvPr/>
        </p:nvSpPr>
        <p:spPr>
          <a:xfrm>
            <a:off x="7115175" y="3657600"/>
            <a:ext cx="133350" cy="133350"/>
          </a:xfrm>
          <a:prstGeom prst="triangle">
            <a:avLst/>
          </a:prstGeom>
          <a:solidFill>
            <a:srgbClr val="2F7D5B"/>
          </a:solidFill>
          <a:ln w="0">
            <a:solidFill>
              <a:srgbClr val="000000">
                <a:alpha val="0"/>
              </a:srgbClr>
            </a:solidFill>
            <a:prstDash val="solid"/>
          </a:ln>
        </p:spPr>
        <p:txBody>
          <a:bodyPr/>
          <a:lstStyle/>
          <a:p>
            <a:endParaRPr lang="en-US"/>
          </a:p>
        </p:txBody>
      </p:sp>
      <p:sp>
        <p:nvSpPr>
          <p:cNvPr id="29" name="Rectangle: Rounded Corners 28">
            <a:extLst>
              <a:ext uri="{FF2B5EF4-FFF2-40B4-BE49-F238E27FC236}">
                <a16:creationId xmlns:a16="http://schemas.microsoft.com/office/drawing/2014/main" id="{8F1EF5C1-9DE1-4721-985B-E42B5E1E17F9}"/>
              </a:ext>
            </a:extLst>
          </p:cNvPr>
          <p:cNvSpPr>
            <a:spLocks noGrp="1"/>
          </p:cNvSpPr>
          <p:nvPr/>
        </p:nvSpPr>
        <p:spPr>
          <a:xfrm>
            <a:off x="7486650" y="2019300"/>
            <a:ext cx="4152900" cy="3429000"/>
          </a:xfrm>
          <a:prstGeom prst="roundRect">
            <a:avLst>
              <a:gd name="adj" fmla="val 2222"/>
            </a:avLst>
          </a:prstGeom>
          <a:solidFill>
            <a:srgbClr val="123C31"/>
          </a:solidFill>
          <a:ln w="9525">
            <a:solidFill>
              <a:srgbClr val="123C31"/>
            </a:solidFill>
            <a:prstDash val="solid"/>
          </a:ln>
        </p:spPr>
        <p:txBody>
          <a:bodyPr/>
          <a:lstStyle/>
          <a:p>
            <a:endParaRPr lang="en-US"/>
          </a:p>
        </p:txBody>
      </p:sp>
      <p:sp>
        <p:nvSpPr>
          <p:cNvPr id="30" name="Oval 29">
            <a:extLst>
              <a:ext uri="{FF2B5EF4-FFF2-40B4-BE49-F238E27FC236}">
                <a16:creationId xmlns:a16="http://schemas.microsoft.com/office/drawing/2014/main" id="{CEF0B977-0FF6-4980-A7CF-184D669A5D09}"/>
              </a:ext>
            </a:extLst>
          </p:cNvPr>
          <p:cNvSpPr>
            <a:spLocks noGrp="1"/>
          </p:cNvSpPr>
          <p:nvPr/>
        </p:nvSpPr>
        <p:spPr>
          <a:xfrm>
            <a:off x="8839200" y="2571750"/>
            <a:ext cx="1409700" cy="1409700"/>
          </a:xfrm>
          <a:prstGeom prst="ellipse">
            <a:avLst/>
          </a:prstGeom>
          <a:solidFill>
            <a:srgbClr val="B9D94A"/>
          </a:solidFill>
          <a:ln w="0">
            <a:solidFill>
              <a:srgbClr val="000000">
                <a:alpha val="0"/>
              </a:srgbClr>
            </a:solidFill>
            <a:prstDash val="solid"/>
          </a:ln>
        </p:spPr>
        <p:txBody>
          <a:bodyPr/>
          <a:lstStyle/>
          <a:p>
            <a:endParaRPr lang="en-US"/>
          </a:p>
        </p:txBody>
      </p:sp>
      <p:sp>
        <p:nvSpPr>
          <p:cNvPr id="31" name="Rectangle 30">
            <a:extLst>
              <a:ext uri="{FF2B5EF4-FFF2-40B4-BE49-F238E27FC236}">
                <a16:creationId xmlns:a16="http://schemas.microsoft.com/office/drawing/2014/main" id="{0D1578B5-498C-43FC-9135-427984092A76}"/>
              </a:ext>
            </a:extLst>
          </p:cNvPr>
          <p:cNvSpPr>
            <a:spLocks noGrp="1"/>
          </p:cNvSpPr>
          <p:nvPr/>
        </p:nvSpPr>
        <p:spPr>
          <a:xfrm>
            <a:off x="8839200" y="2781300"/>
            <a:ext cx="1409700" cy="7429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4650" b="0">
                <a:solidFill>
                  <a:srgbClr val="123C31"/>
                </a:solidFill>
                <a:latin typeface="Aptos"/>
                <a:ea typeface="Aptos"/>
                <a:cs typeface="Aptos"/>
              </a:defRPr>
            </a:pPr>
            <a:r>
              <a:rPr sz="4650" b="0">
                <a:solidFill>
                  <a:srgbClr val="123C31"/>
                </a:solidFill>
                <a:latin typeface="Aptos"/>
                <a:ea typeface="Aptos"/>
                <a:cs typeface="Aptos"/>
              </a:rPr>
              <a:t>✓</a:t>
            </a:r>
          </a:p>
        </p:txBody>
      </p:sp>
      <p:sp>
        <p:nvSpPr>
          <p:cNvPr id="32" name="Rectangle 31">
            <a:extLst>
              <a:ext uri="{FF2B5EF4-FFF2-40B4-BE49-F238E27FC236}">
                <a16:creationId xmlns:a16="http://schemas.microsoft.com/office/drawing/2014/main" id="{11A0D163-ADCA-48CF-9498-FF24714847AD}"/>
              </a:ext>
            </a:extLst>
          </p:cNvPr>
          <p:cNvSpPr>
            <a:spLocks noGrp="1"/>
          </p:cNvSpPr>
          <p:nvPr/>
        </p:nvSpPr>
        <p:spPr>
          <a:xfrm>
            <a:off x="7848600" y="4248150"/>
            <a:ext cx="3429000" cy="6667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2025" b="1">
                <a:solidFill>
                  <a:srgbClr val="FFFFFF"/>
                </a:solidFill>
                <a:latin typeface="Georgia"/>
                <a:ea typeface="Georgia"/>
                <a:cs typeface="Georgia"/>
              </a:defRPr>
            </a:pPr>
            <a:r>
              <a:rPr sz="2025" b="1">
                <a:solidFill>
                  <a:srgbClr val="FFFFFF"/>
                </a:solidFill>
                <a:latin typeface="Georgia"/>
                <a:ea typeface="Georgia"/>
                <a:cs typeface="Georgia"/>
              </a:rPr>
              <a:t>Nessun acquisto</a:t>
            </a:r>
          </a:p>
          <a:p>
            <a:pPr algn="ctr">
              <a:defRPr sz="2025" b="1">
                <a:solidFill>
                  <a:srgbClr val="FFFFFF"/>
                </a:solidFill>
                <a:latin typeface="Georgia"/>
                <a:ea typeface="Georgia"/>
                <a:cs typeface="Georgia"/>
              </a:defRPr>
            </a:pPr>
            <a:r>
              <a:rPr sz="2025" b="1">
                <a:solidFill>
                  <a:srgbClr val="FFFFFF"/>
                </a:solidFill>
                <a:latin typeface="Georgia"/>
                <a:ea typeface="Georgia"/>
                <a:cs typeface="Georgia"/>
              </a:rPr>
              <a:t>necessario</a:t>
            </a:r>
          </a:p>
        </p:txBody>
      </p:sp>
      <p:sp>
        <p:nvSpPr>
          <p:cNvPr id="33" name="Rectangle 32">
            <a:extLst>
              <a:ext uri="{FF2B5EF4-FFF2-40B4-BE49-F238E27FC236}">
                <a16:creationId xmlns:a16="http://schemas.microsoft.com/office/drawing/2014/main" id="{CB67B1CD-90F7-45EA-9137-5C93E3A17053}"/>
              </a:ext>
            </a:extLst>
          </p:cNvPr>
          <p:cNvSpPr>
            <a:spLocks noGrp="1"/>
          </p:cNvSpPr>
          <p:nvPr/>
        </p:nvSpPr>
        <p:spPr>
          <a:xfrm>
            <a:off x="1143000" y="5810250"/>
            <a:ext cx="99060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0">
                <a:solidFill>
                  <a:srgbClr val="65736B"/>
                </a:solidFill>
                <a:latin typeface="Aptos"/>
                <a:ea typeface="Aptos"/>
                <a:cs typeface="Aptos"/>
              </a:defRPr>
            </a:pPr>
            <a:r>
              <a:rPr sz="825" b="0">
                <a:solidFill>
                  <a:srgbClr val="65736B"/>
                </a:solidFill>
                <a:latin typeface="Aptos"/>
                <a:ea typeface="Aptos"/>
                <a:cs typeface="Aptos"/>
              </a:rPr>
              <a:t>La rete produce probabilità; il consiglio privilegia riuso, combinazioni e seconda mano.</a:t>
            </a:r>
          </a:p>
        </p:txBody>
      </p:sp>
      <p:sp>
        <p:nvSpPr>
          <p:cNvPr id="34" name="Rectangle 33">
            <a:extLst>
              <a:ext uri="{FF2B5EF4-FFF2-40B4-BE49-F238E27FC236}">
                <a16:creationId xmlns:a16="http://schemas.microsoft.com/office/drawing/2014/main" id="{524FEFC3-CBB9-47C3-837B-F9BE6DAFF1AD}"/>
              </a:ext>
            </a:extLst>
          </p:cNvPr>
          <p:cNvSpPr>
            <a:spLocks noGrp="1"/>
          </p:cNvSpPr>
          <p:nvPr/>
        </p:nvSpPr>
        <p:spPr>
          <a:xfrm>
            <a:off x="552450" y="6419850"/>
            <a:ext cx="11087100" cy="9525"/>
          </a:xfrm>
          <a:prstGeom prst="rect">
            <a:avLst/>
          </a:prstGeom>
          <a:solidFill>
            <a:srgbClr val="B9C3BB"/>
          </a:solidFill>
          <a:ln w="0">
            <a:solidFill>
              <a:srgbClr val="000000">
                <a:alpha val="0"/>
              </a:srgbClr>
            </a:solidFill>
            <a:prstDash val="solid"/>
          </a:ln>
        </p:spPr>
        <p:txBody>
          <a:bodyPr/>
          <a:lstStyle/>
          <a:p>
            <a:endParaRPr lang="en-US"/>
          </a:p>
        </p:txBody>
      </p:sp>
      <p:sp>
        <p:nvSpPr>
          <p:cNvPr id="35" name="Rectangle 34">
            <a:extLst>
              <a:ext uri="{FF2B5EF4-FFF2-40B4-BE49-F238E27FC236}">
                <a16:creationId xmlns:a16="http://schemas.microsoft.com/office/drawing/2014/main" id="{1BD090BD-24FA-45BF-AF89-6E7264B72FF6}"/>
              </a:ext>
            </a:extLst>
          </p:cNvPr>
          <p:cNvSpPr>
            <a:spLocks noGrp="1"/>
          </p:cNvSpPr>
          <p:nvPr/>
        </p:nvSpPr>
        <p:spPr>
          <a:xfrm>
            <a:off x="552450" y="6496050"/>
            <a:ext cx="100393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65736B"/>
                </a:solidFill>
                <a:latin typeface="Aptos"/>
                <a:ea typeface="Aptos"/>
                <a:cs typeface="Aptos"/>
              </a:defRPr>
            </a:pPr>
            <a:r>
              <a:rPr sz="563" b="0">
                <a:solidFill>
                  <a:srgbClr val="65736B"/>
                </a:solidFill>
                <a:latin typeface="Aptos"/>
                <a:ea typeface="Aptos"/>
                <a:cs typeface="Aptos"/>
              </a:rPr>
              <a:t>Gap multi-label: 14 segnali aggregati → 6 possibili bisogni</a:t>
            </a:r>
          </a:p>
        </p:txBody>
      </p:sp>
      <p:sp>
        <p:nvSpPr>
          <p:cNvPr id="36" name="Rectangle 35">
            <a:extLst>
              <a:ext uri="{FF2B5EF4-FFF2-40B4-BE49-F238E27FC236}">
                <a16:creationId xmlns:a16="http://schemas.microsoft.com/office/drawing/2014/main" id="{FFB07AF7-8EC0-4E79-AD20-547BA585BE7D}"/>
              </a:ext>
            </a:extLst>
          </p:cNvPr>
          <p:cNvSpPr>
            <a:spLocks noGrp="1"/>
          </p:cNvSpPr>
          <p:nvPr/>
        </p:nvSpPr>
        <p:spPr>
          <a:xfrm>
            <a:off x="11049000" y="6477000"/>
            <a:ext cx="590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65736B"/>
                </a:solidFill>
                <a:latin typeface="Georgia"/>
                <a:ea typeface="Georgia"/>
                <a:cs typeface="Georgia"/>
              </a:defRPr>
            </a:pPr>
            <a:r>
              <a:rPr sz="750" b="1">
                <a:solidFill>
                  <a:srgbClr val="65736B"/>
                </a:solidFill>
                <a:latin typeface="Georgia"/>
                <a:ea typeface="Georgia"/>
                <a:cs typeface="Georgia"/>
              </a:rPr>
              <a:t>08</a:t>
            </a:r>
          </a:p>
        </p:txBody>
      </p:sp>
    </p:spTree>
    <p:extLst>
      <p:ext uri="{BB962C8B-B14F-4D97-AF65-F5344CB8AC3E}">
        <p14:creationId xmlns:p14="http://schemas.microsoft.com/office/powerpoint/2010/main" val="9303386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background">
            <a:extLst>
              <a:ext uri="{FF2B5EF4-FFF2-40B4-BE49-F238E27FC236}">
                <a16:creationId xmlns:a16="http://schemas.microsoft.com/office/drawing/2014/main" id="{77AD864B-0566-458B-B7FB-68B2B02C794D}"/>
              </a:ext>
            </a:extLst>
          </p:cNvPr>
          <p:cNvSpPr>
            <a:spLocks noGrp="1"/>
          </p:cNvSpPr>
          <p:nvPr/>
        </p:nvSpPr>
        <p:spPr>
          <a:xfrm>
            <a:off x="0" y="0"/>
            <a:ext cx="12192000" cy="6858000"/>
          </a:xfrm>
          <a:prstGeom prst="rect">
            <a:avLst/>
          </a:prstGeom>
          <a:solidFill>
            <a:srgbClr val="123C31"/>
          </a:solidFill>
          <a:ln w="0">
            <a:solidFill>
              <a:srgbClr val="000000">
                <a:alpha val="0"/>
              </a:srgbClr>
            </a:solidFill>
            <a:prstDash val="solid"/>
          </a:ln>
        </p:spPr>
        <p:txBody>
          <a:bodyPr/>
          <a:lstStyle/>
          <a:p>
            <a:endParaRPr lang="en-US"/>
          </a:p>
        </p:txBody>
      </p:sp>
      <p:sp>
        <p:nvSpPr>
          <p:cNvPr id="2" name="Oval 1">
            <a:extLst>
              <a:ext uri="{FF2B5EF4-FFF2-40B4-BE49-F238E27FC236}">
                <a16:creationId xmlns:a16="http://schemas.microsoft.com/office/drawing/2014/main" id="{EFD068FD-83E2-40CA-9B88-7464CF06173E}"/>
              </a:ext>
            </a:extLst>
          </p:cNvPr>
          <p:cNvSpPr>
            <a:spLocks noGrp="1"/>
          </p:cNvSpPr>
          <p:nvPr/>
        </p:nvSpPr>
        <p:spPr>
          <a:xfrm>
            <a:off x="552450" y="409575"/>
            <a:ext cx="85725" cy="85725"/>
          </a:xfrm>
          <a:prstGeom prst="ellipse">
            <a:avLst/>
          </a:prstGeom>
          <a:solidFill>
            <a:srgbClr val="B9D94A"/>
          </a:solidFill>
          <a:ln w="0">
            <a:solidFill>
              <a:srgbClr val="000000">
                <a:alpha val="0"/>
              </a:srgbClr>
            </a:solidFill>
            <a:prstDash val="solid"/>
          </a:ln>
        </p:spPr>
        <p:txBody>
          <a:bodyPr/>
          <a:lstStyle/>
          <a:p>
            <a:endParaRPr lang="en-US"/>
          </a:p>
        </p:txBody>
      </p:sp>
      <p:sp>
        <p:nvSpPr>
          <p:cNvPr id="3" name="Rectangle 2">
            <a:extLst>
              <a:ext uri="{FF2B5EF4-FFF2-40B4-BE49-F238E27FC236}">
                <a16:creationId xmlns:a16="http://schemas.microsoft.com/office/drawing/2014/main" id="{F067AC99-E248-4A12-A243-A544E488730E}"/>
              </a:ext>
            </a:extLst>
          </p:cNvPr>
          <p:cNvSpPr>
            <a:spLocks noGrp="1"/>
          </p:cNvSpPr>
          <p:nvPr/>
        </p:nvSpPr>
        <p:spPr>
          <a:xfrm>
            <a:off x="742950" y="361950"/>
            <a:ext cx="666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DDE5DD"/>
                </a:solidFill>
                <a:latin typeface="Aptos"/>
                <a:ea typeface="Aptos"/>
                <a:cs typeface="Aptos"/>
              </a:defRPr>
            </a:pPr>
            <a:r>
              <a:rPr sz="638" b="1">
                <a:solidFill>
                  <a:srgbClr val="DDE5DD"/>
                </a:solidFill>
                <a:latin typeface="Aptos"/>
                <a:ea typeface="Aptos"/>
                <a:cs typeface="Aptos"/>
              </a:rPr>
              <a:t>U S E R   S T O R Y   ·   A L L U N G A   L A   V I T A</a:t>
            </a:r>
          </a:p>
        </p:txBody>
      </p:sp>
      <p:sp>
        <p:nvSpPr>
          <p:cNvPr id="4" name="claim-title">
            <a:extLst>
              <a:ext uri="{FF2B5EF4-FFF2-40B4-BE49-F238E27FC236}">
                <a16:creationId xmlns:a16="http://schemas.microsoft.com/office/drawing/2014/main" id="{6BF52E24-9FA7-490F-B4DB-BE7E2AEA85D9}"/>
              </a:ext>
            </a:extLst>
          </p:cNvPr>
          <p:cNvSpPr>
            <a:spLocks noGrp="1"/>
          </p:cNvSpPr>
          <p:nvPr/>
        </p:nvSpPr>
        <p:spPr>
          <a:xfrm>
            <a:off x="552450" y="742950"/>
            <a:ext cx="9906000" cy="914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3075" b="1">
                <a:solidFill>
                  <a:srgbClr val="FFFFFF"/>
                </a:solidFill>
                <a:latin typeface="Georgia"/>
                <a:ea typeface="Georgia"/>
                <a:cs typeface="Georgia"/>
              </a:defRPr>
            </a:pPr>
            <a:r>
              <a:rPr sz="3075" b="1">
                <a:solidFill>
                  <a:srgbClr val="FFFFFF"/>
                </a:solidFill>
                <a:latin typeface="Georgia"/>
                <a:ea typeface="Georgia"/>
                <a:cs typeface="Georgia"/>
              </a:rPr>
              <a:t>Riparare o dare una seconda vita chiude il ciclo.</a:t>
            </a:r>
          </a:p>
        </p:txBody>
      </p:sp>
      <p:sp>
        <p:nvSpPr>
          <p:cNvPr id="5" name="Rectangle: Rounded Corners 4">
            <a:extLst>
              <a:ext uri="{FF2B5EF4-FFF2-40B4-BE49-F238E27FC236}">
                <a16:creationId xmlns:a16="http://schemas.microsoft.com/office/drawing/2014/main" id="{B3BAD782-E5C4-41E4-AF88-F08A3FA9FB51}"/>
              </a:ext>
            </a:extLst>
          </p:cNvPr>
          <p:cNvSpPr>
            <a:spLocks noGrp="1"/>
          </p:cNvSpPr>
          <p:nvPr/>
        </p:nvSpPr>
        <p:spPr>
          <a:xfrm>
            <a:off x="552450" y="2038350"/>
            <a:ext cx="2724150" cy="1066800"/>
          </a:xfrm>
          <a:prstGeom prst="roundRect">
            <a:avLst>
              <a:gd name="adj" fmla="val 7143"/>
            </a:avLst>
          </a:prstGeom>
          <a:solidFill>
            <a:srgbClr val="1B4C3D"/>
          </a:solidFill>
          <a:ln w="9525">
            <a:solidFill>
              <a:srgbClr val="3F685A"/>
            </a:solidFill>
            <a:prstDash val="solid"/>
          </a:ln>
        </p:spPr>
        <p:txBody>
          <a:bodyPr/>
          <a:lstStyle/>
          <a:p>
            <a:endParaRPr lang="en-US"/>
          </a:p>
        </p:txBody>
      </p:sp>
      <p:sp>
        <p:nvSpPr>
          <p:cNvPr id="6" name="Oval 5">
            <a:extLst>
              <a:ext uri="{FF2B5EF4-FFF2-40B4-BE49-F238E27FC236}">
                <a16:creationId xmlns:a16="http://schemas.microsoft.com/office/drawing/2014/main" id="{E8C53282-754C-4CCE-ACB0-C12497385C13}"/>
              </a:ext>
            </a:extLst>
          </p:cNvPr>
          <p:cNvSpPr>
            <a:spLocks noGrp="1"/>
          </p:cNvSpPr>
          <p:nvPr/>
        </p:nvSpPr>
        <p:spPr>
          <a:xfrm>
            <a:off x="723900" y="2228850"/>
            <a:ext cx="285750" cy="285750"/>
          </a:xfrm>
          <a:prstGeom prst="ellipse">
            <a:avLst/>
          </a:prstGeom>
          <a:solidFill>
            <a:srgbClr val="466D86"/>
          </a:solidFill>
          <a:ln w="0">
            <a:solidFill>
              <a:srgbClr val="000000">
                <a:alpha val="0"/>
              </a:srgbClr>
            </a:solidFill>
            <a:prstDash val="solid"/>
          </a:ln>
        </p:spPr>
        <p:txBody>
          <a:bodyPr/>
          <a:lstStyle/>
          <a:p>
            <a:endParaRPr lang="en-US"/>
          </a:p>
        </p:txBody>
      </p:sp>
      <p:sp>
        <p:nvSpPr>
          <p:cNvPr id="7" name="Rectangle 6">
            <a:extLst>
              <a:ext uri="{FF2B5EF4-FFF2-40B4-BE49-F238E27FC236}">
                <a16:creationId xmlns:a16="http://schemas.microsoft.com/office/drawing/2014/main" id="{177B6F52-59E8-4BBA-BEE1-DC2D59301750}"/>
              </a:ext>
            </a:extLst>
          </p:cNvPr>
          <p:cNvSpPr>
            <a:spLocks noGrp="1"/>
          </p:cNvSpPr>
          <p:nvPr/>
        </p:nvSpPr>
        <p:spPr>
          <a:xfrm>
            <a:off x="723900" y="2266950"/>
            <a:ext cx="2857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1">
                <a:solidFill>
                  <a:srgbClr val="FFFFFF"/>
                </a:solidFill>
                <a:latin typeface="Aptos"/>
                <a:ea typeface="Aptos"/>
                <a:cs typeface="Aptos"/>
              </a:defRPr>
            </a:pPr>
            <a:r>
              <a:rPr sz="750" b="1">
                <a:solidFill>
                  <a:srgbClr val="FFFFFF"/>
                </a:solidFill>
                <a:latin typeface="Aptos"/>
                <a:ea typeface="Aptos"/>
                <a:cs typeface="Aptos"/>
              </a:rPr>
              <a:t>1</a:t>
            </a:r>
          </a:p>
        </p:txBody>
      </p:sp>
      <p:sp>
        <p:nvSpPr>
          <p:cNvPr id="8" name="Rectangle 7">
            <a:extLst>
              <a:ext uri="{FF2B5EF4-FFF2-40B4-BE49-F238E27FC236}">
                <a16:creationId xmlns:a16="http://schemas.microsoft.com/office/drawing/2014/main" id="{DCB9B29A-7813-46B5-B741-2A01AA18CFBD}"/>
              </a:ext>
            </a:extLst>
          </p:cNvPr>
          <p:cNvSpPr>
            <a:spLocks noGrp="1"/>
          </p:cNvSpPr>
          <p:nvPr/>
        </p:nvSpPr>
        <p:spPr>
          <a:xfrm>
            <a:off x="1143000" y="2209800"/>
            <a:ext cx="18478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FFFFFF"/>
                </a:solidFill>
                <a:latin typeface="Georgia"/>
                <a:ea typeface="Georgia"/>
                <a:cs typeface="Georgia"/>
              </a:defRPr>
            </a:pPr>
            <a:r>
              <a:rPr sz="1125" b="1">
                <a:solidFill>
                  <a:srgbClr val="FFFFFF"/>
                </a:solidFill>
                <a:latin typeface="Georgia"/>
                <a:ea typeface="Georgia"/>
                <a:cs typeface="Georgia"/>
              </a:rPr>
              <a:t>Stato</a:t>
            </a:r>
          </a:p>
        </p:txBody>
      </p:sp>
      <p:sp>
        <p:nvSpPr>
          <p:cNvPr id="9" name="Rectangle 8">
            <a:extLst>
              <a:ext uri="{FF2B5EF4-FFF2-40B4-BE49-F238E27FC236}">
                <a16:creationId xmlns:a16="http://schemas.microsoft.com/office/drawing/2014/main" id="{CBEC2179-FCCB-45C3-9424-A861C50725C6}"/>
              </a:ext>
            </a:extLst>
          </p:cNvPr>
          <p:cNvSpPr>
            <a:spLocks noGrp="1"/>
          </p:cNvSpPr>
          <p:nvPr/>
        </p:nvSpPr>
        <p:spPr>
          <a:xfrm>
            <a:off x="1143000" y="2533650"/>
            <a:ext cx="18478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0">
                <a:solidFill>
                  <a:srgbClr val="DDE5DD"/>
                </a:solidFill>
                <a:latin typeface="Aptos"/>
                <a:ea typeface="Aptos"/>
                <a:cs typeface="Aptos"/>
              </a:defRPr>
            </a:pPr>
            <a:r>
              <a:rPr sz="675" b="0">
                <a:solidFill>
                  <a:srgbClr val="DDE5DD"/>
                </a:solidFill>
                <a:latin typeface="Aptos"/>
                <a:ea typeface="Aptos"/>
                <a:cs typeface="Aptos"/>
              </a:rPr>
              <a:t>buono · usurato · danneggiato</a:t>
            </a:r>
          </a:p>
        </p:txBody>
      </p:sp>
      <p:sp>
        <p:nvSpPr>
          <p:cNvPr id="10" name="Rectangle: Rounded Corners 9">
            <a:extLst>
              <a:ext uri="{FF2B5EF4-FFF2-40B4-BE49-F238E27FC236}">
                <a16:creationId xmlns:a16="http://schemas.microsoft.com/office/drawing/2014/main" id="{EBB6D9B0-A0B9-4788-BDF1-6D28C9F83CED}"/>
              </a:ext>
            </a:extLst>
          </p:cNvPr>
          <p:cNvSpPr>
            <a:spLocks noGrp="1"/>
          </p:cNvSpPr>
          <p:nvPr/>
        </p:nvSpPr>
        <p:spPr>
          <a:xfrm>
            <a:off x="3676650" y="2038350"/>
            <a:ext cx="2724150" cy="1066800"/>
          </a:xfrm>
          <a:prstGeom prst="roundRect">
            <a:avLst>
              <a:gd name="adj" fmla="val 7143"/>
            </a:avLst>
          </a:prstGeom>
          <a:solidFill>
            <a:srgbClr val="1B4C3D"/>
          </a:solidFill>
          <a:ln w="9525">
            <a:solidFill>
              <a:srgbClr val="3F685A"/>
            </a:solidFill>
            <a:prstDash val="solid"/>
          </a:ln>
        </p:spPr>
        <p:txBody>
          <a:bodyPr/>
          <a:lstStyle/>
          <a:p>
            <a:endParaRPr lang="en-US"/>
          </a:p>
        </p:txBody>
      </p:sp>
      <p:sp>
        <p:nvSpPr>
          <p:cNvPr id="11" name="Oval 10">
            <a:extLst>
              <a:ext uri="{FF2B5EF4-FFF2-40B4-BE49-F238E27FC236}">
                <a16:creationId xmlns:a16="http://schemas.microsoft.com/office/drawing/2014/main" id="{FA4C5284-BC8B-4EEE-9652-83B8E5D6627B}"/>
              </a:ext>
            </a:extLst>
          </p:cNvPr>
          <p:cNvSpPr>
            <a:spLocks noGrp="1"/>
          </p:cNvSpPr>
          <p:nvPr/>
        </p:nvSpPr>
        <p:spPr>
          <a:xfrm>
            <a:off x="3848100" y="2228850"/>
            <a:ext cx="285750" cy="285750"/>
          </a:xfrm>
          <a:prstGeom prst="ellipse">
            <a:avLst/>
          </a:prstGeom>
          <a:solidFill>
            <a:srgbClr val="D56E42"/>
          </a:solidFill>
          <a:ln w="0">
            <a:solidFill>
              <a:srgbClr val="000000">
                <a:alpha val="0"/>
              </a:srgbClr>
            </a:solidFill>
            <a:prstDash val="solid"/>
          </a:ln>
        </p:spPr>
        <p:txBody>
          <a:bodyPr/>
          <a:lstStyle/>
          <a:p>
            <a:endParaRPr lang="en-US"/>
          </a:p>
        </p:txBody>
      </p:sp>
      <p:sp>
        <p:nvSpPr>
          <p:cNvPr id="12" name="Rectangle 11">
            <a:extLst>
              <a:ext uri="{FF2B5EF4-FFF2-40B4-BE49-F238E27FC236}">
                <a16:creationId xmlns:a16="http://schemas.microsoft.com/office/drawing/2014/main" id="{AACF367D-B27B-4DC9-8FE5-EAFBD3B606B0}"/>
              </a:ext>
            </a:extLst>
          </p:cNvPr>
          <p:cNvSpPr>
            <a:spLocks noGrp="1"/>
          </p:cNvSpPr>
          <p:nvPr/>
        </p:nvSpPr>
        <p:spPr>
          <a:xfrm>
            <a:off x="3848100" y="2266950"/>
            <a:ext cx="2857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1">
                <a:solidFill>
                  <a:srgbClr val="FFFFFF"/>
                </a:solidFill>
                <a:latin typeface="Aptos"/>
                <a:ea typeface="Aptos"/>
                <a:cs typeface="Aptos"/>
              </a:defRPr>
            </a:pPr>
            <a:r>
              <a:rPr sz="750" b="1">
                <a:solidFill>
                  <a:srgbClr val="FFFFFF"/>
                </a:solidFill>
                <a:latin typeface="Aptos"/>
                <a:ea typeface="Aptos"/>
                <a:cs typeface="Aptos"/>
              </a:rPr>
              <a:t>2</a:t>
            </a:r>
          </a:p>
        </p:txBody>
      </p:sp>
      <p:sp>
        <p:nvSpPr>
          <p:cNvPr id="13" name="Rectangle 12">
            <a:extLst>
              <a:ext uri="{FF2B5EF4-FFF2-40B4-BE49-F238E27FC236}">
                <a16:creationId xmlns:a16="http://schemas.microsoft.com/office/drawing/2014/main" id="{FE32C0CD-F5D8-4347-8318-8488F24039E6}"/>
              </a:ext>
            </a:extLst>
          </p:cNvPr>
          <p:cNvSpPr>
            <a:spLocks noGrp="1"/>
          </p:cNvSpPr>
          <p:nvPr/>
        </p:nvSpPr>
        <p:spPr>
          <a:xfrm>
            <a:off x="4267200" y="2209800"/>
            <a:ext cx="18478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FFFFFF"/>
                </a:solidFill>
                <a:latin typeface="Georgia"/>
                <a:ea typeface="Georgia"/>
                <a:cs typeface="Georgia"/>
              </a:defRPr>
            </a:pPr>
            <a:r>
              <a:rPr sz="1125" b="1">
                <a:solidFill>
                  <a:srgbClr val="FFFFFF"/>
                </a:solidFill>
                <a:latin typeface="Georgia"/>
                <a:ea typeface="Georgia"/>
                <a:cs typeface="Georgia"/>
              </a:rPr>
              <a:t>Decisione</a:t>
            </a:r>
          </a:p>
        </p:txBody>
      </p:sp>
      <p:sp>
        <p:nvSpPr>
          <p:cNvPr id="14" name="Rectangle 13">
            <a:extLst>
              <a:ext uri="{FF2B5EF4-FFF2-40B4-BE49-F238E27FC236}">
                <a16:creationId xmlns:a16="http://schemas.microsoft.com/office/drawing/2014/main" id="{219AEDE6-A7D4-402F-912C-DF4CB89711BC}"/>
              </a:ext>
            </a:extLst>
          </p:cNvPr>
          <p:cNvSpPr>
            <a:spLocks noGrp="1"/>
          </p:cNvSpPr>
          <p:nvPr/>
        </p:nvSpPr>
        <p:spPr>
          <a:xfrm>
            <a:off x="4267200" y="2533650"/>
            <a:ext cx="18478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0">
                <a:solidFill>
                  <a:srgbClr val="DDE5DD"/>
                </a:solidFill>
                <a:latin typeface="Aptos"/>
                <a:ea typeface="Aptos"/>
                <a:cs typeface="Aptos"/>
              </a:defRPr>
            </a:pPr>
            <a:r>
              <a:rPr sz="675" b="0">
                <a:solidFill>
                  <a:srgbClr val="DDE5DD"/>
                </a:solidFill>
                <a:latin typeface="Aptos"/>
                <a:ea typeface="Aptos"/>
                <a:cs typeface="Aptos"/>
              </a:rPr>
              <a:t>continua · ripara · seconda vita</a:t>
            </a:r>
          </a:p>
        </p:txBody>
      </p:sp>
      <p:sp>
        <p:nvSpPr>
          <p:cNvPr id="15" name="Rectangle: Rounded Corners 14">
            <a:extLst>
              <a:ext uri="{FF2B5EF4-FFF2-40B4-BE49-F238E27FC236}">
                <a16:creationId xmlns:a16="http://schemas.microsoft.com/office/drawing/2014/main" id="{F7FEE5B6-AB19-431A-AD76-E96EDE259411}"/>
              </a:ext>
            </a:extLst>
          </p:cNvPr>
          <p:cNvSpPr>
            <a:spLocks noGrp="1"/>
          </p:cNvSpPr>
          <p:nvPr/>
        </p:nvSpPr>
        <p:spPr>
          <a:xfrm>
            <a:off x="552450" y="3467100"/>
            <a:ext cx="2724150" cy="1066800"/>
          </a:xfrm>
          <a:prstGeom prst="roundRect">
            <a:avLst>
              <a:gd name="adj" fmla="val 7143"/>
            </a:avLst>
          </a:prstGeom>
          <a:solidFill>
            <a:srgbClr val="1B4C3D"/>
          </a:solidFill>
          <a:ln w="9525">
            <a:solidFill>
              <a:srgbClr val="3F685A"/>
            </a:solidFill>
            <a:prstDash val="solid"/>
          </a:ln>
        </p:spPr>
        <p:txBody>
          <a:bodyPr/>
          <a:lstStyle/>
          <a:p>
            <a:endParaRPr lang="en-US"/>
          </a:p>
        </p:txBody>
      </p:sp>
      <p:sp>
        <p:nvSpPr>
          <p:cNvPr id="16" name="Oval 15">
            <a:extLst>
              <a:ext uri="{FF2B5EF4-FFF2-40B4-BE49-F238E27FC236}">
                <a16:creationId xmlns:a16="http://schemas.microsoft.com/office/drawing/2014/main" id="{24409638-EE85-4426-8746-6AD73ABDE934}"/>
              </a:ext>
            </a:extLst>
          </p:cNvPr>
          <p:cNvSpPr>
            <a:spLocks noGrp="1"/>
          </p:cNvSpPr>
          <p:nvPr/>
        </p:nvSpPr>
        <p:spPr>
          <a:xfrm>
            <a:off x="723900" y="3657600"/>
            <a:ext cx="285750" cy="285750"/>
          </a:xfrm>
          <a:prstGeom prst="ellipse">
            <a:avLst/>
          </a:prstGeom>
          <a:solidFill>
            <a:srgbClr val="B9D94A"/>
          </a:solidFill>
          <a:ln w="0">
            <a:solidFill>
              <a:srgbClr val="000000">
                <a:alpha val="0"/>
              </a:srgbClr>
            </a:solidFill>
            <a:prstDash val="solid"/>
          </a:ln>
        </p:spPr>
        <p:txBody>
          <a:bodyPr/>
          <a:lstStyle/>
          <a:p>
            <a:endParaRPr lang="en-US"/>
          </a:p>
        </p:txBody>
      </p:sp>
      <p:sp>
        <p:nvSpPr>
          <p:cNvPr id="17" name="Rectangle 16">
            <a:extLst>
              <a:ext uri="{FF2B5EF4-FFF2-40B4-BE49-F238E27FC236}">
                <a16:creationId xmlns:a16="http://schemas.microsoft.com/office/drawing/2014/main" id="{A5AC5589-BCB7-48CC-923B-A7D9F826B99C}"/>
              </a:ext>
            </a:extLst>
          </p:cNvPr>
          <p:cNvSpPr>
            <a:spLocks noGrp="1"/>
          </p:cNvSpPr>
          <p:nvPr/>
        </p:nvSpPr>
        <p:spPr>
          <a:xfrm>
            <a:off x="723900" y="3695700"/>
            <a:ext cx="2857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1">
                <a:solidFill>
                  <a:srgbClr val="123C31"/>
                </a:solidFill>
                <a:latin typeface="Aptos"/>
                <a:ea typeface="Aptos"/>
                <a:cs typeface="Aptos"/>
              </a:defRPr>
            </a:pPr>
            <a:r>
              <a:rPr sz="750" b="1">
                <a:solidFill>
                  <a:srgbClr val="123C31"/>
                </a:solidFill>
                <a:latin typeface="Aptos"/>
                <a:ea typeface="Aptos"/>
                <a:cs typeface="Aptos"/>
              </a:rPr>
              <a:t>3</a:t>
            </a:r>
          </a:p>
        </p:txBody>
      </p:sp>
      <p:sp>
        <p:nvSpPr>
          <p:cNvPr id="18" name="Rectangle 17">
            <a:extLst>
              <a:ext uri="{FF2B5EF4-FFF2-40B4-BE49-F238E27FC236}">
                <a16:creationId xmlns:a16="http://schemas.microsoft.com/office/drawing/2014/main" id="{11D5CEA2-D80E-41CF-B9C5-A0D6F75D398A}"/>
              </a:ext>
            </a:extLst>
          </p:cNvPr>
          <p:cNvSpPr>
            <a:spLocks noGrp="1"/>
          </p:cNvSpPr>
          <p:nvPr/>
        </p:nvSpPr>
        <p:spPr>
          <a:xfrm>
            <a:off x="1143000" y="3638550"/>
            <a:ext cx="18478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FFFFFF"/>
                </a:solidFill>
                <a:latin typeface="Georgia"/>
                <a:ea typeface="Georgia"/>
                <a:cs typeface="Georgia"/>
              </a:defRPr>
            </a:pPr>
            <a:r>
              <a:rPr sz="1125" b="1">
                <a:solidFill>
                  <a:srgbClr val="FFFFFF"/>
                </a:solidFill>
                <a:latin typeface="Georgia"/>
                <a:ea typeface="Georgia"/>
                <a:cs typeface="Georgia"/>
              </a:rPr>
              <a:t>Azione</a:t>
            </a:r>
          </a:p>
        </p:txBody>
      </p:sp>
      <p:sp>
        <p:nvSpPr>
          <p:cNvPr id="19" name="Rectangle 18">
            <a:extLst>
              <a:ext uri="{FF2B5EF4-FFF2-40B4-BE49-F238E27FC236}">
                <a16:creationId xmlns:a16="http://schemas.microsoft.com/office/drawing/2014/main" id="{68BEAFD0-B0BE-4222-B9C6-8AC13BD34C3A}"/>
              </a:ext>
            </a:extLst>
          </p:cNvPr>
          <p:cNvSpPr>
            <a:spLocks noGrp="1"/>
          </p:cNvSpPr>
          <p:nvPr/>
        </p:nvSpPr>
        <p:spPr>
          <a:xfrm>
            <a:off x="1143000" y="3962400"/>
            <a:ext cx="18478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0">
                <a:solidFill>
                  <a:srgbClr val="DDE5DD"/>
                </a:solidFill>
                <a:latin typeface="Aptos"/>
                <a:ea typeface="Aptos"/>
                <a:cs typeface="Aptos"/>
              </a:defRPr>
            </a:pPr>
            <a:r>
              <a:rPr sz="675" b="0">
                <a:solidFill>
                  <a:srgbClr val="DDE5DD"/>
                </a:solidFill>
                <a:latin typeface="Aptos"/>
                <a:ea typeface="Aptos"/>
                <a:cs typeface="Aptos"/>
              </a:rPr>
              <a:t>usa · dona · vendi · ricicla</a:t>
            </a:r>
          </a:p>
        </p:txBody>
      </p:sp>
      <p:sp>
        <p:nvSpPr>
          <p:cNvPr id="20" name="Rectangle: Rounded Corners 19">
            <a:extLst>
              <a:ext uri="{FF2B5EF4-FFF2-40B4-BE49-F238E27FC236}">
                <a16:creationId xmlns:a16="http://schemas.microsoft.com/office/drawing/2014/main" id="{A1EDD957-4F7F-428B-B6B8-C4F8031A8936}"/>
              </a:ext>
            </a:extLst>
          </p:cNvPr>
          <p:cNvSpPr>
            <a:spLocks noGrp="1"/>
          </p:cNvSpPr>
          <p:nvPr/>
        </p:nvSpPr>
        <p:spPr>
          <a:xfrm>
            <a:off x="3676650" y="3467100"/>
            <a:ext cx="2724150" cy="1066800"/>
          </a:xfrm>
          <a:prstGeom prst="roundRect">
            <a:avLst>
              <a:gd name="adj" fmla="val 7143"/>
            </a:avLst>
          </a:prstGeom>
          <a:solidFill>
            <a:srgbClr val="1B4C3D"/>
          </a:solidFill>
          <a:ln w="9525">
            <a:solidFill>
              <a:srgbClr val="3F685A"/>
            </a:solidFill>
            <a:prstDash val="solid"/>
          </a:ln>
        </p:spPr>
        <p:txBody>
          <a:bodyPr/>
          <a:lstStyle/>
          <a:p>
            <a:endParaRPr lang="en-US"/>
          </a:p>
        </p:txBody>
      </p:sp>
      <p:sp>
        <p:nvSpPr>
          <p:cNvPr id="21" name="Oval 20">
            <a:extLst>
              <a:ext uri="{FF2B5EF4-FFF2-40B4-BE49-F238E27FC236}">
                <a16:creationId xmlns:a16="http://schemas.microsoft.com/office/drawing/2014/main" id="{AE9AB8A5-B1A1-47A6-B1D8-EAF3AEF61E06}"/>
              </a:ext>
            </a:extLst>
          </p:cNvPr>
          <p:cNvSpPr>
            <a:spLocks noGrp="1"/>
          </p:cNvSpPr>
          <p:nvPr/>
        </p:nvSpPr>
        <p:spPr>
          <a:xfrm>
            <a:off x="3848100" y="3657600"/>
            <a:ext cx="285750" cy="285750"/>
          </a:xfrm>
          <a:prstGeom prst="ellipse">
            <a:avLst/>
          </a:prstGeom>
          <a:solidFill>
            <a:srgbClr val="466D86"/>
          </a:solidFill>
          <a:ln w="0">
            <a:solidFill>
              <a:srgbClr val="000000">
                <a:alpha val="0"/>
              </a:srgbClr>
            </a:solidFill>
            <a:prstDash val="solid"/>
          </a:ln>
        </p:spPr>
        <p:txBody>
          <a:bodyPr/>
          <a:lstStyle/>
          <a:p>
            <a:endParaRPr lang="en-US"/>
          </a:p>
        </p:txBody>
      </p:sp>
      <p:sp>
        <p:nvSpPr>
          <p:cNvPr id="22" name="Rectangle 21">
            <a:extLst>
              <a:ext uri="{FF2B5EF4-FFF2-40B4-BE49-F238E27FC236}">
                <a16:creationId xmlns:a16="http://schemas.microsoft.com/office/drawing/2014/main" id="{C8BA0F61-DFCB-4BF0-9141-F0BADC93FB50}"/>
              </a:ext>
            </a:extLst>
          </p:cNvPr>
          <p:cNvSpPr>
            <a:spLocks noGrp="1"/>
          </p:cNvSpPr>
          <p:nvPr/>
        </p:nvSpPr>
        <p:spPr>
          <a:xfrm>
            <a:off x="3848100" y="3695700"/>
            <a:ext cx="2857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1">
                <a:solidFill>
                  <a:srgbClr val="FFFFFF"/>
                </a:solidFill>
                <a:latin typeface="Aptos"/>
                <a:ea typeface="Aptos"/>
                <a:cs typeface="Aptos"/>
              </a:defRPr>
            </a:pPr>
            <a:r>
              <a:rPr sz="750" b="1">
                <a:solidFill>
                  <a:srgbClr val="FFFFFF"/>
                </a:solidFill>
                <a:latin typeface="Aptos"/>
                <a:ea typeface="Aptos"/>
                <a:cs typeface="Aptos"/>
              </a:rPr>
              <a:t>4</a:t>
            </a:r>
          </a:p>
        </p:txBody>
      </p:sp>
      <p:sp>
        <p:nvSpPr>
          <p:cNvPr id="23" name="Rectangle 22">
            <a:extLst>
              <a:ext uri="{FF2B5EF4-FFF2-40B4-BE49-F238E27FC236}">
                <a16:creationId xmlns:a16="http://schemas.microsoft.com/office/drawing/2014/main" id="{7F375A8A-5394-4CDD-A86A-D3AC0F674661}"/>
              </a:ext>
            </a:extLst>
          </p:cNvPr>
          <p:cNvSpPr>
            <a:spLocks noGrp="1"/>
          </p:cNvSpPr>
          <p:nvPr/>
        </p:nvSpPr>
        <p:spPr>
          <a:xfrm>
            <a:off x="4267200" y="3638550"/>
            <a:ext cx="18478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FFFFFF"/>
                </a:solidFill>
                <a:latin typeface="Georgia"/>
                <a:ea typeface="Georgia"/>
                <a:cs typeface="Georgia"/>
              </a:defRPr>
            </a:pPr>
            <a:r>
              <a:rPr sz="1125" b="1">
                <a:solidFill>
                  <a:srgbClr val="FFFFFF"/>
                </a:solidFill>
                <a:latin typeface="Georgia"/>
                <a:ea typeface="Georgia"/>
                <a:cs typeface="Georgia"/>
              </a:rPr>
              <a:t>Storico</a:t>
            </a:r>
          </a:p>
        </p:txBody>
      </p:sp>
      <p:sp>
        <p:nvSpPr>
          <p:cNvPr id="24" name="Rectangle 23">
            <a:extLst>
              <a:ext uri="{FF2B5EF4-FFF2-40B4-BE49-F238E27FC236}">
                <a16:creationId xmlns:a16="http://schemas.microsoft.com/office/drawing/2014/main" id="{2F13FDB3-F68D-4432-BBEB-D1A320392939}"/>
              </a:ext>
            </a:extLst>
          </p:cNvPr>
          <p:cNvSpPr>
            <a:spLocks noGrp="1"/>
          </p:cNvSpPr>
          <p:nvPr/>
        </p:nvSpPr>
        <p:spPr>
          <a:xfrm>
            <a:off x="4267200" y="3962400"/>
            <a:ext cx="18478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0">
                <a:solidFill>
                  <a:srgbClr val="DDE5DD"/>
                </a:solidFill>
                <a:latin typeface="Aptos"/>
                <a:ea typeface="Aptos"/>
                <a:cs typeface="Aptos"/>
              </a:defRPr>
            </a:pPr>
            <a:r>
              <a:rPr sz="675" b="0">
                <a:solidFill>
                  <a:srgbClr val="DDE5DD"/>
                </a:solidFill>
                <a:latin typeface="Aptos"/>
                <a:ea typeface="Aptos"/>
                <a:cs typeface="Aptos"/>
              </a:rPr>
              <a:t>l’azione resta verificabile</a:t>
            </a:r>
          </a:p>
        </p:txBody>
      </p:sp>
      <p:sp>
        <p:nvSpPr>
          <p:cNvPr id="25" name="Rectangle: Rounded Corners 24">
            <a:extLst>
              <a:ext uri="{FF2B5EF4-FFF2-40B4-BE49-F238E27FC236}">
                <a16:creationId xmlns:a16="http://schemas.microsoft.com/office/drawing/2014/main" id="{327590EE-C33F-4E09-A431-5B8873796DDD}"/>
              </a:ext>
            </a:extLst>
          </p:cNvPr>
          <p:cNvSpPr>
            <a:spLocks noGrp="1"/>
          </p:cNvSpPr>
          <p:nvPr/>
        </p:nvSpPr>
        <p:spPr>
          <a:xfrm>
            <a:off x="7334250" y="2038350"/>
            <a:ext cx="4305300" cy="3276600"/>
          </a:xfrm>
          <a:prstGeom prst="roundRect">
            <a:avLst>
              <a:gd name="adj" fmla="val 2326"/>
            </a:avLst>
          </a:prstGeom>
          <a:solidFill>
            <a:srgbClr val="F4F0E7"/>
          </a:solidFill>
          <a:ln w="9525">
            <a:solidFill>
              <a:srgbClr val="F4F0E7"/>
            </a:solidFill>
            <a:prstDash val="solid"/>
          </a:ln>
        </p:spPr>
        <p:txBody>
          <a:bodyPr/>
          <a:lstStyle/>
          <a:p>
            <a:endParaRPr lang="en-US"/>
          </a:p>
        </p:txBody>
      </p:sp>
      <p:sp>
        <p:nvSpPr>
          <p:cNvPr id="26" name="Rectangle 25">
            <a:extLst>
              <a:ext uri="{FF2B5EF4-FFF2-40B4-BE49-F238E27FC236}">
                <a16:creationId xmlns:a16="http://schemas.microsoft.com/office/drawing/2014/main" id="{77261204-5090-45B1-8CF4-ADB9CB437165}"/>
              </a:ext>
            </a:extLst>
          </p:cNvPr>
          <p:cNvSpPr>
            <a:spLocks noGrp="1"/>
          </p:cNvSpPr>
          <p:nvPr/>
        </p:nvSpPr>
        <p:spPr>
          <a:xfrm>
            <a:off x="7600950" y="2286000"/>
            <a:ext cx="2095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2F7D5B"/>
                </a:solidFill>
                <a:latin typeface="Aptos"/>
                <a:ea typeface="Aptos"/>
                <a:cs typeface="Aptos"/>
              </a:defRPr>
            </a:pPr>
            <a:r>
              <a:rPr sz="675" b="1">
                <a:solidFill>
                  <a:srgbClr val="2F7D5B"/>
                </a:solidFill>
                <a:latin typeface="Aptos"/>
                <a:ea typeface="Aptos"/>
                <a:cs typeface="Aptos"/>
              </a:rPr>
              <a:t>IMPATTO STIMATO</a:t>
            </a:r>
          </a:p>
        </p:txBody>
      </p:sp>
      <p:sp>
        <p:nvSpPr>
          <p:cNvPr id="27" name="Rectangle 26">
            <a:extLst>
              <a:ext uri="{FF2B5EF4-FFF2-40B4-BE49-F238E27FC236}">
                <a16:creationId xmlns:a16="http://schemas.microsoft.com/office/drawing/2014/main" id="{6F978C0F-774C-4A0C-9D61-748803107653}"/>
              </a:ext>
            </a:extLst>
          </p:cNvPr>
          <p:cNvSpPr>
            <a:spLocks noGrp="1"/>
          </p:cNvSpPr>
          <p:nvPr/>
        </p:nvSpPr>
        <p:spPr>
          <a:xfrm>
            <a:off x="7620000" y="2876550"/>
            <a:ext cx="1238250" cy="7048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425" b="1">
                <a:solidFill>
                  <a:srgbClr val="17211D"/>
                </a:solidFill>
                <a:latin typeface="Georgia"/>
                <a:ea typeface="Georgia"/>
                <a:cs typeface="Georgia"/>
              </a:defRPr>
            </a:pPr>
            <a:r>
              <a:rPr sz="1425" b="1">
                <a:solidFill>
                  <a:srgbClr val="17211D"/>
                </a:solidFill>
                <a:latin typeface="Georgia"/>
                <a:ea typeface="Georgia"/>
                <a:cs typeface="Georgia"/>
              </a:rPr>
              <a:t>media della</a:t>
            </a:r>
          </a:p>
          <a:p>
            <a:pPr algn="ctr">
              <a:defRPr sz="1425" b="1">
                <a:solidFill>
                  <a:srgbClr val="17211D"/>
                </a:solidFill>
                <a:latin typeface="Georgia"/>
                <a:ea typeface="Georgia"/>
                <a:cs typeface="Georgia"/>
              </a:defRPr>
            </a:pPr>
            <a:r>
              <a:rPr sz="1425" b="1">
                <a:solidFill>
                  <a:srgbClr val="17211D"/>
                </a:solidFill>
                <a:latin typeface="Georgia"/>
                <a:ea typeface="Georgia"/>
                <a:cs typeface="Georgia"/>
              </a:rPr>
              <a:t>categoria</a:t>
            </a:r>
          </a:p>
        </p:txBody>
      </p:sp>
      <p:sp>
        <p:nvSpPr>
          <p:cNvPr id="28" name="Rectangle 27">
            <a:extLst>
              <a:ext uri="{FF2B5EF4-FFF2-40B4-BE49-F238E27FC236}">
                <a16:creationId xmlns:a16="http://schemas.microsoft.com/office/drawing/2014/main" id="{932BC472-9BCA-4AF5-B30F-BEB7FA0228B3}"/>
              </a:ext>
            </a:extLst>
          </p:cNvPr>
          <p:cNvSpPr>
            <a:spLocks noGrp="1"/>
          </p:cNvSpPr>
          <p:nvPr/>
        </p:nvSpPr>
        <p:spPr>
          <a:xfrm>
            <a:off x="8991600" y="3028950"/>
            <a:ext cx="4572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2100" b="1">
                <a:solidFill>
                  <a:srgbClr val="D56E42"/>
                </a:solidFill>
                <a:latin typeface="Georgia"/>
                <a:ea typeface="Georgia"/>
                <a:cs typeface="Georgia"/>
              </a:defRPr>
            </a:pPr>
            <a:r>
              <a:rPr sz="2100" b="1">
                <a:solidFill>
                  <a:srgbClr val="D56E42"/>
                </a:solidFill>
                <a:latin typeface="Georgia"/>
                <a:ea typeface="Georgia"/>
                <a:cs typeface="Georgia"/>
              </a:rPr>
              <a:t>×</a:t>
            </a:r>
          </a:p>
        </p:txBody>
      </p:sp>
      <p:sp>
        <p:nvSpPr>
          <p:cNvPr id="29" name="Rectangle 28">
            <a:extLst>
              <a:ext uri="{FF2B5EF4-FFF2-40B4-BE49-F238E27FC236}">
                <a16:creationId xmlns:a16="http://schemas.microsoft.com/office/drawing/2014/main" id="{282305DE-2DCD-48D3-AF8B-C0D400653EC1}"/>
              </a:ext>
            </a:extLst>
          </p:cNvPr>
          <p:cNvSpPr>
            <a:spLocks noGrp="1"/>
          </p:cNvSpPr>
          <p:nvPr/>
        </p:nvSpPr>
        <p:spPr>
          <a:xfrm>
            <a:off x="9582150" y="2876550"/>
            <a:ext cx="1238250" cy="7048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425" b="1">
                <a:solidFill>
                  <a:srgbClr val="17211D"/>
                </a:solidFill>
                <a:latin typeface="Georgia"/>
                <a:ea typeface="Georgia"/>
                <a:cs typeface="Georgia"/>
              </a:defRPr>
            </a:pPr>
            <a:r>
              <a:rPr sz="1425" b="1">
                <a:solidFill>
                  <a:srgbClr val="17211D"/>
                </a:solidFill>
                <a:latin typeface="Georgia"/>
                <a:ea typeface="Georgia"/>
                <a:cs typeface="Georgia"/>
              </a:rPr>
              <a:t>fattore</a:t>
            </a:r>
          </a:p>
          <a:p>
            <a:pPr algn="ctr">
              <a:defRPr sz="1425" b="1">
                <a:solidFill>
                  <a:srgbClr val="17211D"/>
                </a:solidFill>
                <a:latin typeface="Georgia"/>
                <a:ea typeface="Georgia"/>
                <a:cs typeface="Georgia"/>
              </a:defRPr>
            </a:pPr>
            <a:r>
              <a:rPr sz="1425" b="1">
                <a:solidFill>
                  <a:srgbClr val="17211D"/>
                </a:solidFill>
                <a:latin typeface="Georgia"/>
                <a:ea typeface="Georgia"/>
                <a:cs typeface="Georgia"/>
              </a:rPr>
              <a:t>dell’azione</a:t>
            </a:r>
          </a:p>
        </p:txBody>
      </p:sp>
      <p:sp>
        <p:nvSpPr>
          <p:cNvPr id="30" name="Rectangle 29">
            <a:extLst>
              <a:ext uri="{FF2B5EF4-FFF2-40B4-BE49-F238E27FC236}">
                <a16:creationId xmlns:a16="http://schemas.microsoft.com/office/drawing/2014/main" id="{26F53B7B-2266-4861-8C2C-00462548FD2E}"/>
              </a:ext>
            </a:extLst>
          </p:cNvPr>
          <p:cNvSpPr>
            <a:spLocks noGrp="1"/>
          </p:cNvSpPr>
          <p:nvPr/>
        </p:nvSpPr>
        <p:spPr>
          <a:xfrm>
            <a:off x="10858500" y="3028950"/>
            <a:ext cx="43815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875" b="1">
                <a:solidFill>
                  <a:srgbClr val="2F7D5B"/>
                </a:solidFill>
                <a:latin typeface="Georgia"/>
                <a:ea typeface="Georgia"/>
                <a:cs typeface="Georgia"/>
              </a:defRPr>
            </a:pPr>
            <a:r>
              <a:rPr sz="1875" b="1">
                <a:solidFill>
                  <a:srgbClr val="2F7D5B"/>
                </a:solidFill>
                <a:latin typeface="Georgia"/>
                <a:ea typeface="Georgia"/>
                <a:cs typeface="Georgia"/>
              </a:rPr>
              <a:t>=</a:t>
            </a:r>
          </a:p>
        </p:txBody>
      </p:sp>
      <p:sp>
        <p:nvSpPr>
          <p:cNvPr id="31" name="Rectangle: Rounded Corners 30">
            <a:extLst>
              <a:ext uri="{FF2B5EF4-FFF2-40B4-BE49-F238E27FC236}">
                <a16:creationId xmlns:a16="http://schemas.microsoft.com/office/drawing/2014/main" id="{8BFD56FD-1778-46E6-A0DA-B97C705D1540}"/>
              </a:ext>
            </a:extLst>
          </p:cNvPr>
          <p:cNvSpPr>
            <a:spLocks noGrp="1"/>
          </p:cNvSpPr>
          <p:nvPr/>
        </p:nvSpPr>
        <p:spPr>
          <a:xfrm>
            <a:off x="8629650" y="3848100"/>
            <a:ext cx="1847850" cy="266700"/>
          </a:xfrm>
          <a:prstGeom prst="roundRect">
            <a:avLst>
              <a:gd name="adj" fmla="val 28571"/>
            </a:avLst>
          </a:prstGeom>
          <a:solidFill>
            <a:srgbClr val="B9D94A"/>
          </a:solidFill>
          <a:ln w="0">
            <a:solidFill>
              <a:srgbClr val="000000">
                <a:alpha val="0"/>
              </a:srgbClr>
            </a:solidFill>
            <a:prstDash val="solid"/>
          </a:ln>
        </p:spPr>
        <p:txBody>
          <a:bodyPr/>
          <a:lstStyle/>
          <a:p>
            <a:endParaRPr lang="en-US"/>
          </a:p>
        </p:txBody>
      </p:sp>
      <p:sp>
        <p:nvSpPr>
          <p:cNvPr id="32" name="Rectangle 31">
            <a:extLst>
              <a:ext uri="{FF2B5EF4-FFF2-40B4-BE49-F238E27FC236}">
                <a16:creationId xmlns:a16="http://schemas.microsoft.com/office/drawing/2014/main" id="{C3C5DEB5-AEFA-485C-AC0F-B787170B4858}"/>
              </a:ext>
            </a:extLst>
          </p:cNvPr>
          <p:cNvSpPr>
            <a:spLocks noGrp="1"/>
          </p:cNvSpPr>
          <p:nvPr/>
        </p:nvSpPr>
        <p:spPr>
          <a:xfrm>
            <a:off x="8715375" y="3867150"/>
            <a:ext cx="16764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1">
                <a:solidFill>
                  <a:srgbClr val="123C31"/>
                </a:solidFill>
                <a:latin typeface="Aptos"/>
                <a:ea typeface="Aptos"/>
                <a:cs typeface="Aptos"/>
              </a:defRPr>
            </a:pPr>
            <a:r>
              <a:rPr sz="675" b="1">
                <a:solidFill>
                  <a:srgbClr val="123C31"/>
                </a:solidFill>
                <a:latin typeface="Aptos"/>
                <a:ea typeface="Aptos"/>
                <a:cs typeface="Aptos"/>
              </a:rPr>
              <a:t>kg CO₂eq stimati</a:t>
            </a:r>
          </a:p>
        </p:txBody>
      </p:sp>
      <p:sp>
        <p:nvSpPr>
          <p:cNvPr id="33" name="Rectangle 32">
            <a:extLst>
              <a:ext uri="{FF2B5EF4-FFF2-40B4-BE49-F238E27FC236}">
                <a16:creationId xmlns:a16="http://schemas.microsoft.com/office/drawing/2014/main" id="{5A8176A2-6E9F-404E-A12A-1B6A2AA5C0C3}"/>
              </a:ext>
            </a:extLst>
          </p:cNvPr>
          <p:cNvSpPr>
            <a:spLocks noGrp="1"/>
          </p:cNvSpPr>
          <p:nvPr/>
        </p:nvSpPr>
        <p:spPr>
          <a:xfrm>
            <a:off x="7600950" y="4381500"/>
            <a:ext cx="3771900" cy="9525"/>
          </a:xfrm>
          <a:prstGeom prst="rect">
            <a:avLst/>
          </a:prstGeom>
          <a:solidFill>
            <a:srgbClr val="B9C3BB"/>
          </a:solidFill>
          <a:ln w="0">
            <a:solidFill>
              <a:srgbClr val="000000">
                <a:alpha val="0"/>
              </a:srgbClr>
            </a:solidFill>
            <a:prstDash val="solid"/>
          </a:ln>
        </p:spPr>
        <p:txBody>
          <a:bodyPr/>
          <a:lstStyle/>
          <a:p>
            <a:endParaRPr lang="en-US"/>
          </a:p>
        </p:txBody>
      </p:sp>
      <p:sp>
        <p:nvSpPr>
          <p:cNvPr id="34" name="Rectangle 33">
            <a:extLst>
              <a:ext uri="{FF2B5EF4-FFF2-40B4-BE49-F238E27FC236}">
                <a16:creationId xmlns:a16="http://schemas.microsoft.com/office/drawing/2014/main" id="{BC7E21FA-8290-4023-9B48-1D4AA0339078}"/>
              </a:ext>
            </a:extLst>
          </p:cNvPr>
          <p:cNvSpPr>
            <a:spLocks noGrp="1"/>
          </p:cNvSpPr>
          <p:nvPr/>
        </p:nvSpPr>
        <p:spPr>
          <a:xfrm>
            <a:off x="7600950" y="4572000"/>
            <a:ext cx="1714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D56E42"/>
                </a:solidFill>
                <a:latin typeface="Aptos"/>
                <a:ea typeface="Aptos"/>
                <a:cs typeface="Aptos"/>
              </a:defRPr>
            </a:pPr>
            <a:r>
              <a:rPr sz="675" b="1">
                <a:solidFill>
                  <a:srgbClr val="D56E42"/>
                </a:solidFill>
                <a:latin typeface="Aptos"/>
                <a:ea typeface="Aptos"/>
                <a:cs typeface="Aptos"/>
              </a:rPr>
              <a:t>Scenario comparativo</a:t>
            </a:r>
          </a:p>
        </p:txBody>
      </p:sp>
      <p:sp>
        <p:nvSpPr>
          <p:cNvPr id="35" name="Rectangle 34">
            <a:extLst>
              <a:ext uri="{FF2B5EF4-FFF2-40B4-BE49-F238E27FC236}">
                <a16:creationId xmlns:a16="http://schemas.microsoft.com/office/drawing/2014/main" id="{F2EC053C-9C52-40F8-A536-2D845BAEB593}"/>
              </a:ext>
            </a:extLst>
          </p:cNvPr>
          <p:cNvSpPr>
            <a:spLocks noGrp="1"/>
          </p:cNvSpPr>
          <p:nvPr/>
        </p:nvSpPr>
        <p:spPr>
          <a:xfrm>
            <a:off x="7600950" y="4857750"/>
            <a:ext cx="3429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65736B"/>
                </a:solidFill>
                <a:latin typeface="Aptos"/>
                <a:ea typeface="Aptos"/>
                <a:cs typeface="Aptos"/>
              </a:defRPr>
            </a:pPr>
            <a:r>
              <a:rPr sz="825" b="0">
                <a:solidFill>
                  <a:srgbClr val="65736B"/>
                </a:solidFill>
                <a:latin typeface="Aptos"/>
                <a:ea typeface="Aptos"/>
                <a:cs typeface="Aptos"/>
              </a:rPr>
              <a:t>Non è una misura fisica né una LCA completa.</a:t>
            </a:r>
          </a:p>
        </p:txBody>
      </p:sp>
      <p:sp>
        <p:nvSpPr>
          <p:cNvPr id="36" name="Rectangle 35">
            <a:extLst>
              <a:ext uri="{FF2B5EF4-FFF2-40B4-BE49-F238E27FC236}">
                <a16:creationId xmlns:a16="http://schemas.microsoft.com/office/drawing/2014/main" id="{4B69C748-2802-449A-A6EC-5859205C2CAD}"/>
              </a:ext>
            </a:extLst>
          </p:cNvPr>
          <p:cNvSpPr>
            <a:spLocks noGrp="1"/>
          </p:cNvSpPr>
          <p:nvPr/>
        </p:nvSpPr>
        <p:spPr>
          <a:xfrm>
            <a:off x="552450" y="6419850"/>
            <a:ext cx="11087100" cy="9525"/>
          </a:xfrm>
          <a:prstGeom prst="rect">
            <a:avLst/>
          </a:prstGeom>
          <a:solidFill>
            <a:srgbClr val="3F685A"/>
          </a:solidFill>
          <a:ln w="0">
            <a:solidFill>
              <a:srgbClr val="000000">
                <a:alpha val="0"/>
              </a:srgbClr>
            </a:solidFill>
            <a:prstDash val="solid"/>
          </a:ln>
        </p:spPr>
        <p:txBody>
          <a:bodyPr/>
          <a:lstStyle/>
          <a:p>
            <a:endParaRPr lang="en-US"/>
          </a:p>
        </p:txBody>
      </p:sp>
      <p:sp>
        <p:nvSpPr>
          <p:cNvPr id="37" name="Rectangle 36">
            <a:extLst>
              <a:ext uri="{FF2B5EF4-FFF2-40B4-BE49-F238E27FC236}">
                <a16:creationId xmlns:a16="http://schemas.microsoft.com/office/drawing/2014/main" id="{27DFE4DD-3FD9-4DC1-A226-D044F594CBEB}"/>
              </a:ext>
            </a:extLst>
          </p:cNvPr>
          <p:cNvSpPr>
            <a:spLocks noGrp="1"/>
          </p:cNvSpPr>
          <p:nvPr/>
        </p:nvSpPr>
        <p:spPr>
          <a:xfrm>
            <a:off x="552450" y="6496050"/>
            <a:ext cx="100393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91AA9F"/>
                </a:solidFill>
                <a:latin typeface="Aptos"/>
                <a:ea typeface="Aptos"/>
                <a:cs typeface="Aptos"/>
              </a:defRPr>
            </a:pPr>
            <a:r>
              <a:rPr sz="563" b="0">
                <a:solidFill>
                  <a:srgbClr val="91AA9F"/>
                </a:solidFill>
                <a:latin typeface="Aptos"/>
                <a:ea typeface="Aptos"/>
                <a:cs typeface="Aptos"/>
              </a:rPr>
              <a:t>Formula trasparente · beneficio subordinato all’ipotesi di acquisto evitato</a:t>
            </a:r>
          </a:p>
        </p:txBody>
      </p:sp>
      <p:sp>
        <p:nvSpPr>
          <p:cNvPr id="38" name="Rectangle 37">
            <a:extLst>
              <a:ext uri="{FF2B5EF4-FFF2-40B4-BE49-F238E27FC236}">
                <a16:creationId xmlns:a16="http://schemas.microsoft.com/office/drawing/2014/main" id="{59299CFD-6F37-481D-B235-96C302E469A7}"/>
              </a:ext>
            </a:extLst>
          </p:cNvPr>
          <p:cNvSpPr>
            <a:spLocks noGrp="1"/>
          </p:cNvSpPr>
          <p:nvPr/>
        </p:nvSpPr>
        <p:spPr>
          <a:xfrm>
            <a:off x="11049000" y="6477000"/>
            <a:ext cx="590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91AA9F"/>
                </a:solidFill>
                <a:latin typeface="Georgia"/>
                <a:ea typeface="Georgia"/>
                <a:cs typeface="Georgia"/>
              </a:defRPr>
            </a:pPr>
            <a:r>
              <a:rPr sz="750" b="1">
                <a:solidFill>
                  <a:srgbClr val="91AA9F"/>
                </a:solidFill>
                <a:latin typeface="Georgia"/>
                <a:ea typeface="Georgia"/>
                <a:cs typeface="Georgia"/>
              </a:rPr>
              <a:t>09</a:t>
            </a:r>
          </a:p>
        </p:txBody>
      </p:sp>
    </p:spTree>
    <p:extLst>
      <p:ext uri="{BB962C8B-B14F-4D97-AF65-F5344CB8AC3E}">
        <p14:creationId xmlns:p14="http://schemas.microsoft.com/office/powerpoint/2010/main" val="18517761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background">
            <a:extLst>
              <a:ext uri="{FF2B5EF4-FFF2-40B4-BE49-F238E27FC236}">
                <a16:creationId xmlns:a16="http://schemas.microsoft.com/office/drawing/2014/main" id="{3CD344CC-8DE4-4491-9008-3704728C480C}"/>
              </a:ext>
            </a:extLst>
          </p:cNvPr>
          <p:cNvSpPr>
            <a:spLocks noGrp="1"/>
          </p:cNvSpPr>
          <p:nvPr/>
        </p:nvSpPr>
        <p:spPr>
          <a:xfrm>
            <a:off x="0" y="0"/>
            <a:ext cx="12192000" cy="6858000"/>
          </a:xfrm>
          <a:prstGeom prst="rect">
            <a:avLst/>
          </a:prstGeom>
          <a:solidFill>
            <a:srgbClr val="F4F0E7"/>
          </a:solidFill>
          <a:ln w="0">
            <a:solidFill>
              <a:srgbClr val="000000">
                <a:alpha val="0"/>
              </a:srgbClr>
            </a:solidFill>
            <a:prstDash val="solid"/>
          </a:ln>
        </p:spPr>
        <p:txBody>
          <a:bodyPr/>
          <a:lstStyle/>
          <a:p>
            <a:endParaRPr lang="en-US"/>
          </a:p>
        </p:txBody>
      </p:sp>
      <p:sp>
        <p:nvSpPr>
          <p:cNvPr id="2" name="Oval 1">
            <a:extLst>
              <a:ext uri="{FF2B5EF4-FFF2-40B4-BE49-F238E27FC236}">
                <a16:creationId xmlns:a16="http://schemas.microsoft.com/office/drawing/2014/main" id="{C06511C2-16BD-4E21-ABC2-55F44AA477D9}"/>
              </a:ext>
            </a:extLst>
          </p:cNvPr>
          <p:cNvSpPr>
            <a:spLocks noGrp="1"/>
          </p:cNvSpPr>
          <p:nvPr/>
        </p:nvSpPr>
        <p:spPr>
          <a:xfrm>
            <a:off x="552450" y="409575"/>
            <a:ext cx="85725" cy="85725"/>
          </a:xfrm>
          <a:prstGeom prst="ellipse">
            <a:avLst/>
          </a:prstGeom>
          <a:solidFill>
            <a:srgbClr val="2F7D5B"/>
          </a:solidFill>
          <a:ln w="0">
            <a:solidFill>
              <a:srgbClr val="000000">
                <a:alpha val="0"/>
              </a:srgbClr>
            </a:solidFill>
            <a:prstDash val="solid"/>
          </a:ln>
        </p:spPr>
        <p:txBody>
          <a:bodyPr/>
          <a:lstStyle/>
          <a:p>
            <a:endParaRPr lang="en-US"/>
          </a:p>
        </p:txBody>
      </p:sp>
      <p:sp>
        <p:nvSpPr>
          <p:cNvPr id="3" name="Rectangle 2">
            <a:extLst>
              <a:ext uri="{FF2B5EF4-FFF2-40B4-BE49-F238E27FC236}">
                <a16:creationId xmlns:a16="http://schemas.microsoft.com/office/drawing/2014/main" id="{1391B8DE-CE73-4221-A2E0-E94AB9F4D2DA}"/>
              </a:ext>
            </a:extLst>
          </p:cNvPr>
          <p:cNvSpPr>
            <a:spLocks noGrp="1"/>
          </p:cNvSpPr>
          <p:nvPr/>
        </p:nvSpPr>
        <p:spPr>
          <a:xfrm>
            <a:off x="742950" y="361950"/>
            <a:ext cx="666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65736B"/>
                </a:solidFill>
                <a:latin typeface="Aptos"/>
                <a:ea typeface="Aptos"/>
                <a:cs typeface="Aptos"/>
              </a:defRPr>
            </a:pPr>
            <a:r>
              <a:rPr sz="638" b="1">
                <a:solidFill>
                  <a:srgbClr val="65736B"/>
                </a:solidFill>
                <a:latin typeface="Aptos"/>
                <a:ea typeface="Aptos"/>
                <a:cs typeface="Aptos"/>
              </a:rPr>
              <a:t>L A   S T O R I A   D I V E N T A   U N A   D E M O   V E R I F I C A B I L E</a:t>
            </a:r>
          </a:p>
        </p:txBody>
      </p:sp>
      <p:sp>
        <p:nvSpPr>
          <p:cNvPr id="4" name="claim-title">
            <a:extLst>
              <a:ext uri="{FF2B5EF4-FFF2-40B4-BE49-F238E27FC236}">
                <a16:creationId xmlns:a16="http://schemas.microsoft.com/office/drawing/2014/main" id="{D590395F-C7BB-4586-BB91-92A5A3DB4024}"/>
              </a:ext>
            </a:extLst>
          </p:cNvPr>
          <p:cNvSpPr>
            <a:spLocks noGrp="1"/>
          </p:cNvSpPr>
          <p:nvPr/>
        </p:nvSpPr>
        <p:spPr>
          <a:xfrm>
            <a:off x="552450" y="742950"/>
            <a:ext cx="10382250" cy="914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925" b="1">
                <a:solidFill>
                  <a:srgbClr val="17211D"/>
                </a:solidFill>
                <a:latin typeface="Georgia"/>
                <a:ea typeface="Georgia"/>
                <a:cs typeface="Georgia"/>
              </a:defRPr>
            </a:pPr>
            <a:r>
              <a:rPr sz="2925" b="1">
                <a:solidFill>
                  <a:srgbClr val="17211D"/>
                </a:solidFill>
                <a:latin typeface="Georgia"/>
                <a:ea typeface="Georgia"/>
                <a:cs typeface="Georgia"/>
              </a:rPr>
              <a:t>Marta vede il guardaroba come un sistema, non come una lista.</a:t>
            </a:r>
          </a:p>
        </p:txBody>
      </p:sp>
      <p:sp>
        <p:nvSpPr>
          <p:cNvPr id="5" name="Rectangle: Rounded Corners 4">
            <a:extLst>
              <a:ext uri="{FF2B5EF4-FFF2-40B4-BE49-F238E27FC236}">
                <a16:creationId xmlns:a16="http://schemas.microsoft.com/office/drawing/2014/main" id="{F6184C6E-5E97-4EA7-A7E3-0CB44FD236E7}"/>
              </a:ext>
            </a:extLst>
          </p:cNvPr>
          <p:cNvSpPr>
            <a:spLocks noGrp="1"/>
          </p:cNvSpPr>
          <p:nvPr/>
        </p:nvSpPr>
        <p:spPr>
          <a:xfrm>
            <a:off x="552450" y="2114550"/>
            <a:ext cx="2381250" cy="1123950"/>
          </a:xfrm>
          <a:prstGeom prst="roundRect">
            <a:avLst>
              <a:gd name="adj" fmla="val 6780"/>
            </a:avLst>
          </a:prstGeom>
          <a:solidFill>
            <a:srgbClr val="FFFFFF"/>
          </a:solidFill>
          <a:ln w="9525">
            <a:solidFill>
              <a:srgbClr val="B9C3BB"/>
            </a:solidFill>
            <a:prstDash val="solid"/>
          </a:ln>
        </p:spPr>
        <p:txBody>
          <a:bodyPr/>
          <a:lstStyle/>
          <a:p>
            <a:endParaRPr lang="en-US"/>
          </a:p>
        </p:txBody>
      </p:sp>
      <p:sp>
        <p:nvSpPr>
          <p:cNvPr id="6" name="Rectangle 5">
            <a:extLst>
              <a:ext uri="{FF2B5EF4-FFF2-40B4-BE49-F238E27FC236}">
                <a16:creationId xmlns:a16="http://schemas.microsoft.com/office/drawing/2014/main" id="{B765531B-52B1-404A-A272-DADFBBEAF7AD}"/>
              </a:ext>
            </a:extLst>
          </p:cNvPr>
          <p:cNvSpPr>
            <a:spLocks noGrp="1"/>
          </p:cNvSpPr>
          <p:nvPr/>
        </p:nvSpPr>
        <p:spPr>
          <a:xfrm>
            <a:off x="552450" y="2114550"/>
            <a:ext cx="2381250" cy="47625"/>
          </a:xfrm>
          <a:prstGeom prst="rect">
            <a:avLst/>
          </a:prstGeom>
          <a:solidFill>
            <a:srgbClr val="123C31"/>
          </a:solidFill>
          <a:ln w="0">
            <a:solidFill>
              <a:srgbClr val="000000">
                <a:alpha val="0"/>
              </a:srgbClr>
            </a:solidFill>
            <a:prstDash val="solid"/>
          </a:ln>
        </p:spPr>
        <p:txBody>
          <a:bodyPr/>
          <a:lstStyle/>
          <a:p>
            <a:endParaRPr lang="en-US"/>
          </a:p>
        </p:txBody>
      </p:sp>
      <p:sp>
        <p:nvSpPr>
          <p:cNvPr id="7" name="Rectangle 6">
            <a:extLst>
              <a:ext uri="{FF2B5EF4-FFF2-40B4-BE49-F238E27FC236}">
                <a16:creationId xmlns:a16="http://schemas.microsoft.com/office/drawing/2014/main" id="{2984B399-B594-4DF8-8ECF-2BC56560DA0E}"/>
              </a:ext>
            </a:extLst>
          </p:cNvPr>
          <p:cNvSpPr>
            <a:spLocks noGrp="1"/>
          </p:cNvSpPr>
          <p:nvPr/>
        </p:nvSpPr>
        <p:spPr>
          <a:xfrm>
            <a:off x="723900" y="2286000"/>
            <a:ext cx="203835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700" b="1">
                <a:solidFill>
                  <a:srgbClr val="123C31"/>
                </a:solidFill>
                <a:latin typeface="Georgia"/>
                <a:ea typeface="Georgia"/>
                <a:cs typeface="Georgia"/>
              </a:defRPr>
            </a:pPr>
            <a:r>
              <a:rPr sz="2700" b="1">
                <a:solidFill>
                  <a:srgbClr val="123C31"/>
                </a:solidFill>
                <a:latin typeface="Georgia"/>
                <a:ea typeface="Georgia"/>
                <a:cs typeface="Georgia"/>
              </a:rPr>
              <a:t>12</a:t>
            </a:r>
          </a:p>
        </p:txBody>
      </p:sp>
      <p:sp>
        <p:nvSpPr>
          <p:cNvPr id="8" name="Rectangle 7">
            <a:extLst>
              <a:ext uri="{FF2B5EF4-FFF2-40B4-BE49-F238E27FC236}">
                <a16:creationId xmlns:a16="http://schemas.microsoft.com/office/drawing/2014/main" id="{1BD9E2AA-200D-4E57-88E7-0AE8FD7738EF}"/>
              </a:ext>
            </a:extLst>
          </p:cNvPr>
          <p:cNvSpPr>
            <a:spLocks noGrp="1"/>
          </p:cNvSpPr>
          <p:nvPr/>
        </p:nvSpPr>
        <p:spPr>
          <a:xfrm>
            <a:off x="723900" y="2857500"/>
            <a:ext cx="20383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65736B"/>
                </a:solidFill>
                <a:latin typeface="Aptos"/>
                <a:ea typeface="Aptos"/>
                <a:cs typeface="Aptos"/>
              </a:defRPr>
            </a:pPr>
            <a:r>
              <a:rPr sz="788" b="1">
                <a:solidFill>
                  <a:srgbClr val="65736B"/>
                </a:solidFill>
                <a:latin typeface="Aptos"/>
                <a:ea typeface="Aptos"/>
                <a:cs typeface="Aptos"/>
              </a:rPr>
              <a:t>capi attivi nel dataset demo</a:t>
            </a:r>
          </a:p>
        </p:txBody>
      </p:sp>
      <p:sp>
        <p:nvSpPr>
          <p:cNvPr id="9" name="Rectangle: Rounded Corners 8">
            <a:extLst>
              <a:ext uri="{FF2B5EF4-FFF2-40B4-BE49-F238E27FC236}">
                <a16:creationId xmlns:a16="http://schemas.microsoft.com/office/drawing/2014/main" id="{72A57026-7346-4591-A93E-80D01E5AD04A}"/>
              </a:ext>
            </a:extLst>
          </p:cNvPr>
          <p:cNvSpPr>
            <a:spLocks noGrp="1"/>
          </p:cNvSpPr>
          <p:nvPr/>
        </p:nvSpPr>
        <p:spPr>
          <a:xfrm>
            <a:off x="3124200" y="2114550"/>
            <a:ext cx="2381250" cy="1123950"/>
          </a:xfrm>
          <a:prstGeom prst="roundRect">
            <a:avLst>
              <a:gd name="adj" fmla="val 6780"/>
            </a:avLst>
          </a:prstGeom>
          <a:solidFill>
            <a:srgbClr val="FFFFFF"/>
          </a:solidFill>
          <a:ln w="9525">
            <a:solidFill>
              <a:srgbClr val="B9C3BB"/>
            </a:solidFill>
            <a:prstDash val="solid"/>
          </a:ln>
        </p:spPr>
        <p:txBody>
          <a:bodyPr/>
          <a:lstStyle/>
          <a:p>
            <a:endParaRPr lang="en-US"/>
          </a:p>
        </p:txBody>
      </p:sp>
      <p:sp>
        <p:nvSpPr>
          <p:cNvPr id="10" name="Rectangle 9">
            <a:extLst>
              <a:ext uri="{FF2B5EF4-FFF2-40B4-BE49-F238E27FC236}">
                <a16:creationId xmlns:a16="http://schemas.microsoft.com/office/drawing/2014/main" id="{C8E9A578-011A-4B7C-9FC7-4530DD9D9A86}"/>
              </a:ext>
            </a:extLst>
          </p:cNvPr>
          <p:cNvSpPr>
            <a:spLocks noGrp="1"/>
          </p:cNvSpPr>
          <p:nvPr/>
        </p:nvSpPr>
        <p:spPr>
          <a:xfrm>
            <a:off x="3124200" y="2114550"/>
            <a:ext cx="2381250" cy="47625"/>
          </a:xfrm>
          <a:prstGeom prst="rect">
            <a:avLst/>
          </a:prstGeom>
          <a:solidFill>
            <a:srgbClr val="D56E42"/>
          </a:solidFill>
          <a:ln w="0">
            <a:solidFill>
              <a:srgbClr val="000000">
                <a:alpha val="0"/>
              </a:srgbClr>
            </a:solidFill>
            <a:prstDash val="solid"/>
          </a:ln>
        </p:spPr>
        <p:txBody>
          <a:bodyPr/>
          <a:lstStyle/>
          <a:p>
            <a:endParaRPr lang="en-US"/>
          </a:p>
        </p:txBody>
      </p:sp>
      <p:sp>
        <p:nvSpPr>
          <p:cNvPr id="11" name="Rectangle 10">
            <a:extLst>
              <a:ext uri="{FF2B5EF4-FFF2-40B4-BE49-F238E27FC236}">
                <a16:creationId xmlns:a16="http://schemas.microsoft.com/office/drawing/2014/main" id="{E522CD64-F462-413B-9E77-A463AE1757FE}"/>
              </a:ext>
            </a:extLst>
          </p:cNvPr>
          <p:cNvSpPr>
            <a:spLocks noGrp="1"/>
          </p:cNvSpPr>
          <p:nvPr/>
        </p:nvSpPr>
        <p:spPr>
          <a:xfrm>
            <a:off x="3295650" y="2286000"/>
            <a:ext cx="203835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700" b="1">
                <a:solidFill>
                  <a:srgbClr val="D56E42"/>
                </a:solidFill>
                <a:latin typeface="Georgia"/>
                <a:ea typeface="Georgia"/>
                <a:cs typeface="Georgia"/>
              </a:defRPr>
            </a:pPr>
            <a:r>
              <a:rPr sz="2700" b="1">
                <a:solidFill>
                  <a:srgbClr val="D56E42"/>
                </a:solidFill>
                <a:latin typeface="Georgia"/>
                <a:ea typeface="Georgia"/>
                <a:cs typeface="Georgia"/>
              </a:rPr>
              <a:t>2</a:t>
            </a:r>
          </a:p>
        </p:txBody>
      </p:sp>
      <p:sp>
        <p:nvSpPr>
          <p:cNvPr id="12" name="Rectangle 11">
            <a:extLst>
              <a:ext uri="{FF2B5EF4-FFF2-40B4-BE49-F238E27FC236}">
                <a16:creationId xmlns:a16="http://schemas.microsoft.com/office/drawing/2014/main" id="{36ECB775-1434-4A8E-BEF0-0D5FB20E6A21}"/>
              </a:ext>
            </a:extLst>
          </p:cNvPr>
          <p:cNvSpPr>
            <a:spLocks noGrp="1"/>
          </p:cNvSpPr>
          <p:nvPr/>
        </p:nvSpPr>
        <p:spPr>
          <a:xfrm>
            <a:off x="3295650" y="2857500"/>
            <a:ext cx="20383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65736B"/>
                </a:solidFill>
                <a:latin typeface="Aptos"/>
                <a:ea typeface="Aptos"/>
                <a:cs typeface="Aptos"/>
              </a:defRPr>
            </a:pPr>
            <a:r>
              <a:rPr sz="788" b="1">
                <a:solidFill>
                  <a:srgbClr val="65736B"/>
                </a:solidFill>
                <a:latin typeface="Aptos"/>
                <a:ea typeface="Aptos"/>
                <a:cs typeface="Aptos"/>
              </a:rPr>
              <a:t>ghost garments</a:t>
            </a:r>
          </a:p>
        </p:txBody>
      </p:sp>
      <p:sp>
        <p:nvSpPr>
          <p:cNvPr id="13" name="Rectangle: Rounded Corners 12">
            <a:extLst>
              <a:ext uri="{FF2B5EF4-FFF2-40B4-BE49-F238E27FC236}">
                <a16:creationId xmlns:a16="http://schemas.microsoft.com/office/drawing/2014/main" id="{81E44136-FCC4-48BB-B1B9-1375E6516135}"/>
              </a:ext>
            </a:extLst>
          </p:cNvPr>
          <p:cNvSpPr>
            <a:spLocks noGrp="1"/>
          </p:cNvSpPr>
          <p:nvPr/>
        </p:nvSpPr>
        <p:spPr>
          <a:xfrm>
            <a:off x="5695950" y="2114550"/>
            <a:ext cx="2381250" cy="1123950"/>
          </a:xfrm>
          <a:prstGeom prst="roundRect">
            <a:avLst>
              <a:gd name="adj" fmla="val 6780"/>
            </a:avLst>
          </a:prstGeom>
          <a:solidFill>
            <a:srgbClr val="FFFFFF"/>
          </a:solidFill>
          <a:ln w="9525">
            <a:solidFill>
              <a:srgbClr val="B9C3BB"/>
            </a:solidFill>
            <a:prstDash val="solid"/>
          </a:ln>
        </p:spPr>
        <p:txBody>
          <a:bodyPr/>
          <a:lstStyle/>
          <a:p>
            <a:endParaRPr lang="en-US"/>
          </a:p>
        </p:txBody>
      </p:sp>
      <p:sp>
        <p:nvSpPr>
          <p:cNvPr id="14" name="Rectangle 13">
            <a:extLst>
              <a:ext uri="{FF2B5EF4-FFF2-40B4-BE49-F238E27FC236}">
                <a16:creationId xmlns:a16="http://schemas.microsoft.com/office/drawing/2014/main" id="{D530BB08-0199-49FD-AC6E-0FE3F7D9C4F6}"/>
              </a:ext>
            </a:extLst>
          </p:cNvPr>
          <p:cNvSpPr>
            <a:spLocks noGrp="1"/>
          </p:cNvSpPr>
          <p:nvPr/>
        </p:nvSpPr>
        <p:spPr>
          <a:xfrm>
            <a:off x="5695950" y="2114550"/>
            <a:ext cx="2381250" cy="47625"/>
          </a:xfrm>
          <a:prstGeom prst="rect">
            <a:avLst/>
          </a:prstGeom>
          <a:solidFill>
            <a:srgbClr val="466D86"/>
          </a:solidFill>
          <a:ln w="0">
            <a:solidFill>
              <a:srgbClr val="000000">
                <a:alpha val="0"/>
              </a:srgbClr>
            </a:solidFill>
            <a:prstDash val="solid"/>
          </a:ln>
        </p:spPr>
        <p:txBody>
          <a:bodyPr/>
          <a:lstStyle/>
          <a:p>
            <a:endParaRPr lang="en-US"/>
          </a:p>
        </p:txBody>
      </p:sp>
      <p:sp>
        <p:nvSpPr>
          <p:cNvPr id="15" name="Rectangle 14">
            <a:extLst>
              <a:ext uri="{FF2B5EF4-FFF2-40B4-BE49-F238E27FC236}">
                <a16:creationId xmlns:a16="http://schemas.microsoft.com/office/drawing/2014/main" id="{906E3E8F-2AE0-404E-A3CD-5C3EF848B6E2}"/>
              </a:ext>
            </a:extLst>
          </p:cNvPr>
          <p:cNvSpPr>
            <a:spLocks noGrp="1"/>
          </p:cNvSpPr>
          <p:nvPr/>
        </p:nvSpPr>
        <p:spPr>
          <a:xfrm>
            <a:off x="5867400" y="2286000"/>
            <a:ext cx="203835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700" b="1">
                <a:solidFill>
                  <a:srgbClr val="466D86"/>
                </a:solidFill>
                <a:latin typeface="Georgia"/>
                <a:ea typeface="Georgia"/>
                <a:cs typeface="Georgia"/>
              </a:defRPr>
            </a:pPr>
            <a:r>
              <a:rPr sz="2700" b="1">
                <a:solidFill>
                  <a:srgbClr val="466D86"/>
                </a:solidFill>
                <a:latin typeface="Georgia"/>
                <a:ea typeface="Georgia"/>
                <a:cs typeface="Georgia"/>
              </a:rPr>
              <a:t>2</a:t>
            </a:r>
          </a:p>
        </p:txBody>
      </p:sp>
      <p:sp>
        <p:nvSpPr>
          <p:cNvPr id="16" name="Rectangle 15">
            <a:extLst>
              <a:ext uri="{FF2B5EF4-FFF2-40B4-BE49-F238E27FC236}">
                <a16:creationId xmlns:a16="http://schemas.microsoft.com/office/drawing/2014/main" id="{7715A16E-611D-410A-AF77-AA1EB2ECD7A0}"/>
              </a:ext>
            </a:extLst>
          </p:cNvPr>
          <p:cNvSpPr>
            <a:spLocks noGrp="1"/>
          </p:cNvSpPr>
          <p:nvPr/>
        </p:nvSpPr>
        <p:spPr>
          <a:xfrm>
            <a:off x="5867400" y="2857500"/>
            <a:ext cx="20383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65736B"/>
                </a:solidFill>
                <a:latin typeface="Aptos"/>
                <a:ea typeface="Aptos"/>
                <a:cs typeface="Aptos"/>
              </a:defRPr>
            </a:pPr>
            <a:r>
              <a:rPr sz="788" b="1">
                <a:solidFill>
                  <a:srgbClr val="65736B"/>
                </a:solidFill>
                <a:latin typeface="Aptos"/>
                <a:ea typeface="Aptos"/>
                <a:cs typeface="Aptos"/>
              </a:rPr>
              <a:t>azioni circolari</a:t>
            </a:r>
          </a:p>
        </p:txBody>
      </p:sp>
      <p:sp>
        <p:nvSpPr>
          <p:cNvPr id="17" name="Rectangle: Rounded Corners 16">
            <a:extLst>
              <a:ext uri="{FF2B5EF4-FFF2-40B4-BE49-F238E27FC236}">
                <a16:creationId xmlns:a16="http://schemas.microsoft.com/office/drawing/2014/main" id="{FED809D1-C179-4AD6-ACD2-5C7A97919947}"/>
              </a:ext>
            </a:extLst>
          </p:cNvPr>
          <p:cNvSpPr>
            <a:spLocks noGrp="1"/>
          </p:cNvSpPr>
          <p:nvPr/>
        </p:nvSpPr>
        <p:spPr>
          <a:xfrm>
            <a:off x="8267700" y="2114550"/>
            <a:ext cx="2952750" cy="1123950"/>
          </a:xfrm>
          <a:prstGeom prst="roundRect">
            <a:avLst>
              <a:gd name="adj" fmla="val 6780"/>
            </a:avLst>
          </a:prstGeom>
          <a:solidFill>
            <a:srgbClr val="FFFFFF"/>
          </a:solidFill>
          <a:ln w="9525">
            <a:solidFill>
              <a:srgbClr val="B9C3BB"/>
            </a:solidFill>
            <a:prstDash val="solid"/>
          </a:ln>
        </p:spPr>
        <p:txBody>
          <a:bodyPr/>
          <a:lstStyle/>
          <a:p>
            <a:endParaRPr lang="en-US"/>
          </a:p>
        </p:txBody>
      </p:sp>
      <p:sp>
        <p:nvSpPr>
          <p:cNvPr id="18" name="Rectangle 17">
            <a:extLst>
              <a:ext uri="{FF2B5EF4-FFF2-40B4-BE49-F238E27FC236}">
                <a16:creationId xmlns:a16="http://schemas.microsoft.com/office/drawing/2014/main" id="{8D84614E-5F07-44A0-BDC4-69C807CA8CE5}"/>
              </a:ext>
            </a:extLst>
          </p:cNvPr>
          <p:cNvSpPr>
            <a:spLocks noGrp="1"/>
          </p:cNvSpPr>
          <p:nvPr/>
        </p:nvSpPr>
        <p:spPr>
          <a:xfrm>
            <a:off x="8267700" y="2114550"/>
            <a:ext cx="2952750" cy="47625"/>
          </a:xfrm>
          <a:prstGeom prst="rect">
            <a:avLst/>
          </a:prstGeom>
          <a:solidFill>
            <a:srgbClr val="2F7D5B"/>
          </a:solidFill>
          <a:ln w="0">
            <a:solidFill>
              <a:srgbClr val="000000">
                <a:alpha val="0"/>
              </a:srgbClr>
            </a:solidFill>
            <a:prstDash val="solid"/>
          </a:ln>
        </p:spPr>
        <p:txBody>
          <a:bodyPr/>
          <a:lstStyle/>
          <a:p>
            <a:endParaRPr lang="en-US"/>
          </a:p>
        </p:txBody>
      </p:sp>
      <p:sp>
        <p:nvSpPr>
          <p:cNvPr id="19" name="Rectangle 18">
            <a:extLst>
              <a:ext uri="{FF2B5EF4-FFF2-40B4-BE49-F238E27FC236}">
                <a16:creationId xmlns:a16="http://schemas.microsoft.com/office/drawing/2014/main" id="{3ADC3774-7236-4D0C-ABDB-40945CFBBC1F}"/>
              </a:ext>
            </a:extLst>
          </p:cNvPr>
          <p:cNvSpPr>
            <a:spLocks noGrp="1"/>
          </p:cNvSpPr>
          <p:nvPr/>
        </p:nvSpPr>
        <p:spPr>
          <a:xfrm>
            <a:off x="8439150" y="2286000"/>
            <a:ext cx="260985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700" b="1">
                <a:solidFill>
                  <a:srgbClr val="2F7D5B"/>
                </a:solidFill>
                <a:latin typeface="Georgia"/>
                <a:ea typeface="Georgia"/>
                <a:cs typeface="Georgia"/>
              </a:defRPr>
            </a:pPr>
            <a:r>
              <a:rPr sz="2700" b="1">
                <a:solidFill>
                  <a:srgbClr val="2F7D5B"/>
                </a:solidFill>
                <a:latin typeface="Georgia"/>
                <a:ea typeface="Georgia"/>
                <a:cs typeface="Georgia"/>
              </a:rPr>
              <a:t>57,5 kg</a:t>
            </a:r>
          </a:p>
        </p:txBody>
      </p:sp>
      <p:sp>
        <p:nvSpPr>
          <p:cNvPr id="20" name="Rectangle 19">
            <a:extLst>
              <a:ext uri="{FF2B5EF4-FFF2-40B4-BE49-F238E27FC236}">
                <a16:creationId xmlns:a16="http://schemas.microsoft.com/office/drawing/2014/main" id="{EAC03FAF-37B6-4907-96AC-584F1338B02D}"/>
              </a:ext>
            </a:extLst>
          </p:cNvPr>
          <p:cNvSpPr>
            <a:spLocks noGrp="1"/>
          </p:cNvSpPr>
          <p:nvPr/>
        </p:nvSpPr>
        <p:spPr>
          <a:xfrm>
            <a:off x="8439150" y="2857500"/>
            <a:ext cx="26098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65736B"/>
                </a:solidFill>
                <a:latin typeface="Aptos"/>
                <a:ea typeface="Aptos"/>
                <a:cs typeface="Aptos"/>
              </a:defRPr>
            </a:pPr>
            <a:r>
              <a:rPr sz="788" b="1">
                <a:solidFill>
                  <a:srgbClr val="65736B"/>
                </a:solidFill>
                <a:latin typeface="Aptos"/>
                <a:ea typeface="Aptos"/>
                <a:cs typeface="Aptos"/>
              </a:rPr>
              <a:t>CO₂eq · stima di scenario</a:t>
            </a:r>
          </a:p>
        </p:txBody>
      </p:sp>
      <p:sp>
        <p:nvSpPr>
          <p:cNvPr id="21" name="Rectangle 20">
            <a:extLst>
              <a:ext uri="{FF2B5EF4-FFF2-40B4-BE49-F238E27FC236}">
                <a16:creationId xmlns:a16="http://schemas.microsoft.com/office/drawing/2014/main" id="{9FD50498-040A-4520-A6C2-D81A2D195110}"/>
              </a:ext>
            </a:extLst>
          </p:cNvPr>
          <p:cNvSpPr>
            <a:spLocks noGrp="1"/>
          </p:cNvSpPr>
          <p:nvPr/>
        </p:nvSpPr>
        <p:spPr>
          <a:xfrm>
            <a:off x="1200150" y="4552950"/>
            <a:ext cx="9525000" cy="28575"/>
          </a:xfrm>
          <a:prstGeom prst="rect">
            <a:avLst/>
          </a:prstGeom>
          <a:solidFill>
            <a:srgbClr val="B9C3BB"/>
          </a:solidFill>
          <a:ln w="0">
            <a:solidFill>
              <a:srgbClr val="000000">
                <a:alpha val="0"/>
              </a:srgbClr>
            </a:solidFill>
            <a:prstDash val="solid"/>
          </a:ln>
        </p:spPr>
        <p:txBody>
          <a:bodyPr/>
          <a:lstStyle/>
          <a:p>
            <a:endParaRPr lang="en-US"/>
          </a:p>
        </p:txBody>
      </p:sp>
      <p:sp>
        <p:nvSpPr>
          <p:cNvPr id="22" name="Oval 21">
            <a:extLst>
              <a:ext uri="{FF2B5EF4-FFF2-40B4-BE49-F238E27FC236}">
                <a16:creationId xmlns:a16="http://schemas.microsoft.com/office/drawing/2014/main" id="{21A160BE-83C6-461A-A832-B67EEAAAFA84}"/>
              </a:ext>
            </a:extLst>
          </p:cNvPr>
          <p:cNvSpPr>
            <a:spLocks noGrp="1"/>
          </p:cNvSpPr>
          <p:nvPr/>
        </p:nvSpPr>
        <p:spPr>
          <a:xfrm>
            <a:off x="1009650" y="4324350"/>
            <a:ext cx="457200" cy="457200"/>
          </a:xfrm>
          <a:prstGeom prst="ellipse">
            <a:avLst/>
          </a:prstGeom>
          <a:solidFill>
            <a:srgbClr val="466D86"/>
          </a:solidFill>
          <a:ln w="0">
            <a:solidFill>
              <a:srgbClr val="000000">
                <a:alpha val="0"/>
              </a:srgbClr>
            </a:solidFill>
            <a:prstDash val="solid"/>
          </a:ln>
        </p:spPr>
        <p:txBody>
          <a:bodyPr/>
          <a:lstStyle/>
          <a:p>
            <a:endParaRPr lang="en-US"/>
          </a:p>
        </p:txBody>
      </p:sp>
      <p:sp>
        <p:nvSpPr>
          <p:cNvPr id="23" name="Rectangle 22">
            <a:extLst>
              <a:ext uri="{FF2B5EF4-FFF2-40B4-BE49-F238E27FC236}">
                <a16:creationId xmlns:a16="http://schemas.microsoft.com/office/drawing/2014/main" id="{11AB3ED0-90F5-4611-B94D-C62E076EB55D}"/>
              </a:ext>
            </a:extLst>
          </p:cNvPr>
          <p:cNvSpPr>
            <a:spLocks noGrp="1"/>
          </p:cNvSpPr>
          <p:nvPr/>
        </p:nvSpPr>
        <p:spPr>
          <a:xfrm>
            <a:off x="1009650" y="4381500"/>
            <a:ext cx="4572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125" b="1">
                <a:solidFill>
                  <a:srgbClr val="FFFFFF"/>
                </a:solidFill>
                <a:latin typeface="Aptos"/>
                <a:ea typeface="Aptos"/>
                <a:cs typeface="Aptos"/>
              </a:defRPr>
            </a:pPr>
            <a:r>
              <a:rPr sz="1125" b="1">
                <a:solidFill>
                  <a:srgbClr val="FFFFFF"/>
                </a:solidFill>
                <a:latin typeface="Aptos"/>
                <a:ea typeface="Aptos"/>
                <a:cs typeface="Aptos"/>
              </a:rPr>
              <a:t>1</a:t>
            </a:r>
          </a:p>
        </p:txBody>
      </p:sp>
      <p:sp>
        <p:nvSpPr>
          <p:cNvPr id="24" name="Rectangle 23">
            <a:extLst>
              <a:ext uri="{FF2B5EF4-FFF2-40B4-BE49-F238E27FC236}">
                <a16:creationId xmlns:a16="http://schemas.microsoft.com/office/drawing/2014/main" id="{D0B48965-CD00-4EB7-9A87-986C5490B1ED}"/>
              </a:ext>
            </a:extLst>
          </p:cNvPr>
          <p:cNvSpPr>
            <a:spLocks noGrp="1"/>
          </p:cNvSpPr>
          <p:nvPr/>
        </p:nvSpPr>
        <p:spPr>
          <a:xfrm>
            <a:off x="742950" y="4972050"/>
            <a:ext cx="9906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00" b="1">
                <a:solidFill>
                  <a:srgbClr val="17211D"/>
                </a:solidFill>
                <a:latin typeface="Georgia"/>
                <a:ea typeface="Georgia"/>
                <a:cs typeface="Georgia"/>
              </a:defRPr>
            </a:pPr>
            <a:r>
              <a:rPr sz="900" b="1">
                <a:solidFill>
                  <a:srgbClr val="17211D"/>
                </a:solidFill>
                <a:latin typeface="Georgia"/>
                <a:ea typeface="Georgia"/>
                <a:cs typeface="Georgia"/>
              </a:rPr>
              <a:t>Foto</a:t>
            </a:r>
          </a:p>
        </p:txBody>
      </p:sp>
      <p:sp>
        <p:nvSpPr>
          <p:cNvPr id="25" name="Oval 24">
            <a:extLst>
              <a:ext uri="{FF2B5EF4-FFF2-40B4-BE49-F238E27FC236}">
                <a16:creationId xmlns:a16="http://schemas.microsoft.com/office/drawing/2014/main" id="{E6B76D57-2B83-4B0B-B9D9-BB84142CD74F}"/>
              </a:ext>
            </a:extLst>
          </p:cNvPr>
          <p:cNvSpPr>
            <a:spLocks noGrp="1"/>
          </p:cNvSpPr>
          <p:nvPr/>
        </p:nvSpPr>
        <p:spPr>
          <a:xfrm>
            <a:off x="3371850" y="4324350"/>
            <a:ext cx="457200" cy="457200"/>
          </a:xfrm>
          <a:prstGeom prst="ellipse">
            <a:avLst/>
          </a:prstGeom>
          <a:solidFill>
            <a:srgbClr val="2F7D5B"/>
          </a:solidFill>
          <a:ln w="0">
            <a:solidFill>
              <a:srgbClr val="000000">
                <a:alpha val="0"/>
              </a:srgbClr>
            </a:solidFill>
            <a:prstDash val="solid"/>
          </a:ln>
        </p:spPr>
        <p:txBody>
          <a:bodyPr/>
          <a:lstStyle/>
          <a:p>
            <a:endParaRPr lang="en-US"/>
          </a:p>
        </p:txBody>
      </p:sp>
      <p:sp>
        <p:nvSpPr>
          <p:cNvPr id="26" name="Rectangle 25">
            <a:extLst>
              <a:ext uri="{FF2B5EF4-FFF2-40B4-BE49-F238E27FC236}">
                <a16:creationId xmlns:a16="http://schemas.microsoft.com/office/drawing/2014/main" id="{D8FB8E39-CE82-43F5-B805-A41F0C88E967}"/>
              </a:ext>
            </a:extLst>
          </p:cNvPr>
          <p:cNvSpPr>
            <a:spLocks noGrp="1"/>
          </p:cNvSpPr>
          <p:nvPr/>
        </p:nvSpPr>
        <p:spPr>
          <a:xfrm>
            <a:off x="3371850" y="4381500"/>
            <a:ext cx="4572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125" b="1">
                <a:solidFill>
                  <a:srgbClr val="FFFFFF"/>
                </a:solidFill>
                <a:latin typeface="Aptos"/>
                <a:ea typeface="Aptos"/>
                <a:cs typeface="Aptos"/>
              </a:defRPr>
            </a:pPr>
            <a:r>
              <a:rPr sz="1125" b="1">
                <a:solidFill>
                  <a:srgbClr val="FFFFFF"/>
                </a:solidFill>
                <a:latin typeface="Aptos"/>
                <a:ea typeface="Aptos"/>
                <a:cs typeface="Aptos"/>
              </a:rPr>
              <a:t>2</a:t>
            </a:r>
          </a:p>
        </p:txBody>
      </p:sp>
      <p:sp>
        <p:nvSpPr>
          <p:cNvPr id="27" name="Rectangle 26">
            <a:extLst>
              <a:ext uri="{FF2B5EF4-FFF2-40B4-BE49-F238E27FC236}">
                <a16:creationId xmlns:a16="http://schemas.microsoft.com/office/drawing/2014/main" id="{2F31E1A5-9A51-4996-BAEB-676B508D8F57}"/>
              </a:ext>
            </a:extLst>
          </p:cNvPr>
          <p:cNvSpPr>
            <a:spLocks noGrp="1"/>
          </p:cNvSpPr>
          <p:nvPr/>
        </p:nvSpPr>
        <p:spPr>
          <a:xfrm>
            <a:off x="3105150" y="4972050"/>
            <a:ext cx="9906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00" b="1">
                <a:solidFill>
                  <a:srgbClr val="17211D"/>
                </a:solidFill>
                <a:latin typeface="Georgia"/>
                <a:ea typeface="Georgia"/>
                <a:cs typeface="Georgia"/>
              </a:defRPr>
            </a:pPr>
            <a:r>
              <a:rPr sz="900" b="1">
                <a:solidFill>
                  <a:srgbClr val="17211D"/>
                </a:solidFill>
                <a:latin typeface="Georgia"/>
                <a:ea typeface="Georgia"/>
                <a:cs typeface="Georgia"/>
              </a:rPr>
              <a:t>Usa</a:t>
            </a:r>
          </a:p>
        </p:txBody>
      </p:sp>
      <p:sp>
        <p:nvSpPr>
          <p:cNvPr id="28" name="Oval 27">
            <a:extLst>
              <a:ext uri="{FF2B5EF4-FFF2-40B4-BE49-F238E27FC236}">
                <a16:creationId xmlns:a16="http://schemas.microsoft.com/office/drawing/2014/main" id="{0F746A1E-A202-4BD8-8735-4FFF25E147A7}"/>
              </a:ext>
            </a:extLst>
          </p:cNvPr>
          <p:cNvSpPr>
            <a:spLocks noGrp="1"/>
          </p:cNvSpPr>
          <p:nvPr/>
        </p:nvSpPr>
        <p:spPr>
          <a:xfrm>
            <a:off x="5734050" y="4324350"/>
            <a:ext cx="457200" cy="457200"/>
          </a:xfrm>
          <a:prstGeom prst="ellipse">
            <a:avLst/>
          </a:prstGeom>
          <a:solidFill>
            <a:srgbClr val="D56E42"/>
          </a:solidFill>
          <a:ln w="0">
            <a:solidFill>
              <a:srgbClr val="000000">
                <a:alpha val="0"/>
              </a:srgbClr>
            </a:solidFill>
            <a:prstDash val="solid"/>
          </a:ln>
        </p:spPr>
        <p:txBody>
          <a:bodyPr/>
          <a:lstStyle/>
          <a:p>
            <a:endParaRPr lang="en-US"/>
          </a:p>
        </p:txBody>
      </p:sp>
      <p:sp>
        <p:nvSpPr>
          <p:cNvPr id="29" name="Rectangle 28">
            <a:extLst>
              <a:ext uri="{FF2B5EF4-FFF2-40B4-BE49-F238E27FC236}">
                <a16:creationId xmlns:a16="http://schemas.microsoft.com/office/drawing/2014/main" id="{8BF82C65-E5AB-4507-8DFA-F8459FCD00E3}"/>
              </a:ext>
            </a:extLst>
          </p:cNvPr>
          <p:cNvSpPr>
            <a:spLocks noGrp="1"/>
          </p:cNvSpPr>
          <p:nvPr/>
        </p:nvSpPr>
        <p:spPr>
          <a:xfrm>
            <a:off x="5734050" y="4381500"/>
            <a:ext cx="4572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125" b="1">
                <a:solidFill>
                  <a:srgbClr val="FFFFFF"/>
                </a:solidFill>
                <a:latin typeface="Aptos"/>
                <a:ea typeface="Aptos"/>
                <a:cs typeface="Aptos"/>
              </a:defRPr>
            </a:pPr>
            <a:r>
              <a:rPr sz="1125" b="1">
                <a:solidFill>
                  <a:srgbClr val="FFFFFF"/>
                </a:solidFill>
                <a:latin typeface="Aptos"/>
                <a:ea typeface="Aptos"/>
                <a:cs typeface="Aptos"/>
              </a:rPr>
              <a:t>3</a:t>
            </a:r>
          </a:p>
        </p:txBody>
      </p:sp>
      <p:sp>
        <p:nvSpPr>
          <p:cNvPr id="30" name="Rectangle 29">
            <a:extLst>
              <a:ext uri="{FF2B5EF4-FFF2-40B4-BE49-F238E27FC236}">
                <a16:creationId xmlns:a16="http://schemas.microsoft.com/office/drawing/2014/main" id="{8E4DC0F4-C869-4EA9-A4C7-F5D7F60BF122}"/>
              </a:ext>
            </a:extLst>
          </p:cNvPr>
          <p:cNvSpPr>
            <a:spLocks noGrp="1"/>
          </p:cNvSpPr>
          <p:nvPr/>
        </p:nvSpPr>
        <p:spPr>
          <a:xfrm>
            <a:off x="5467350" y="4972050"/>
            <a:ext cx="9906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00" b="1">
                <a:solidFill>
                  <a:srgbClr val="17211D"/>
                </a:solidFill>
                <a:latin typeface="Georgia"/>
                <a:ea typeface="Georgia"/>
                <a:cs typeface="Georgia"/>
              </a:defRPr>
            </a:pPr>
            <a:r>
              <a:rPr sz="900" b="1">
                <a:solidFill>
                  <a:srgbClr val="17211D"/>
                </a:solidFill>
                <a:latin typeface="Georgia"/>
                <a:ea typeface="Georgia"/>
                <a:cs typeface="Georgia"/>
              </a:rPr>
              <a:t>Riscopri</a:t>
            </a:r>
          </a:p>
        </p:txBody>
      </p:sp>
      <p:sp>
        <p:nvSpPr>
          <p:cNvPr id="31" name="Oval 30">
            <a:extLst>
              <a:ext uri="{FF2B5EF4-FFF2-40B4-BE49-F238E27FC236}">
                <a16:creationId xmlns:a16="http://schemas.microsoft.com/office/drawing/2014/main" id="{EA504BE3-0698-4940-898D-24133B27E028}"/>
              </a:ext>
            </a:extLst>
          </p:cNvPr>
          <p:cNvSpPr>
            <a:spLocks noGrp="1"/>
          </p:cNvSpPr>
          <p:nvPr/>
        </p:nvSpPr>
        <p:spPr>
          <a:xfrm>
            <a:off x="8096250" y="4324350"/>
            <a:ext cx="457200" cy="457200"/>
          </a:xfrm>
          <a:prstGeom prst="ellipse">
            <a:avLst/>
          </a:prstGeom>
          <a:solidFill>
            <a:srgbClr val="123C31"/>
          </a:solidFill>
          <a:ln w="0">
            <a:solidFill>
              <a:srgbClr val="000000">
                <a:alpha val="0"/>
              </a:srgbClr>
            </a:solidFill>
            <a:prstDash val="solid"/>
          </a:ln>
        </p:spPr>
        <p:txBody>
          <a:bodyPr/>
          <a:lstStyle/>
          <a:p>
            <a:endParaRPr lang="en-US"/>
          </a:p>
        </p:txBody>
      </p:sp>
      <p:sp>
        <p:nvSpPr>
          <p:cNvPr id="32" name="Rectangle 31">
            <a:extLst>
              <a:ext uri="{FF2B5EF4-FFF2-40B4-BE49-F238E27FC236}">
                <a16:creationId xmlns:a16="http://schemas.microsoft.com/office/drawing/2014/main" id="{08254181-A3E8-4C47-B5E5-7C90EDB1703B}"/>
              </a:ext>
            </a:extLst>
          </p:cNvPr>
          <p:cNvSpPr>
            <a:spLocks noGrp="1"/>
          </p:cNvSpPr>
          <p:nvPr/>
        </p:nvSpPr>
        <p:spPr>
          <a:xfrm>
            <a:off x="8096250" y="4381500"/>
            <a:ext cx="4572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125" b="1">
                <a:solidFill>
                  <a:srgbClr val="FFFFFF"/>
                </a:solidFill>
                <a:latin typeface="Aptos"/>
                <a:ea typeface="Aptos"/>
                <a:cs typeface="Aptos"/>
              </a:defRPr>
            </a:pPr>
            <a:r>
              <a:rPr sz="1125" b="1">
                <a:solidFill>
                  <a:srgbClr val="FFFFFF"/>
                </a:solidFill>
                <a:latin typeface="Aptos"/>
                <a:ea typeface="Aptos"/>
                <a:cs typeface="Aptos"/>
              </a:rPr>
              <a:t>4</a:t>
            </a:r>
          </a:p>
        </p:txBody>
      </p:sp>
      <p:sp>
        <p:nvSpPr>
          <p:cNvPr id="33" name="Rectangle 32">
            <a:extLst>
              <a:ext uri="{FF2B5EF4-FFF2-40B4-BE49-F238E27FC236}">
                <a16:creationId xmlns:a16="http://schemas.microsoft.com/office/drawing/2014/main" id="{25542658-98DC-4A4E-805B-8F230AA93D27}"/>
              </a:ext>
            </a:extLst>
          </p:cNvPr>
          <p:cNvSpPr>
            <a:spLocks noGrp="1"/>
          </p:cNvSpPr>
          <p:nvPr/>
        </p:nvSpPr>
        <p:spPr>
          <a:xfrm>
            <a:off x="7829550" y="4972050"/>
            <a:ext cx="9906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00" b="1">
                <a:solidFill>
                  <a:srgbClr val="17211D"/>
                </a:solidFill>
                <a:latin typeface="Georgia"/>
                <a:ea typeface="Georgia"/>
                <a:cs typeface="Georgia"/>
              </a:defRPr>
            </a:pPr>
            <a:r>
              <a:rPr sz="900" b="1">
                <a:solidFill>
                  <a:srgbClr val="17211D"/>
                </a:solidFill>
                <a:latin typeface="Georgia"/>
                <a:ea typeface="Georgia"/>
                <a:cs typeface="Georgia"/>
              </a:rPr>
              <a:t>Cura</a:t>
            </a:r>
          </a:p>
        </p:txBody>
      </p:sp>
      <p:sp>
        <p:nvSpPr>
          <p:cNvPr id="34" name="Oval 33">
            <a:extLst>
              <a:ext uri="{FF2B5EF4-FFF2-40B4-BE49-F238E27FC236}">
                <a16:creationId xmlns:a16="http://schemas.microsoft.com/office/drawing/2014/main" id="{E37D8535-5191-4E27-95E8-ABDD8D876261}"/>
              </a:ext>
            </a:extLst>
          </p:cNvPr>
          <p:cNvSpPr>
            <a:spLocks noGrp="1"/>
          </p:cNvSpPr>
          <p:nvPr/>
        </p:nvSpPr>
        <p:spPr>
          <a:xfrm>
            <a:off x="10458450" y="4324350"/>
            <a:ext cx="457200" cy="457200"/>
          </a:xfrm>
          <a:prstGeom prst="ellipse">
            <a:avLst/>
          </a:prstGeom>
          <a:solidFill>
            <a:srgbClr val="B9D94A"/>
          </a:solidFill>
          <a:ln w="0">
            <a:solidFill>
              <a:srgbClr val="000000">
                <a:alpha val="0"/>
              </a:srgbClr>
            </a:solidFill>
            <a:prstDash val="solid"/>
          </a:ln>
        </p:spPr>
        <p:txBody>
          <a:bodyPr/>
          <a:lstStyle/>
          <a:p>
            <a:endParaRPr lang="en-US"/>
          </a:p>
        </p:txBody>
      </p:sp>
      <p:sp>
        <p:nvSpPr>
          <p:cNvPr id="35" name="Rectangle 34">
            <a:extLst>
              <a:ext uri="{FF2B5EF4-FFF2-40B4-BE49-F238E27FC236}">
                <a16:creationId xmlns:a16="http://schemas.microsoft.com/office/drawing/2014/main" id="{2C0377F1-2BFE-4C58-BE06-1269AC3C10F9}"/>
              </a:ext>
            </a:extLst>
          </p:cNvPr>
          <p:cNvSpPr>
            <a:spLocks noGrp="1"/>
          </p:cNvSpPr>
          <p:nvPr/>
        </p:nvSpPr>
        <p:spPr>
          <a:xfrm>
            <a:off x="10458450" y="4381500"/>
            <a:ext cx="4572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125" b="1">
                <a:solidFill>
                  <a:srgbClr val="123C31"/>
                </a:solidFill>
                <a:latin typeface="Aptos"/>
                <a:ea typeface="Aptos"/>
                <a:cs typeface="Aptos"/>
              </a:defRPr>
            </a:pPr>
            <a:r>
              <a:rPr sz="1125" b="1">
                <a:solidFill>
                  <a:srgbClr val="123C31"/>
                </a:solidFill>
                <a:latin typeface="Aptos"/>
                <a:ea typeface="Aptos"/>
                <a:cs typeface="Aptos"/>
              </a:rPr>
              <a:t>5</a:t>
            </a:r>
          </a:p>
        </p:txBody>
      </p:sp>
      <p:sp>
        <p:nvSpPr>
          <p:cNvPr id="36" name="Rectangle 35">
            <a:extLst>
              <a:ext uri="{FF2B5EF4-FFF2-40B4-BE49-F238E27FC236}">
                <a16:creationId xmlns:a16="http://schemas.microsoft.com/office/drawing/2014/main" id="{938769B7-5FB4-424B-ABF6-6D477BE8EB70}"/>
              </a:ext>
            </a:extLst>
          </p:cNvPr>
          <p:cNvSpPr>
            <a:spLocks noGrp="1"/>
          </p:cNvSpPr>
          <p:nvPr/>
        </p:nvSpPr>
        <p:spPr>
          <a:xfrm>
            <a:off x="10191750" y="4972050"/>
            <a:ext cx="9906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00" b="1">
                <a:solidFill>
                  <a:srgbClr val="17211D"/>
                </a:solidFill>
                <a:latin typeface="Georgia"/>
                <a:ea typeface="Georgia"/>
                <a:cs typeface="Georgia"/>
              </a:defRPr>
            </a:pPr>
            <a:r>
              <a:rPr sz="900" b="1">
                <a:solidFill>
                  <a:srgbClr val="17211D"/>
                </a:solidFill>
                <a:latin typeface="Georgia"/>
                <a:ea typeface="Georgia"/>
                <a:cs typeface="Georgia"/>
              </a:rPr>
              <a:t>Decidi</a:t>
            </a:r>
          </a:p>
        </p:txBody>
      </p:sp>
      <p:sp>
        <p:nvSpPr>
          <p:cNvPr id="37" name="Rectangle: Rounded Corners 36">
            <a:extLst>
              <a:ext uri="{FF2B5EF4-FFF2-40B4-BE49-F238E27FC236}">
                <a16:creationId xmlns:a16="http://schemas.microsoft.com/office/drawing/2014/main" id="{1C769E2F-93E8-4B6A-A511-18BFED412688}"/>
              </a:ext>
            </a:extLst>
          </p:cNvPr>
          <p:cNvSpPr>
            <a:spLocks noGrp="1"/>
          </p:cNvSpPr>
          <p:nvPr/>
        </p:nvSpPr>
        <p:spPr>
          <a:xfrm>
            <a:off x="552450" y="5638800"/>
            <a:ext cx="11087100" cy="361950"/>
          </a:xfrm>
          <a:prstGeom prst="roundRect">
            <a:avLst>
              <a:gd name="adj" fmla="val 21053"/>
            </a:avLst>
          </a:prstGeom>
          <a:solidFill>
            <a:srgbClr val="123C31"/>
          </a:solidFill>
          <a:ln w="0">
            <a:solidFill>
              <a:srgbClr val="000000">
                <a:alpha val="0"/>
              </a:srgbClr>
            </a:solidFill>
            <a:prstDash val="solid"/>
          </a:ln>
        </p:spPr>
        <p:txBody>
          <a:bodyPr/>
          <a:lstStyle/>
          <a:p>
            <a:endParaRPr lang="en-US"/>
          </a:p>
        </p:txBody>
      </p:sp>
      <p:sp>
        <p:nvSpPr>
          <p:cNvPr id="38" name="Rectangle 37">
            <a:extLst>
              <a:ext uri="{FF2B5EF4-FFF2-40B4-BE49-F238E27FC236}">
                <a16:creationId xmlns:a16="http://schemas.microsoft.com/office/drawing/2014/main" id="{0E7DBA37-0F6E-4205-A7A2-B62C1AD70122}"/>
              </a:ext>
            </a:extLst>
          </p:cNvPr>
          <p:cNvSpPr>
            <a:spLocks noGrp="1"/>
          </p:cNvSpPr>
          <p:nvPr/>
        </p:nvSpPr>
        <p:spPr>
          <a:xfrm>
            <a:off x="552450" y="5705475"/>
            <a:ext cx="110871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88" b="0">
                <a:solidFill>
                  <a:srgbClr val="FFFFFF"/>
                </a:solidFill>
                <a:latin typeface="Aptos"/>
                <a:ea typeface="Aptos"/>
                <a:cs typeface="Aptos"/>
              </a:defRPr>
            </a:pPr>
            <a:r>
              <a:rPr sz="788" b="0">
                <a:solidFill>
                  <a:srgbClr val="FFFFFF"/>
                </a:solidFill>
                <a:latin typeface="Aptos"/>
                <a:ea typeface="Aptos"/>
                <a:cs typeface="Aptos"/>
              </a:rPr>
              <a:t>I numeri rendono la demo ripetibile: non sono uno studio utenti né impatto ambientale misurato.</a:t>
            </a:r>
          </a:p>
        </p:txBody>
      </p:sp>
      <p:sp>
        <p:nvSpPr>
          <p:cNvPr id="39" name="Rectangle 38">
            <a:extLst>
              <a:ext uri="{FF2B5EF4-FFF2-40B4-BE49-F238E27FC236}">
                <a16:creationId xmlns:a16="http://schemas.microsoft.com/office/drawing/2014/main" id="{BD49501E-8FCB-41DB-9908-D4FC4CAE0A94}"/>
              </a:ext>
            </a:extLst>
          </p:cNvPr>
          <p:cNvSpPr>
            <a:spLocks noGrp="1"/>
          </p:cNvSpPr>
          <p:nvPr/>
        </p:nvSpPr>
        <p:spPr>
          <a:xfrm>
            <a:off x="552450" y="6419850"/>
            <a:ext cx="11087100" cy="9525"/>
          </a:xfrm>
          <a:prstGeom prst="rect">
            <a:avLst/>
          </a:prstGeom>
          <a:solidFill>
            <a:srgbClr val="B9C3BB"/>
          </a:solidFill>
          <a:ln w="0">
            <a:solidFill>
              <a:srgbClr val="000000">
                <a:alpha val="0"/>
              </a:srgbClr>
            </a:solidFill>
            <a:prstDash val="solid"/>
          </a:ln>
        </p:spPr>
        <p:txBody>
          <a:bodyPr/>
          <a:lstStyle/>
          <a:p>
            <a:endParaRPr lang="en-US"/>
          </a:p>
        </p:txBody>
      </p:sp>
      <p:sp>
        <p:nvSpPr>
          <p:cNvPr id="40" name="Rectangle 39">
            <a:extLst>
              <a:ext uri="{FF2B5EF4-FFF2-40B4-BE49-F238E27FC236}">
                <a16:creationId xmlns:a16="http://schemas.microsoft.com/office/drawing/2014/main" id="{B62E2384-D162-4227-B230-F5D735540E29}"/>
              </a:ext>
            </a:extLst>
          </p:cNvPr>
          <p:cNvSpPr>
            <a:spLocks noGrp="1"/>
          </p:cNvSpPr>
          <p:nvPr/>
        </p:nvSpPr>
        <p:spPr>
          <a:xfrm>
            <a:off x="552450" y="6496050"/>
            <a:ext cx="100393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65736B"/>
                </a:solidFill>
                <a:latin typeface="Aptos"/>
                <a:ea typeface="Aptos"/>
                <a:cs typeface="Aptos"/>
              </a:defRPr>
            </a:pPr>
            <a:r>
              <a:rPr sz="563" b="0">
                <a:solidFill>
                  <a:srgbClr val="65736B"/>
                </a:solidFill>
                <a:latin typeface="Aptos"/>
                <a:ea typeface="Aptos"/>
                <a:cs typeface="Aptos"/>
              </a:rPr>
              <a:t>Snapshot demo locale · il registro degli utilizzi si aggiorna durante la dimostrazione</a:t>
            </a:r>
          </a:p>
        </p:txBody>
      </p:sp>
      <p:sp>
        <p:nvSpPr>
          <p:cNvPr id="41" name="Rectangle 40">
            <a:extLst>
              <a:ext uri="{FF2B5EF4-FFF2-40B4-BE49-F238E27FC236}">
                <a16:creationId xmlns:a16="http://schemas.microsoft.com/office/drawing/2014/main" id="{609192F7-D38D-477C-B37A-3E21B5791460}"/>
              </a:ext>
            </a:extLst>
          </p:cNvPr>
          <p:cNvSpPr>
            <a:spLocks noGrp="1"/>
          </p:cNvSpPr>
          <p:nvPr/>
        </p:nvSpPr>
        <p:spPr>
          <a:xfrm>
            <a:off x="11049000" y="6477000"/>
            <a:ext cx="590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65736B"/>
                </a:solidFill>
                <a:latin typeface="Georgia"/>
                <a:ea typeface="Georgia"/>
                <a:cs typeface="Georgia"/>
              </a:defRPr>
            </a:pPr>
            <a:r>
              <a:rPr sz="750" b="1">
                <a:solidFill>
                  <a:srgbClr val="65736B"/>
                </a:solidFill>
                <a:latin typeface="Georgia"/>
                <a:ea typeface="Georgia"/>
                <a:cs typeface="Georgia"/>
              </a:rPr>
              <a:t>10</a:t>
            </a:r>
          </a:p>
        </p:txBody>
      </p:sp>
    </p:spTree>
    <p:extLst>
      <p:ext uri="{BB962C8B-B14F-4D97-AF65-F5344CB8AC3E}">
        <p14:creationId xmlns:p14="http://schemas.microsoft.com/office/powerpoint/2010/main" val="14495332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background">
            <a:extLst>
              <a:ext uri="{FF2B5EF4-FFF2-40B4-BE49-F238E27FC236}">
                <a16:creationId xmlns:a16="http://schemas.microsoft.com/office/drawing/2014/main" id="{0F1E797F-BE7A-4E14-819B-1AAEE8433C2D}"/>
              </a:ext>
            </a:extLst>
          </p:cNvPr>
          <p:cNvSpPr>
            <a:spLocks noGrp="1"/>
          </p:cNvSpPr>
          <p:nvPr/>
        </p:nvSpPr>
        <p:spPr>
          <a:xfrm>
            <a:off x="0" y="0"/>
            <a:ext cx="12192000" cy="6858000"/>
          </a:xfrm>
          <a:prstGeom prst="rect">
            <a:avLst/>
          </a:prstGeom>
          <a:solidFill>
            <a:srgbClr val="123C31"/>
          </a:solidFill>
          <a:ln w="0">
            <a:solidFill>
              <a:srgbClr val="000000">
                <a:alpha val="0"/>
              </a:srgbClr>
            </a:solidFill>
            <a:prstDash val="solid"/>
          </a:ln>
        </p:spPr>
        <p:txBody>
          <a:bodyPr/>
          <a:lstStyle/>
          <a:p>
            <a:endParaRPr lang="en-US"/>
          </a:p>
        </p:txBody>
      </p:sp>
      <p:sp>
        <p:nvSpPr>
          <p:cNvPr id="2" name="Oval 1">
            <a:extLst>
              <a:ext uri="{FF2B5EF4-FFF2-40B4-BE49-F238E27FC236}">
                <a16:creationId xmlns:a16="http://schemas.microsoft.com/office/drawing/2014/main" id="{8A471E10-8D35-4BB7-ABF0-97D1480D339F}"/>
              </a:ext>
            </a:extLst>
          </p:cNvPr>
          <p:cNvSpPr>
            <a:spLocks noGrp="1"/>
          </p:cNvSpPr>
          <p:nvPr/>
        </p:nvSpPr>
        <p:spPr>
          <a:xfrm>
            <a:off x="552450" y="409575"/>
            <a:ext cx="85725" cy="85725"/>
          </a:xfrm>
          <a:prstGeom prst="ellipse">
            <a:avLst/>
          </a:prstGeom>
          <a:solidFill>
            <a:srgbClr val="B9D94A"/>
          </a:solidFill>
          <a:ln w="0">
            <a:solidFill>
              <a:srgbClr val="000000">
                <a:alpha val="0"/>
              </a:srgbClr>
            </a:solidFill>
            <a:prstDash val="solid"/>
          </a:ln>
        </p:spPr>
        <p:txBody>
          <a:bodyPr/>
          <a:lstStyle/>
          <a:p>
            <a:endParaRPr lang="en-US"/>
          </a:p>
        </p:txBody>
      </p:sp>
      <p:sp>
        <p:nvSpPr>
          <p:cNvPr id="3" name="Rectangle 2">
            <a:extLst>
              <a:ext uri="{FF2B5EF4-FFF2-40B4-BE49-F238E27FC236}">
                <a16:creationId xmlns:a16="http://schemas.microsoft.com/office/drawing/2014/main" id="{D40F4624-197F-4F01-8F51-AF3E85D4FB2D}"/>
              </a:ext>
            </a:extLst>
          </p:cNvPr>
          <p:cNvSpPr>
            <a:spLocks noGrp="1"/>
          </p:cNvSpPr>
          <p:nvPr/>
        </p:nvSpPr>
        <p:spPr>
          <a:xfrm>
            <a:off x="742950" y="361950"/>
            <a:ext cx="666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DDE5DD"/>
                </a:solidFill>
                <a:latin typeface="Aptos"/>
                <a:ea typeface="Aptos"/>
                <a:cs typeface="Aptos"/>
              </a:defRPr>
            </a:pPr>
            <a:r>
              <a:rPr sz="638" b="1">
                <a:solidFill>
                  <a:srgbClr val="DDE5DD"/>
                </a:solidFill>
                <a:latin typeface="Aptos"/>
                <a:ea typeface="Aptos"/>
                <a:cs typeface="Aptos"/>
              </a:rPr>
              <a:t>P A S S A G G I O   A L L A   W E B   A P P</a:t>
            </a:r>
          </a:p>
        </p:txBody>
      </p:sp>
      <p:sp>
        <p:nvSpPr>
          <p:cNvPr id="4" name="Rectangle 3">
            <a:extLst>
              <a:ext uri="{FF2B5EF4-FFF2-40B4-BE49-F238E27FC236}">
                <a16:creationId xmlns:a16="http://schemas.microsoft.com/office/drawing/2014/main" id="{E8546567-67A2-42ED-9565-B09B5C159EB3}"/>
              </a:ext>
            </a:extLst>
          </p:cNvPr>
          <p:cNvSpPr>
            <a:spLocks noGrp="1"/>
          </p:cNvSpPr>
          <p:nvPr/>
        </p:nvSpPr>
        <p:spPr>
          <a:xfrm>
            <a:off x="552450" y="1333500"/>
            <a:ext cx="2571750" cy="914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150" b="1">
                <a:solidFill>
                  <a:srgbClr val="B9D94A"/>
                </a:solidFill>
                <a:latin typeface="Georgia"/>
                <a:ea typeface="Georgia"/>
                <a:cs typeface="Georgia"/>
              </a:defRPr>
            </a:pPr>
            <a:r>
              <a:rPr sz="6150" b="1">
                <a:solidFill>
                  <a:srgbClr val="B9D94A"/>
                </a:solidFill>
                <a:latin typeface="Georgia"/>
                <a:ea typeface="Georgia"/>
                <a:cs typeface="Georgia"/>
              </a:rPr>
              <a:t>LIVE</a:t>
            </a:r>
          </a:p>
        </p:txBody>
      </p:sp>
      <p:sp>
        <p:nvSpPr>
          <p:cNvPr id="5" name="Rectangle 4">
            <a:extLst>
              <a:ext uri="{FF2B5EF4-FFF2-40B4-BE49-F238E27FC236}">
                <a16:creationId xmlns:a16="http://schemas.microsoft.com/office/drawing/2014/main" id="{418A7431-1859-4074-83A5-D16FF740C87C}"/>
              </a:ext>
            </a:extLst>
          </p:cNvPr>
          <p:cNvSpPr>
            <a:spLocks noGrp="1"/>
          </p:cNvSpPr>
          <p:nvPr/>
        </p:nvSpPr>
        <p:spPr>
          <a:xfrm>
            <a:off x="552450" y="2381250"/>
            <a:ext cx="4953000" cy="1066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050" b="1">
                <a:solidFill>
                  <a:srgbClr val="FFFFFF"/>
                </a:solidFill>
                <a:latin typeface="Georgia"/>
                <a:ea typeface="Georgia"/>
                <a:cs typeface="Georgia"/>
              </a:defRPr>
            </a:pPr>
            <a:r>
              <a:rPr sz="7050" b="1">
                <a:solidFill>
                  <a:srgbClr val="FFFFFF"/>
                </a:solidFill>
                <a:latin typeface="Georgia"/>
                <a:ea typeface="Georgia"/>
                <a:cs typeface="Georgia"/>
              </a:rPr>
              <a:t>DEMO</a:t>
            </a:r>
          </a:p>
        </p:txBody>
      </p:sp>
      <p:sp>
        <p:nvSpPr>
          <p:cNvPr id="6" name="Rectangle 5">
            <a:extLst>
              <a:ext uri="{FF2B5EF4-FFF2-40B4-BE49-F238E27FC236}">
                <a16:creationId xmlns:a16="http://schemas.microsoft.com/office/drawing/2014/main" id="{14CF7CD0-35C1-4D3A-8B00-714204E5A54B}"/>
              </a:ext>
            </a:extLst>
          </p:cNvPr>
          <p:cNvSpPr>
            <a:spLocks noGrp="1"/>
          </p:cNvSpPr>
          <p:nvPr/>
        </p:nvSpPr>
        <p:spPr>
          <a:xfrm>
            <a:off x="552450" y="3848100"/>
            <a:ext cx="47625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DDE5DD"/>
                </a:solidFill>
                <a:latin typeface="Georgia"/>
                <a:ea typeface="Georgia"/>
                <a:cs typeface="Georgia"/>
              </a:defRPr>
            </a:pPr>
            <a:r>
              <a:rPr sz="1800" b="1">
                <a:solidFill>
                  <a:srgbClr val="DDE5DD"/>
                </a:solidFill>
                <a:latin typeface="Georgia"/>
                <a:ea typeface="Georgia"/>
                <a:cs typeface="Georgia"/>
              </a:rPr>
              <a:t>Un solo capo, cinque prove.</a:t>
            </a:r>
          </a:p>
        </p:txBody>
      </p:sp>
      <p:sp>
        <p:nvSpPr>
          <p:cNvPr id="7" name="Oval 6">
            <a:extLst>
              <a:ext uri="{FF2B5EF4-FFF2-40B4-BE49-F238E27FC236}">
                <a16:creationId xmlns:a16="http://schemas.microsoft.com/office/drawing/2014/main" id="{FD68D1F0-89E2-443A-9F57-8AF30F0CDDFC}"/>
              </a:ext>
            </a:extLst>
          </p:cNvPr>
          <p:cNvSpPr>
            <a:spLocks noGrp="1"/>
          </p:cNvSpPr>
          <p:nvPr/>
        </p:nvSpPr>
        <p:spPr>
          <a:xfrm>
            <a:off x="6953250" y="1619250"/>
            <a:ext cx="323850" cy="323850"/>
          </a:xfrm>
          <a:prstGeom prst="ellipse">
            <a:avLst/>
          </a:prstGeom>
          <a:solidFill>
            <a:srgbClr val="2F7D5B"/>
          </a:solidFill>
          <a:ln w="0">
            <a:solidFill>
              <a:srgbClr val="000000">
                <a:alpha val="0"/>
              </a:srgbClr>
            </a:solidFill>
            <a:prstDash val="solid"/>
          </a:ln>
        </p:spPr>
        <p:txBody>
          <a:bodyPr/>
          <a:lstStyle/>
          <a:p>
            <a:endParaRPr lang="en-US"/>
          </a:p>
        </p:txBody>
      </p:sp>
      <p:sp>
        <p:nvSpPr>
          <p:cNvPr id="8" name="Rectangle 7">
            <a:extLst>
              <a:ext uri="{FF2B5EF4-FFF2-40B4-BE49-F238E27FC236}">
                <a16:creationId xmlns:a16="http://schemas.microsoft.com/office/drawing/2014/main" id="{55A2873C-6968-436C-93A6-5A25A8078456}"/>
              </a:ext>
            </a:extLst>
          </p:cNvPr>
          <p:cNvSpPr>
            <a:spLocks noGrp="1"/>
          </p:cNvSpPr>
          <p:nvPr/>
        </p:nvSpPr>
        <p:spPr>
          <a:xfrm>
            <a:off x="6953250" y="1657350"/>
            <a:ext cx="3238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1">
                <a:solidFill>
                  <a:srgbClr val="FFFFFF"/>
                </a:solidFill>
                <a:latin typeface="Aptos"/>
                <a:ea typeface="Aptos"/>
                <a:cs typeface="Aptos"/>
              </a:defRPr>
            </a:pPr>
            <a:r>
              <a:rPr sz="825" b="1">
                <a:solidFill>
                  <a:srgbClr val="FFFFFF"/>
                </a:solidFill>
                <a:latin typeface="Aptos"/>
                <a:ea typeface="Aptos"/>
                <a:cs typeface="Aptos"/>
              </a:rPr>
              <a:t>1</a:t>
            </a:r>
          </a:p>
        </p:txBody>
      </p:sp>
      <p:sp>
        <p:nvSpPr>
          <p:cNvPr id="9" name="Rectangle 8">
            <a:extLst>
              <a:ext uri="{FF2B5EF4-FFF2-40B4-BE49-F238E27FC236}">
                <a16:creationId xmlns:a16="http://schemas.microsoft.com/office/drawing/2014/main" id="{85F3300C-DD03-4B59-94FA-F4B2C15CA471}"/>
              </a:ext>
            </a:extLst>
          </p:cNvPr>
          <p:cNvSpPr>
            <a:spLocks noGrp="1"/>
          </p:cNvSpPr>
          <p:nvPr/>
        </p:nvSpPr>
        <p:spPr>
          <a:xfrm>
            <a:off x="7467600" y="1600200"/>
            <a:ext cx="31432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425" b="1">
                <a:solidFill>
                  <a:srgbClr val="FFFFFF"/>
                </a:solidFill>
                <a:latin typeface="Georgia"/>
                <a:ea typeface="Georgia"/>
                <a:cs typeface="Georgia"/>
              </a:defRPr>
            </a:pPr>
            <a:r>
              <a:rPr sz="1425" b="1">
                <a:solidFill>
                  <a:srgbClr val="FFFFFF"/>
                </a:solidFill>
                <a:latin typeface="Georgia"/>
                <a:ea typeface="Georgia"/>
                <a:cs typeface="Georgia"/>
              </a:rPr>
              <a:t>catalogazione</a:t>
            </a:r>
          </a:p>
        </p:txBody>
      </p:sp>
      <p:sp>
        <p:nvSpPr>
          <p:cNvPr id="10" name="Oval 9">
            <a:extLst>
              <a:ext uri="{FF2B5EF4-FFF2-40B4-BE49-F238E27FC236}">
                <a16:creationId xmlns:a16="http://schemas.microsoft.com/office/drawing/2014/main" id="{34A7CED7-B28D-480B-8769-28645079CDEB}"/>
              </a:ext>
            </a:extLst>
          </p:cNvPr>
          <p:cNvSpPr>
            <a:spLocks noGrp="1"/>
          </p:cNvSpPr>
          <p:nvPr/>
        </p:nvSpPr>
        <p:spPr>
          <a:xfrm>
            <a:off x="6953250" y="2400300"/>
            <a:ext cx="323850" cy="323850"/>
          </a:xfrm>
          <a:prstGeom prst="ellipse">
            <a:avLst/>
          </a:prstGeom>
          <a:solidFill>
            <a:srgbClr val="2F7D5B"/>
          </a:solidFill>
          <a:ln w="0">
            <a:solidFill>
              <a:srgbClr val="000000">
                <a:alpha val="0"/>
              </a:srgbClr>
            </a:solidFill>
            <a:prstDash val="solid"/>
          </a:ln>
        </p:spPr>
        <p:txBody>
          <a:bodyPr/>
          <a:lstStyle/>
          <a:p>
            <a:endParaRPr lang="en-US"/>
          </a:p>
        </p:txBody>
      </p:sp>
      <p:sp>
        <p:nvSpPr>
          <p:cNvPr id="11" name="Rectangle 10">
            <a:extLst>
              <a:ext uri="{FF2B5EF4-FFF2-40B4-BE49-F238E27FC236}">
                <a16:creationId xmlns:a16="http://schemas.microsoft.com/office/drawing/2014/main" id="{BF88BB44-FF37-49FE-AD42-8A71FCED0FDF}"/>
              </a:ext>
            </a:extLst>
          </p:cNvPr>
          <p:cNvSpPr>
            <a:spLocks noGrp="1"/>
          </p:cNvSpPr>
          <p:nvPr/>
        </p:nvSpPr>
        <p:spPr>
          <a:xfrm>
            <a:off x="6953250" y="2438400"/>
            <a:ext cx="3238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1">
                <a:solidFill>
                  <a:srgbClr val="FFFFFF"/>
                </a:solidFill>
                <a:latin typeface="Aptos"/>
                <a:ea typeface="Aptos"/>
                <a:cs typeface="Aptos"/>
              </a:defRPr>
            </a:pPr>
            <a:r>
              <a:rPr sz="825" b="1">
                <a:solidFill>
                  <a:srgbClr val="FFFFFF"/>
                </a:solidFill>
                <a:latin typeface="Aptos"/>
                <a:ea typeface="Aptos"/>
                <a:cs typeface="Aptos"/>
              </a:rPr>
              <a:t>2</a:t>
            </a:r>
          </a:p>
        </p:txBody>
      </p:sp>
      <p:sp>
        <p:nvSpPr>
          <p:cNvPr id="12" name="Rectangle 11">
            <a:extLst>
              <a:ext uri="{FF2B5EF4-FFF2-40B4-BE49-F238E27FC236}">
                <a16:creationId xmlns:a16="http://schemas.microsoft.com/office/drawing/2014/main" id="{48A17610-C341-42D1-94D6-D1CF2A9B3837}"/>
              </a:ext>
            </a:extLst>
          </p:cNvPr>
          <p:cNvSpPr>
            <a:spLocks noGrp="1"/>
          </p:cNvSpPr>
          <p:nvPr/>
        </p:nvSpPr>
        <p:spPr>
          <a:xfrm>
            <a:off x="7467600" y="2381250"/>
            <a:ext cx="31432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425" b="1">
                <a:solidFill>
                  <a:srgbClr val="FFFFFF"/>
                </a:solidFill>
                <a:latin typeface="Georgia"/>
                <a:ea typeface="Georgia"/>
                <a:cs typeface="Georgia"/>
              </a:defRPr>
            </a:pPr>
            <a:r>
              <a:rPr sz="1425" b="1">
                <a:solidFill>
                  <a:srgbClr val="FFFFFF"/>
                </a:solidFill>
                <a:latin typeface="Georgia"/>
                <a:ea typeface="Georgia"/>
                <a:cs typeface="Georgia"/>
              </a:rPr>
              <a:t>wear log</a:t>
            </a:r>
          </a:p>
        </p:txBody>
      </p:sp>
      <p:sp>
        <p:nvSpPr>
          <p:cNvPr id="13" name="Oval 12">
            <a:extLst>
              <a:ext uri="{FF2B5EF4-FFF2-40B4-BE49-F238E27FC236}">
                <a16:creationId xmlns:a16="http://schemas.microsoft.com/office/drawing/2014/main" id="{7CCCF4A7-A5D9-4DD0-B65D-2A1323497B2B}"/>
              </a:ext>
            </a:extLst>
          </p:cNvPr>
          <p:cNvSpPr>
            <a:spLocks noGrp="1"/>
          </p:cNvSpPr>
          <p:nvPr/>
        </p:nvSpPr>
        <p:spPr>
          <a:xfrm>
            <a:off x="6953250" y="3181350"/>
            <a:ext cx="323850" cy="323850"/>
          </a:xfrm>
          <a:prstGeom prst="ellipse">
            <a:avLst/>
          </a:prstGeom>
          <a:solidFill>
            <a:srgbClr val="2F7D5B"/>
          </a:solidFill>
          <a:ln w="0">
            <a:solidFill>
              <a:srgbClr val="000000">
                <a:alpha val="0"/>
              </a:srgbClr>
            </a:solidFill>
            <a:prstDash val="solid"/>
          </a:ln>
        </p:spPr>
        <p:txBody>
          <a:bodyPr/>
          <a:lstStyle/>
          <a:p>
            <a:endParaRPr lang="en-US"/>
          </a:p>
        </p:txBody>
      </p:sp>
      <p:sp>
        <p:nvSpPr>
          <p:cNvPr id="14" name="Rectangle 13">
            <a:extLst>
              <a:ext uri="{FF2B5EF4-FFF2-40B4-BE49-F238E27FC236}">
                <a16:creationId xmlns:a16="http://schemas.microsoft.com/office/drawing/2014/main" id="{65D863EC-3CA4-4F62-8F1D-746BB59944CA}"/>
              </a:ext>
            </a:extLst>
          </p:cNvPr>
          <p:cNvSpPr>
            <a:spLocks noGrp="1"/>
          </p:cNvSpPr>
          <p:nvPr/>
        </p:nvSpPr>
        <p:spPr>
          <a:xfrm>
            <a:off x="6953250" y="3219450"/>
            <a:ext cx="3238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1">
                <a:solidFill>
                  <a:srgbClr val="FFFFFF"/>
                </a:solidFill>
                <a:latin typeface="Aptos"/>
                <a:ea typeface="Aptos"/>
                <a:cs typeface="Aptos"/>
              </a:defRPr>
            </a:pPr>
            <a:r>
              <a:rPr sz="825" b="1">
                <a:solidFill>
                  <a:srgbClr val="FFFFFF"/>
                </a:solidFill>
                <a:latin typeface="Aptos"/>
                <a:ea typeface="Aptos"/>
                <a:cs typeface="Aptos"/>
              </a:rPr>
              <a:t>3</a:t>
            </a:r>
          </a:p>
        </p:txBody>
      </p:sp>
      <p:sp>
        <p:nvSpPr>
          <p:cNvPr id="15" name="Rectangle 14">
            <a:extLst>
              <a:ext uri="{FF2B5EF4-FFF2-40B4-BE49-F238E27FC236}">
                <a16:creationId xmlns:a16="http://schemas.microsoft.com/office/drawing/2014/main" id="{83968347-F05F-48B7-B76A-566B081B9B40}"/>
              </a:ext>
            </a:extLst>
          </p:cNvPr>
          <p:cNvSpPr>
            <a:spLocks noGrp="1"/>
          </p:cNvSpPr>
          <p:nvPr/>
        </p:nvSpPr>
        <p:spPr>
          <a:xfrm>
            <a:off x="7467600" y="3162300"/>
            <a:ext cx="31432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425" b="1">
                <a:solidFill>
                  <a:srgbClr val="FFFFFF"/>
                </a:solidFill>
                <a:latin typeface="Georgia"/>
                <a:ea typeface="Georgia"/>
                <a:cs typeface="Georgia"/>
              </a:defRPr>
            </a:pPr>
            <a:r>
              <a:rPr sz="1425" b="1">
                <a:solidFill>
                  <a:srgbClr val="FFFFFF"/>
                </a:solidFill>
                <a:latin typeface="Georgia"/>
                <a:ea typeface="Georgia"/>
                <a:cs typeface="Georgia"/>
              </a:rPr>
              <a:t>ghost</a:t>
            </a:r>
          </a:p>
        </p:txBody>
      </p:sp>
      <p:sp>
        <p:nvSpPr>
          <p:cNvPr id="16" name="Oval 15">
            <a:extLst>
              <a:ext uri="{FF2B5EF4-FFF2-40B4-BE49-F238E27FC236}">
                <a16:creationId xmlns:a16="http://schemas.microsoft.com/office/drawing/2014/main" id="{F5538739-1C09-4455-827D-A2F005588BCA}"/>
              </a:ext>
            </a:extLst>
          </p:cNvPr>
          <p:cNvSpPr>
            <a:spLocks noGrp="1"/>
          </p:cNvSpPr>
          <p:nvPr/>
        </p:nvSpPr>
        <p:spPr>
          <a:xfrm>
            <a:off x="6953250" y="3962400"/>
            <a:ext cx="323850" cy="323850"/>
          </a:xfrm>
          <a:prstGeom prst="ellipse">
            <a:avLst/>
          </a:prstGeom>
          <a:solidFill>
            <a:srgbClr val="2F7D5B"/>
          </a:solidFill>
          <a:ln w="0">
            <a:solidFill>
              <a:srgbClr val="000000">
                <a:alpha val="0"/>
              </a:srgbClr>
            </a:solidFill>
            <a:prstDash val="solid"/>
          </a:ln>
        </p:spPr>
        <p:txBody>
          <a:bodyPr/>
          <a:lstStyle/>
          <a:p>
            <a:endParaRPr lang="en-US"/>
          </a:p>
        </p:txBody>
      </p:sp>
      <p:sp>
        <p:nvSpPr>
          <p:cNvPr id="17" name="Rectangle 16">
            <a:extLst>
              <a:ext uri="{FF2B5EF4-FFF2-40B4-BE49-F238E27FC236}">
                <a16:creationId xmlns:a16="http://schemas.microsoft.com/office/drawing/2014/main" id="{A5464324-E4EB-40CF-A394-F746FFB36634}"/>
              </a:ext>
            </a:extLst>
          </p:cNvPr>
          <p:cNvSpPr>
            <a:spLocks noGrp="1"/>
          </p:cNvSpPr>
          <p:nvPr/>
        </p:nvSpPr>
        <p:spPr>
          <a:xfrm>
            <a:off x="6953250" y="4000500"/>
            <a:ext cx="3238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1">
                <a:solidFill>
                  <a:srgbClr val="FFFFFF"/>
                </a:solidFill>
                <a:latin typeface="Aptos"/>
                <a:ea typeface="Aptos"/>
                <a:cs typeface="Aptos"/>
              </a:defRPr>
            </a:pPr>
            <a:r>
              <a:rPr sz="825" b="1">
                <a:solidFill>
                  <a:srgbClr val="FFFFFF"/>
                </a:solidFill>
                <a:latin typeface="Aptos"/>
                <a:ea typeface="Aptos"/>
                <a:cs typeface="Aptos"/>
              </a:rPr>
              <a:t>4</a:t>
            </a:r>
          </a:p>
        </p:txBody>
      </p:sp>
      <p:sp>
        <p:nvSpPr>
          <p:cNvPr id="18" name="Rectangle 17">
            <a:extLst>
              <a:ext uri="{FF2B5EF4-FFF2-40B4-BE49-F238E27FC236}">
                <a16:creationId xmlns:a16="http://schemas.microsoft.com/office/drawing/2014/main" id="{97C860C0-BBF3-4CFC-A399-71EC030DB83A}"/>
              </a:ext>
            </a:extLst>
          </p:cNvPr>
          <p:cNvSpPr>
            <a:spLocks noGrp="1"/>
          </p:cNvSpPr>
          <p:nvPr/>
        </p:nvSpPr>
        <p:spPr>
          <a:xfrm>
            <a:off x="7467600" y="3943350"/>
            <a:ext cx="31432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425" b="1">
                <a:solidFill>
                  <a:srgbClr val="FFFFFF"/>
                </a:solidFill>
                <a:latin typeface="Georgia"/>
                <a:ea typeface="Georgia"/>
                <a:cs typeface="Georgia"/>
              </a:defRPr>
            </a:pPr>
            <a:r>
              <a:rPr sz="1425" b="1">
                <a:solidFill>
                  <a:srgbClr val="FFFFFF"/>
                </a:solidFill>
                <a:latin typeface="Georgia"/>
                <a:ea typeface="Georgia"/>
                <a:cs typeface="Georgia"/>
              </a:rPr>
              <a:t>stato + gap</a:t>
            </a:r>
          </a:p>
        </p:txBody>
      </p:sp>
      <p:sp>
        <p:nvSpPr>
          <p:cNvPr id="19" name="Oval 18">
            <a:extLst>
              <a:ext uri="{FF2B5EF4-FFF2-40B4-BE49-F238E27FC236}">
                <a16:creationId xmlns:a16="http://schemas.microsoft.com/office/drawing/2014/main" id="{E6F8200F-B9C7-4825-9EFA-2B70D8162260}"/>
              </a:ext>
            </a:extLst>
          </p:cNvPr>
          <p:cNvSpPr>
            <a:spLocks noGrp="1"/>
          </p:cNvSpPr>
          <p:nvPr/>
        </p:nvSpPr>
        <p:spPr>
          <a:xfrm>
            <a:off x="6953250" y="4743450"/>
            <a:ext cx="323850" cy="323850"/>
          </a:xfrm>
          <a:prstGeom prst="ellipse">
            <a:avLst/>
          </a:prstGeom>
          <a:solidFill>
            <a:srgbClr val="B9D94A"/>
          </a:solidFill>
          <a:ln w="0">
            <a:solidFill>
              <a:srgbClr val="000000">
                <a:alpha val="0"/>
              </a:srgbClr>
            </a:solidFill>
            <a:prstDash val="solid"/>
          </a:ln>
        </p:spPr>
        <p:txBody>
          <a:bodyPr/>
          <a:lstStyle/>
          <a:p>
            <a:endParaRPr lang="en-US"/>
          </a:p>
        </p:txBody>
      </p:sp>
      <p:sp>
        <p:nvSpPr>
          <p:cNvPr id="20" name="Rectangle 19">
            <a:extLst>
              <a:ext uri="{FF2B5EF4-FFF2-40B4-BE49-F238E27FC236}">
                <a16:creationId xmlns:a16="http://schemas.microsoft.com/office/drawing/2014/main" id="{31E52AE5-1544-48A1-93EA-C585A71CBCC0}"/>
              </a:ext>
            </a:extLst>
          </p:cNvPr>
          <p:cNvSpPr>
            <a:spLocks noGrp="1"/>
          </p:cNvSpPr>
          <p:nvPr/>
        </p:nvSpPr>
        <p:spPr>
          <a:xfrm>
            <a:off x="6953250" y="4781550"/>
            <a:ext cx="3238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1">
                <a:solidFill>
                  <a:srgbClr val="123C31"/>
                </a:solidFill>
                <a:latin typeface="Aptos"/>
                <a:ea typeface="Aptos"/>
                <a:cs typeface="Aptos"/>
              </a:defRPr>
            </a:pPr>
            <a:r>
              <a:rPr sz="825" b="1">
                <a:solidFill>
                  <a:srgbClr val="123C31"/>
                </a:solidFill>
                <a:latin typeface="Aptos"/>
                <a:ea typeface="Aptos"/>
                <a:cs typeface="Aptos"/>
              </a:rPr>
              <a:t>5</a:t>
            </a:r>
          </a:p>
        </p:txBody>
      </p:sp>
      <p:sp>
        <p:nvSpPr>
          <p:cNvPr id="21" name="Rectangle 20">
            <a:extLst>
              <a:ext uri="{FF2B5EF4-FFF2-40B4-BE49-F238E27FC236}">
                <a16:creationId xmlns:a16="http://schemas.microsoft.com/office/drawing/2014/main" id="{EFA85B50-58A5-488A-B53B-E44E539F1F8B}"/>
              </a:ext>
            </a:extLst>
          </p:cNvPr>
          <p:cNvSpPr>
            <a:spLocks noGrp="1"/>
          </p:cNvSpPr>
          <p:nvPr/>
        </p:nvSpPr>
        <p:spPr>
          <a:xfrm>
            <a:off x="7467600" y="4724400"/>
            <a:ext cx="31432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425" b="1">
                <a:solidFill>
                  <a:srgbClr val="FFFFFF"/>
                </a:solidFill>
                <a:latin typeface="Georgia"/>
                <a:ea typeface="Georgia"/>
                <a:cs typeface="Georgia"/>
              </a:defRPr>
            </a:pPr>
            <a:r>
              <a:rPr sz="1425" b="1">
                <a:solidFill>
                  <a:srgbClr val="FFFFFF"/>
                </a:solidFill>
                <a:latin typeface="Georgia"/>
                <a:ea typeface="Georgia"/>
                <a:cs typeface="Georgia"/>
              </a:rPr>
              <a:t>azione circolare</a:t>
            </a:r>
          </a:p>
        </p:txBody>
      </p:sp>
      <p:sp>
        <p:nvSpPr>
          <p:cNvPr id="22" name="Rectangle 21">
            <a:extLst>
              <a:ext uri="{FF2B5EF4-FFF2-40B4-BE49-F238E27FC236}">
                <a16:creationId xmlns:a16="http://schemas.microsoft.com/office/drawing/2014/main" id="{04F7C0E9-8899-49D9-BCB4-6E1545217D8D}"/>
              </a:ext>
            </a:extLst>
          </p:cNvPr>
          <p:cNvSpPr>
            <a:spLocks noGrp="1"/>
          </p:cNvSpPr>
          <p:nvPr/>
        </p:nvSpPr>
        <p:spPr>
          <a:xfrm>
            <a:off x="552450" y="6419850"/>
            <a:ext cx="11087100" cy="9525"/>
          </a:xfrm>
          <a:prstGeom prst="rect">
            <a:avLst/>
          </a:prstGeom>
          <a:solidFill>
            <a:srgbClr val="3F685A"/>
          </a:solidFill>
          <a:ln w="0">
            <a:solidFill>
              <a:srgbClr val="000000">
                <a:alpha val="0"/>
              </a:srgbClr>
            </a:solidFill>
            <a:prstDash val="solid"/>
          </a:ln>
        </p:spPr>
        <p:txBody>
          <a:bodyPr/>
          <a:lstStyle/>
          <a:p>
            <a:endParaRPr lang="en-US"/>
          </a:p>
        </p:txBody>
      </p:sp>
      <p:sp>
        <p:nvSpPr>
          <p:cNvPr id="23" name="Rectangle 22">
            <a:extLst>
              <a:ext uri="{FF2B5EF4-FFF2-40B4-BE49-F238E27FC236}">
                <a16:creationId xmlns:a16="http://schemas.microsoft.com/office/drawing/2014/main" id="{3E68B628-F56A-4743-B24A-A962E50A9C03}"/>
              </a:ext>
            </a:extLst>
          </p:cNvPr>
          <p:cNvSpPr>
            <a:spLocks noGrp="1"/>
          </p:cNvSpPr>
          <p:nvPr/>
        </p:nvSpPr>
        <p:spPr>
          <a:xfrm>
            <a:off x="552450" y="6496050"/>
            <a:ext cx="100393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91AA9F"/>
                </a:solidFill>
                <a:latin typeface="Aptos"/>
                <a:ea typeface="Aptos"/>
                <a:cs typeface="Aptos"/>
              </a:defRPr>
            </a:pPr>
            <a:r>
              <a:rPr sz="563" b="0">
                <a:solidFill>
                  <a:srgbClr val="91AA9F"/>
                </a:solidFill>
                <a:latin typeface="Aptos"/>
                <a:ea typeface="Aptos"/>
                <a:cs typeface="Aptos"/>
              </a:rPr>
              <a:t>Demo suggerita: 3–4 minuti · per ogni schermata spiegare input → output → beneficio → limite</a:t>
            </a:r>
          </a:p>
        </p:txBody>
      </p:sp>
      <p:sp>
        <p:nvSpPr>
          <p:cNvPr id="24" name="Rectangle 23">
            <a:extLst>
              <a:ext uri="{FF2B5EF4-FFF2-40B4-BE49-F238E27FC236}">
                <a16:creationId xmlns:a16="http://schemas.microsoft.com/office/drawing/2014/main" id="{676A3D69-8320-4527-84A5-D374B27D2BF9}"/>
              </a:ext>
            </a:extLst>
          </p:cNvPr>
          <p:cNvSpPr>
            <a:spLocks noGrp="1"/>
          </p:cNvSpPr>
          <p:nvPr/>
        </p:nvSpPr>
        <p:spPr>
          <a:xfrm>
            <a:off x="11049000" y="6477000"/>
            <a:ext cx="590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91AA9F"/>
                </a:solidFill>
                <a:latin typeface="Georgia"/>
                <a:ea typeface="Georgia"/>
                <a:cs typeface="Georgia"/>
              </a:defRPr>
            </a:pPr>
            <a:r>
              <a:rPr sz="750" b="1">
                <a:solidFill>
                  <a:srgbClr val="91AA9F"/>
                </a:solidFill>
                <a:latin typeface="Georgia"/>
                <a:ea typeface="Georgia"/>
                <a:cs typeface="Georgia"/>
              </a:rPr>
              <a:t>11</a:t>
            </a:r>
          </a:p>
        </p:txBody>
      </p:sp>
    </p:spTree>
    <p:extLst>
      <p:ext uri="{BB962C8B-B14F-4D97-AF65-F5344CB8AC3E}">
        <p14:creationId xmlns:p14="http://schemas.microsoft.com/office/powerpoint/2010/main" val="14390566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background">
            <a:extLst>
              <a:ext uri="{FF2B5EF4-FFF2-40B4-BE49-F238E27FC236}">
                <a16:creationId xmlns:a16="http://schemas.microsoft.com/office/drawing/2014/main" id="{2F1638C3-8099-459E-93BF-BF2C15589E8E}"/>
              </a:ext>
            </a:extLst>
          </p:cNvPr>
          <p:cNvSpPr>
            <a:spLocks noGrp="1"/>
          </p:cNvSpPr>
          <p:nvPr/>
        </p:nvSpPr>
        <p:spPr>
          <a:xfrm>
            <a:off x="0" y="0"/>
            <a:ext cx="12192000" cy="6858000"/>
          </a:xfrm>
          <a:prstGeom prst="rect">
            <a:avLst/>
          </a:prstGeom>
          <a:solidFill>
            <a:srgbClr val="F4F0E7"/>
          </a:solidFill>
          <a:ln w="0">
            <a:solidFill>
              <a:srgbClr val="000000">
                <a:alpha val="0"/>
              </a:srgbClr>
            </a:solidFill>
            <a:prstDash val="solid"/>
          </a:ln>
        </p:spPr>
        <p:txBody>
          <a:bodyPr/>
          <a:lstStyle/>
          <a:p>
            <a:endParaRPr lang="en-US"/>
          </a:p>
        </p:txBody>
      </p:sp>
      <p:sp>
        <p:nvSpPr>
          <p:cNvPr id="2" name="Oval 1">
            <a:extLst>
              <a:ext uri="{FF2B5EF4-FFF2-40B4-BE49-F238E27FC236}">
                <a16:creationId xmlns:a16="http://schemas.microsoft.com/office/drawing/2014/main" id="{A8E18181-B2C6-4DE0-8D02-47311CC5A186}"/>
              </a:ext>
            </a:extLst>
          </p:cNvPr>
          <p:cNvSpPr>
            <a:spLocks noGrp="1"/>
          </p:cNvSpPr>
          <p:nvPr/>
        </p:nvSpPr>
        <p:spPr>
          <a:xfrm>
            <a:off x="552450" y="409575"/>
            <a:ext cx="85725" cy="85725"/>
          </a:xfrm>
          <a:prstGeom prst="ellipse">
            <a:avLst/>
          </a:prstGeom>
          <a:solidFill>
            <a:srgbClr val="2F7D5B"/>
          </a:solidFill>
          <a:ln w="0">
            <a:solidFill>
              <a:srgbClr val="000000">
                <a:alpha val="0"/>
              </a:srgbClr>
            </a:solidFill>
            <a:prstDash val="solid"/>
          </a:ln>
        </p:spPr>
        <p:txBody>
          <a:bodyPr/>
          <a:lstStyle/>
          <a:p>
            <a:endParaRPr lang="en-US"/>
          </a:p>
        </p:txBody>
      </p:sp>
      <p:sp>
        <p:nvSpPr>
          <p:cNvPr id="3" name="Rectangle 2">
            <a:extLst>
              <a:ext uri="{FF2B5EF4-FFF2-40B4-BE49-F238E27FC236}">
                <a16:creationId xmlns:a16="http://schemas.microsoft.com/office/drawing/2014/main" id="{AC2A847A-E70D-49EA-8784-5DFC3ECC8523}"/>
              </a:ext>
            </a:extLst>
          </p:cNvPr>
          <p:cNvSpPr>
            <a:spLocks noGrp="1"/>
          </p:cNvSpPr>
          <p:nvPr/>
        </p:nvSpPr>
        <p:spPr>
          <a:xfrm>
            <a:off x="742950" y="361950"/>
            <a:ext cx="666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65736B"/>
                </a:solidFill>
                <a:latin typeface="Aptos"/>
                <a:ea typeface="Aptos"/>
                <a:cs typeface="Aptos"/>
              </a:defRPr>
            </a:pPr>
            <a:r>
              <a:rPr sz="638" b="1">
                <a:solidFill>
                  <a:srgbClr val="65736B"/>
                </a:solidFill>
                <a:latin typeface="Aptos"/>
                <a:ea typeface="Aptos"/>
                <a:cs typeface="Aptos"/>
              </a:rPr>
              <a:t>S C E L T E   T E C N I C H E   ·   L A   M A P P A</a:t>
            </a:r>
          </a:p>
        </p:txBody>
      </p:sp>
      <p:sp>
        <p:nvSpPr>
          <p:cNvPr id="4" name="claim-title">
            <a:extLst>
              <a:ext uri="{FF2B5EF4-FFF2-40B4-BE49-F238E27FC236}">
                <a16:creationId xmlns:a16="http://schemas.microsoft.com/office/drawing/2014/main" id="{AE847759-2F09-4749-9DB9-FFDF1A8F24B4}"/>
              </a:ext>
            </a:extLst>
          </p:cNvPr>
          <p:cNvSpPr>
            <a:spLocks noGrp="1"/>
          </p:cNvSpPr>
          <p:nvPr/>
        </p:nvSpPr>
        <p:spPr>
          <a:xfrm>
            <a:off x="552450" y="742950"/>
            <a:ext cx="10287000" cy="914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3000" b="1">
                <a:solidFill>
                  <a:srgbClr val="17211D"/>
                </a:solidFill>
                <a:latin typeface="Georgia"/>
                <a:ea typeface="Georgia"/>
                <a:cs typeface="Georgia"/>
              </a:defRPr>
            </a:pPr>
            <a:r>
              <a:rPr sz="3000" b="1">
                <a:solidFill>
                  <a:srgbClr val="17211D"/>
                </a:solidFill>
                <a:latin typeface="Georgia"/>
                <a:ea typeface="Georgia"/>
                <a:cs typeface="Georgia"/>
              </a:rPr>
              <a:t>Non tutta l’intelligenza del progetto è la stessa cosa.</a:t>
            </a:r>
          </a:p>
        </p:txBody>
      </p:sp>
      <p:sp>
        <p:nvSpPr>
          <p:cNvPr id="5" name="Rectangle: Rounded Corners 4">
            <a:extLst>
              <a:ext uri="{FF2B5EF4-FFF2-40B4-BE49-F238E27FC236}">
                <a16:creationId xmlns:a16="http://schemas.microsoft.com/office/drawing/2014/main" id="{DE5C4968-F49D-49D5-A418-0887B8C025F6}"/>
              </a:ext>
            </a:extLst>
          </p:cNvPr>
          <p:cNvSpPr>
            <a:spLocks noGrp="1"/>
          </p:cNvSpPr>
          <p:nvPr/>
        </p:nvSpPr>
        <p:spPr>
          <a:xfrm>
            <a:off x="552450" y="1981200"/>
            <a:ext cx="11087100" cy="666750"/>
          </a:xfrm>
          <a:prstGeom prst="roundRect">
            <a:avLst>
              <a:gd name="adj" fmla="val 11429"/>
            </a:avLst>
          </a:prstGeom>
          <a:solidFill>
            <a:srgbClr val="FFFFFF"/>
          </a:solidFill>
          <a:ln w="9525">
            <a:solidFill>
              <a:srgbClr val="B9C3BB"/>
            </a:solidFill>
            <a:prstDash val="solid"/>
          </a:ln>
        </p:spPr>
        <p:txBody>
          <a:bodyPr/>
          <a:lstStyle/>
          <a:p>
            <a:endParaRPr lang="en-US"/>
          </a:p>
        </p:txBody>
      </p:sp>
      <p:sp>
        <p:nvSpPr>
          <p:cNvPr id="6" name="Oval 5">
            <a:extLst>
              <a:ext uri="{FF2B5EF4-FFF2-40B4-BE49-F238E27FC236}">
                <a16:creationId xmlns:a16="http://schemas.microsoft.com/office/drawing/2014/main" id="{71CB7EE5-0691-44D4-9B0C-FA78AE1D6D59}"/>
              </a:ext>
            </a:extLst>
          </p:cNvPr>
          <p:cNvSpPr>
            <a:spLocks noGrp="1"/>
          </p:cNvSpPr>
          <p:nvPr/>
        </p:nvSpPr>
        <p:spPr>
          <a:xfrm>
            <a:off x="742950" y="2152650"/>
            <a:ext cx="323850" cy="323850"/>
          </a:xfrm>
          <a:prstGeom prst="ellipse">
            <a:avLst/>
          </a:prstGeom>
          <a:solidFill>
            <a:srgbClr val="466D86"/>
          </a:solidFill>
          <a:ln w="0">
            <a:solidFill>
              <a:srgbClr val="000000">
                <a:alpha val="0"/>
              </a:srgbClr>
            </a:solidFill>
            <a:prstDash val="solid"/>
          </a:ln>
        </p:spPr>
        <p:txBody>
          <a:bodyPr/>
          <a:lstStyle/>
          <a:p>
            <a:endParaRPr lang="en-US"/>
          </a:p>
        </p:txBody>
      </p:sp>
      <p:sp>
        <p:nvSpPr>
          <p:cNvPr id="7" name="Rectangle 6">
            <a:extLst>
              <a:ext uri="{FF2B5EF4-FFF2-40B4-BE49-F238E27FC236}">
                <a16:creationId xmlns:a16="http://schemas.microsoft.com/office/drawing/2014/main" id="{D4A73A09-DF6B-4375-B32C-6E744C33ECCB}"/>
              </a:ext>
            </a:extLst>
          </p:cNvPr>
          <p:cNvSpPr>
            <a:spLocks noGrp="1"/>
          </p:cNvSpPr>
          <p:nvPr/>
        </p:nvSpPr>
        <p:spPr>
          <a:xfrm>
            <a:off x="742950" y="2190750"/>
            <a:ext cx="3238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1">
                <a:solidFill>
                  <a:srgbClr val="FFFFFF"/>
                </a:solidFill>
                <a:latin typeface="Aptos"/>
                <a:ea typeface="Aptos"/>
                <a:cs typeface="Aptos"/>
              </a:defRPr>
            </a:pPr>
            <a:r>
              <a:rPr sz="825" b="1">
                <a:solidFill>
                  <a:srgbClr val="FFFFFF"/>
                </a:solidFill>
                <a:latin typeface="Aptos"/>
                <a:ea typeface="Aptos"/>
                <a:cs typeface="Aptos"/>
              </a:rPr>
              <a:t>1</a:t>
            </a:r>
          </a:p>
        </p:txBody>
      </p:sp>
      <p:sp>
        <p:nvSpPr>
          <p:cNvPr id="8" name="Rectangle 7">
            <a:extLst>
              <a:ext uri="{FF2B5EF4-FFF2-40B4-BE49-F238E27FC236}">
                <a16:creationId xmlns:a16="http://schemas.microsoft.com/office/drawing/2014/main" id="{663357B0-A8E4-4FF5-8896-30BD4DE66C3B}"/>
              </a:ext>
            </a:extLst>
          </p:cNvPr>
          <p:cNvSpPr>
            <a:spLocks noGrp="1"/>
          </p:cNvSpPr>
          <p:nvPr/>
        </p:nvSpPr>
        <p:spPr>
          <a:xfrm>
            <a:off x="1257300" y="2114550"/>
            <a:ext cx="2095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466D86"/>
                </a:solidFill>
                <a:latin typeface="Aptos"/>
                <a:ea typeface="Aptos"/>
                <a:cs typeface="Aptos"/>
              </a:defRPr>
            </a:pPr>
            <a:r>
              <a:rPr sz="750" b="1">
                <a:solidFill>
                  <a:srgbClr val="466D86"/>
                </a:solidFill>
                <a:latin typeface="Aptos"/>
                <a:ea typeface="Aptos"/>
                <a:cs typeface="Aptos"/>
              </a:rPr>
              <a:t>PRE-ADDESTRATO</a:t>
            </a:r>
          </a:p>
        </p:txBody>
      </p:sp>
      <p:sp>
        <p:nvSpPr>
          <p:cNvPr id="9" name="Rectangle 8">
            <a:extLst>
              <a:ext uri="{FF2B5EF4-FFF2-40B4-BE49-F238E27FC236}">
                <a16:creationId xmlns:a16="http://schemas.microsoft.com/office/drawing/2014/main" id="{40635594-963B-41D2-8656-ABD2B8A7AE40}"/>
              </a:ext>
            </a:extLst>
          </p:cNvPr>
          <p:cNvSpPr>
            <a:spLocks noGrp="1"/>
          </p:cNvSpPr>
          <p:nvPr/>
        </p:nvSpPr>
        <p:spPr>
          <a:xfrm>
            <a:off x="3543300" y="2095500"/>
            <a:ext cx="54292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17211D"/>
                </a:solidFill>
                <a:latin typeface="Georgia"/>
                <a:ea typeface="Georgia"/>
                <a:cs typeface="Georgia"/>
              </a:defRPr>
            </a:pPr>
            <a:r>
              <a:rPr sz="975" b="1">
                <a:solidFill>
                  <a:srgbClr val="17211D"/>
                </a:solidFill>
                <a:latin typeface="Georgia"/>
                <a:ea typeface="Georgia"/>
                <a:cs typeface="Georgia"/>
              </a:rPr>
              <a:t>Fashion-CLIP legge le immagini</a:t>
            </a:r>
          </a:p>
        </p:txBody>
      </p:sp>
      <p:sp>
        <p:nvSpPr>
          <p:cNvPr id="10" name="Rectangle: Rounded Corners 9">
            <a:extLst>
              <a:ext uri="{FF2B5EF4-FFF2-40B4-BE49-F238E27FC236}">
                <a16:creationId xmlns:a16="http://schemas.microsoft.com/office/drawing/2014/main" id="{7F8607C7-626B-4B36-876B-72607164E7B6}"/>
              </a:ext>
            </a:extLst>
          </p:cNvPr>
          <p:cNvSpPr>
            <a:spLocks noGrp="1"/>
          </p:cNvSpPr>
          <p:nvPr/>
        </p:nvSpPr>
        <p:spPr>
          <a:xfrm>
            <a:off x="9315450" y="2171700"/>
            <a:ext cx="2038350" cy="266700"/>
          </a:xfrm>
          <a:prstGeom prst="roundRect">
            <a:avLst>
              <a:gd name="adj" fmla="val 28571"/>
            </a:avLst>
          </a:prstGeom>
          <a:solidFill>
            <a:srgbClr val="466D86"/>
          </a:solidFill>
          <a:ln w="0">
            <a:solidFill>
              <a:srgbClr val="000000">
                <a:alpha val="0"/>
              </a:srgbClr>
            </a:solidFill>
            <a:prstDash val="solid"/>
          </a:ln>
        </p:spPr>
        <p:txBody>
          <a:bodyPr/>
          <a:lstStyle/>
          <a:p>
            <a:endParaRPr lang="en-US"/>
          </a:p>
        </p:txBody>
      </p:sp>
      <p:sp>
        <p:nvSpPr>
          <p:cNvPr id="11" name="Rectangle 10">
            <a:extLst>
              <a:ext uri="{FF2B5EF4-FFF2-40B4-BE49-F238E27FC236}">
                <a16:creationId xmlns:a16="http://schemas.microsoft.com/office/drawing/2014/main" id="{3310A1C9-67F7-4BD9-B6C9-7729D8A0B39A}"/>
              </a:ext>
            </a:extLst>
          </p:cNvPr>
          <p:cNvSpPr>
            <a:spLocks noGrp="1"/>
          </p:cNvSpPr>
          <p:nvPr/>
        </p:nvSpPr>
        <p:spPr>
          <a:xfrm>
            <a:off x="9401175" y="2190750"/>
            <a:ext cx="18669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1">
                <a:solidFill>
                  <a:srgbClr val="FFFFFF"/>
                </a:solidFill>
                <a:latin typeface="Aptos"/>
                <a:ea typeface="Aptos"/>
                <a:cs typeface="Aptos"/>
              </a:defRPr>
            </a:pPr>
            <a:r>
              <a:rPr sz="675" b="1">
                <a:solidFill>
                  <a:srgbClr val="FFFFFF"/>
                </a:solidFill>
                <a:latin typeface="Aptos"/>
                <a:ea typeface="Aptos"/>
                <a:cs typeface="Aptos"/>
              </a:rPr>
              <a:t>NON ADDESTRATO DA NOI</a:t>
            </a:r>
          </a:p>
        </p:txBody>
      </p:sp>
      <p:sp>
        <p:nvSpPr>
          <p:cNvPr id="12" name="Rectangle: Rounded Corners 11">
            <a:extLst>
              <a:ext uri="{FF2B5EF4-FFF2-40B4-BE49-F238E27FC236}">
                <a16:creationId xmlns:a16="http://schemas.microsoft.com/office/drawing/2014/main" id="{19325574-E58D-4A02-9363-2180FA92E513}"/>
              </a:ext>
            </a:extLst>
          </p:cNvPr>
          <p:cNvSpPr>
            <a:spLocks noGrp="1"/>
          </p:cNvSpPr>
          <p:nvPr/>
        </p:nvSpPr>
        <p:spPr>
          <a:xfrm>
            <a:off x="552450" y="2857500"/>
            <a:ext cx="11087100" cy="666750"/>
          </a:xfrm>
          <a:prstGeom prst="roundRect">
            <a:avLst>
              <a:gd name="adj" fmla="val 11429"/>
            </a:avLst>
          </a:prstGeom>
          <a:solidFill>
            <a:srgbClr val="FFFFFF"/>
          </a:solidFill>
          <a:ln w="9525">
            <a:solidFill>
              <a:srgbClr val="B9C3BB"/>
            </a:solidFill>
            <a:prstDash val="solid"/>
          </a:ln>
        </p:spPr>
        <p:txBody>
          <a:bodyPr/>
          <a:lstStyle/>
          <a:p>
            <a:endParaRPr lang="en-US"/>
          </a:p>
        </p:txBody>
      </p:sp>
      <p:sp>
        <p:nvSpPr>
          <p:cNvPr id="13" name="Oval 12">
            <a:extLst>
              <a:ext uri="{FF2B5EF4-FFF2-40B4-BE49-F238E27FC236}">
                <a16:creationId xmlns:a16="http://schemas.microsoft.com/office/drawing/2014/main" id="{463657C2-F7F1-40E2-88DB-F26607FAEEA5}"/>
              </a:ext>
            </a:extLst>
          </p:cNvPr>
          <p:cNvSpPr>
            <a:spLocks noGrp="1"/>
          </p:cNvSpPr>
          <p:nvPr/>
        </p:nvSpPr>
        <p:spPr>
          <a:xfrm>
            <a:off x="742950" y="3028950"/>
            <a:ext cx="323850" cy="323850"/>
          </a:xfrm>
          <a:prstGeom prst="ellipse">
            <a:avLst/>
          </a:prstGeom>
          <a:solidFill>
            <a:srgbClr val="D56E42"/>
          </a:solidFill>
          <a:ln w="0">
            <a:solidFill>
              <a:srgbClr val="000000">
                <a:alpha val="0"/>
              </a:srgbClr>
            </a:solidFill>
            <a:prstDash val="solid"/>
          </a:ln>
        </p:spPr>
        <p:txBody>
          <a:bodyPr/>
          <a:lstStyle/>
          <a:p>
            <a:endParaRPr lang="en-US"/>
          </a:p>
        </p:txBody>
      </p:sp>
      <p:sp>
        <p:nvSpPr>
          <p:cNvPr id="14" name="Rectangle 13">
            <a:extLst>
              <a:ext uri="{FF2B5EF4-FFF2-40B4-BE49-F238E27FC236}">
                <a16:creationId xmlns:a16="http://schemas.microsoft.com/office/drawing/2014/main" id="{1C1AC665-7237-482C-83E4-BA4F7116F5C2}"/>
              </a:ext>
            </a:extLst>
          </p:cNvPr>
          <p:cNvSpPr>
            <a:spLocks noGrp="1"/>
          </p:cNvSpPr>
          <p:nvPr/>
        </p:nvSpPr>
        <p:spPr>
          <a:xfrm>
            <a:off x="742950" y="3067050"/>
            <a:ext cx="3238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1">
                <a:solidFill>
                  <a:srgbClr val="FFFFFF"/>
                </a:solidFill>
                <a:latin typeface="Aptos"/>
                <a:ea typeface="Aptos"/>
                <a:cs typeface="Aptos"/>
              </a:defRPr>
            </a:pPr>
            <a:r>
              <a:rPr sz="825" b="1">
                <a:solidFill>
                  <a:srgbClr val="FFFFFF"/>
                </a:solidFill>
                <a:latin typeface="Aptos"/>
                <a:ea typeface="Aptos"/>
                <a:cs typeface="Aptos"/>
              </a:rPr>
              <a:t>2</a:t>
            </a:r>
          </a:p>
        </p:txBody>
      </p:sp>
      <p:sp>
        <p:nvSpPr>
          <p:cNvPr id="15" name="Rectangle 14">
            <a:extLst>
              <a:ext uri="{FF2B5EF4-FFF2-40B4-BE49-F238E27FC236}">
                <a16:creationId xmlns:a16="http://schemas.microsoft.com/office/drawing/2014/main" id="{5E545E32-A884-414E-8A2A-4364BAA67840}"/>
              </a:ext>
            </a:extLst>
          </p:cNvPr>
          <p:cNvSpPr>
            <a:spLocks noGrp="1"/>
          </p:cNvSpPr>
          <p:nvPr/>
        </p:nvSpPr>
        <p:spPr>
          <a:xfrm>
            <a:off x="1257300" y="2990850"/>
            <a:ext cx="2095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D56E42"/>
                </a:solidFill>
                <a:latin typeface="Aptos"/>
                <a:ea typeface="Aptos"/>
                <a:cs typeface="Aptos"/>
              </a:defRPr>
            </a:pPr>
            <a:r>
              <a:rPr sz="750" b="1">
                <a:solidFill>
                  <a:srgbClr val="D56E42"/>
                </a:solidFill>
                <a:latin typeface="Aptos"/>
                <a:ea typeface="Aptos"/>
                <a:cs typeface="Aptos"/>
              </a:rPr>
              <a:t>ADDESTRATO DA NOI</a:t>
            </a:r>
          </a:p>
        </p:txBody>
      </p:sp>
      <p:sp>
        <p:nvSpPr>
          <p:cNvPr id="16" name="Rectangle 15">
            <a:extLst>
              <a:ext uri="{FF2B5EF4-FFF2-40B4-BE49-F238E27FC236}">
                <a16:creationId xmlns:a16="http://schemas.microsoft.com/office/drawing/2014/main" id="{57F5A9C2-D668-4FB1-8338-4A76B5B61782}"/>
              </a:ext>
            </a:extLst>
          </p:cNvPr>
          <p:cNvSpPr>
            <a:spLocks noGrp="1"/>
          </p:cNvSpPr>
          <p:nvPr/>
        </p:nvSpPr>
        <p:spPr>
          <a:xfrm>
            <a:off x="3543300" y="2971800"/>
            <a:ext cx="54292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17211D"/>
                </a:solidFill>
                <a:latin typeface="Georgia"/>
                <a:ea typeface="Georgia"/>
                <a:cs typeface="Georgia"/>
              </a:defRPr>
            </a:pPr>
            <a:r>
              <a:rPr sz="975" b="1">
                <a:solidFill>
                  <a:srgbClr val="17211D"/>
                </a:solidFill>
                <a:latin typeface="Georgia"/>
                <a:ea typeface="Georgia"/>
                <a:cs typeface="Georgia"/>
              </a:rPr>
              <a:t>stato del capo + gap del guardaroba</a:t>
            </a:r>
          </a:p>
        </p:txBody>
      </p:sp>
      <p:sp>
        <p:nvSpPr>
          <p:cNvPr id="17" name="Rectangle: Rounded Corners 16">
            <a:extLst>
              <a:ext uri="{FF2B5EF4-FFF2-40B4-BE49-F238E27FC236}">
                <a16:creationId xmlns:a16="http://schemas.microsoft.com/office/drawing/2014/main" id="{0EDA7125-9289-4BF4-BB1E-30ACBD9C25DA}"/>
              </a:ext>
            </a:extLst>
          </p:cNvPr>
          <p:cNvSpPr>
            <a:spLocks noGrp="1"/>
          </p:cNvSpPr>
          <p:nvPr/>
        </p:nvSpPr>
        <p:spPr>
          <a:xfrm>
            <a:off x="9315450" y="3048000"/>
            <a:ext cx="2038350" cy="266700"/>
          </a:xfrm>
          <a:prstGeom prst="roundRect">
            <a:avLst>
              <a:gd name="adj" fmla="val 28571"/>
            </a:avLst>
          </a:prstGeom>
          <a:solidFill>
            <a:srgbClr val="D56E42"/>
          </a:solidFill>
          <a:ln w="0">
            <a:solidFill>
              <a:srgbClr val="000000">
                <a:alpha val="0"/>
              </a:srgbClr>
            </a:solidFill>
            <a:prstDash val="solid"/>
          </a:ln>
        </p:spPr>
        <p:txBody>
          <a:bodyPr/>
          <a:lstStyle/>
          <a:p>
            <a:endParaRPr lang="en-US"/>
          </a:p>
        </p:txBody>
      </p:sp>
      <p:sp>
        <p:nvSpPr>
          <p:cNvPr id="18" name="Rectangle 17">
            <a:extLst>
              <a:ext uri="{FF2B5EF4-FFF2-40B4-BE49-F238E27FC236}">
                <a16:creationId xmlns:a16="http://schemas.microsoft.com/office/drawing/2014/main" id="{4F551C50-F930-4662-969F-BBF83F584A7D}"/>
              </a:ext>
            </a:extLst>
          </p:cNvPr>
          <p:cNvSpPr>
            <a:spLocks noGrp="1"/>
          </p:cNvSpPr>
          <p:nvPr/>
        </p:nvSpPr>
        <p:spPr>
          <a:xfrm>
            <a:off x="9401175" y="3067050"/>
            <a:ext cx="18669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1">
                <a:solidFill>
                  <a:srgbClr val="FFFFFF"/>
                </a:solidFill>
                <a:latin typeface="Aptos"/>
                <a:ea typeface="Aptos"/>
                <a:cs typeface="Aptos"/>
              </a:defRPr>
            </a:pPr>
            <a:r>
              <a:rPr sz="675" b="1">
                <a:solidFill>
                  <a:srgbClr val="FFFFFF"/>
                </a:solidFill>
                <a:latin typeface="Aptos"/>
                <a:ea typeface="Aptos"/>
                <a:cs typeface="Aptos"/>
              </a:rPr>
              <a:t>DUE RETI NEURALI</a:t>
            </a:r>
          </a:p>
        </p:txBody>
      </p:sp>
      <p:sp>
        <p:nvSpPr>
          <p:cNvPr id="19" name="Rectangle: Rounded Corners 18">
            <a:extLst>
              <a:ext uri="{FF2B5EF4-FFF2-40B4-BE49-F238E27FC236}">
                <a16:creationId xmlns:a16="http://schemas.microsoft.com/office/drawing/2014/main" id="{F0CA9F43-D97C-482F-BB64-735397E96956}"/>
              </a:ext>
            </a:extLst>
          </p:cNvPr>
          <p:cNvSpPr>
            <a:spLocks noGrp="1"/>
          </p:cNvSpPr>
          <p:nvPr/>
        </p:nvSpPr>
        <p:spPr>
          <a:xfrm>
            <a:off x="552450" y="3733800"/>
            <a:ext cx="11087100" cy="666750"/>
          </a:xfrm>
          <a:prstGeom prst="roundRect">
            <a:avLst>
              <a:gd name="adj" fmla="val 11429"/>
            </a:avLst>
          </a:prstGeom>
          <a:solidFill>
            <a:srgbClr val="FFFFFF"/>
          </a:solidFill>
          <a:ln w="9525">
            <a:solidFill>
              <a:srgbClr val="B9C3BB"/>
            </a:solidFill>
            <a:prstDash val="solid"/>
          </a:ln>
        </p:spPr>
        <p:txBody>
          <a:bodyPr/>
          <a:lstStyle/>
          <a:p>
            <a:endParaRPr lang="en-US"/>
          </a:p>
        </p:txBody>
      </p:sp>
      <p:sp>
        <p:nvSpPr>
          <p:cNvPr id="20" name="Oval 19">
            <a:extLst>
              <a:ext uri="{FF2B5EF4-FFF2-40B4-BE49-F238E27FC236}">
                <a16:creationId xmlns:a16="http://schemas.microsoft.com/office/drawing/2014/main" id="{A1AE5278-4467-41FF-AE01-43FCDBC63704}"/>
              </a:ext>
            </a:extLst>
          </p:cNvPr>
          <p:cNvSpPr>
            <a:spLocks noGrp="1"/>
          </p:cNvSpPr>
          <p:nvPr/>
        </p:nvSpPr>
        <p:spPr>
          <a:xfrm>
            <a:off x="742950" y="3905250"/>
            <a:ext cx="323850" cy="323850"/>
          </a:xfrm>
          <a:prstGeom prst="ellipse">
            <a:avLst/>
          </a:prstGeom>
          <a:solidFill>
            <a:srgbClr val="2F7D5B"/>
          </a:solidFill>
          <a:ln w="0">
            <a:solidFill>
              <a:srgbClr val="000000">
                <a:alpha val="0"/>
              </a:srgbClr>
            </a:solidFill>
            <a:prstDash val="solid"/>
          </a:ln>
        </p:spPr>
        <p:txBody>
          <a:bodyPr/>
          <a:lstStyle/>
          <a:p>
            <a:endParaRPr lang="en-US"/>
          </a:p>
        </p:txBody>
      </p:sp>
      <p:sp>
        <p:nvSpPr>
          <p:cNvPr id="21" name="Rectangle 20">
            <a:extLst>
              <a:ext uri="{FF2B5EF4-FFF2-40B4-BE49-F238E27FC236}">
                <a16:creationId xmlns:a16="http://schemas.microsoft.com/office/drawing/2014/main" id="{F32950AA-D082-4503-A285-91D8098CC1CC}"/>
              </a:ext>
            </a:extLst>
          </p:cNvPr>
          <p:cNvSpPr>
            <a:spLocks noGrp="1"/>
          </p:cNvSpPr>
          <p:nvPr/>
        </p:nvSpPr>
        <p:spPr>
          <a:xfrm>
            <a:off x="742950" y="3943350"/>
            <a:ext cx="3238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1">
                <a:solidFill>
                  <a:srgbClr val="FFFFFF"/>
                </a:solidFill>
                <a:latin typeface="Aptos"/>
                <a:ea typeface="Aptos"/>
                <a:cs typeface="Aptos"/>
              </a:defRPr>
            </a:pPr>
            <a:r>
              <a:rPr sz="825" b="1">
                <a:solidFill>
                  <a:srgbClr val="FFFFFF"/>
                </a:solidFill>
                <a:latin typeface="Aptos"/>
                <a:ea typeface="Aptos"/>
                <a:cs typeface="Aptos"/>
              </a:rPr>
              <a:t>3</a:t>
            </a:r>
          </a:p>
        </p:txBody>
      </p:sp>
      <p:sp>
        <p:nvSpPr>
          <p:cNvPr id="22" name="Rectangle 21">
            <a:extLst>
              <a:ext uri="{FF2B5EF4-FFF2-40B4-BE49-F238E27FC236}">
                <a16:creationId xmlns:a16="http://schemas.microsoft.com/office/drawing/2014/main" id="{29A86D1D-AA0A-4A87-8203-7A91A329B002}"/>
              </a:ext>
            </a:extLst>
          </p:cNvPr>
          <p:cNvSpPr>
            <a:spLocks noGrp="1"/>
          </p:cNvSpPr>
          <p:nvPr/>
        </p:nvSpPr>
        <p:spPr>
          <a:xfrm>
            <a:off x="1257300" y="3867150"/>
            <a:ext cx="2095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2F7D5B"/>
                </a:solidFill>
                <a:latin typeface="Aptos"/>
                <a:ea typeface="Aptos"/>
                <a:cs typeface="Aptos"/>
              </a:defRPr>
            </a:pPr>
            <a:r>
              <a:rPr sz="750" b="1">
                <a:solidFill>
                  <a:srgbClr val="2F7D5B"/>
                </a:solidFill>
                <a:latin typeface="Aptos"/>
                <a:ea typeface="Aptos"/>
                <a:cs typeface="Aptos"/>
              </a:rPr>
              <a:t>REGOLE TRASPARENTI</a:t>
            </a:r>
          </a:p>
        </p:txBody>
      </p:sp>
      <p:sp>
        <p:nvSpPr>
          <p:cNvPr id="23" name="Rectangle 22">
            <a:extLst>
              <a:ext uri="{FF2B5EF4-FFF2-40B4-BE49-F238E27FC236}">
                <a16:creationId xmlns:a16="http://schemas.microsoft.com/office/drawing/2014/main" id="{FC10C2FD-99DD-4D4B-A85A-E0AE5B8B614D}"/>
              </a:ext>
            </a:extLst>
          </p:cNvPr>
          <p:cNvSpPr>
            <a:spLocks noGrp="1"/>
          </p:cNvSpPr>
          <p:nvPr/>
        </p:nvSpPr>
        <p:spPr>
          <a:xfrm>
            <a:off x="3543300" y="3848100"/>
            <a:ext cx="54292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17211D"/>
                </a:solidFill>
                <a:latin typeface="Georgia"/>
                <a:ea typeface="Georgia"/>
                <a:cs typeface="Georgia"/>
              </a:defRPr>
            </a:pPr>
            <a:r>
              <a:rPr sz="975" b="1">
                <a:solidFill>
                  <a:srgbClr val="17211D"/>
                </a:solidFill>
                <a:latin typeface="Georgia"/>
                <a:ea typeface="Georgia"/>
                <a:cs typeface="Georgia"/>
              </a:rPr>
              <a:t>ghost · outfit · cost-per-wear · impatto</a:t>
            </a:r>
          </a:p>
        </p:txBody>
      </p:sp>
      <p:sp>
        <p:nvSpPr>
          <p:cNvPr id="24" name="Rectangle: Rounded Corners 23">
            <a:extLst>
              <a:ext uri="{FF2B5EF4-FFF2-40B4-BE49-F238E27FC236}">
                <a16:creationId xmlns:a16="http://schemas.microsoft.com/office/drawing/2014/main" id="{51F8363D-C6DB-4C46-9AC3-5D5A3A4093BC}"/>
              </a:ext>
            </a:extLst>
          </p:cNvPr>
          <p:cNvSpPr>
            <a:spLocks noGrp="1"/>
          </p:cNvSpPr>
          <p:nvPr/>
        </p:nvSpPr>
        <p:spPr>
          <a:xfrm>
            <a:off x="9315450" y="3924300"/>
            <a:ext cx="2038350" cy="266700"/>
          </a:xfrm>
          <a:prstGeom prst="roundRect">
            <a:avLst>
              <a:gd name="adj" fmla="val 28571"/>
            </a:avLst>
          </a:prstGeom>
          <a:solidFill>
            <a:srgbClr val="2F7D5B"/>
          </a:solidFill>
          <a:ln w="0">
            <a:solidFill>
              <a:srgbClr val="000000">
                <a:alpha val="0"/>
              </a:srgbClr>
            </a:solidFill>
            <a:prstDash val="solid"/>
          </a:ln>
        </p:spPr>
        <p:txBody>
          <a:bodyPr/>
          <a:lstStyle/>
          <a:p>
            <a:endParaRPr lang="en-US"/>
          </a:p>
        </p:txBody>
      </p:sp>
      <p:sp>
        <p:nvSpPr>
          <p:cNvPr id="25" name="Rectangle 24">
            <a:extLst>
              <a:ext uri="{FF2B5EF4-FFF2-40B4-BE49-F238E27FC236}">
                <a16:creationId xmlns:a16="http://schemas.microsoft.com/office/drawing/2014/main" id="{40C50171-18B3-4D48-AD93-0E57B1609355}"/>
              </a:ext>
            </a:extLst>
          </p:cNvPr>
          <p:cNvSpPr>
            <a:spLocks noGrp="1"/>
          </p:cNvSpPr>
          <p:nvPr/>
        </p:nvSpPr>
        <p:spPr>
          <a:xfrm>
            <a:off x="9401175" y="3943350"/>
            <a:ext cx="18669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1">
                <a:solidFill>
                  <a:srgbClr val="FFFFFF"/>
                </a:solidFill>
                <a:latin typeface="Aptos"/>
                <a:ea typeface="Aptos"/>
                <a:cs typeface="Aptos"/>
              </a:defRPr>
            </a:pPr>
            <a:r>
              <a:rPr sz="675" b="1">
                <a:solidFill>
                  <a:srgbClr val="FFFFFF"/>
                </a:solidFill>
                <a:latin typeface="Aptos"/>
                <a:ea typeface="Aptos"/>
                <a:cs typeface="Aptos"/>
              </a:rPr>
              <a:t>DETERMINISTICHE</a:t>
            </a:r>
          </a:p>
        </p:txBody>
      </p:sp>
      <p:sp>
        <p:nvSpPr>
          <p:cNvPr id="26" name="Rectangle: Rounded Corners 25">
            <a:extLst>
              <a:ext uri="{FF2B5EF4-FFF2-40B4-BE49-F238E27FC236}">
                <a16:creationId xmlns:a16="http://schemas.microsoft.com/office/drawing/2014/main" id="{8F17CBBC-98C7-4E4C-B9CE-DDD2E97E9739}"/>
              </a:ext>
            </a:extLst>
          </p:cNvPr>
          <p:cNvSpPr>
            <a:spLocks noGrp="1"/>
          </p:cNvSpPr>
          <p:nvPr/>
        </p:nvSpPr>
        <p:spPr>
          <a:xfrm>
            <a:off x="552450" y="4610100"/>
            <a:ext cx="11087100" cy="666750"/>
          </a:xfrm>
          <a:prstGeom prst="roundRect">
            <a:avLst>
              <a:gd name="adj" fmla="val 11429"/>
            </a:avLst>
          </a:prstGeom>
          <a:solidFill>
            <a:srgbClr val="E5EDC1"/>
          </a:solidFill>
          <a:ln w="9525">
            <a:solidFill>
              <a:srgbClr val="B9D94A"/>
            </a:solidFill>
            <a:prstDash val="solid"/>
          </a:ln>
        </p:spPr>
        <p:txBody>
          <a:bodyPr/>
          <a:lstStyle/>
          <a:p>
            <a:endParaRPr lang="en-US"/>
          </a:p>
        </p:txBody>
      </p:sp>
      <p:sp>
        <p:nvSpPr>
          <p:cNvPr id="27" name="Oval 26">
            <a:extLst>
              <a:ext uri="{FF2B5EF4-FFF2-40B4-BE49-F238E27FC236}">
                <a16:creationId xmlns:a16="http://schemas.microsoft.com/office/drawing/2014/main" id="{14BFAD59-6B19-40B0-84F3-3E2DB6D14072}"/>
              </a:ext>
            </a:extLst>
          </p:cNvPr>
          <p:cNvSpPr>
            <a:spLocks noGrp="1"/>
          </p:cNvSpPr>
          <p:nvPr/>
        </p:nvSpPr>
        <p:spPr>
          <a:xfrm>
            <a:off x="742950" y="4781550"/>
            <a:ext cx="323850" cy="323850"/>
          </a:xfrm>
          <a:prstGeom prst="ellipse">
            <a:avLst/>
          </a:prstGeom>
          <a:solidFill>
            <a:srgbClr val="B9D94A"/>
          </a:solidFill>
          <a:ln w="0">
            <a:solidFill>
              <a:srgbClr val="000000">
                <a:alpha val="0"/>
              </a:srgbClr>
            </a:solidFill>
            <a:prstDash val="solid"/>
          </a:ln>
        </p:spPr>
        <p:txBody>
          <a:bodyPr/>
          <a:lstStyle/>
          <a:p>
            <a:endParaRPr lang="en-US"/>
          </a:p>
        </p:txBody>
      </p:sp>
      <p:sp>
        <p:nvSpPr>
          <p:cNvPr id="28" name="Rectangle 27">
            <a:extLst>
              <a:ext uri="{FF2B5EF4-FFF2-40B4-BE49-F238E27FC236}">
                <a16:creationId xmlns:a16="http://schemas.microsoft.com/office/drawing/2014/main" id="{DA9F3D7B-FCA9-4C4A-9F92-3DBB730C3EF5}"/>
              </a:ext>
            </a:extLst>
          </p:cNvPr>
          <p:cNvSpPr>
            <a:spLocks noGrp="1"/>
          </p:cNvSpPr>
          <p:nvPr/>
        </p:nvSpPr>
        <p:spPr>
          <a:xfrm>
            <a:off x="742950" y="4819650"/>
            <a:ext cx="3238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1">
                <a:solidFill>
                  <a:srgbClr val="123C31"/>
                </a:solidFill>
                <a:latin typeface="Aptos"/>
                <a:ea typeface="Aptos"/>
                <a:cs typeface="Aptos"/>
              </a:defRPr>
            </a:pPr>
            <a:r>
              <a:rPr sz="825" b="1">
                <a:solidFill>
                  <a:srgbClr val="123C31"/>
                </a:solidFill>
                <a:latin typeface="Aptos"/>
                <a:ea typeface="Aptos"/>
                <a:cs typeface="Aptos"/>
              </a:rPr>
              <a:t>4</a:t>
            </a:r>
          </a:p>
        </p:txBody>
      </p:sp>
      <p:sp>
        <p:nvSpPr>
          <p:cNvPr id="29" name="Rectangle 28">
            <a:extLst>
              <a:ext uri="{FF2B5EF4-FFF2-40B4-BE49-F238E27FC236}">
                <a16:creationId xmlns:a16="http://schemas.microsoft.com/office/drawing/2014/main" id="{BC42520E-088D-4FD7-AE87-0E8147777BA1}"/>
              </a:ext>
            </a:extLst>
          </p:cNvPr>
          <p:cNvSpPr>
            <a:spLocks noGrp="1"/>
          </p:cNvSpPr>
          <p:nvPr/>
        </p:nvSpPr>
        <p:spPr>
          <a:xfrm>
            <a:off x="1257300" y="4743450"/>
            <a:ext cx="2095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123C31"/>
                </a:solidFill>
                <a:latin typeface="Aptos"/>
                <a:ea typeface="Aptos"/>
                <a:cs typeface="Aptos"/>
              </a:defRPr>
            </a:pPr>
            <a:r>
              <a:rPr sz="750" b="1">
                <a:solidFill>
                  <a:srgbClr val="123C31"/>
                </a:solidFill>
                <a:latin typeface="Aptos"/>
                <a:ea typeface="Aptos"/>
                <a:cs typeface="Aptos"/>
              </a:rPr>
              <a:t>AI GENERATIVA</a:t>
            </a:r>
          </a:p>
        </p:txBody>
      </p:sp>
      <p:sp>
        <p:nvSpPr>
          <p:cNvPr id="30" name="Rectangle 29">
            <a:extLst>
              <a:ext uri="{FF2B5EF4-FFF2-40B4-BE49-F238E27FC236}">
                <a16:creationId xmlns:a16="http://schemas.microsoft.com/office/drawing/2014/main" id="{E1DF76A7-3BCC-44DF-B023-91D4A5D684D5}"/>
              </a:ext>
            </a:extLst>
          </p:cNvPr>
          <p:cNvSpPr>
            <a:spLocks noGrp="1"/>
          </p:cNvSpPr>
          <p:nvPr/>
        </p:nvSpPr>
        <p:spPr>
          <a:xfrm>
            <a:off x="3543300" y="4724400"/>
            <a:ext cx="54292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17211D"/>
                </a:solidFill>
                <a:latin typeface="Georgia"/>
                <a:ea typeface="Georgia"/>
                <a:cs typeface="Georgia"/>
              </a:defRPr>
            </a:pPr>
            <a:r>
              <a:rPr sz="975" b="1">
                <a:solidFill>
                  <a:srgbClr val="17211D"/>
                </a:solidFill>
                <a:latin typeface="Georgia"/>
                <a:ea typeface="Georgia"/>
                <a:cs typeface="Georgia"/>
              </a:rPr>
              <a:t>ideazione, codice, test, documenti, slide e concept del logo</a:t>
            </a:r>
          </a:p>
        </p:txBody>
      </p:sp>
      <p:sp>
        <p:nvSpPr>
          <p:cNvPr id="31" name="Rectangle: Rounded Corners 30">
            <a:extLst>
              <a:ext uri="{FF2B5EF4-FFF2-40B4-BE49-F238E27FC236}">
                <a16:creationId xmlns:a16="http://schemas.microsoft.com/office/drawing/2014/main" id="{F2A2170E-3C2B-48AD-8406-1D261A2B089D}"/>
              </a:ext>
            </a:extLst>
          </p:cNvPr>
          <p:cNvSpPr>
            <a:spLocks noGrp="1"/>
          </p:cNvSpPr>
          <p:nvPr/>
        </p:nvSpPr>
        <p:spPr>
          <a:xfrm>
            <a:off x="9315450" y="4800600"/>
            <a:ext cx="2038350" cy="266700"/>
          </a:xfrm>
          <a:prstGeom prst="roundRect">
            <a:avLst>
              <a:gd name="adj" fmla="val 28571"/>
            </a:avLst>
          </a:prstGeom>
          <a:solidFill>
            <a:srgbClr val="B9D94A"/>
          </a:solidFill>
          <a:ln w="0">
            <a:solidFill>
              <a:srgbClr val="000000">
                <a:alpha val="0"/>
              </a:srgbClr>
            </a:solidFill>
            <a:prstDash val="solid"/>
          </a:ln>
        </p:spPr>
        <p:txBody>
          <a:bodyPr/>
          <a:lstStyle/>
          <a:p>
            <a:endParaRPr lang="en-US"/>
          </a:p>
        </p:txBody>
      </p:sp>
      <p:sp>
        <p:nvSpPr>
          <p:cNvPr id="32" name="Rectangle 31">
            <a:extLst>
              <a:ext uri="{FF2B5EF4-FFF2-40B4-BE49-F238E27FC236}">
                <a16:creationId xmlns:a16="http://schemas.microsoft.com/office/drawing/2014/main" id="{37A291E8-0B57-40A0-B248-F089EBDD47F9}"/>
              </a:ext>
            </a:extLst>
          </p:cNvPr>
          <p:cNvSpPr>
            <a:spLocks noGrp="1"/>
          </p:cNvSpPr>
          <p:nvPr/>
        </p:nvSpPr>
        <p:spPr>
          <a:xfrm>
            <a:off x="9401175" y="4819650"/>
            <a:ext cx="18669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1">
                <a:solidFill>
                  <a:srgbClr val="123C31"/>
                </a:solidFill>
                <a:latin typeface="Aptos"/>
                <a:ea typeface="Aptos"/>
                <a:cs typeface="Aptos"/>
              </a:defRPr>
            </a:pPr>
            <a:r>
              <a:rPr sz="675" b="1">
                <a:solidFill>
                  <a:srgbClr val="123C31"/>
                </a:solidFill>
                <a:latin typeface="Aptos"/>
                <a:ea typeface="Aptos"/>
                <a:cs typeface="Aptos"/>
              </a:rPr>
              <a:t>CON VERIFICA UMANA</a:t>
            </a:r>
          </a:p>
        </p:txBody>
      </p:sp>
      <p:sp>
        <p:nvSpPr>
          <p:cNvPr id="33" name="Rectangle 32">
            <a:extLst>
              <a:ext uri="{FF2B5EF4-FFF2-40B4-BE49-F238E27FC236}">
                <a16:creationId xmlns:a16="http://schemas.microsoft.com/office/drawing/2014/main" id="{26AF7F8E-6622-4811-90C5-40BDA0F86A21}"/>
              </a:ext>
            </a:extLst>
          </p:cNvPr>
          <p:cNvSpPr>
            <a:spLocks noGrp="1"/>
          </p:cNvSpPr>
          <p:nvPr/>
        </p:nvSpPr>
        <p:spPr>
          <a:xfrm>
            <a:off x="1619250" y="5848350"/>
            <a:ext cx="8953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88" b="0">
                <a:solidFill>
                  <a:srgbClr val="65736B"/>
                </a:solidFill>
                <a:latin typeface="Aptos"/>
                <a:ea typeface="Aptos"/>
                <a:cs typeface="Aptos"/>
              </a:defRPr>
            </a:pPr>
            <a:r>
              <a:rPr sz="788" b="0">
                <a:solidFill>
                  <a:srgbClr val="65736B"/>
                </a:solidFill>
                <a:latin typeface="Aptos"/>
                <a:ea typeface="Aptos"/>
                <a:cs typeface="Aptos"/>
              </a:rPr>
              <a:t>Nel prodotto, LLM e virtual try-on restano opzionali: se assenti, il core funziona.</a:t>
            </a:r>
          </a:p>
        </p:txBody>
      </p:sp>
      <p:sp>
        <p:nvSpPr>
          <p:cNvPr id="34" name="Rectangle 33">
            <a:extLst>
              <a:ext uri="{FF2B5EF4-FFF2-40B4-BE49-F238E27FC236}">
                <a16:creationId xmlns:a16="http://schemas.microsoft.com/office/drawing/2014/main" id="{E9F937D9-E3F9-4560-9A71-9A1AD6B60CAC}"/>
              </a:ext>
            </a:extLst>
          </p:cNvPr>
          <p:cNvSpPr>
            <a:spLocks noGrp="1"/>
          </p:cNvSpPr>
          <p:nvPr/>
        </p:nvSpPr>
        <p:spPr>
          <a:xfrm>
            <a:off x="552450" y="6419850"/>
            <a:ext cx="11087100" cy="9525"/>
          </a:xfrm>
          <a:prstGeom prst="rect">
            <a:avLst/>
          </a:prstGeom>
          <a:solidFill>
            <a:srgbClr val="B9C3BB"/>
          </a:solidFill>
          <a:ln w="0">
            <a:solidFill>
              <a:srgbClr val="000000">
                <a:alpha val="0"/>
              </a:srgbClr>
            </a:solidFill>
            <a:prstDash val="solid"/>
          </a:ln>
        </p:spPr>
        <p:txBody>
          <a:bodyPr/>
          <a:lstStyle/>
          <a:p>
            <a:endParaRPr lang="en-US"/>
          </a:p>
        </p:txBody>
      </p:sp>
      <p:sp>
        <p:nvSpPr>
          <p:cNvPr id="35" name="Rectangle 34">
            <a:extLst>
              <a:ext uri="{FF2B5EF4-FFF2-40B4-BE49-F238E27FC236}">
                <a16:creationId xmlns:a16="http://schemas.microsoft.com/office/drawing/2014/main" id="{1207D211-1644-4747-B118-9E8D9F76B56E}"/>
              </a:ext>
            </a:extLst>
          </p:cNvPr>
          <p:cNvSpPr>
            <a:spLocks noGrp="1"/>
          </p:cNvSpPr>
          <p:nvPr/>
        </p:nvSpPr>
        <p:spPr>
          <a:xfrm>
            <a:off x="552450" y="6496050"/>
            <a:ext cx="100393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65736B"/>
                </a:solidFill>
                <a:latin typeface="Aptos"/>
                <a:ea typeface="Aptos"/>
                <a:cs typeface="Aptos"/>
              </a:defRPr>
            </a:pPr>
            <a:r>
              <a:rPr sz="563" b="0">
                <a:solidFill>
                  <a:srgbClr val="65736B"/>
                </a:solidFill>
                <a:latin typeface="Aptos"/>
                <a:ea typeface="Aptos"/>
                <a:cs typeface="Aptos"/>
              </a:rPr>
              <a:t>Separazione verificata nel repository · AI generativa usata anche per creare il progetto e il logo</a:t>
            </a:r>
          </a:p>
        </p:txBody>
      </p:sp>
      <p:sp>
        <p:nvSpPr>
          <p:cNvPr id="36" name="Rectangle 35">
            <a:extLst>
              <a:ext uri="{FF2B5EF4-FFF2-40B4-BE49-F238E27FC236}">
                <a16:creationId xmlns:a16="http://schemas.microsoft.com/office/drawing/2014/main" id="{19F63205-728F-4039-A38B-018E7FD12B42}"/>
              </a:ext>
            </a:extLst>
          </p:cNvPr>
          <p:cNvSpPr>
            <a:spLocks noGrp="1"/>
          </p:cNvSpPr>
          <p:nvPr/>
        </p:nvSpPr>
        <p:spPr>
          <a:xfrm>
            <a:off x="11049000" y="6477000"/>
            <a:ext cx="590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65736B"/>
                </a:solidFill>
                <a:latin typeface="Georgia"/>
                <a:ea typeface="Georgia"/>
                <a:cs typeface="Georgia"/>
              </a:defRPr>
            </a:pPr>
            <a:r>
              <a:rPr sz="750" b="1">
                <a:solidFill>
                  <a:srgbClr val="65736B"/>
                </a:solidFill>
                <a:latin typeface="Georgia"/>
                <a:ea typeface="Georgia"/>
                <a:cs typeface="Georgia"/>
              </a:rPr>
              <a:t>12</a:t>
            </a:r>
          </a:p>
        </p:txBody>
      </p:sp>
    </p:spTree>
    <p:extLst>
      <p:ext uri="{BB962C8B-B14F-4D97-AF65-F5344CB8AC3E}">
        <p14:creationId xmlns:p14="http://schemas.microsoft.com/office/powerpoint/2010/main" val="3165678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background">
            <a:extLst>
              <a:ext uri="{FF2B5EF4-FFF2-40B4-BE49-F238E27FC236}">
                <a16:creationId xmlns:a16="http://schemas.microsoft.com/office/drawing/2014/main" id="{8B0CAB18-DB7D-43F2-A6F1-CE10CB7AFF82}"/>
              </a:ext>
            </a:extLst>
          </p:cNvPr>
          <p:cNvSpPr>
            <a:spLocks noGrp="1"/>
          </p:cNvSpPr>
          <p:nvPr/>
        </p:nvSpPr>
        <p:spPr>
          <a:xfrm>
            <a:off x="0" y="0"/>
            <a:ext cx="12192000" cy="6858000"/>
          </a:xfrm>
          <a:prstGeom prst="rect">
            <a:avLst/>
          </a:prstGeom>
          <a:solidFill>
            <a:srgbClr val="F4F0E7"/>
          </a:solidFill>
          <a:ln w="0">
            <a:solidFill>
              <a:srgbClr val="000000">
                <a:alpha val="0"/>
              </a:srgbClr>
            </a:solidFill>
            <a:prstDash val="solid"/>
          </a:ln>
        </p:spPr>
        <p:txBody>
          <a:bodyPr/>
          <a:lstStyle/>
          <a:p>
            <a:endParaRPr lang="en-US"/>
          </a:p>
        </p:txBody>
      </p:sp>
      <p:sp>
        <p:nvSpPr>
          <p:cNvPr id="2" name="Oval 1">
            <a:extLst>
              <a:ext uri="{FF2B5EF4-FFF2-40B4-BE49-F238E27FC236}">
                <a16:creationId xmlns:a16="http://schemas.microsoft.com/office/drawing/2014/main" id="{3172D667-706A-40D8-BA09-9F0DFD8DE39A}"/>
              </a:ext>
            </a:extLst>
          </p:cNvPr>
          <p:cNvSpPr>
            <a:spLocks noGrp="1"/>
          </p:cNvSpPr>
          <p:nvPr/>
        </p:nvSpPr>
        <p:spPr>
          <a:xfrm>
            <a:off x="552450" y="409575"/>
            <a:ext cx="85725" cy="85725"/>
          </a:xfrm>
          <a:prstGeom prst="ellipse">
            <a:avLst/>
          </a:prstGeom>
          <a:solidFill>
            <a:srgbClr val="2F7D5B"/>
          </a:solidFill>
          <a:ln w="0">
            <a:solidFill>
              <a:srgbClr val="000000">
                <a:alpha val="0"/>
              </a:srgbClr>
            </a:solidFill>
            <a:prstDash val="solid"/>
          </a:ln>
        </p:spPr>
        <p:txBody>
          <a:bodyPr/>
          <a:lstStyle/>
          <a:p>
            <a:endParaRPr lang="en-US"/>
          </a:p>
        </p:txBody>
      </p:sp>
      <p:sp>
        <p:nvSpPr>
          <p:cNvPr id="3" name="Rectangle 2">
            <a:extLst>
              <a:ext uri="{FF2B5EF4-FFF2-40B4-BE49-F238E27FC236}">
                <a16:creationId xmlns:a16="http://schemas.microsoft.com/office/drawing/2014/main" id="{734F8617-0384-4D30-933E-643E2E31BAFA}"/>
              </a:ext>
            </a:extLst>
          </p:cNvPr>
          <p:cNvSpPr>
            <a:spLocks noGrp="1"/>
          </p:cNvSpPr>
          <p:nvPr/>
        </p:nvSpPr>
        <p:spPr>
          <a:xfrm>
            <a:off x="742950" y="361950"/>
            <a:ext cx="666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65736B"/>
                </a:solidFill>
                <a:latin typeface="Aptos"/>
                <a:ea typeface="Aptos"/>
                <a:cs typeface="Aptos"/>
              </a:defRPr>
            </a:pPr>
            <a:r>
              <a:rPr sz="638" b="1">
                <a:solidFill>
                  <a:srgbClr val="65736B"/>
                </a:solidFill>
                <a:latin typeface="Aptos"/>
                <a:ea typeface="Aptos"/>
                <a:cs typeface="Aptos"/>
              </a:rPr>
              <a:t>M A C H I N E   L E A R N I N G   ·   C O S A   A B B I A M O   A D D E S T R A T O</a:t>
            </a:r>
          </a:p>
        </p:txBody>
      </p:sp>
      <p:sp>
        <p:nvSpPr>
          <p:cNvPr id="4" name="claim-title">
            <a:extLst>
              <a:ext uri="{FF2B5EF4-FFF2-40B4-BE49-F238E27FC236}">
                <a16:creationId xmlns:a16="http://schemas.microsoft.com/office/drawing/2014/main" id="{AA12B5D6-D17C-4D76-8D18-00D977CE6EAB}"/>
              </a:ext>
            </a:extLst>
          </p:cNvPr>
          <p:cNvSpPr>
            <a:spLocks noGrp="1"/>
          </p:cNvSpPr>
          <p:nvPr/>
        </p:nvSpPr>
        <p:spPr>
          <a:xfrm>
            <a:off x="552450" y="742950"/>
            <a:ext cx="10096500" cy="914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3000" b="1">
                <a:solidFill>
                  <a:srgbClr val="17211D"/>
                </a:solidFill>
                <a:latin typeface="Georgia"/>
                <a:ea typeface="Georgia"/>
                <a:cs typeface="Georgia"/>
              </a:defRPr>
            </a:pPr>
            <a:r>
              <a:rPr sz="3000" b="1">
                <a:solidFill>
                  <a:srgbClr val="17211D"/>
                </a:solidFill>
                <a:latin typeface="Georgia"/>
                <a:ea typeface="Georgia"/>
                <a:cs typeface="Georgia"/>
              </a:rPr>
              <a:t>Due piccole reti neurali rispondono a due domande diverse.</a:t>
            </a:r>
          </a:p>
        </p:txBody>
      </p:sp>
      <p:sp>
        <p:nvSpPr>
          <p:cNvPr id="5" name="Rectangle: Rounded Corners 4">
            <a:extLst>
              <a:ext uri="{FF2B5EF4-FFF2-40B4-BE49-F238E27FC236}">
                <a16:creationId xmlns:a16="http://schemas.microsoft.com/office/drawing/2014/main" id="{7EBA3B71-FA73-4A5C-8D58-36F8E5D499DB}"/>
              </a:ext>
            </a:extLst>
          </p:cNvPr>
          <p:cNvSpPr>
            <a:spLocks noGrp="1"/>
          </p:cNvSpPr>
          <p:nvPr/>
        </p:nvSpPr>
        <p:spPr>
          <a:xfrm>
            <a:off x="552450" y="2038350"/>
            <a:ext cx="5295900" cy="3276600"/>
          </a:xfrm>
          <a:prstGeom prst="roundRect">
            <a:avLst>
              <a:gd name="adj" fmla="val 2326"/>
            </a:avLst>
          </a:prstGeom>
          <a:solidFill>
            <a:srgbClr val="FFFFFF"/>
          </a:solidFill>
          <a:ln w="9525">
            <a:solidFill>
              <a:srgbClr val="B9C3BB"/>
            </a:solidFill>
            <a:prstDash val="solid"/>
          </a:ln>
        </p:spPr>
        <p:txBody>
          <a:bodyPr/>
          <a:lstStyle/>
          <a:p>
            <a:endParaRPr lang="en-US"/>
          </a:p>
        </p:txBody>
      </p:sp>
      <p:sp>
        <p:nvSpPr>
          <p:cNvPr id="6" name="Rectangle: Rounded Corners 5">
            <a:extLst>
              <a:ext uri="{FF2B5EF4-FFF2-40B4-BE49-F238E27FC236}">
                <a16:creationId xmlns:a16="http://schemas.microsoft.com/office/drawing/2014/main" id="{7B837592-7C9D-4B6C-86EC-A90DE1D30088}"/>
              </a:ext>
            </a:extLst>
          </p:cNvPr>
          <p:cNvSpPr>
            <a:spLocks noGrp="1"/>
          </p:cNvSpPr>
          <p:nvPr/>
        </p:nvSpPr>
        <p:spPr>
          <a:xfrm>
            <a:off x="781050" y="2266950"/>
            <a:ext cx="1524000" cy="266700"/>
          </a:xfrm>
          <a:prstGeom prst="roundRect">
            <a:avLst>
              <a:gd name="adj" fmla="val 28571"/>
            </a:avLst>
          </a:prstGeom>
          <a:solidFill>
            <a:srgbClr val="466D86"/>
          </a:solidFill>
          <a:ln w="0">
            <a:solidFill>
              <a:srgbClr val="000000">
                <a:alpha val="0"/>
              </a:srgbClr>
            </a:solidFill>
            <a:prstDash val="solid"/>
          </a:ln>
        </p:spPr>
        <p:txBody>
          <a:bodyPr/>
          <a:lstStyle/>
          <a:p>
            <a:endParaRPr lang="en-US"/>
          </a:p>
        </p:txBody>
      </p:sp>
      <p:sp>
        <p:nvSpPr>
          <p:cNvPr id="7" name="Rectangle 6">
            <a:extLst>
              <a:ext uri="{FF2B5EF4-FFF2-40B4-BE49-F238E27FC236}">
                <a16:creationId xmlns:a16="http://schemas.microsoft.com/office/drawing/2014/main" id="{8397C393-B860-4700-B4DA-267A911D5FDB}"/>
              </a:ext>
            </a:extLst>
          </p:cNvPr>
          <p:cNvSpPr>
            <a:spLocks noGrp="1"/>
          </p:cNvSpPr>
          <p:nvPr/>
        </p:nvSpPr>
        <p:spPr>
          <a:xfrm>
            <a:off x="866775" y="2286000"/>
            <a:ext cx="13525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1">
                <a:solidFill>
                  <a:srgbClr val="FFFFFF"/>
                </a:solidFill>
                <a:latin typeface="Aptos"/>
                <a:ea typeface="Aptos"/>
                <a:cs typeface="Aptos"/>
              </a:defRPr>
            </a:pPr>
            <a:r>
              <a:rPr sz="675" b="1">
                <a:solidFill>
                  <a:srgbClr val="FFFFFF"/>
                </a:solidFill>
                <a:latin typeface="Aptos"/>
                <a:ea typeface="Aptos"/>
                <a:cs typeface="Aptos"/>
              </a:rPr>
              <a:t>MODELLO STATO</a:t>
            </a:r>
          </a:p>
        </p:txBody>
      </p:sp>
      <p:sp>
        <p:nvSpPr>
          <p:cNvPr id="8" name="Rectangle 7">
            <a:extLst>
              <a:ext uri="{FF2B5EF4-FFF2-40B4-BE49-F238E27FC236}">
                <a16:creationId xmlns:a16="http://schemas.microsoft.com/office/drawing/2014/main" id="{252E6B8B-D229-4AC3-B805-F3A9796C7368}"/>
              </a:ext>
            </a:extLst>
          </p:cNvPr>
          <p:cNvSpPr>
            <a:spLocks noGrp="1"/>
          </p:cNvSpPr>
          <p:nvPr/>
        </p:nvSpPr>
        <p:spPr>
          <a:xfrm>
            <a:off x="781050" y="2724150"/>
            <a:ext cx="4381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500" b="1">
                <a:solidFill>
                  <a:srgbClr val="17211D"/>
                </a:solidFill>
                <a:latin typeface="Georgia"/>
                <a:ea typeface="Georgia"/>
                <a:cs typeface="Georgia"/>
              </a:defRPr>
            </a:pPr>
            <a:r>
              <a:rPr sz="1500" b="1">
                <a:solidFill>
                  <a:srgbClr val="17211D"/>
                </a:solidFill>
                <a:latin typeface="Georgia"/>
                <a:ea typeface="Georgia"/>
                <a:cs typeface="Georgia"/>
              </a:rPr>
              <a:t>Com’è messo questo capo?</a:t>
            </a:r>
          </a:p>
        </p:txBody>
      </p:sp>
      <p:sp>
        <p:nvSpPr>
          <p:cNvPr id="9" name="Rectangle: Rounded Corners 8">
            <a:extLst>
              <a:ext uri="{FF2B5EF4-FFF2-40B4-BE49-F238E27FC236}">
                <a16:creationId xmlns:a16="http://schemas.microsoft.com/office/drawing/2014/main" id="{BD6E10FF-4755-4938-99A1-51829CC4643F}"/>
              </a:ext>
            </a:extLst>
          </p:cNvPr>
          <p:cNvSpPr>
            <a:spLocks noGrp="1"/>
          </p:cNvSpPr>
          <p:nvPr/>
        </p:nvSpPr>
        <p:spPr>
          <a:xfrm>
            <a:off x="781050" y="3390900"/>
            <a:ext cx="990600" cy="590550"/>
          </a:xfrm>
          <a:prstGeom prst="roundRect">
            <a:avLst>
              <a:gd name="adj" fmla="val 12903"/>
            </a:avLst>
          </a:prstGeom>
          <a:solidFill>
            <a:srgbClr val="DDE5DD"/>
          </a:solidFill>
          <a:ln w="0">
            <a:solidFill>
              <a:srgbClr val="000000">
                <a:alpha val="0"/>
              </a:srgbClr>
            </a:solidFill>
            <a:prstDash val="solid"/>
          </a:ln>
        </p:spPr>
        <p:txBody>
          <a:bodyPr/>
          <a:lstStyle/>
          <a:p>
            <a:endParaRPr lang="en-US"/>
          </a:p>
        </p:txBody>
      </p:sp>
      <p:sp>
        <p:nvSpPr>
          <p:cNvPr id="10" name="Rectangle 9">
            <a:extLst>
              <a:ext uri="{FF2B5EF4-FFF2-40B4-BE49-F238E27FC236}">
                <a16:creationId xmlns:a16="http://schemas.microsoft.com/office/drawing/2014/main" id="{98E1EF75-E479-47DE-8A2F-69062C7AE5C3}"/>
              </a:ext>
            </a:extLst>
          </p:cNvPr>
          <p:cNvSpPr>
            <a:spLocks noGrp="1"/>
          </p:cNvSpPr>
          <p:nvPr/>
        </p:nvSpPr>
        <p:spPr>
          <a:xfrm>
            <a:off x="838200" y="3486150"/>
            <a:ext cx="8763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13" b="1">
                <a:solidFill>
                  <a:srgbClr val="17211D"/>
                </a:solidFill>
                <a:latin typeface="Aptos"/>
                <a:ea typeface="Aptos"/>
                <a:cs typeface="Aptos"/>
              </a:defRPr>
            </a:pPr>
            <a:r>
              <a:rPr sz="713" b="1">
                <a:solidFill>
                  <a:srgbClr val="17211D"/>
                </a:solidFill>
                <a:latin typeface="Aptos"/>
                <a:ea typeface="Aptos"/>
                <a:cs typeface="Aptos"/>
              </a:rPr>
              <a:t>Foto</a:t>
            </a:r>
          </a:p>
        </p:txBody>
      </p:sp>
      <p:sp>
        <p:nvSpPr>
          <p:cNvPr id="11" name="Rectangle 10">
            <a:extLst>
              <a:ext uri="{FF2B5EF4-FFF2-40B4-BE49-F238E27FC236}">
                <a16:creationId xmlns:a16="http://schemas.microsoft.com/office/drawing/2014/main" id="{79A13561-E5EB-4DA0-969E-B2BA00A693B9}"/>
              </a:ext>
            </a:extLst>
          </p:cNvPr>
          <p:cNvSpPr>
            <a:spLocks noGrp="1"/>
          </p:cNvSpPr>
          <p:nvPr/>
        </p:nvSpPr>
        <p:spPr>
          <a:xfrm>
            <a:off x="1771650" y="3686175"/>
            <a:ext cx="19050" cy="28575"/>
          </a:xfrm>
          <a:prstGeom prst="rect">
            <a:avLst/>
          </a:prstGeom>
          <a:solidFill>
            <a:srgbClr val="B9C3BB"/>
          </a:solidFill>
          <a:ln w="0">
            <a:solidFill>
              <a:srgbClr val="000000">
                <a:alpha val="0"/>
              </a:srgbClr>
            </a:solidFill>
            <a:prstDash val="solid"/>
          </a:ln>
        </p:spPr>
        <p:txBody>
          <a:bodyPr/>
          <a:lstStyle/>
          <a:p>
            <a:endParaRPr lang="en-US"/>
          </a:p>
        </p:txBody>
      </p:sp>
      <p:sp>
        <p:nvSpPr>
          <p:cNvPr id="12" name="Isosceles Triangle 11">
            <a:extLst>
              <a:ext uri="{FF2B5EF4-FFF2-40B4-BE49-F238E27FC236}">
                <a16:creationId xmlns:a16="http://schemas.microsoft.com/office/drawing/2014/main" id="{64D50D9A-BF9E-460B-8571-ACB113F16D07}"/>
              </a:ext>
            </a:extLst>
          </p:cNvPr>
          <p:cNvSpPr>
            <a:spLocks noGrp="1"/>
          </p:cNvSpPr>
          <p:nvPr/>
        </p:nvSpPr>
        <p:spPr>
          <a:xfrm>
            <a:off x="1762125" y="3629025"/>
            <a:ext cx="133350" cy="133350"/>
          </a:xfrm>
          <a:prstGeom prst="triangle">
            <a:avLst/>
          </a:prstGeom>
          <a:solidFill>
            <a:srgbClr val="B9C3BB"/>
          </a:solidFill>
          <a:ln w="0">
            <a:solidFill>
              <a:srgbClr val="000000">
                <a:alpha val="0"/>
              </a:srgbClr>
            </a:solidFill>
            <a:prstDash val="solid"/>
          </a:ln>
        </p:spPr>
        <p:txBody>
          <a:bodyPr/>
          <a:lstStyle/>
          <a:p>
            <a:endParaRPr lang="en-US"/>
          </a:p>
        </p:txBody>
      </p:sp>
      <p:sp>
        <p:nvSpPr>
          <p:cNvPr id="13" name="Rectangle: Rounded Corners 12">
            <a:extLst>
              <a:ext uri="{FF2B5EF4-FFF2-40B4-BE49-F238E27FC236}">
                <a16:creationId xmlns:a16="http://schemas.microsoft.com/office/drawing/2014/main" id="{082185CC-5FE0-4378-B498-6809634EE8D2}"/>
              </a:ext>
            </a:extLst>
          </p:cNvPr>
          <p:cNvSpPr>
            <a:spLocks noGrp="1"/>
          </p:cNvSpPr>
          <p:nvPr/>
        </p:nvSpPr>
        <p:spPr>
          <a:xfrm>
            <a:off x="1962150" y="3390900"/>
            <a:ext cx="990600" cy="590550"/>
          </a:xfrm>
          <a:prstGeom prst="roundRect">
            <a:avLst>
              <a:gd name="adj" fmla="val 12903"/>
            </a:avLst>
          </a:prstGeom>
          <a:solidFill>
            <a:srgbClr val="DDE5DD"/>
          </a:solidFill>
          <a:ln w="0">
            <a:solidFill>
              <a:srgbClr val="000000">
                <a:alpha val="0"/>
              </a:srgbClr>
            </a:solidFill>
            <a:prstDash val="solid"/>
          </a:ln>
        </p:spPr>
        <p:txBody>
          <a:bodyPr/>
          <a:lstStyle/>
          <a:p>
            <a:endParaRPr lang="en-US"/>
          </a:p>
        </p:txBody>
      </p:sp>
      <p:sp>
        <p:nvSpPr>
          <p:cNvPr id="14" name="Rectangle 13">
            <a:extLst>
              <a:ext uri="{FF2B5EF4-FFF2-40B4-BE49-F238E27FC236}">
                <a16:creationId xmlns:a16="http://schemas.microsoft.com/office/drawing/2014/main" id="{01A08085-29E4-4630-A941-15C12E275E9C}"/>
              </a:ext>
            </a:extLst>
          </p:cNvPr>
          <p:cNvSpPr>
            <a:spLocks noGrp="1"/>
          </p:cNvSpPr>
          <p:nvPr/>
        </p:nvSpPr>
        <p:spPr>
          <a:xfrm>
            <a:off x="2019300" y="3486150"/>
            <a:ext cx="8763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13" b="1">
                <a:solidFill>
                  <a:srgbClr val="17211D"/>
                </a:solidFill>
                <a:latin typeface="Aptos"/>
                <a:ea typeface="Aptos"/>
                <a:cs typeface="Aptos"/>
              </a:defRPr>
            </a:pPr>
            <a:r>
              <a:rPr sz="713" b="1">
                <a:solidFill>
                  <a:srgbClr val="17211D"/>
                </a:solidFill>
                <a:latin typeface="Aptos"/>
                <a:ea typeface="Aptos"/>
                <a:cs typeface="Aptos"/>
              </a:rPr>
              <a:t>Fashion-CLIP</a:t>
            </a:r>
          </a:p>
          <a:p>
            <a:pPr algn="ctr">
              <a:defRPr sz="713" b="1">
                <a:solidFill>
                  <a:srgbClr val="17211D"/>
                </a:solidFill>
                <a:latin typeface="Aptos"/>
                <a:ea typeface="Aptos"/>
                <a:cs typeface="Aptos"/>
              </a:defRPr>
            </a:pPr>
            <a:r>
              <a:rPr sz="713" b="1">
                <a:solidFill>
                  <a:srgbClr val="17211D"/>
                </a:solidFill>
                <a:latin typeface="Aptos"/>
                <a:ea typeface="Aptos"/>
                <a:cs typeface="Aptos"/>
              </a:rPr>
              <a:t>congelato</a:t>
            </a:r>
          </a:p>
        </p:txBody>
      </p:sp>
      <p:sp>
        <p:nvSpPr>
          <p:cNvPr id="15" name="Rectangle 14">
            <a:extLst>
              <a:ext uri="{FF2B5EF4-FFF2-40B4-BE49-F238E27FC236}">
                <a16:creationId xmlns:a16="http://schemas.microsoft.com/office/drawing/2014/main" id="{FF0D2920-3FA3-41AD-8E49-EFCB30EDB2D3}"/>
              </a:ext>
            </a:extLst>
          </p:cNvPr>
          <p:cNvSpPr>
            <a:spLocks noGrp="1"/>
          </p:cNvSpPr>
          <p:nvPr/>
        </p:nvSpPr>
        <p:spPr>
          <a:xfrm>
            <a:off x="2952750" y="3686175"/>
            <a:ext cx="19050" cy="28575"/>
          </a:xfrm>
          <a:prstGeom prst="rect">
            <a:avLst/>
          </a:prstGeom>
          <a:solidFill>
            <a:srgbClr val="B9C3BB"/>
          </a:solidFill>
          <a:ln w="0">
            <a:solidFill>
              <a:srgbClr val="000000">
                <a:alpha val="0"/>
              </a:srgbClr>
            </a:solidFill>
            <a:prstDash val="solid"/>
          </a:ln>
        </p:spPr>
        <p:txBody>
          <a:bodyPr/>
          <a:lstStyle/>
          <a:p>
            <a:endParaRPr lang="en-US"/>
          </a:p>
        </p:txBody>
      </p:sp>
      <p:sp>
        <p:nvSpPr>
          <p:cNvPr id="16" name="Isosceles Triangle 15">
            <a:extLst>
              <a:ext uri="{FF2B5EF4-FFF2-40B4-BE49-F238E27FC236}">
                <a16:creationId xmlns:a16="http://schemas.microsoft.com/office/drawing/2014/main" id="{36EDCBA8-D80C-42BA-A60A-A388D390E57A}"/>
              </a:ext>
            </a:extLst>
          </p:cNvPr>
          <p:cNvSpPr>
            <a:spLocks noGrp="1"/>
          </p:cNvSpPr>
          <p:nvPr/>
        </p:nvSpPr>
        <p:spPr>
          <a:xfrm>
            <a:off x="2943225" y="3629025"/>
            <a:ext cx="133350" cy="133350"/>
          </a:xfrm>
          <a:prstGeom prst="triangle">
            <a:avLst/>
          </a:prstGeom>
          <a:solidFill>
            <a:srgbClr val="B9C3BB"/>
          </a:solidFill>
          <a:ln w="0">
            <a:solidFill>
              <a:srgbClr val="000000">
                <a:alpha val="0"/>
              </a:srgbClr>
            </a:solidFill>
            <a:prstDash val="solid"/>
          </a:ln>
        </p:spPr>
        <p:txBody>
          <a:bodyPr/>
          <a:lstStyle/>
          <a:p>
            <a:endParaRPr lang="en-US"/>
          </a:p>
        </p:txBody>
      </p:sp>
      <p:sp>
        <p:nvSpPr>
          <p:cNvPr id="17" name="Rectangle: Rounded Corners 16">
            <a:extLst>
              <a:ext uri="{FF2B5EF4-FFF2-40B4-BE49-F238E27FC236}">
                <a16:creationId xmlns:a16="http://schemas.microsoft.com/office/drawing/2014/main" id="{691E2D89-0230-4923-A4AE-FFC470ED10CB}"/>
              </a:ext>
            </a:extLst>
          </p:cNvPr>
          <p:cNvSpPr>
            <a:spLocks noGrp="1"/>
          </p:cNvSpPr>
          <p:nvPr/>
        </p:nvSpPr>
        <p:spPr>
          <a:xfrm>
            <a:off x="3143250" y="3390900"/>
            <a:ext cx="990600" cy="590550"/>
          </a:xfrm>
          <a:prstGeom prst="roundRect">
            <a:avLst>
              <a:gd name="adj" fmla="val 12903"/>
            </a:avLst>
          </a:prstGeom>
          <a:solidFill>
            <a:srgbClr val="466D86"/>
          </a:solidFill>
          <a:ln w="0">
            <a:solidFill>
              <a:srgbClr val="000000">
                <a:alpha val="0"/>
              </a:srgbClr>
            </a:solidFill>
            <a:prstDash val="solid"/>
          </a:ln>
        </p:spPr>
        <p:txBody>
          <a:bodyPr/>
          <a:lstStyle/>
          <a:p>
            <a:endParaRPr lang="en-US"/>
          </a:p>
        </p:txBody>
      </p:sp>
      <p:sp>
        <p:nvSpPr>
          <p:cNvPr id="18" name="Rectangle 17">
            <a:extLst>
              <a:ext uri="{FF2B5EF4-FFF2-40B4-BE49-F238E27FC236}">
                <a16:creationId xmlns:a16="http://schemas.microsoft.com/office/drawing/2014/main" id="{9062B1E2-8BBC-4738-97F8-3FEECAF534D5}"/>
              </a:ext>
            </a:extLst>
          </p:cNvPr>
          <p:cNvSpPr>
            <a:spLocks noGrp="1"/>
          </p:cNvSpPr>
          <p:nvPr/>
        </p:nvSpPr>
        <p:spPr>
          <a:xfrm>
            <a:off x="3200400" y="3486150"/>
            <a:ext cx="8763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13" b="1">
                <a:solidFill>
                  <a:srgbClr val="FFFFFF"/>
                </a:solidFill>
                <a:latin typeface="Aptos"/>
                <a:ea typeface="Aptos"/>
                <a:cs typeface="Aptos"/>
              </a:defRPr>
            </a:pPr>
            <a:r>
              <a:rPr sz="713" b="1">
                <a:solidFill>
                  <a:srgbClr val="FFFFFF"/>
                </a:solidFill>
                <a:latin typeface="Aptos"/>
                <a:ea typeface="Aptos"/>
                <a:cs typeface="Aptos"/>
              </a:rPr>
              <a:t>MLP nostra</a:t>
            </a:r>
          </a:p>
        </p:txBody>
      </p:sp>
      <p:sp>
        <p:nvSpPr>
          <p:cNvPr id="19" name="Rectangle 18">
            <a:extLst>
              <a:ext uri="{FF2B5EF4-FFF2-40B4-BE49-F238E27FC236}">
                <a16:creationId xmlns:a16="http://schemas.microsoft.com/office/drawing/2014/main" id="{8343953D-BB1F-4F52-92FE-0103ABA1AE4A}"/>
              </a:ext>
            </a:extLst>
          </p:cNvPr>
          <p:cNvSpPr>
            <a:spLocks noGrp="1"/>
          </p:cNvSpPr>
          <p:nvPr/>
        </p:nvSpPr>
        <p:spPr>
          <a:xfrm>
            <a:off x="4133850" y="3686175"/>
            <a:ext cx="19050" cy="28575"/>
          </a:xfrm>
          <a:prstGeom prst="rect">
            <a:avLst/>
          </a:prstGeom>
          <a:solidFill>
            <a:srgbClr val="B9C3BB"/>
          </a:solidFill>
          <a:ln w="0">
            <a:solidFill>
              <a:srgbClr val="000000">
                <a:alpha val="0"/>
              </a:srgbClr>
            </a:solidFill>
            <a:prstDash val="solid"/>
          </a:ln>
        </p:spPr>
        <p:txBody>
          <a:bodyPr/>
          <a:lstStyle/>
          <a:p>
            <a:endParaRPr lang="en-US"/>
          </a:p>
        </p:txBody>
      </p:sp>
      <p:sp>
        <p:nvSpPr>
          <p:cNvPr id="20" name="Isosceles Triangle 19">
            <a:extLst>
              <a:ext uri="{FF2B5EF4-FFF2-40B4-BE49-F238E27FC236}">
                <a16:creationId xmlns:a16="http://schemas.microsoft.com/office/drawing/2014/main" id="{2B5CF6DF-0D24-4B32-B90B-E3FDEFDD443A}"/>
              </a:ext>
            </a:extLst>
          </p:cNvPr>
          <p:cNvSpPr>
            <a:spLocks noGrp="1"/>
          </p:cNvSpPr>
          <p:nvPr/>
        </p:nvSpPr>
        <p:spPr>
          <a:xfrm>
            <a:off x="4124325" y="3629025"/>
            <a:ext cx="133350" cy="133350"/>
          </a:xfrm>
          <a:prstGeom prst="triangle">
            <a:avLst/>
          </a:prstGeom>
          <a:solidFill>
            <a:srgbClr val="B9C3BB"/>
          </a:solidFill>
          <a:ln w="0">
            <a:solidFill>
              <a:srgbClr val="000000">
                <a:alpha val="0"/>
              </a:srgbClr>
            </a:solidFill>
            <a:prstDash val="solid"/>
          </a:ln>
        </p:spPr>
        <p:txBody>
          <a:bodyPr/>
          <a:lstStyle/>
          <a:p>
            <a:endParaRPr lang="en-US"/>
          </a:p>
        </p:txBody>
      </p:sp>
      <p:sp>
        <p:nvSpPr>
          <p:cNvPr id="21" name="Rectangle: Rounded Corners 20">
            <a:extLst>
              <a:ext uri="{FF2B5EF4-FFF2-40B4-BE49-F238E27FC236}">
                <a16:creationId xmlns:a16="http://schemas.microsoft.com/office/drawing/2014/main" id="{34551664-FCAF-416B-A5AB-F88BE8232712}"/>
              </a:ext>
            </a:extLst>
          </p:cNvPr>
          <p:cNvSpPr>
            <a:spLocks noGrp="1"/>
          </p:cNvSpPr>
          <p:nvPr/>
        </p:nvSpPr>
        <p:spPr>
          <a:xfrm>
            <a:off x="4324350" y="3390900"/>
            <a:ext cx="990600" cy="590550"/>
          </a:xfrm>
          <a:prstGeom prst="roundRect">
            <a:avLst>
              <a:gd name="adj" fmla="val 12903"/>
            </a:avLst>
          </a:prstGeom>
          <a:solidFill>
            <a:srgbClr val="DDE5DD"/>
          </a:solidFill>
          <a:ln w="0">
            <a:solidFill>
              <a:srgbClr val="000000">
                <a:alpha val="0"/>
              </a:srgbClr>
            </a:solidFill>
            <a:prstDash val="solid"/>
          </a:ln>
        </p:spPr>
        <p:txBody>
          <a:bodyPr/>
          <a:lstStyle/>
          <a:p>
            <a:endParaRPr lang="en-US"/>
          </a:p>
        </p:txBody>
      </p:sp>
      <p:sp>
        <p:nvSpPr>
          <p:cNvPr id="22" name="Rectangle 21">
            <a:extLst>
              <a:ext uri="{FF2B5EF4-FFF2-40B4-BE49-F238E27FC236}">
                <a16:creationId xmlns:a16="http://schemas.microsoft.com/office/drawing/2014/main" id="{7EBCB2E7-6E30-4A8B-BED6-E8E4A06E5732}"/>
              </a:ext>
            </a:extLst>
          </p:cNvPr>
          <p:cNvSpPr>
            <a:spLocks noGrp="1"/>
          </p:cNvSpPr>
          <p:nvPr/>
        </p:nvSpPr>
        <p:spPr>
          <a:xfrm>
            <a:off x="4381500" y="3486150"/>
            <a:ext cx="8763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13" b="1">
                <a:solidFill>
                  <a:srgbClr val="17211D"/>
                </a:solidFill>
                <a:latin typeface="Aptos"/>
                <a:ea typeface="Aptos"/>
                <a:cs typeface="Aptos"/>
              </a:defRPr>
            </a:pPr>
            <a:r>
              <a:rPr sz="713" b="1">
                <a:solidFill>
                  <a:srgbClr val="17211D"/>
                </a:solidFill>
                <a:latin typeface="Aptos"/>
                <a:ea typeface="Aptos"/>
                <a:cs typeface="Aptos"/>
              </a:rPr>
              <a:t>3 stati</a:t>
            </a:r>
          </a:p>
        </p:txBody>
      </p:sp>
      <p:sp>
        <p:nvSpPr>
          <p:cNvPr id="23" name="Rectangle 22">
            <a:extLst>
              <a:ext uri="{FF2B5EF4-FFF2-40B4-BE49-F238E27FC236}">
                <a16:creationId xmlns:a16="http://schemas.microsoft.com/office/drawing/2014/main" id="{90B0C50F-1B2F-429D-AE4A-136A1C6DAC5A}"/>
              </a:ext>
            </a:extLst>
          </p:cNvPr>
          <p:cNvSpPr>
            <a:spLocks noGrp="1"/>
          </p:cNvSpPr>
          <p:nvPr/>
        </p:nvSpPr>
        <p:spPr>
          <a:xfrm>
            <a:off x="781050" y="4305300"/>
            <a:ext cx="133350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250" b="1">
                <a:solidFill>
                  <a:srgbClr val="466D86"/>
                </a:solidFill>
                <a:latin typeface="Georgia"/>
                <a:ea typeface="Georgia"/>
                <a:cs typeface="Georgia"/>
              </a:defRPr>
            </a:pPr>
            <a:r>
              <a:rPr sz="2250" b="1">
                <a:solidFill>
                  <a:srgbClr val="466D86"/>
                </a:solidFill>
                <a:latin typeface="Georgia"/>
                <a:ea typeface="Georgia"/>
                <a:cs typeface="Georgia"/>
              </a:rPr>
              <a:t>≈ 94%</a:t>
            </a:r>
          </a:p>
        </p:txBody>
      </p:sp>
      <p:sp>
        <p:nvSpPr>
          <p:cNvPr id="24" name="Rectangle 23">
            <a:extLst>
              <a:ext uri="{FF2B5EF4-FFF2-40B4-BE49-F238E27FC236}">
                <a16:creationId xmlns:a16="http://schemas.microsoft.com/office/drawing/2014/main" id="{78600CFC-C845-49C7-8E0F-87445151E722}"/>
              </a:ext>
            </a:extLst>
          </p:cNvPr>
          <p:cNvSpPr>
            <a:spLocks noGrp="1"/>
          </p:cNvSpPr>
          <p:nvPr/>
        </p:nvSpPr>
        <p:spPr>
          <a:xfrm>
            <a:off x="2133600" y="4400550"/>
            <a:ext cx="2381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5736B"/>
                </a:solidFill>
                <a:latin typeface="Aptos"/>
                <a:ea typeface="Aptos"/>
                <a:cs typeface="Aptos"/>
              </a:defRPr>
            </a:pPr>
            <a:r>
              <a:rPr sz="750" b="0">
                <a:solidFill>
                  <a:srgbClr val="65736B"/>
                </a:solidFill>
                <a:latin typeface="Aptos"/>
                <a:ea typeface="Aptos"/>
                <a:cs typeface="Aptos"/>
              </a:rPr>
              <a:t>accuracy su holdout locale</a:t>
            </a:r>
          </a:p>
        </p:txBody>
      </p:sp>
      <p:sp>
        <p:nvSpPr>
          <p:cNvPr id="25" name="Rectangle: Rounded Corners 24">
            <a:extLst>
              <a:ext uri="{FF2B5EF4-FFF2-40B4-BE49-F238E27FC236}">
                <a16:creationId xmlns:a16="http://schemas.microsoft.com/office/drawing/2014/main" id="{D959DA89-7890-40A3-8B03-493F715E5239}"/>
              </a:ext>
            </a:extLst>
          </p:cNvPr>
          <p:cNvSpPr>
            <a:spLocks noGrp="1"/>
          </p:cNvSpPr>
          <p:nvPr/>
        </p:nvSpPr>
        <p:spPr>
          <a:xfrm>
            <a:off x="6038850" y="2038350"/>
            <a:ext cx="5600700" cy="3276600"/>
          </a:xfrm>
          <a:prstGeom prst="roundRect">
            <a:avLst>
              <a:gd name="adj" fmla="val 2326"/>
            </a:avLst>
          </a:prstGeom>
          <a:solidFill>
            <a:srgbClr val="FFFFFF"/>
          </a:solidFill>
          <a:ln w="9525">
            <a:solidFill>
              <a:srgbClr val="B9C3BB"/>
            </a:solidFill>
            <a:prstDash val="solid"/>
          </a:ln>
        </p:spPr>
        <p:txBody>
          <a:bodyPr/>
          <a:lstStyle/>
          <a:p>
            <a:endParaRPr lang="en-US"/>
          </a:p>
        </p:txBody>
      </p:sp>
      <p:sp>
        <p:nvSpPr>
          <p:cNvPr id="26" name="Rectangle: Rounded Corners 25">
            <a:extLst>
              <a:ext uri="{FF2B5EF4-FFF2-40B4-BE49-F238E27FC236}">
                <a16:creationId xmlns:a16="http://schemas.microsoft.com/office/drawing/2014/main" id="{93539584-0E5C-4781-8F22-0C82E779E725}"/>
              </a:ext>
            </a:extLst>
          </p:cNvPr>
          <p:cNvSpPr>
            <a:spLocks noGrp="1"/>
          </p:cNvSpPr>
          <p:nvPr/>
        </p:nvSpPr>
        <p:spPr>
          <a:xfrm>
            <a:off x="6267450" y="2266950"/>
            <a:ext cx="1524000" cy="266700"/>
          </a:xfrm>
          <a:prstGeom prst="roundRect">
            <a:avLst>
              <a:gd name="adj" fmla="val 28571"/>
            </a:avLst>
          </a:prstGeom>
          <a:solidFill>
            <a:srgbClr val="D56E42"/>
          </a:solidFill>
          <a:ln w="0">
            <a:solidFill>
              <a:srgbClr val="000000">
                <a:alpha val="0"/>
              </a:srgbClr>
            </a:solidFill>
            <a:prstDash val="solid"/>
          </a:ln>
        </p:spPr>
        <p:txBody>
          <a:bodyPr/>
          <a:lstStyle/>
          <a:p>
            <a:endParaRPr lang="en-US"/>
          </a:p>
        </p:txBody>
      </p:sp>
      <p:sp>
        <p:nvSpPr>
          <p:cNvPr id="27" name="Rectangle 26">
            <a:extLst>
              <a:ext uri="{FF2B5EF4-FFF2-40B4-BE49-F238E27FC236}">
                <a16:creationId xmlns:a16="http://schemas.microsoft.com/office/drawing/2014/main" id="{2F2BB39C-B3CB-43C6-BD14-4D62943B8C60}"/>
              </a:ext>
            </a:extLst>
          </p:cNvPr>
          <p:cNvSpPr>
            <a:spLocks noGrp="1"/>
          </p:cNvSpPr>
          <p:nvPr/>
        </p:nvSpPr>
        <p:spPr>
          <a:xfrm>
            <a:off x="6353175" y="2286000"/>
            <a:ext cx="13525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1">
                <a:solidFill>
                  <a:srgbClr val="FFFFFF"/>
                </a:solidFill>
                <a:latin typeface="Aptos"/>
                <a:ea typeface="Aptos"/>
                <a:cs typeface="Aptos"/>
              </a:defRPr>
            </a:pPr>
            <a:r>
              <a:rPr sz="675" b="1">
                <a:solidFill>
                  <a:srgbClr val="FFFFFF"/>
                </a:solidFill>
                <a:latin typeface="Aptos"/>
                <a:ea typeface="Aptos"/>
                <a:cs typeface="Aptos"/>
              </a:rPr>
              <a:t>MODELLO GAP</a:t>
            </a:r>
          </a:p>
        </p:txBody>
      </p:sp>
      <p:sp>
        <p:nvSpPr>
          <p:cNvPr id="28" name="Rectangle 27">
            <a:extLst>
              <a:ext uri="{FF2B5EF4-FFF2-40B4-BE49-F238E27FC236}">
                <a16:creationId xmlns:a16="http://schemas.microsoft.com/office/drawing/2014/main" id="{132E642C-770C-4588-9416-1EFC5DE944CB}"/>
              </a:ext>
            </a:extLst>
          </p:cNvPr>
          <p:cNvSpPr>
            <a:spLocks noGrp="1"/>
          </p:cNvSpPr>
          <p:nvPr/>
        </p:nvSpPr>
        <p:spPr>
          <a:xfrm>
            <a:off x="6267450" y="27241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500" b="1">
                <a:solidFill>
                  <a:srgbClr val="17211D"/>
                </a:solidFill>
                <a:latin typeface="Georgia"/>
                <a:ea typeface="Georgia"/>
                <a:cs typeface="Georgia"/>
              </a:defRPr>
            </a:pPr>
            <a:r>
              <a:rPr sz="1500" b="1">
                <a:solidFill>
                  <a:srgbClr val="17211D"/>
                </a:solidFill>
                <a:latin typeface="Georgia"/>
                <a:ea typeface="Georgia"/>
                <a:cs typeface="Georgia"/>
              </a:rPr>
              <a:t>Cosa manca davvero al guardaroba?</a:t>
            </a:r>
          </a:p>
        </p:txBody>
      </p:sp>
      <p:sp>
        <p:nvSpPr>
          <p:cNvPr id="29" name="Rectangle: Rounded Corners 28">
            <a:extLst>
              <a:ext uri="{FF2B5EF4-FFF2-40B4-BE49-F238E27FC236}">
                <a16:creationId xmlns:a16="http://schemas.microsoft.com/office/drawing/2014/main" id="{87893E7C-5C2F-4A41-B312-11F5BF7B07E4}"/>
              </a:ext>
            </a:extLst>
          </p:cNvPr>
          <p:cNvSpPr>
            <a:spLocks noGrp="1"/>
          </p:cNvSpPr>
          <p:nvPr/>
        </p:nvSpPr>
        <p:spPr>
          <a:xfrm>
            <a:off x="6267450" y="3390900"/>
            <a:ext cx="1028700" cy="590550"/>
          </a:xfrm>
          <a:prstGeom prst="roundRect">
            <a:avLst>
              <a:gd name="adj" fmla="val 12903"/>
            </a:avLst>
          </a:prstGeom>
          <a:solidFill>
            <a:srgbClr val="DDE5DD"/>
          </a:solidFill>
          <a:ln w="0">
            <a:solidFill>
              <a:srgbClr val="000000">
                <a:alpha val="0"/>
              </a:srgbClr>
            </a:solidFill>
            <a:prstDash val="solid"/>
          </a:ln>
        </p:spPr>
        <p:txBody>
          <a:bodyPr/>
          <a:lstStyle/>
          <a:p>
            <a:endParaRPr lang="en-US"/>
          </a:p>
        </p:txBody>
      </p:sp>
      <p:sp>
        <p:nvSpPr>
          <p:cNvPr id="30" name="Rectangle 29">
            <a:extLst>
              <a:ext uri="{FF2B5EF4-FFF2-40B4-BE49-F238E27FC236}">
                <a16:creationId xmlns:a16="http://schemas.microsoft.com/office/drawing/2014/main" id="{5DFDECE3-AE3A-4FC8-A3A3-EF1592282772}"/>
              </a:ext>
            </a:extLst>
          </p:cNvPr>
          <p:cNvSpPr>
            <a:spLocks noGrp="1"/>
          </p:cNvSpPr>
          <p:nvPr/>
        </p:nvSpPr>
        <p:spPr>
          <a:xfrm>
            <a:off x="6324600" y="3486150"/>
            <a:ext cx="9144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13" b="1">
                <a:solidFill>
                  <a:srgbClr val="17211D"/>
                </a:solidFill>
                <a:latin typeface="Aptos"/>
                <a:ea typeface="Aptos"/>
                <a:cs typeface="Aptos"/>
              </a:defRPr>
            </a:pPr>
            <a:r>
              <a:rPr sz="713" b="1">
                <a:solidFill>
                  <a:srgbClr val="17211D"/>
                </a:solidFill>
                <a:latin typeface="Aptos"/>
                <a:ea typeface="Aptos"/>
                <a:cs typeface="Aptos"/>
              </a:rPr>
              <a:t>14 segnali</a:t>
            </a:r>
          </a:p>
        </p:txBody>
      </p:sp>
      <p:sp>
        <p:nvSpPr>
          <p:cNvPr id="31" name="Rectangle 30">
            <a:extLst>
              <a:ext uri="{FF2B5EF4-FFF2-40B4-BE49-F238E27FC236}">
                <a16:creationId xmlns:a16="http://schemas.microsoft.com/office/drawing/2014/main" id="{FAE83E80-0B62-4A57-85E6-BC914ED28A71}"/>
              </a:ext>
            </a:extLst>
          </p:cNvPr>
          <p:cNvSpPr>
            <a:spLocks noGrp="1"/>
          </p:cNvSpPr>
          <p:nvPr/>
        </p:nvSpPr>
        <p:spPr>
          <a:xfrm>
            <a:off x="7296150" y="3686175"/>
            <a:ext cx="38100" cy="28575"/>
          </a:xfrm>
          <a:prstGeom prst="rect">
            <a:avLst/>
          </a:prstGeom>
          <a:solidFill>
            <a:srgbClr val="B9C3BB"/>
          </a:solidFill>
          <a:ln w="0">
            <a:solidFill>
              <a:srgbClr val="000000">
                <a:alpha val="0"/>
              </a:srgbClr>
            </a:solidFill>
            <a:prstDash val="solid"/>
          </a:ln>
        </p:spPr>
        <p:txBody>
          <a:bodyPr/>
          <a:lstStyle/>
          <a:p>
            <a:endParaRPr lang="en-US"/>
          </a:p>
        </p:txBody>
      </p:sp>
      <p:sp>
        <p:nvSpPr>
          <p:cNvPr id="32" name="Isosceles Triangle 31">
            <a:extLst>
              <a:ext uri="{FF2B5EF4-FFF2-40B4-BE49-F238E27FC236}">
                <a16:creationId xmlns:a16="http://schemas.microsoft.com/office/drawing/2014/main" id="{4E2B46B3-7726-47CE-B9C8-B2827C51AE68}"/>
              </a:ext>
            </a:extLst>
          </p:cNvPr>
          <p:cNvSpPr>
            <a:spLocks noGrp="1"/>
          </p:cNvSpPr>
          <p:nvPr/>
        </p:nvSpPr>
        <p:spPr>
          <a:xfrm>
            <a:off x="7305675" y="3629025"/>
            <a:ext cx="133350" cy="133350"/>
          </a:xfrm>
          <a:prstGeom prst="triangle">
            <a:avLst/>
          </a:prstGeom>
          <a:solidFill>
            <a:srgbClr val="B9C3BB"/>
          </a:solidFill>
          <a:ln w="0">
            <a:solidFill>
              <a:srgbClr val="000000">
                <a:alpha val="0"/>
              </a:srgbClr>
            </a:solidFill>
            <a:prstDash val="solid"/>
          </a:ln>
        </p:spPr>
        <p:txBody>
          <a:bodyPr/>
          <a:lstStyle/>
          <a:p>
            <a:endParaRPr lang="en-US"/>
          </a:p>
        </p:txBody>
      </p:sp>
      <p:sp>
        <p:nvSpPr>
          <p:cNvPr id="33" name="Rectangle: Rounded Corners 32">
            <a:extLst>
              <a:ext uri="{FF2B5EF4-FFF2-40B4-BE49-F238E27FC236}">
                <a16:creationId xmlns:a16="http://schemas.microsoft.com/office/drawing/2014/main" id="{165800D8-8F0C-422C-BCB3-156AEA37A8FA}"/>
              </a:ext>
            </a:extLst>
          </p:cNvPr>
          <p:cNvSpPr>
            <a:spLocks noGrp="1"/>
          </p:cNvSpPr>
          <p:nvPr/>
        </p:nvSpPr>
        <p:spPr>
          <a:xfrm>
            <a:off x="7505700" y="3390900"/>
            <a:ext cx="1028700" cy="590550"/>
          </a:xfrm>
          <a:prstGeom prst="roundRect">
            <a:avLst>
              <a:gd name="adj" fmla="val 12903"/>
            </a:avLst>
          </a:prstGeom>
          <a:solidFill>
            <a:srgbClr val="D56E42"/>
          </a:solidFill>
          <a:ln w="0">
            <a:solidFill>
              <a:srgbClr val="000000">
                <a:alpha val="0"/>
              </a:srgbClr>
            </a:solidFill>
            <a:prstDash val="solid"/>
          </a:ln>
        </p:spPr>
        <p:txBody>
          <a:bodyPr/>
          <a:lstStyle/>
          <a:p>
            <a:endParaRPr lang="en-US"/>
          </a:p>
        </p:txBody>
      </p:sp>
      <p:sp>
        <p:nvSpPr>
          <p:cNvPr id="34" name="Rectangle 33">
            <a:extLst>
              <a:ext uri="{FF2B5EF4-FFF2-40B4-BE49-F238E27FC236}">
                <a16:creationId xmlns:a16="http://schemas.microsoft.com/office/drawing/2014/main" id="{E66C5284-7B7F-4207-8464-93EDFA317DD8}"/>
              </a:ext>
            </a:extLst>
          </p:cNvPr>
          <p:cNvSpPr>
            <a:spLocks noGrp="1"/>
          </p:cNvSpPr>
          <p:nvPr/>
        </p:nvSpPr>
        <p:spPr>
          <a:xfrm>
            <a:off x="7562850" y="3486150"/>
            <a:ext cx="9144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13" b="1">
                <a:solidFill>
                  <a:srgbClr val="FFFFFF"/>
                </a:solidFill>
                <a:latin typeface="Aptos"/>
                <a:ea typeface="Aptos"/>
                <a:cs typeface="Aptos"/>
              </a:defRPr>
            </a:pPr>
            <a:r>
              <a:rPr sz="713" b="1">
                <a:solidFill>
                  <a:srgbClr val="FFFFFF"/>
                </a:solidFill>
                <a:latin typeface="Aptos"/>
                <a:ea typeface="Aptos"/>
                <a:cs typeface="Aptos"/>
              </a:rPr>
              <a:t>MLP nostra</a:t>
            </a:r>
          </a:p>
        </p:txBody>
      </p:sp>
      <p:sp>
        <p:nvSpPr>
          <p:cNvPr id="35" name="Rectangle 34">
            <a:extLst>
              <a:ext uri="{FF2B5EF4-FFF2-40B4-BE49-F238E27FC236}">
                <a16:creationId xmlns:a16="http://schemas.microsoft.com/office/drawing/2014/main" id="{D2A52B9C-246D-496F-85D2-A6EC3DD3EBB0}"/>
              </a:ext>
            </a:extLst>
          </p:cNvPr>
          <p:cNvSpPr>
            <a:spLocks noGrp="1"/>
          </p:cNvSpPr>
          <p:nvPr/>
        </p:nvSpPr>
        <p:spPr>
          <a:xfrm>
            <a:off x="8534400" y="3686175"/>
            <a:ext cx="38100" cy="28575"/>
          </a:xfrm>
          <a:prstGeom prst="rect">
            <a:avLst/>
          </a:prstGeom>
          <a:solidFill>
            <a:srgbClr val="B9C3BB"/>
          </a:solidFill>
          <a:ln w="0">
            <a:solidFill>
              <a:srgbClr val="000000">
                <a:alpha val="0"/>
              </a:srgbClr>
            </a:solidFill>
            <a:prstDash val="solid"/>
          </a:ln>
        </p:spPr>
        <p:txBody>
          <a:bodyPr/>
          <a:lstStyle/>
          <a:p>
            <a:endParaRPr lang="en-US"/>
          </a:p>
        </p:txBody>
      </p:sp>
      <p:sp>
        <p:nvSpPr>
          <p:cNvPr id="36" name="Isosceles Triangle 35">
            <a:extLst>
              <a:ext uri="{FF2B5EF4-FFF2-40B4-BE49-F238E27FC236}">
                <a16:creationId xmlns:a16="http://schemas.microsoft.com/office/drawing/2014/main" id="{966A6CA8-1C7C-4BA7-BED6-B3D365CFBBD7}"/>
              </a:ext>
            </a:extLst>
          </p:cNvPr>
          <p:cNvSpPr>
            <a:spLocks noGrp="1"/>
          </p:cNvSpPr>
          <p:nvPr/>
        </p:nvSpPr>
        <p:spPr>
          <a:xfrm>
            <a:off x="8543925" y="3629025"/>
            <a:ext cx="133350" cy="133350"/>
          </a:xfrm>
          <a:prstGeom prst="triangle">
            <a:avLst/>
          </a:prstGeom>
          <a:solidFill>
            <a:srgbClr val="B9C3BB"/>
          </a:solidFill>
          <a:ln w="0">
            <a:solidFill>
              <a:srgbClr val="000000">
                <a:alpha val="0"/>
              </a:srgbClr>
            </a:solidFill>
            <a:prstDash val="solid"/>
          </a:ln>
        </p:spPr>
        <p:txBody>
          <a:bodyPr/>
          <a:lstStyle/>
          <a:p>
            <a:endParaRPr lang="en-US"/>
          </a:p>
        </p:txBody>
      </p:sp>
      <p:sp>
        <p:nvSpPr>
          <p:cNvPr id="37" name="Rectangle: Rounded Corners 36">
            <a:extLst>
              <a:ext uri="{FF2B5EF4-FFF2-40B4-BE49-F238E27FC236}">
                <a16:creationId xmlns:a16="http://schemas.microsoft.com/office/drawing/2014/main" id="{E3E5D214-D1BE-4475-9E83-CC71F4B7DCDF}"/>
              </a:ext>
            </a:extLst>
          </p:cNvPr>
          <p:cNvSpPr>
            <a:spLocks noGrp="1"/>
          </p:cNvSpPr>
          <p:nvPr/>
        </p:nvSpPr>
        <p:spPr>
          <a:xfrm>
            <a:off x="8743950" y="3390900"/>
            <a:ext cx="1028700" cy="590550"/>
          </a:xfrm>
          <a:prstGeom prst="roundRect">
            <a:avLst>
              <a:gd name="adj" fmla="val 12903"/>
            </a:avLst>
          </a:prstGeom>
          <a:solidFill>
            <a:srgbClr val="DDE5DD"/>
          </a:solidFill>
          <a:ln w="0">
            <a:solidFill>
              <a:srgbClr val="000000">
                <a:alpha val="0"/>
              </a:srgbClr>
            </a:solidFill>
            <a:prstDash val="solid"/>
          </a:ln>
        </p:spPr>
        <p:txBody>
          <a:bodyPr/>
          <a:lstStyle/>
          <a:p>
            <a:endParaRPr lang="en-US"/>
          </a:p>
        </p:txBody>
      </p:sp>
      <p:sp>
        <p:nvSpPr>
          <p:cNvPr id="38" name="Rectangle 37">
            <a:extLst>
              <a:ext uri="{FF2B5EF4-FFF2-40B4-BE49-F238E27FC236}">
                <a16:creationId xmlns:a16="http://schemas.microsoft.com/office/drawing/2014/main" id="{3655D589-5EBA-4517-BB8A-7C921958D965}"/>
              </a:ext>
            </a:extLst>
          </p:cNvPr>
          <p:cNvSpPr>
            <a:spLocks noGrp="1"/>
          </p:cNvSpPr>
          <p:nvPr/>
        </p:nvSpPr>
        <p:spPr>
          <a:xfrm>
            <a:off x="8801100" y="3486150"/>
            <a:ext cx="9144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13" b="1">
                <a:solidFill>
                  <a:srgbClr val="17211D"/>
                </a:solidFill>
                <a:latin typeface="Aptos"/>
                <a:ea typeface="Aptos"/>
                <a:cs typeface="Aptos"/>
              </a:defRPr>
            </a:pPr>
            <a:r>
              <a:rPr sz="713" b="1">
                <a:solidFill>
                  <a:srgbClr val="17211D"/>
                </a:solidFill>
                <a:latin typeface="Aptos"/>
                <a:ea typeface="Aptos"/>
                <a:cs typeface="Aptos"/>
              </a:rPr>
              <a:t>6 gap</a:t>
            </a:r>
          </a:p>
        </p:txBody>
      </p:sp>
      <p:sp>
        <p:nvSpPr>
          <p:cNvPr id="39" name="Rectangle 38">
            <a:extLst>
              <a:ext uri="{FF2B5EF4-FFF2-40B4-BE49-F238E27FC236}">
                <a16:creationId xmlns:a16="http://schemas.microsoft.com/office/drawing/2014/main" id="{43210EA2-DD28-436A-862A-C686C05F797D}"/>
              </a:ext>
            </a:extLst>
          </p:cNvPr>
          <p:cNvSpPr>
            <a:spLocks noGrp="1"/>
          </p:cNvSpPr>
          <p:nvPr/>
        </p:nvSpPr>
        <p:spPr>
          <a:xfrm>
            <a:off x="9772650" y="3686175"/>
            <a:ext cx="38100" cy="28575"/>
          </a:xfrm>
          <a:prstGeom prst="rect">
            <a:avLst/>
          </a:prstGeom>
          <a:solidFill>
            <a:srgbClr val="B9C3BB"/>
          </a:solidFill>
          <a:ln w="0">
            <a:solidFill>
              <a:srgbClr val="000000">
                <a:alpha val="0"/>
              </a:srgbClr>
            </a:solidFill>
            <a:prstDash val="solid"/>
          </a:ln>
        </p:spPr>
        <p:txBody>
          <a:bodyPr/>
          <a:lstStyle/>
          <a:p>
            <a:endParaRPr lang="en-US"/>
          </a:p>
        </p:txBody>
      </p:sp>
      <p:sp>
        <p:nvSpPr>
          <p:cNvPr id="40" name="Isosceles Triangle 39">
            <a:extLst>
              <a:ext uri="{FF2B5EF4-FFF2-40B4-BE49-F238E27FC236}">
                <a16:creationId xmlns:a16="http://schemas.microsoft.com/office/drawing/2014/main" id="{3112DFCC-95DD-41F6-BB1A-26ED572F2F14}"/>
              </a:ext>
            </a:extLst>
          </p:cNvPr>
          <p:cNvSpPr>
            <a:spLocks noGrp="1"/>
          </p:cNvSpPr>
          <p:nvPr/>
        </p:nvSpPr>
        <p:spPr>
          <a:xfrm>
            <a:off x="9782175" y="3629025"/>
            <a:ext cx="133350" cy="133350"/>
          </a:xfrm>
          <a:prstGeom prst="triangle">
            <a:avLst/>
          </a:prstGeom>
          <a:solidFill>
            <a:srgbClr val="B9C3BB"/>
          </a:solidFill>
          <a:ln w="0">
            <a:solidFill>
              <a:srgbClr val="000000">
                <a:alpha val="0"/>
              </a:srgbClr>
            </a:solidFill>
            <a:prstDash val="solid"/>
          </a:ln>
        </p:spPr>
        <p:txBody>
          <a:bodyPr/>
          <a:lstStyle/>
          <a:p>
            <a:endParaRPr lang="en-US"/>
          </a:p>
        </p:txBody>
      </p:sp>
      <p:sp>
        <p:nvSpPr>
          <p:cNvPr id="41" name="Rectangle: Rounded Corners 40">
            <a:extLst>
              <a:ext uri="{FF2B5EF4-FFF2-40B4-BE49-F238E27FC236}">
                <a16:creationId xmlns:a16="http://schemas.microsoft.com/office/drawing/2014/main" id="{B6CD00B5-7183-4E16-B4B3-0939BA1C2418}"/>
              </a:ext>
            </a:extLst>
          </p:cNvPr>
          <p:cNvSpPr>
            <a:spLocks noGrp="1"/>
          </p:cNvSpPr>
          <p:nvPr/>
        </p:nvSpPr>
        <p:spPr>
          <a:xfrm>
            <a:off x="9982200" y="3390900"/>
            <a:ext cx="1028700" cy="590550"/>
          </a:xfrm>
          <a:prstGeom prst="roundRect">
            <a:avLst>
              <a:gd name="adj" fmla="val 12903"/>
            </a:avLst>
          </a:prstGeom>
          <a:solidFill>
            <a:srgbClr val="DDE5DD"/>
          </a:solidFill>
          <a:ln w="0">
            <a:solidFill>
              <a:srgbClr val="000000">
                <a:alpha val="0"/>
              </a:srgbClr>
            </a:solidFill>
            <a:prstDash val="solid"/>
          </a:ln>
        </p:spPr>
        <p:txBody>
          <a:bodyPr/>
          <a:lstStyle/>
          <a:p>
            <a:endParaRPr lang="en-US"/>
          </a:p>
        </p:txBody>
      </p:sp>
      <p:sp>
        <p:nvSpPr>
          <p:cNvPr id="42" name="Rectangle 41">
            <a:extLst>
              <a:ext uri="{FF2B5EF4-FFF2-40B4-BE49-F238E27FC236}">
                <a16:creationId xmlns:a16="http://schemas.microsoft.com/office/drawing/2014/main" id="{A7784456-697E-468E-B32F-3898EBBF5C88}"/>
              </a:ext>
            </a:extLst>
          </p:cNvPr>
          <p:cNvSpPr>
            <a:spLocks noGrp="1"/>
          </p:cNvSpPr>
          <p:nvPr/>
        </p:nvSpPr>
        <p:spPr>
          <a:xfrm>
            <a:off x="10039350" y="3486150"/>
            <a:ext cx="9144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13" b="1">
                <a:solidFill>
                  <a:srgbClr val="17211D"/>
                </a:solidFill>
                <a:latin typeface="Aptos"/>
                <a:ea typeface="Aptos"/>
                <a:cs typeface="Aptos"/>
              </a:defRPr>
            </a:pPr>
            <a:r>
              <a:rPr sz="713" b="1">
                <a:solidFill>
                  <a:srgbClr val="17211D"/>
                </a:solidFill>
                <a:latin typeface="Aptos"/>
                <a:ea typeface="Aptos"/>
                <a:cs typeface="Aptos"/>
              </a:rPr>
              <a:t>consiglio</a:t>
            </a:r>
          </a:p>
        </p:txBody>
      </p:sp>
      <p:sp>
        <p:nvSpPr>
          <p:cNvPr id="43" name="Rectangle 42">
            <a:extLst>
              <a:ext uri="{FF2B5EF4-FFF2-40B4-BE49-F238E27FC236}">
                <a16:creationId xmlns:a16="http://schemas.microsoft.com/office/drawing/2014/main" id="{6A92A818-43DE-4D68-9862-A6D830A90B62}"/>
              </a:ext>
            </a:extLst>
          </p:cNvPr>
          <p:cNvSpPr>
            <a:spLocks noGrp="1"/>
          </p:cNvSpPr>
          <p:nvPr/>
        </p:nvSpPr>
        <p:spPr>
          <a:xfrm>
            <a:off x="6267450" y="4305300"/>
            <a:ext cx="133350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250" b="1">
                <a:solidFill>
                  <a:srgbClr val="D56E42"/>
                </a:solidFill>
                <a:latin typeface="Georgia"/>
                <a:ea typeface="Georgia"/>
                <a:cs typeface="Georgia"/>
              </a:defRPr>
            </a:pPr>
            <a:r>
              <a:rPr sz="2250" b="1">
                <a:solidFill>
                  <a:srgbClr val="D56E42"/>
                </a:solidFill>
                <a:latin typeface="Georgia"/>
                <a:ea typeface="Georgia"/>
                <a:cs typeface="Georgia"/>
              </a:rPr>
              <a:t>0,943</a:t>
            </a:r>
          </a:p>
        </p:txBody>
      </p:sp>
      <p:sp>
        <p:nvSpPr>
          <p:cNvPr id="44" name="Rectangle 43">
            <a:extLst>
              <a:ext uri="{FF2B5EF4-FFF2-40B4-BE49-F238E27FC236}">
                <a16:creationId xmlns:a16="http://schemas.microsoft.com/office/drawing/2014/main" id="{CFF990DC-6B64-4EB9-A487-22A01CFE7336}"/>
              </a:ext>
            </a:extLst>
          </p:cNvPr>
          <p:cNvSpPr>
            <a:spLocks noGrp="1"/>
          </p:cNvSpPr>
          <p:nvPr/>
        </p:nvSpPr>
        <p:spPr>
          <a:xfrm>
            <a:off x="7620000" y="4400550"/>
            <a:ext cx="2571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5736B"/>
                </a:solidFill>
                <a:latin typeface="Aptos"/>
                <a:ea typeface="Aptos"/>
                <a:cs typeface="Aptos"/>
              </a:defRPr>
            </a:pPr>
            <a:r>
              <a:rPr sz="750" b="0">
                <a:solidFill>
                  <a:srgbClr val="65736B"/>
                </a:solidFill>
                <a:latin typeface="Aptos"/>
                <a:ea typeface="Aptos"/>
                <a:cs typeface="Aptos"/>
              </a:rPr>
              <a:t>micro-F1 su dati simulati</a:t>
            </a:r>
          </a:p>
        </p:txBody>
      </p:sp>
      <p:sp>
        <p:nvSpPr>
          <p:cNvPr id="45" name="Rectangle: Rounded Corners 44">
            <a:extLst>
              <a:ext uri="{FF2B5EF4-FFF2-40B4-BE49-F238E27FC236}">
                <a16:creationId xmlns:a16="http://schemas.microsoft.com/office/drawing/2014/main" id="{C1A860B6-D6D3-4DFE-B824-74FA4EE26A59}"/>
              </a:ext>
            </a:extLst>
          </p:cNvPr>
          <p:cNvSpPr>
            <a:spLocks noGrp="1"/>
          </p:cNvSpPr>
          <p:nvPr/>
        </p:nvSpPr>
        <p:spPr>
          <a:xfrm>
            <a:off x="552450" y="5467350"/>
            <a:ext cx="11087100" cy="571500"/>
          </a:xfrm>
          <a:prstGeom prst="roundRect">
            <a:avLst>
              <a:gd name="adj" fmla="val 13333"/>
            </a:avLst>
          </a:prstGeom>
          <a:solidFill>
            <a:srgbClr val="123C31"/>
          </a:solidFill>
          <a:ln w="0">
            <a:solidFill>
              <a:srgbClr val="000000">
                <a:alpha val="0"/>
              </a:srgbClr>
            </a:solidFill>
            <a:prstDash val="solid"/>
          </a:ln>
        </p:spPr>
        <p:txBody>
          <a:bodyPr/>
          <a:lstStyle/>
          <a:p>
            <a:endParaRPr lang="en-US"/>
          </a:p>
        </p:txBody>
      </p:sp>
      <p:sp>
        <p:nvSpPr>
          <p:cNvPr id="46" name="Rectangle 45">
            <a:extLst>
              <a:ext uri="{FF2B5EF4-FFF2-40B4-BE49-F238E27FC236}">
                <a16:creationId xmlns:a16="http://schemas.microsoft.com/office/drawing/2014/main" id="{D6250BF9-B1EF-4F35-9B7F-70A66083FA46}"/>
              </a:ext>
            </a:extLst>
          </p:cNvPr>
          <p:cNvSpPr>
            <a:spLocks noGrp="1"/>
          </p:cNvSpPr>
          <p:nvPr/>
        </p:nvSpPr>
        <p:spPr>
          <a:xfrm>
            <a:off x="781050" y="5619750"/>
            <a:ext cx="3333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FFFFFF"/>
                </a:solidFill>
                <a:latin typeface="Georgia"/>
                <a:ea typeface="Georgia"/>
                <a:cs typeface="Georgia"/>
              </a:defRPr>
            </a:pPr>
            <a:r>
              <a:rPr sz="900" b="1">
                <a:solidFill>
                  <a:srgbClr val="FFFFFF"/>
                </a:solidFill>
                <a:latin typeface="Georgia"/>
                <a:ea typeface="Georgia"/>
                <a:cs typeface="Georgia"/>
              </a:rPr>
              <a:t>5 notebook autonomi per l’esame</a:t>
            </a:r>
          </a:p>
        </p:txBody>
      </p:sp>
      <p:sp>
        <p:nvSpPr>
          <p:cNvPr id="47" name="Rectangle: Rounded Corners 46">
            <a:extLst>
              <a:ext uri="{FF2B5EF4-FFF2-40B4-BE49-F238E27FC236}">
                <a16:creationId xmlns:a16="http://schemas.microsoft.com/office/drawing/2014/main" id="{2D9ED7CB-42E3-42D8-977A-B563784E50D3}"/>
              </a:ext>
            </a:extLst>
          </p:cNvPr>
          <p:cNvSpPr>
            <a:spLocks noGrp="1"/>
          </p:cNvSpPr>
          <p:nvPr/>
        </p:nvSpPr>
        <p:spPr>
          <a:xfrm>
            <a:off x="6858000" y="5619750"/>
            <a:ext cx="1524000" cy="266700"/>
          </a:xfrm>
          <a:prstGeom prst="roundRect">
            <a:avLst>
              <a:gd name="adj" fmla="val 28571"/>
            </a:avLst>
          </a:prstGeom>
          <a:solidFill>
            <a:srgbClr val="B9D94A"/>
          </a:solidFill>
          <a:ln w="0">
            <a:solidFill>
              <a:srgbClr val="000000">
                <a:alpha val="0"/>
              </a:srgbClr>
            </a:solidFill>
            <a:prstDash val="solid"/>
          </a:ln>
        </p:spPr>
        <p:txBody>
          <a:bodyPr/>
          <a:lstStyle/>
          <a:p>
            <a:endParaRPr lang="en-US"/>
          </a:p>
        </p:txBody>
      </p:sp>
      <p:sp>
        <p:nvSpPr>
          <p:cNvPr id="48" name="Rectangle 47">
            <a:extLst>
              <a:ext uri="{FF2B5EF4-FFF2-40B4-BE49-F238E27FC236}">
                <a16:creationId xmlns:a16="http://schemas.microsoft.com/office/drawing/2014/main" id="{0A0259CC-5357-4E4A-A49E-F04B417B3DD5}"/>
              </a:ext>
            </a:extLst>
          </p:cNvPr>
          <p:cNvSpPr>
            <a:spLocks noGrp="1"/>
          </p:cNvSpPr>
          <p:nvPr/>
        </p:nvSpPr>
        <p:spPr>
          <a:xfrm>
            <a:off x="6943725" y="5638800"/>
            <a:ext cx="13525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1">
                <a:solidFill>
                  <a:srgbClr val="123C31"/>
                </a:solidFill>
                <a:latin typeface="Aptos"/>
                <a:ea typeface="Aptos"/>
                <a:cs typeface="Aptos"/>
              </a:defRPr>
            </a:pPr>
            <a:r>
              <a:rPr sz="675" b="1">
                <a:solidFill>
                  <a:srgbClr val="123C31"/>
                </a:solidFill>
                <a:latin typeface="Aptos"/>
                <a:ea typeface="Aptos"/>
                <a:cs typeface="Aptos"/>
              </a:rPr>
              <a:t>2 RUNTIME</a:t>
            </a:r>
          </a:p>
        </p:txBody>
      </p:sp>
      <p:sp>
        <p:nvSpPr>
          <p:cNvPr id="49" name="Rectangle: Rounded Corners 48">
            <a:extLst>
              <a:ext uri="{FF2B5EF4-FFF2-40B4-BE49-F238E27FC236}">
                <a16:creationId xmlns:a16="http://schemas.microsoft.com/office/drawing/2014/main" id="{EB368F06-32C5-4EB7-9F1F-DA90C897612C}"/>
              </a:ext>
            </a:extLst>
          </p:cNvPr>
          <p:cNvSpPr>
            <a:spLocks noGrp="1"/>
          </p:cNvSpPr>
          <p:nvPr/>
        </p:nvSpPr>
        <p:spPr>
          <a:xfrm>
            <a:off x="8553450" y="5619750"/>
            <a:ext cx="2819400" cy="266700"/>
          </a:xfrm>
          <a:prstGeom prst="roundRect">
            <a:avLst>
              <a:gd name="adj" fmla="val 28571"/>
            </a:avLst>
          </a:prstGeom>
          <a:solidFill>
            <a:srgbClr val="1D5946"/>
          </a:solidFill>
          <a:ln w="0">
            <a:solidFill>
              <a:srgbClr val="000000">
                <a:alpha val="0"/>
              </a:srgbClr>
            </a:solidFill>
            <a:prstDash val="solid"/>
          </a:ln>
        </p:spPr>
        <p:txBody>
          <a:bodyPr/>
          <a:lstStyle/>
          <a:p>
            <a:endParaRPr lang="en-US"/>
          </a:p>
        </p:txBody>
      </p:sp>
      <p:sp>
        <p:nvSpPr>
          <p:cNvPr id="50" name="Rectangle 49">
            <a:extLst>
              <a:ext uri="{FF2B5EF4-FFF2-40B4-BE49-F238E27FC236}">
                <a16:creationId xmlns:a16="http://schemas.microsoft.com/office/drawing/2014/main" id="{8CFD27F1-BF5F-4D09-A55F-96E102B880AC}"/>
              </a:ext>
            </a:extLst>
          </p:cNvPr>
          <p:cNvSpPr>
            <a:spLocks noGrp="1"/>
          </p:cNvSpPr>
          <p:nvPr/>
        </p:nvSpPr>
        <p:spPr>
          <a:xfrm>
            <a:off x="8639175" y="5638800"/>
            <a:ext cx="26479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1">
                <a:solidFill>
                  <a:srgbClr val="FFFFFF"/>
                </a:solidFill>
                <a:latin typeface="Aptos"/>
                <a:ea typeface="Aptos"/>
                <a:cs typeface="Aptos"/>
              </a:defRPr>
            </a:pPr>
            <a:r>
              <a:rPr sz="675" b="1">
                <a:solidFill>
                  <a:srgbClr val="FFFFFF"/>
                </a:solidFill>
                <a:latin typeface="Aptos"/>
                <a:ea typeface="Aptos"/>
                <a:cs typeface="Aptos"/>
              </a:rPr>
              <a:t>3 ESPERIMENTI ACCADEMICI</a:t>
            </a:r>
          </a:p>
        </p:txBody>
      </p:sp>
      <p:sp>
        <p:nvSpPr>
          <p:cNvPr id="51" name="Rectangle 50">
            <a:extLst>
              <a:ext uri="{FF2B5EF4-FFF2-40B4-BE49-F238E27FC236}">
                <a16:creationId xmlns:a16="http://schemas.microsoft.com/office/drawing/2014/main" id="{DD2ABC37-9623-426A-8212-3ABA14AEBD64}"/>
              </a:ext>
            </a:extLst>
          </p:cNvPr>
          <p:cNvSpPr>
            <a:spLocks noGrp="1"/>
          </p:cNvSpPr>
          <p:nvPr/>
        </p:nvSpPr>
        <p:spPr>
          <a:xfrm>
            <a:off x="552450" y="6419850"/>
            <a:ext cx="11087100" cy="9525"/>
          </a:xfrm>
          <a:prstGeom prst="rect">
            <a:avLst/>
          </a:prstGeom>
          <a:solidFill>
            <a:srgbClr val="B9C3BB"/>
          </a:solidFill>
          <a:ln w="0">
            <a:solidFill>
              <a:srgbClr val="000000">
                <a:alpha val="0"/>
              </a:srgbClr>
            </a:solidFill>
            <a:prstDash val="solid"/>
          </a:ln>
        </p:spPr>
        <p:txBody>
          <a:bodyPr/>
          <a:lstStyle/>
          <a:p>
            <a:endParaRPr lang="en-US"/>
          </a:p>
        </p:txBody>
      </p:sp>
      <p:sp>
        <p:nvSpPr>
          <p:cNvPr id="52" name="Rectangle 51">
            <a:extLst>
              <a:ext uri="{FF2B5EF4-FFF2-40B4-BE49-F238E27FC236}">
                <a16:creationId xmlns:a16="http://schemas.microsoft.com/office/drawing/2014/main" id="{E3100493-DF0F-48FC-83A3-40F491EE53EA}"/>
              </a:ext>
            </a:extLst>
          </p:cNvPr>
          <p:cNvSpPr>
            <a:spLocks noGrp="1"/>
          </p:cNvSpPr>
          <p:nvPr/>
        </p:nvSpPr>
        <p:spPr>
          <a:xfrm>
            <a:off x="552450" y="6496050"/>
            <a:ext cx="100393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65736B"/>
                </a:solidFill>
                <a:latin typeface="Aptos"/>
                <a:ea typeface="Aptos"/>
                <a:cs typeface="Aptos"/>
              </a:defRPr>
            </a:pPr>
            <a:r>
              <a:rPr sz="563" b="0">
                <a:solidFill>
                  <a:srgbClr val="65736B"/>
                </a:solidFill>
                <a:latin typeface="Aptos"/>
                <a:ea typeface="Aptos"/>
                <a:cs typeface="Aptos"/>
              </a:rPr>
              <a:t>Limiti: stato senza validazione esterna · gap con label da regole simulate</a:t>
            </a:r>
          </a:p>
        </p:txBody>
      </p:sp>
      <p:sp>
        <p:nvSpPr>
          <p:cNvPr id="53" name="Rectangle 52">
            <a:extLst>
              <a:ext uri="{FF2B5EF4-FFF2-40B4-BE49-F238E27FC236}">
                <a16:creationId xmlns:a16="http://schemas.microsoft.com/office/drawing/2014/main" id="{A365327B-B357-45F4-A96B-D51EA10D6273}"/>
              </a:ext>
            </a:extLst>
          </p:cNvPr>
          <p:cNvSpPr>
            <a:spLocks noGrp="1"/>
          </p:cNvSpPr>
          <p:nvPr/>
        </p:nvSpPr>
        <p:spPr>
          <a:xfrm>
            <a:off x="11049000" y="6477000"/>
            <a:ext cx="590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65736B"/>
                </a:solidFill>
                <a:latin typeface="Georgia"/>
                <a:ea typeface="Georgia"/>
                <a:cs typeface="Georgia"/>
              </a:defRPr>
            </a:pPr>
            <a:r>
              <a:rPr sz="750" b="1">
                <a:solidFill>
                  <a:srgbClr val="65736B"/>
                </a:solidFill>
                <a:latin typeface="Georgia"/>
                <a:ea typeface="Georgia"/>
                <a:cs typeface="Georgia"/>
              </a:rPr>
              <a:t>13</a:t>
            </a:r>
          </a:p>
        </p:txBody>
      </p:sp>
    </p:spTree>
    <p:extLst>
      <p:ext uri="{BB962C8B-B14F-4D97-AF65-F5344CB8AC3E}">
        <p14:creationId xmlns:p14="http://schemas.microsoft.com/office/powerpoint/2010/main" val="2876996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background">
            <a:extLst>
              <a:ext uri="{FF2B5EF4-FFF2-40B4-BE49-F238E27FC236}">
                <a16:creationId xmlns:a16="http://schemas.microsoft.com/office/drawing/2014/main" id="{7B4C4639-663C-4BB0-BA2E-78BDD087F752}"/>
              </a:ext>
            </a:extLst>
          </p:cNvPr>
          <p:cNvSpPr>
            <a:spLocks noGrp="1"/>
          </p:cNvSpPr>
          <p:nvPr/>
        </p:nvSpPr>
        <p:spPr>
          <a:xfrm>
            <a:off x="0" y="0"/>
            <a:ext cx="12192000" cy="6858000"/>
          </a:xfrm>
          <a:prstGeom prst="rect">
            <a:avLst/>
          </a:prstGeom>
          <a:solidFill>
            <a:srgbClr val="F4F0E7"/>
          </a:solidFill>
          <a:ln w="0">
            <a:solidFill>
              <a:srgbClr val="000000">
                <a:alpha val="0"/>
              </a:srgbClr>
            </a:solidFill>
            <a:prstDash val="solid"/>
          </a:ln>
        </p:spPr>
        <p:txBody>
          <a:bodyPr/>
          <a:lstStyle/>
          <a:p>
            <a:endParaRPr lang="en-US"/>
          </a:p>
        </p:txBody>
      </p:sp>
      <p:sp>
        <p:nvSpPr>
          <p:cNvPr id="2" name="Oval 1">
            <a:extLst>
              <a:ext uri="{FF2B5EF4-FFF2-40B4-BE49-F238E27FC236}">
                <a16:creationId xmlns:a16="http://schemas.microsoft.com/office/drawing/2014/main" id="{CBF18333-D22D-4109-838A-38D6109BA313}"/>
              </a:ext>
            </a:extLst>
          </p:cNvPr>
          <p:cNvSpPr>
            <a:spLocks noGrp="1"/>
          </p:cNvSpPr>
          <p:nvPr/>
        </p:nvSpPr>
        <p:spPr>
          <a:xfrm>
            <a:off x="552450" y="409575"/>
            <a:ext cx="85725" cy="85725"/>
          </a:xfrm>
          <a:prstGeom prst="ellipse">
            <a:avLst/>
          </a:prstGeom>
          <a:solidFill>
            <a:srgbClr val="2F7D5B"/>
          </a:solidFill>
          <a:ln w="0">
            <a:solidFill>
              <a:srgbClr val="000000">
                <a:alpha val="0"/>
              </a:srgbClr>
            </a:solidFill>
            <a:prstDash val="solid"/>
          </a:ln>
        </p:spPr>
        <p:txBody>
          <a:bodyPr/>
          <a:lstStyle/>
          <a:p>
            <a:endParaRPr lang="en-US"/>
          </a:p>
        </p:txBody>
      </p:sp>
      <p:sp>
        <p:nvSpPr>
          <p:cNvPr id="3" name="Rectangle 2">
            <a:extLst>
              <a:ext uri="{FF2B5EF4-FFF2-40B4-BE49-F238E27FC236}">
                <a16:creationId xmlns:a16="http://schemas.microsoft.com/office/drawing/2014/main" id="{0197FCE8-7ACF-4166-AB0F-F5F1BFCFB390}"/>
              </a:ext>
            </a:extLst>
          </p:cNvPr>
          <p:cNvSpPr>
            <a:spLocks noGrp="1"/>
          </p:cNvSpPr>
          <p:nvPr/>
        </p:nvSpPr>
        <p:spPr>
          <a:xfrm>
            <a:off x="742950" y="361950"/>
            <a:ext cx="666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65736B"/>
                </a:solidFill>
                <a:latin typeface="Aptos"/>
                <a:ea typeface="Aptos"/>
                <a:cs typeface="Aptos"/>
              </a:defRPr>
            </a:pPr>
            <a:r>
              <a:rPr sz="638" b="1">
                <a:solidFill>
                  <a:srgbClr val="65736B"/>
                </a:solidFill>
                <a:latin typeface="Aptos"/>
                <a:ea typeface="Aptos"/>
                <a:cs typeface="Aptos"/>
              </a:rPr>
              <a:t>W O R K F L O W   G E N E R A T I V O   ·   P R O M P T   E   A L L U C I N A Z I O N I</a:t>
            </a:r>
          </a:p>
        </p:txBody>
      </p:sp>
      <p:sp>
        <p:nvSpPr>
          <p:cNvPr id="4" name="claim-title">
            <a:extLst>
              <a:ext uri="{FF2B5EF4-FFF2-40B4-BE49-F238E27FC236}">
                <a16:creationId xmlns:a16="http://schemas.microsoft.com/office/drawing/2014/main" id="{C36E099A-C7B7-4E43-B8C6-57B95E882A6A}"/>
              </a:ext>
            </a:extLst>
          </p:cNvPr>
          <p:cNvSpPr>
            <a:spLocks noGrp="1"/>
          </p:cNvSpPr>
          <p:nvPr/>
        </p:nvSpPr>
        <p:spPr>
          <a:xfrm>
            <a:off x="552450" y="742950"/>
            <a:ext cx="10001250" cy="914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925" b="1">
                <a:solidFill>
                  <a:srgbClr val="17211D"/>
                </a:solidFill>
                <a:latin typeface="Georgia"/>
                <a:ea typeface="Georgia"/>
                <a:cs typeface="Georgia"/>
              </a:defRPr>
            </a:pPr>
            <a:r>
              <a:rPr sz="2925" b="1">
                <a:solidFill>
                  <a:srgbClr val="17211D"/>
                </a:solidFill>
                <a:latin typeface="Georgia"/>
                <a:ea typeface="Georgia"/>
                <a:cs typeface="Georgia"/>
              </a:rPr>
              <a:t>Un prompt utile non chiude il lavoro: apre un ciclo di verifica.</a:t>
            </a:r>
          </a:p>
        </p:txBody>
      </p:sp>
      <p:sp>
        <p:nvSpPr>
          <p:cNvPr id="5" name="Oval 4">
            <a:extLst>
              <a:ext uri="{FF2B5EF4-FFF2-40B4-BE49-F238E27FC236}">
                <a16:creationId xmlns:a16="http://schemas.microsoft.com/office/drawing/2014/main" id="{5E4EEBC1-A9B7-4C72-9396-BE12DE2D234F}"/>
              </a:ext>
            </a:extLst>
          </p:cNvPr>
          <p:cNvSpPr>
            <a:spLocks noGrp="1"/>
          </p:cNvSpPr>
          <p:nvPr/>
        </p:nvSpPr>
        <p:spPr>
          <a:xfrm>
            <a:off x="552450" y="2247900"/>
            <a:ext cx="361950" cy="361950"/>
          </a:xfrm>
          <a:prstGeom prst="ellipse">
            <a:avLst/>
          </a:prstGeom>
          <a:solidFill>
            <a:srgbClr val="123C31"/>
          </a:solidFill>
          <a:ln w="0">
            <a:solidFill>
              <a:srgbClr val="000000">
                <a:alpha val="0"/>
              </a:srgbClr>
            </a:solidFill>
            <a:prstDash val="solid"/>
          </a:ln>
        </p:spPr>
        <p:txBody>
          <a:bodyPr/>
          <a:lstStyle/>
          <a:p>
            <a:endParaRPr lang="en-US"/>
          </a:p>
        </p:txBody>
      </p:sp>
      <p:sp>
        <p:nvSpPr>
          <p:cNvPr id="6" name="Rectangle 5">
            <a:extLst>
              <a:ext uri="{FF2B5EF4-FFF2-40B4-BE49-F238E27FC236}">
                <a16:creationId xmlns:a16="http://schemas.microsoft.com/office/drawing/2014/main" id="{442524F1-709A-4D27-ACF0-EB54C10F539D}"/>
              </a:ext>
            </a:extLst>
          </p:cNvPr>
          <p:cNvSpPr>
            <a:spLocks noGrp="1"/>
          </p:cNvSpPr>
          <p:nvPr/>
        </p:nvSpPr>
        <p:spPr>
          <a:xfrm>
            <a:off x="552450" y="2266950"/>
            <a:ext cx="3619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050" b="1">
                <a:solidFill>
                  <a:srgbClr val="FFFFFF"/>
                </a:solidFill>
                <a:latin typeface="Georgia"/>
                <a:ea typeface="Georgia"/>
                <a:cs typeface="Georgia"/>
              </a:defRPr>
            </a:pPr>
            <a:r>
              <a:rPr sz="1050" b="1">
                <a:solidFill>
                  <a:srgbClr val="FFFFFF"/>
                </a:solidFill>
                <a:latin typeface="Georgia"/>
                <a:ea typeface="Georgia"/>
                <a:cs typeface="Georgia"/>
              </a:rPr>
              <a:t>1</a:t>
            </a:r>
          </a:p>
        </p:txBody>
      </p:sp>
      <p:sp>
        <p:nvSpPr>
          <p:cNvPr id="7" name="Rectangle 6">
            <a:extLst>
              <a:ext uri="{FF2B5EF4-FFF2-40B4-BE49-F238E27FC236}">
                <a16:creationId xmlns:a16="http://schemas.microsoft.com/office/drawing/2014/main" id="{5BE64390-856A-4916-B075-3EF15EE2F394}"/>
              </a:ext>
            </a:extLst>
          </p:cNvPr>
          <p:cNvSpPr>
            <a:spLocks noGrp="1"/>
          </p:cNvSpPr>
          <p:nvPr/>
        </p:nvSpPr>
        <p:spPr>
          <a:xfrm>
            <a:off x="1009650" y="2428875"/>
            <a:ext cx="1352550" cy="28575"/>
          </a:xfrm>
          <a:prstGeom prst="rect">
            <a:avLst/>
          </a:prstGeom>
          <a:solidFill>
            <a:srgbClr val="B9C3BB"/>
          </a:solidFill>
          <a:ln w="0">
            <a:solidFill>
              <a:srgbClr val="000000">
                <a:alpha val="0"/>
              </a:srgbClr>
            </a:solidFill>
            <a:prstDash val="solid"/>
          </a:ln>
        </p:spPr>
        <p:txBody>
          <a:bodyPr/>
          <a:lstStyle/>
          <a:p>
            <a:endParaRPr lang="en-US"/>
          </a:p>
        </p:txBody>
      </p:sp>
      <p:sp>
        <p:nvSpPr>
          <p:cNvPr id="8" name="Isosceles Triangle 7">
            <a:extLst>
              <a:ext uri="{FF2B5EF4-FFF2-40B4-BE49-F238E27FC236}">
                <a16:creationId xmlns:a16="http://schemas.microsoft.com/office/drawing/2014/main" id="{5BE0B042-BDE6-44FA-A6D0-8DDD48456330}"/>
              </a:ext>
            </a:extLst>
          </p:cNvPr>
          <p:cNvSpPr>
            <a:spLocks noGrp="1"/>
          </p:cNvSpPr>
          <p:nvPr/>
        </p:nvSpPr>
        <p:spPr>
          <a:xfrm>
            <a:off x="2333625" y="2371725"/>
            <a:ext cx="133350" cy="133350"/>
          </a:xfrm>
          <a:prstGeom prst="triangle">
            <a:avLst/>
          </a:prstGeom>
          <a:solidFill>
            <a:srgbClr val="B9C3BB"/>
          </a:solidFill>
          <a:ln w="0">
            <a:solidFill>
              <a:srgbClr val="000000">
                <a:alpha val="0"/>
              </a:srgbClr>
            </a:solidFill>
            <a:prstDash val="solid"/>
          </a:ln>
        </p:spPr>
        <p:txBody>
          <a:bodyPr/>
          <a:lstStyle/>
          <a:p>
            <a:endParaRPr lang="en-US"/>
          </a:p>
        </p:txBody>
      </p:sp>
      <p:sp>
        <p:nvSpPr>
          <p:cNvPr id="9" name="Rectangle 8">
            <a:extLst>
              <a:ext uri="{FF2B5EF4-FFF2-40B4-BE49-F238E27FC236}">
                <a16:creationId xmlns:a16="http://schemas.microsoft.com/office/drawing/2014/main" id="{8D1071ED-4110-4752-8C1A-B3FEFACE9076}"/>
              </a:ext>
            </a:extLst>
          </p:cNvPr>
          <p:cNvSpPr>
            <a:spLocks noGrp="1"/>
          </p:cNvSpPr>
          <p:nvPr/>
        </p:nvSpPr>
        <p:spPr>
          <a:xfrm>
            <a:off x="457200" y="2800350"/>
            <a:ext cx="1714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65736B"/>
                </a:solidFill>
                <a:latin typeface="Aptos"/>
                <a:ea typeface="Aptos"/>
                <a:cs typeface="Aptos"/>
              </a:defRPr>
            </a:pPr>
            <a:r>
              <a:rPr sz="675" b="1">
                <a:solidFill>
                  <a:srgbClr val="65736B"/>
                </a:solidFill>
                <a:latin typeface="Aptos"/>
                <a:ea typeface="Aptos"/>
                <a:cs typeface="Aptos"/>
              </a:rPr>
              <a:t>PROMPT</a:t>
            </a:r>
          </a:p>
        </p:txBody>
      </p:sp>
      <p:sp>
        <p:nvSpPr>
          <p:cNvPr id="10" name="Rectangle 9">
            <a:extLst>
              <a:ext uri="{FF2B5EF4-FFF2-40B4-BE49-F238E27FC236}">
                <a16:creationId xmlns:a16="http://schemas.microsoft.com/office/drawing/2014/main" id="{D735180A-167B-453A-AECE-698ED1D0DE06}"/>
              </a:ext>
            </a:extLst>
          </p:cNvPr>
          <p:cNvSpPr>
            <a:spLocks noGrp="1"/>
          </p:cNvSpPr>
          <p:nvPr/>
        </p:nvSpPr>
        <p:spPr>
          <a:xfrm>
            <a:off x="457200" y="3105150"/>
            <a:ext cx="1771650" cy="514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17211D"/>
                </a:solidFill>
                <a:latin typeface="Georgia"/>
                <a:ea typeface="Georgia"/>
                <a:cs typeface="Georgia"/>
              </a:defRPr>
            </a:pPr>
            <a:r>
              <a:rPr sz="900" b="1">
                <a:solidFill>
                  <a:srgbClr val="17211D"/>
                </a:solidFill>
                <a:latin typeface="Georgia"/>
                <a:ea typeface="Georgia"/>
                <a:cs typeface="Georgia"/>
              </a:rPr>
              <a:t>contesto + obiettivo + vincoli</a:t>
            </a:r>
          </a:p>
        </p:txBody>
      </p:sp>
      <p:sp>
        <p:nvSpPr>
          <p:cNvPr id="11" name="Oval 10">
            <a:extLst>
              <a:ext uri="{FF2B5EF4-FFF2-40B4-BE49-F238E27FC236}">
                <a16:creationId xmlns:a16="http://schemas.microsoft.com/office/drawing/2014/main" id="{990FC395-3168-42F1-AA19-A5DD523CF277}"/>
              </a:ext>
            </a:extLst>
          </p:cNvPr>
          <p:cNvSpPr>
            <a:spLocks noGrp="1"/>
          </p:cNvSpPr>
          <p:nvPr/>
        </p:nvSpPr>
        <p:spPr>
          <a:xfrm>
            <a:off x="2647950" y="2247900"/>
            <a:ext cx="361950" cy="361950"/>
          </a:xfrm>
          <a:prstGeom prst="ellipse">
            <a:avLst/>
          </a:prstGeom>
          <a:solidFill>
            <a:srgbClr val="123C31"/>
          </a:solidFill>
          <a:ln w="0">
            <a:solidFill>
              <a:srgbClr val="000000">
                <a:alpha val="0"/>
              </a:srgbClr>
            </a:solidFill>
            <a:prstDash val="solid"/>
          </a:ln>
        </p:spPr>
        <p:txBody>
          <a:bodyPr/>
          <a:lstStyle/>
          <a:p>
            <a:endParaRPr lang="en-US"/>
          </a:p>
        </p:txBody>
      </p:sp>
      <p:sp>
        <p:nvSpPr>
          <p:cNvPr id="12" name="Rectangle 11">
            <a:extLst>
              <a:ext uri="{FF2B5EF4-FFF2-40B4-BE49-F238E27FC236}">
                <a16:creationId xmlns:a16="http://schemas.microsoft.com/office/drawing/2014/main" id="{47CA6075-BB51-4423-A215-7E2643DE37B7}"/>
              </a:ext>
            </a:extLst>
          </p:cNvPr>
          <p:cNvSpPr>
            <a:spLocks noGrp="1"/>
          </p:cNvSpPr>
          <p:nvPr/>
        </p:nvSpPr>
        <p:spPr>
          <a:xfrm>
            <a:off x="2647950" y="2266950"/>
            <a:ext cx="3619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050" b="1">
                <a:solidFill>
                  <a:srgbClr val="FFFFFF"/>
                </a:solidFill>
                <a:latin typeface="Georgia"/>
                <a:ea typeface="Georgia"/>
                <a:cs typeface="Georgia"/>
              </a:defRPr>
            </a:pPr>
            <a:r>
              <a:rPr sz="1050" b="1">
                <a:solidFill>
                  <a:srgbClr val="FFFFFF"/>
                </a:solidFill>
                <a:latin typeface="Georgia"/>
                <a:ea typeface="Georgia"/>
                <a:cs typeface="Georgia"/>
              </a:rPr>
              <a:t>2</a:t>
            </a:r>
          </a:p>
        </p:txBody>
      </p:sp>
      <p:sp>
        <p:nvSpPr>
          <p:cNvPr id="13" name="Rectangle 12">
            <a:extLst>
              <a:ext uri="{FF2B5EF4-FFF2-40B4-BE49-F238E27FC236}">
                <a16:creationId xmlns:a16="http://schemas.microsoft.com/office/drawing/2014/main" id="{65EEB2CF-6AB1-4E60-B5E4-99215B17697E}"/>
              </a:ext>
            </a:extLst>
          </p:cNvPr>
          <p:cNvSpPr>
            <a:spLocks noGrp="1"/>
          </p:cNvSpPr>
          <p:nvPr/>
        </p:nvSpPr>
        <p:spPr>
          <a:xfrm>
            <a:off x="3105150" y="2428875"/>
            <a:ext cx="1352550" cy="28575"/>
          </a:xfrm>
          <a:prstGeom prst="rect">
            <a:avLst/>
          </a:prstGeom>
          <a:solidFill>
            <a:srgbClr val="B9C3BB"/>
          </a:solidFill>
          <a:ln w="0">
            <a:solidFill>
              <a:srgbClr val="000000">
                <a:alpha val="0"/>
              </a:srgbClr>
            </a:solidFill>
            <a:prstDash val="solid"/>
          </a:ln>
        </p:spPr>
        <p:txBody>
          <a:bodyPr/>
          <a:lstStyle/>
          <a:p>
            <a:endParaRPr lang="en-US"/>
          </a:p>
        </p:txBody>
      </p:sp>
      <p:sp>
        <p:nvSpPr>
          <p:cNvPr id="14" name="Isosceles Triangle 13">
            <a:extLst>
              <a:ext uri="{FF2B5EF4-FFF2-40B4-BE49-F238E27FC236}">
                <a16:creationId xmlns:a16="http://schemas.microsoft.com/office/drawing/2014/main" id="{AB92D3DB-AAA3-44BA-9EDF-2C6C1920AE8D}"/>
              </a:ext>
            </a:extLst>
          </p:cNvPr>
          <p:cNvSpPr>
            <a:spLocks noGrp="1"/>
          </p:cNvSpPr>
          <p:nvPr/>
        </p:nvSpPr>
        <p:spPr>
          <a:xfrm>
            <a:off x="4429125" y="2371725"/>
            <a:ext cx="133350" cy="133350"/>
          </a:xfrm>
          <a:prstGeom prst="triangle">
            <a:avLst/>
          </a:prstGeom>
          <a:solidFill>
            <a:srgbClr val="B9C3BB"/>
          </a:solidFill>
          <a:ln w="0">
            <a:solidFill>
              <a:srgbClr val="000000">
                <a:alpha val="0"/>
              </a:srgbClr>
            </a:solidFill>
            <a:prstDash val="solid"/>
          </a:ln>
        </p:spPr>
        <p:txBody>
          <a:bodyPr/>
          <a:lstStyle/>
          <a:p>
            <a:endParaRPr lang="en-US"/>
          </a:p>
        </p:txBody>
      </p:sp>
      <p:sp>
        <p:nvSpPr>
          <p:cNvPr id="15" name="Rectangle 14">
            <a:extLst>
              <a:ext uri="{FF2B5EF4-FFF2-40B4-BE49-F238E27FC236}">
                <a16:creationId xmlns:a16="http://schemas.microsoft.com/office/drawing/2014/main" id="{EB4B5B1D-2B71-42AB-8306-F04024AF234F}"/>
              </a:ext>
            </a:extLst>
          </p:cNvPr>
          <p:cNvSpPr>
            <a:spLocks noGrp="1"/>
          </p:cNvSpPr>
          <p:nvPr/>
        </p:nvSpPr>
        <p:spPr>
          <a:xfrm>
            <a:off x="2552700" y="2800350"/>
            <a:ext cx="1714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65736B"/>
                </a:solidFill>
                <a:latin typeface="Aptos"/>
                <a:ea typeface="Aptos"/>
                <a:cs typeface="Aptos"/>
              </a:defRPr>
            </a:pPr>
            <a:r>
              <a:rPr sz="675" b="1">
                <a:solidFill>
                  <a:srgbClr val="65736B"/>
                </a:solidFill>
                <a:latin typeface="Aptos"/>
                <a:ea typeface="Aptos"/>
                <a:cs typeface="Aptos"/>
              </a:rPr>
              <a:t>BOZZA</a:t>
            </a:r>
          </a:p>
        </p:txBody>
      </p:sp>
      <p:sp>
        <p:nvSpPr>
          <p:cNvPr id="16" name="Rectangle 15">
            <a:extLst>
              <a:ext uri="{FF2B5EF4-FFF2-40B4-BE49-F238E27FC236}">
                <a16:creationId xmlns:a16="http://schemas.microsoft.com/office/drawing/2014/main" id="{98346BD5-C7E7-4607-86AE-BE9B1F851AC6}"/>
              </a:ext>
            </a:extLst>
          </p:cNvPr>
          <p:cNvSpPr>
            <a:spLocks noGrp="1"/>
          </p:cNvSpPr>
          <p:nvPr/>
        </p:nvSpPr>
        <p:spPr>
          <a:xfrm>
            <a:off x="2552700" y="3105150"/>
            <a:ext cx="1771650" cy="514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17211D"/>
                </a:solidFill>
                <a:latin typeface="Georgia"/>
                <a:ea typeface="Georgia"/>
                <a:cs typeface="Georgia"/>
              </a:defRPr>
            </a:pPr>
            <a:r>
              <a:rPr sz="900" b="1">
                <a:solidFill>
                  <a:srgbClr val="17211D"/>
                </a:solidFill>
                <a:latin typeface="Georgia"/>
                <a:ea typeface="Georgia"/>
                <a:cs typeface="Georgia"/>
              </a:rPr>
              <a:t>codice, testo o concept</a:t>
            </a:r>
          </a:p>
        </p:txBody>
      </p:sp>
      <p:sp>
        <p:nvSpPr>
          <p:cNvPr id="17" name="Oval 16">
            <a:extLst>
              <a:ext uri="{FF2B5EF4-FFF2-40B4-BE49-F238E27FC236}">
                <a16:creationId xmlns:a16="http://schemas.microsoft.com/office/drawing/2014/main" id="{02F4B211-F83A-454C-8B24-5FF017CC4583}"/>
              </a:ext>
            </a:extLst>
          </p:cNvPr>
          <p:cNvSpPr>
            <a:spLocks noGrp="1"/>
          </p:cNvSpPr>
          <p:nvPr/>
        </p:nvSpPr>
        <p:spPr>
          <a:xfrm>
            <a:off x="4743450" y="2247900"/>
            <a:ext cx="361950" cy="361950"/>
          </a:xfrm>
          <a:prstGeom prst="ellipse">
            <a:avLst/>
          </a:prstGeom>
          <a:solidFill>
            <a:srgbClr val="123C31"/>
          </a:solidFill>
          <a:ln w="0">
            <a:solidFill>
              <a:srgbClr val="000000">
                <a:alpha val="0"/>
              </a:srgbClr>
            </a:solidFill>
            <a:prstDash val="solid"/>
          </a:ln>
        </p:spPr>
        <p:txBody>
          <a:bodyPr/>
          <a:lstStyle/>
          <a:p>
            <a:endParaRPr lang="en-US"/>
          </a:p>
        </p:txBody>
      </p:sp>
      <p:sp>
        <p:nvSpPr>
          <p:cNvPr id="18" name="Rectangle 17">
            <a:extLst>
              <a:ext uri="{FF2B5EF4-FFF2-40B4-BE49-F238E27FC236}">
                <a16:creationId xmlns:a16="http://schemas.microsoft.com/office/drawing/2014/main" id="{34A40916-0AEB-474E-9EB2-B9DF678B9086}"/>
              </a:ext>
            </a:extLst>
          </p:cNvPr>
          <p:cNvSpPr>
            <a:spLocks noGrp="1"/>
          </p:cNvSpPr>
          <p:nvPr/>
        </p:nvSpPr>
        <p:spPr>
          <a:xfrm>
            <a:off x="4743450" y="2266950"/>
            <a:ext cx="3619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050" b="1">
                <a:solidFill>
                  <a:srgbClr val="FFFFFF"/>
                </a:solidFill>
                <a:latin typeface="Georgia"/>
                <a:ea typeface="Georgia"/>
                <a:cs typeface="Georgia"/>
              </a:defRPr>
            </a:pPr>
            <a:r>
              <a:rPr sz="1050" b="1">
                <a:solidFill>
                  <a:srgbClr val="FFFFFF"/>
                </a:solidFill>
                <a:latin typeface="Georgia"/>
                <a:ea typeface="Georgia"/>
                <a:cs typeface="Georgia"/>
              </a:rPr>
              <a:t>3</a:t>
            </a:r>
          </a:p>
        </p:txBody>
      </p:sp>
      <p:sp>
        <p:nvSpPr>
          <p:cNvPr id="19" name="Rectangle 18">
            <a:extLst>
              <a:ext uri="{FF2B5EF4-FFF2-40B4-BE49-F238E27FC236}">
                <a16:creationId xmlns:a16="http://schemas.microsoft.com/office/drawing/2014/main" id="{631C4AD0-651D-431C-BF90-377756CE4619}"/>
              </a:ext>
            </a:extLst>
          </p:cNvPr>
          <p:cNvSpPr>
            <a:spLocks noGrp="1"/>
          </p:cNvSpPr>
          <p:nvPr/>
        </p:nvSpPr>
        <p:spPr>
          <a:xfrm>
            <a:off x="5200650" y="2428875"/>
            <a:ext cx="1352550" cy="28575"/>
          </a:xfrm>
          <a:prstGeom prst="rect">
            <a:avLst/>
          </a:prstGeom>
          <a:solidFill>
            <a:srgbClr val="B9C3BB"/>
          </a:solidFill>
          <a:ln w="0">
            <a:solidFill>
              <a:srgbClr val="000000">
                <a:alpha val="0"/>
              </a:srgbClr>
            </a:solidFill>
            <a:prstDash val="solid"/>
          </a:ln>
        </p:spPr>
        <p:txBody>
          <a:bodyPr/>
          <a:lstStyle/>
          <a:p>
            <a:endParaRPr lang="en-US"/>
          </a:p>
        </p:txBody>
      </p:sp>
      <p:sp>
        <p:nvSpPr>
          <p:cNvPr id="20" name="Isosceles Triangle 19">
            <a:extLst>
              <a:ext uri="{FF2B5EF4-FFF2-40B4-BE49-F238E27FC236}">
                <a16:creationId xmlns:a16="http://schemas.microsoft.com/office/drawing/2014/main" id="{485BD49F-3FD8-494A-AAA3-3FF1493D78C6}"/>
              </a:ext>
            </a:extLst>
          </p:cNvPr>
          <p:cNvSpPr>
            <a:spLocks noGrp="1"/>
          </p:cNvSpPr>
          <p:nvPr/>
        </p:nvSpPr>
        <p:spPr>
          <a:xfrm>
            <a:off x="6524625" y="2371725"/>
            <a:ext cx="133350" cy="133350"/>
          </a:xfrm>
          <a:prstGeom prst="triangle">
            <a:avLst/>
          </a:prstGeom>
          <a:solidFill>
            <a:srgbClr val="B9C3BB"/>
          </a:solidFill>
          <a:ln w="0">
            <a:solidFill>
              <a:srgbClr val="000000">
                <a:alpha val="0"/>
              </a:srgbClr>
            </a:solidFill>
            <a:prstDash val="solid"/>
          </a:ln>
        </p:spPr>
        <p:txBody>
          <a:bodyPr/>
          <a:lstStyle/>
          <a:p>
            <a:endParaRPr lang="en-US"/>
          </a:p>
        </p:txBody>
      </p:sp>
      <p:sp>
        <p:nvSpPr>
          <p:cNvPr id="21" name="Rectangle 20">
            <a:extLst>
              <a:ext uri="{FF2B5EF4-FFF2-40B4-BE49-F238E27FC236}">
                <a16:creationId xmlns:a16="http://schemas.microsoft.com/office/drawing/2014/main" id="{5136CD26-E50D-42BC-A13B-F6CEDFD98392}"/>
              </a:ext>
            </a:extLst>
          </p:cNvPr>
          <p:cNvSpPr>
            <a:spLocks noGrp="1"/>
          </p:cNvSpPr>
          <p:nvPr/>
        </p:nvSpPr>
        <p:spPr>
          <a:xfrm>
            <a:off x="4648200" y="2800350"/>
            <a:ext cx="1714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65736B"/>
                </a:solidFill>
                <a:latin typeface="Aptos"/>
                <a:ea typeface="Aptos"/>
                <a:cs typeface="Aptos"/>
              </a:defRPr>
            </a:pPr>
            <a:r>
              <a:rPr sz="675" b="1">
                <a:solidFill>
                  <a:srgbClr val="65736B"/>
                </a:solidFill>
                <a:latin typeface="Aptos"/>
                <a:ea typeface="Aptos"/>
                <a:cs typeface="Aptos"/>
              </a:rPr>
              <a:t>CONFRONTO</a:t>
            </a:r>
          </a:p>
        </p:txBody>
      </p:sp>
      <p:sp>
        <p:nvSpPr>
          <p:cNvPr id="22" name="Rectangle 21">
            <a:extLst>
              <a:ext uri="{FF2B5EF4-FFF2-40B4-BE49-F238E27FC236}">
                <a16:creationId xmlns:a16="http://schemas.microsoft.com/office/drawing/2014/main" id="{A81AC9EE-D0AC-4EBA-A1F4-D090BC555598}"/>
              </a:ext>
            </a:extLst>
          </p:cNvPr>
          <p:cNvSpPr>
            <a:spLocks noGrp="1"/>
          </p:cNvSpPr>
          <p:nvPr/>
        </p:nvSpPr>
        <p:spPr>
          <a:xfrm>
            <a:off x="4648200" y="3105150"/>
            <a:ext cx="1771650" cy="514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17211D"/>
                </a:solidFill>
                <a:latin typeface="Georgia"/>
                <a:ea typeface="Georgia"/>
                <a:cs typeface="Georgia"/>
              </a:defRPr>
            </a:pPr>
            <a:r>
              <a:rPr sz="900" b="1">
                <a:solidFill>
                  <a:srgbClr val="17211D"/>
                </a:solidFill>
                <a:latin typeface="Georgia"/>
                <a:ea typeface="Georgia"/>
                <a:cs typeface="Georgia"/>
              </a:rPr>
              <a:t>alternative e trade-off</a:t>
            </a:r>
          </a:p>
        </p:txBody>
      </p:sp>
      <p:sp>
        <p:nvSpPr>
          <p:cNvPr id="23" name="Oval 22">
            <a:extLst>
              <a:ext uri="{FF2B5EF4-FFF2-40B4-BE49-F238E27FC236}">
                <a16:creationId xmlns:a16="http://schemas.microsoft.com/office/drawing/2014/main" id="{5FF8C145-66EA-458A-8013-107DAF3E7631}"/>
              </a:ext>
            </a:extLst>
          </p:cNvPr>
          <p:cNvSpPr>
            <a:spLocks noGrp="1"/>
          </p:cNvSpPr>
          <p:nvPr/>
        </p:nvSpPr>
        <p:spPr>
          <a:xfrm>
            <a:off x="6838950" y="2247900"/>
            <a:ext cx="361950" cy="361950"/>
          </a:xfrm>
          <a:prstGeom prst="ellipse">
            <a:avLst/>
          </a:prstGeom>
          <a:solidFill>
            <a:srgbClr val="123C31"/>
          </a:solidFill>
          <a:ln w="0">
            <a:solidFill>
              <a:srgbClr val="000000">
                <a:alpha val="0"/>
              </a:srgbClr>
            </a:solidFill>
            <a:prstDash val="solid"/>
          </a:ln>
        </p:spPr>
        <p:txBody>
          <a:bodyPr/>
          <a:lstStyle/>
          <a:p>
            <a:endParaRPr lang="en-US"/>
          </a:p>
        </p:txBody>
      </p:sp>
      <p:sp>
        <p:nvSpPr>
          <p:cNvPr id="24" name="Rectangle 23">
            <a:extLst>
              <a:ext uri="{FF2B5EF4-FFF2-40B4-BE49-F238E27FC236}">
                <a16:creationId xmlns:a16="http://schemas.microsoft.com/office/drawing/2014/main" id="{A1066797-B754-4C11-A854-C3F4014F66F6}"/>
              </a:ext>
            </a:extLst>
          </p:cNvPr>
          <p:cNvSpPr>
            <a:spLocks noGrp="1"/>
          </p:cNvSpPr>
          <p:nvPr/>
        </p:nvSpPr>
        <p:spPr>
          <a:xfrm>
            <a:off x="6838950" y="2266950"/>
            <a:ext cx="3619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050" b="1">
                <a:solidFill>
                  <a:srgbClr val="FFFFFF"/>
                </a:solidFill>
                <a:latin typeface="Georgia"/>
                <a:ea typeface="Georgia"/>
                <a:cs typeface="Georgia"/>
              </a:defRPr>
            </a:pPr>
            <a:r>
              <a:rPr sz="1050" b="1">
                <a:solidFill>
                  <a:srgbClr val="FFFFFF"/>
                </a:solidFill>
                <a:latin typeface="Georgia"/>
                <a:ea typeface="Georgia"/>
                <a:cs typeface="Georgia"/>
              </a:rPr>
              <a:t>4</a:t>
            </a:r>
          </a:p>
        </p:txBody>
      </p:sp>
      <p:sp>
        <p:nvSpPr>
          <p:cNvPr id="25" name="Rectangle 24">
            <a:extLst>
              <a:ext uri="{FF2B5EF4-FFF2-40B4-BE49-F238E27FC236}">
                <a16:creationId xmlns:a16="http://schemas.microsoft.com/office/drawing/2014/main" id="{19B11AB8-AE43-4F98-B79E-95A9F626E1F8}"/>
              </a:ext>
            </a:extLst>
          </p:cNvPr>
          <p:cNvSpPr>
            <a:spLocks noGrp="1"/>
          </p:cNvSpPr>
          <p:nvPr/>
        </p:nvSpPr>
        <p:spPr>
          <a:xfrm>
            <a:off x="7296150" y="2428875"/>
            <a:ext cx="1352550" cy="28575"/>
          </a:xfrm>
          <a:prstGeom prst="rect">
            <a:avLst/>
          </a:prstGeom>
          <a:solidFill>
            <a:srgbClr val="B9C3BB"/>
          </a:solidFill>
          <a:ln w="0">
            <a:solidFill>
              <a:srgbClr val="000000">
                <a:alpha val="0"/>
              </a:srgbClr>
            </a:solidFill>
            <a:prstDash val="solid"/>
          </a:ln>
        </p:spPr>
        <p:txBody>
          <a:bodyPr/>
          <a:lstStyle/>
          <a:p>
            <a:endParaRPr lang="en-US"/>
          </a:p>
        </p:txBody>
      </p:sp>
      <p:sp>
        <p:nvSpPr>
          <p:cNvPr id="26" name="Isosceles Triangle 25">
            <a:extLst>
              <a:ext uri="{FF2B5EF4-FFF2-40B4-BE49-F238E27FC236}">
                <a16:creationId xmlns:a16="http://schemas.microsoft.com/office/drawing/2014/main" id="{4287B148-1718-4FEB-BBF9-23B12AABE256}"/>
              </a:ext>
            </a:extLst>
          </p:cNvPr>
          <p:cNvSpPr>
            <a:spLocks noGrp="1"/>
          </p:cNvSpPr>
          <p:nvPr/>
        </p:nvSpPr>
        <p:spPr>
          <a:xfrm>
            <a:off x="8620125" y="2371725"/>
            <a:ext cx="133350" cy="133350"/>
          </a:xfrm>
          <a:prstGeom prst="triangle">
            <a:avLst/>
          </a:prstGeom>
          <a:solidFill>
            <a:srgbClr val="B9C3BB"/>
          </a:solidFill>
          <a:ln w="0">
            <a:solidFill>
              <a:srgbClr val="000000">
                <a:alpha val="0"/>
              </a:srgbClr>
            </a:solidFill>
            <a:prstDash val="solid"/>
          </a:ln>
        </p:spPr>
        <p:txBody>
          <a:bodyPr/>
          <a:lstStyle/>
          <a:p>
            <a:endParaRPr lang="en-US"/>
          </a:p>
        </p:txBody>
      </p:sp>
      <p:sp>
        <p:nvSpPr>
          <p:cNvPr id="27" name="Rectangle 26">
            <a:extLst>
              <a:ext uri="{FF2B5EF4-FFF2-40B4-BE49-F238E27FC236}">
                <a16:creationId xmlns:a16="http://schemas.microsoft.com/office/drawing/2014/main" id="{FF6282C5-B50F-489F-BB76-74B1A9FEC066}"/>
              </a:ext>
            </a:extLst>
          </p:cNvPr>
          <p:cNvSpPr>
            <a:spLocks noGrp="1"/>
          </p:cNvSpPr>
          <p:nvPr/>
        </p:nvSpPr>
        <p:spPr>
          <a:xfrm>
            <a:off x="6743700" y="2800350"/>
            <a:ext cx="1714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65736B"/>
                </a:solidFill>
                <a:latin typeface="Aptos"/>
                <a:ea typeface="Aptos"/>
                <a:cs typeface="Aptos"/>
              </a:defRPr>
            </a:pPr>
            <a:r>
              <a:rPr sz="675" b="1">
                <a:solidFill>
                  <a:srgbClr val="65736B"/>
                </a:solidFill>
                <a:latin typeface="Aptos"/>
                <a:ea typeface="Aptos"/>
                <a:cs typeface="Aptos"/>
              </a:rPr>
              <a:t>VERIFICA</a:t>
            </a:r>
          </a:p>
        </p:txBody>
      </p:sp>
      <p:sp>
        <p:nvSpPr>
          <p:cNvPr id="28" name="Rectangle 27">
            <a:extLst>
              <a:ext uri="{FF2B5EF4-FFF2-40B4-BE49-F238E27FC236}">
                <a16:creationId xmlns:a16="http://schemas.microsoft.com/office/drawing/2014/main" id="{D316DFC0-4116-45B1-86C1-C3ACCD9627F1}"/>
              </a:ext>
            </a:extLst>
          </p:cNvPr>
          <p:cNvSpPr>
            <a:spLocks noGrp="1"/>
          </p:cNvSpPr>
          <p:nvPr/>
        </p:nvSpPr>
        <p:spPr>
          <a:xfrm>
            <a:off x="6743700" y="3105150"/>
            <a:ext cx="1771650" cy="514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17211D"/>
                </a:solidFill>
                <a:latin typeface="Georgia"/>
                <a:ea typeface="Georgia"/>
                <a:cs typeface="Georgia"/>
              </a:defRPr>
            </a:pPr>
            <a:r>
              <a:rPr sz="900" b="1">
                <a:solidFill>
                  <a:srgbClr val="17211D"/>
                </a:solidFill>
                <a:latin typeface="Georgia"/>
                <a:ea typeface="Georgia"/>
                <a:cs typeface="Georgia"/>
              </a:rPr>
              <a:t>repository, test, metriche</a:t>
            </a:r>
          </a:p>
        </p:txBody>
      </p:sp>
      <p:sp>
        <p:nvSpPr>
          <p:cNvPr id="29" name="Oval 28">
            <a:extLst>
              <a:ext uri="{FF2B5EF4-FFF2-40B4-BE49-F238E27FC236}">
                <a16:creationId xmlns:a16="http://schemas.microsoft.com/office/drawing/2014/main" id="{214470A2-BBB3-43E8-AC17-03AD8B5A1456}"/>
              </a:ext>
            </a:extLst>
          </p:cNvPr>
          <p:cNvSpPr>
            <a:spLocks noGrp="1"/>
          </p:cNvSpPr>
          <p:nvPr/>
        </p:nvSpPr>
        <p:spPr>
          <a:xfrm>
            <a:off x="8934450" y="2247900"/>
            <a:ext cx="361950" cy="361950"/>
          </a:xfrm>
          <a:prstGeom prst="ellipse">
            <a:avLst/>
          </a:prstGeom>
          <a:solidFill>
            <a:srgbClr val="B9D94A"/>
          </a:solidFill>
          <a:ln w="0">
            <a:solidFill>
              <a:srgbClr val="000000">
                <a:alpha val="0"/>
              </a:srgbClr>
            </a:solidFill>
            <a:prstDash val="solid"/>
          </a:ln>
        </p:spPr>
        <p:txBody>
          <a:bodyPr/>
          <a:lstStyle/>
          <a:p>
            <a:endParaRPr lang="en-US"/>
          </a:p>
        </p:txBody>
      </p:sp>
      <p:sp>
        <p:nvSpPr>
          <p:cNvPr id="30" name="Rectangle 29">
            <a:extLst>
              <a:ext uri="{FF2B5EF4-FFF2-40B4-BE49-F238E27FC236}">
                <a16:creationId xmlns:a16="http://schemas.microsoft.com/office/drawing/2014/main" id="{4DD9FCAD-963D-43E5-883A-03A16064AB59}"/>
              </a:ext>
            </a:extLst>
          </p:cNvPr>
          <p:cNvSpPr>
            <a:spLocks noGrp="1"/>
          </p:cNvSpPr>
          <p:nvPr/>
        </p:nvSpPr>
        <p:spPr>
          <a:xfrm>
            <a:off x="8934450" y="2266950"/>
            <a:ext cx="3619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050" b="1">
                <a:solidFill>
                  <a:srgbClr val="123C31"/>
                </a:solidFill>
                <a:latin typeface="Georgia"/>
                <a:ea typeface="Georgia"/>
                <a:cs typeface="Georgia"/>
              </a:defRPr>
            </a:pPr>
            <a:r>
              <a:rPr sz="1050" b="1">
                <a:solidFill>
                  <a:srgbClr val="123C31"/>
                </a:solidFill>
                <a:latin typeface="Georgia"/>
                <a:ea typeface="Georgia"/>
                <a:cs typeface="Georgia"/>
              </a:rPr>
              <a:t>5</a:t>
            </a:r>
          </a:p>
        </p:txBody>
      </p:sp>
      <p:sp>
        <p:nvSpPr>
          <p:cNvPr id="31" name="Rectangle 30">
            <a:extLst>
              <a:ext uri="{FF2B5EF4-FFF2-40B4-BE49-F238E27FC236}">
                <a16:creationId xmlns:a16="http://schemas.microsoft.com/office/drawing/2014/main" id="{09870C11-DB73-48FA-A821-05AC114A56B8}"/>
              </a:ext>
            </a:extLst>
          </p:cNvPr>
          <p:cNvSpPr>
            <a:spLocks noGrp="1"/>
          </p:cNvSpPr>
          <p:nvPr/>
        </p:nvSpPr>
        <p:spPr>
          <a:xfrm>
            <a:off x="8839200" y="2800350"/>
            <a:ext cx="1714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2F7D5B"/>
                </a:solidFill>
                <a:latin typeface="Aptos"/>
                <a:ea typeface="Aptos"/>
                <a:cs typeface="Aptos"/>
              </a:defRPr>
            </a:pPr>
            <a:r>
              <a:rPr sz="675" b="1">
                <a:solidFill>
                  <a:srgbClr val="2F7D5B"/>
                </a:solidFill>
                <a:latin typeface="Aptos"/>
                <a:ea typeface="Aptos"/>
                <a:cs typeface="Aptos"/>
              </a:rPr>
              <a:t>CORREZIONE</a:t>
            </a:r>
          </a:p>
        </p:txBody>
      </p:sp>
      <p:sp>
        <p:nvSpPr>
          <p:cNvPr id="32" name="Rectangle 31">
            <a:extLst>
              <a:ext uri="{FF2B5EF4-FFF2-40B4-BE49-F238E27FC236}">
                <a16:creationId xmlns:a16="http://schemas.microsoft.com/office/drawing/2014/main" id="{8504C792-4F4E-42A0-91A8-5A8D864719B3}"/>
              </a:ext>
            </a:extLst>
          </p:cNvPr>
          <p:cNvSpPr>
            <a:spLocks noGrp="1"/>
          </p:cNvSpPr>
          <p:nvPr/>
        </p:nvSpPr>
        <p:spPr>
          <a:xfrm>
            <a:off x="8839200" y="3105150"/>
            <a:ext cx="1771650" cy="514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17211D"/>
                </a:solidFill>
                <a:latin typeface="Georgia"/>
                <a:ea typeface="Georgia"/>
                <a:cs typeface="Georgia"/>
              </a:defRPr>
            </a:pPr>
            <a:r>
              <a:rPr sz="900" b="1">
                <a:solidFill>
                  <a:srgbClr val="17211D"/>
                </a:solidFill>
                <a:latin typeface="Georgia"/>
                <a:ea typeface="Georgia"/>
                <a:cs typeface="Georgia"/>
              </a:rPr>
              <a:t>output finale tracciabile</a:t>
            </a:r>
          </a:p>
        </p:txBody>
      </p:sp>
      <p:sp>
        <p:nvSpPr>
          <p:cNvPr id="33" name="Rectangle: Rounded Corners 32">
            <a:extLst>
              <a:ext uri="{FF2B5EF4-FFF2-40B4-BE49-F238E27FC236}">
                <a16:creationId xmlns:a16="http://schemas.microsoft.com/office/drawing/2014/main" id="{51C876D4-BDDB-40CF-9529-976BB356962E}"/>
              </a:ext>
            </a:extLst>
          </p:cNvPr>
          <p:cNvSpPr>
            <a:spLocks noGrp="1"/>
          </p:cNvSpPr>
          <p:nvPr/>
        </p:nvSpPr>
        <p:spPr>
          <a:xfrm>
            <a:off x="552450" y="4000500"/>
            <a:ext cx="7239000" cy="1676400"/>
          </a:xfrm>
          <a:prstGeom prst="roundRect">
            <a:avLst>
              <a:gd name="adj" fmla="val 4545"/>
            </a:avLst>
          </a:prstGeom>
          <a:solidFill>
            <a:srgbClr val="FFFFFF"/>
          </a:solidFill>
          <a:ln w="9525">
            <a:solidFill>
              <a:srgbClr val="B9C3BB"/>
            </a:solidFill>
            <a:prstDash val="solid"/>
          </a:ln>
        </p:spPr>
        <p:txBody>
          <a:bodyPr/>
          <a:lstStyle/>
          <a:p>
            <a:endParaRPr lang="en-US"/>
          </a:p>
        </p:txBody>
      </p:sp>
      <p:sp>
        <p:nvSpPr>
          <p:cNvPr id="34" name="Rectangle 33">
            <a:extLst>
              <a:ext uri="{FF2B5EF4-FFF2-40B4-BE49-F238E27FC236}">
                <a16:creationId xmlns:a16="http://schemas.microsoft.com/office/drawing/2014/main" id="{85FF2D8F-502B-4F14-8E3C-FBB754E1F179}"/>
              </a:ext>
            </a:extLst>
          </p:cNvPr>
          <p:cNvSpPr>
            <a:spLocks noGrp="1"/>
          </p:cNvSpPr>
          <p:nvPr/>
        </p:nvSpPr>
        <p:spPr>
          <a:xfrm>
            <a:off x="800100" y="4229100"/>
            <a:ext cx="4000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D56E42"/>
                </a:solidFill>
                <a:latin typeface="Aptos"/>
                <a:ea typeface="Aptos"/>
                <a:cs typeface="Aptos"/>
              </a:defRPr>
            </a:pPr>
            <a:r>
              <a:rPr sz="675" b="1">
                <a:solidFill>
                  <a:srgbClr val="D56E42"/>
                </a:solidFill>
                <a:latin typeface="Aptos"/>
                <a:ea typeface="Aptos"/>
                <a:cs typeface="Aptos"/>
              </a:rPr>
              <a:t>ALLUCINAZIONI CHE ABBIAMO BLOCCATO</a:t>
            </a:r>
          </a:p>
        </p:txBody>
      </p:sp>
      <p:sp>
        <p:nvSpPr>
          <p:cNvPr id="35" name="Rectangle 34">
            <a:extLst>
              <a:ext uri="{FF2B5EF4-FFF2-40B4-BE49-F238E27FC236}">
                <a16:creationId xmlns:a16="http://schemas.microsoft.com/office/drawing/2014/main" id="{BBF72AD6-269C-4FD8-8461-AAACA8AF3BF9}"/>
              </a:ext>
            </a:extLst>
          </p:cNvPr>
          <p:cNvSpPr>
            <a:spLocks noGrp="1"/>
          </p:cNvSpPr>
          <p:nvPr/>
        </p:nvSpPr>
        <p:spPr>
          <a:xfrm>
            <a:off x="800100" y="4591050"/>
            <a:ext cx="2095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65736B"/>
                </a:solidFill>
                <a:latin typeface="Aptos"/>
                <a:ea typeface="Aptos"/>
                <a:cs typeface="Aptos"/>
              </a:defRPr>
            </a:pPr>
            <a:r>
              <a:rPr sz="788" b="0">
                <a:solidFill>
                  <a:srgbClr val="65736B"/>
                </a:solidFill>
                <a:latin typeface="Aptos"/>
                <a:ea typeface="Aptos"/>
                <a:cs typeface="Aptos"/>
              </a:rPr>
              <a:t>4 stati inventati</a:t>
            </a:r>
          </a:p>
        </p:txBody>
      </p:sp>
      <p:sp>
        <p:nvSpPr>
          <p:cNvPr id="36" name="Rectangle 35">
            <a:extLst>
              <a:ext uri="{FF2B5EF4-FFF2-40B4-BE49-F238E27FC236}">
                <a16:creationId xmlns:a16="http://schemas.microsoft.com/office/drawing/2014/main" id="{D37CA3C4-625B-43DB-96EB-D19A7984334B}"/>
              </a:ext>
            </a:extLst>
          </p:cNvPr>
          <p:cNvSpPr>
            <a:spLocks noGrp="1"/>
          </p:cNvSpPr>
          <p:nvPr/>
        </p:nvSpPr>
        <p:spPr>
          <a:xfrm>
            <a:off x="3028950" y="4591050"/>
            <a:ext cx="42862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17211D"/>
                </a:solidFill>
                <a:latin typeface="Aptos"/>
                <a:ea typeface="Aptos"/>
                <a:cs typeface="Aptos"/>
              </a:defRPr>
            </a:pPr>
            <a:r>
              <a:rPr sz="788" b="1">
                <a:solidFill>
                  <a:srgbClr val="17211D"/>
                </a:solidFill>
                <a:latin typeface="Aptos"/>
                <a:ea typeface="Aptos"/>
                <a:cs typeface="Aptos"/>
              </a:rPr>
              <a:t>→ 3 classi reali</a:t>
            </a:r>
          </a:p>
        </p:txBody>
      </p:sp>
      <p:sp>
        <p:nvSpPr>
          <p:cNvPr id="37" name="Rectangle 36">
            <a:extLst>
              <a:ext uri="{FF2B5EF4-FFF2-40B4-BE49-F238E27FC236}">
                <a16:creationId xmlns:a16="http://schemas.microsoft.com/office/drawing/2014/main" id="{4F578BCE-DA3D-4144-8582-7926C9BB1A12}"/>
              </a:ext>
            </a:extLst>
          </p:cNvPr>
          <p:cNvSpPr>
            <a:spLocks noGrp="1"/>
          </p:cNvSpPr>
          <p:nvPr/>
        </p:nvSpPr>
        <p:spPr>
          <a:xfrm>
            <a:off x="800100" y="4914900"/>
            <a:ext cx="2095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65736B"/>
                </a:solidFill>
                <a:latin typeface="Aptos"/>
                <a:ea typeface="Aptos"/>
                <a:cs typeface="Aptos"/>
              </a:defRPr>
            </a:pPr>
            <a:r>
              <a:rPr sz="788" b="0">
                <a:solidFill>
                  <a:srgbClr val="65736B"/>
                </a:solidFill>
                <a:latin typeface="Aptos"/>
                <a:ea typeface="Aptos"/>
                <a:cs typeface="Aptos"/>
              </a:rPr>
              <a:t>VLM nella UI</a:t>
            </a:r>
          </a:p>
        </p:txBody>
      </p:sp>
      <p:sp>
        <p:nvSpPr>
          <p:cNvPr id="38" name="Rectangle 37">
            <a:extLst>
              <a:ext uri="{FF2B5EF4-FFF2-40B4-BE49-F238E27FC236}">
                <a16:creationId xmlns:a16="http://schemas.microsoft.com/office/drawing/2014/main" id="{F195A633-28C5-4ED4-BA37-A0CC3D51A666}"/>
              </a:ext>
            </a:extLst>
          </p:cNvPr>
          <p:cNvSpPr>
            <a:spLocks noGrp="1"/>
          </p:cNvSpPr>
          <p:nvPr/>
        </p:nvSpPr>
        <p:spPr>
          <a:xfrm>
            <a:off x="3028950" y="4914900"/>
            <a:ext cx="42862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17211D"/>
                </a:solidFill>
                <a:latin typeface="Aptos"/>
                <a:ea typeface="Aptos"/>
                <a:cs typeface="Aptos"/>
              </a:defRPr>
            </a:pPr>
            <a:r>
              <a:rPr sz="788" b="1">
                <a:solidFill>
                  <a:srgbClr val="17211D"/>
                </a:solidFill>
                <a:latin typeface="Aptos"/>
                <a:ea typeface="Aptos"/>
                <a:cs typeface="Aptos"/>
              </a:rPr>
              <a:t>→ rimosso: non esiste nel runtime</a:t>
            </a:r>
          </a:p>
        </p:txBody>
      </p:sp>
      <p:sp>
        <p:nvSpPr>
          <p:cNvPr id="39" name="Rectangle 38">
            <a:extLst>
              <a:ext uri="{FF2B5EF4-FFF2-40B4-BE49-F238E27FC236}">
                <a16:creationId xmlns:a16="http://schemas.microsoft.com/office/drawing/2014/main" id="{A4A811F5-682B-4F6B-B6C7-795025518A54}"/>
              </a:ext>
            </a:extLst>
          </p:cNvPr>
          <p:cNvSpPr>
            <a:spLocks noGrp="1"/>
          </p:cNvSpPr>
          <p:nvPr/>
        </p:nvSpPr>
        <p:spPr>
          <a:xfrm>
            <a:off x="800100" y="5238750"/>
            <a:ext cx="2095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65736B"/>
                </a:solidFill>
                <a:latin typeface="Aptos"/>
                <a:ea typeface="Aptos"/>
                <a:cs typeface="Aptos"/>
              </a:defRPr>
            </a:pPr>
            <a:r>
              <a:rPr sz="788" b="0">
                <a:solidFill>
                  <a:srgbClr val="65736B"/>
                </a:solidFill>
                <a:latin typeface="Aptos"/>
                <a:ea typeface="Aptos"/>
                <a:cs typeface="Aptos"/>
              </a:rPr>
              <a:t>CO₂ come dato certo</a:t>
            </a:r>
          </a:p>
        </p:txBody>
      </p:sp>
      <p:sp>
        <p:nvSpPr>
          <p:cNvPr id="40" name="Rectangle 39">
            <a:extLst>
              <a:ext uri="{FF2B5EF4-FFF2-40B4-BE49-F238E27FC236}">
                <a16:creationId xmlns:a16="http://schemas.microsoft.com/office/drawing/2014/main" id="{3A89DEE5-54CD-46B0-9980-EC67431772E0}"/>
              </a:ext>
            </a:extLst>
          </p:cNvPr>
          <p:cNvSpPr>
            <a:spLocks noGrp="1"/>
          </p:cNvSpPr>
          <p:nvPr/>
        </p:nvSpPr>
        <p:spPr>
          <a:xfrm>
            <a:off x="3028950" y="5238750"/>
            <a:ext cx="42862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17211D"/>
                </a:solidFill>
                <a:latin typeface="Aptos"/>
                <a:ea typeface="Aptos"/>
                <a:cs typeface="Aptos"/>
              </a:defRPr>
            </a:pPr>
            <a:r>
              <a:rPr sz="788" b="1">
                <a:solidFill>
                  <a:srgbClr val="17211D"/>
                </a:solidFill>
                <a:latin typeface="Aptos"/>
                <a:ea typeface="Aptos"/>
                <a:cs typeface="Aptos"/>
              </a:rPr>
              <a:t>→ rinominata stima di scenario</a:t>
            </a:r>
          </a:p>
        </p:txBody>
      </p:sp>
      <p:sp>
        <p:nvSpPr>
          <p:cNvPr id="41" name="Rectangle: Rounded Corners 40">
            <a:extLst>
              <a:ext uri="{FF2B5EF4-FFF2-40B4-BE49-F238E27FC236}">
                <a16:creationId xmlns:a16="http://schemas.microsoft.com/office/drawing/2014/main" id="{FEBECB46-A7F8-4FE0-A841-00A73C97F307}"/>
              </a:ext>
            </a:extLst>
          </p:cNvPr>
          <p:cNvSpPr>
            <a:spLocks noGrp="1"/>
          </p:cNvSpPr>
          <p:nvPr/>
        </p:nvSpPr>
        <p:spPr>
          <a:xfrm>
            <a:off x="8039100" y="4000500"/>
            <a:ext cx="3600450" cy="1676400"/>
          </a:xfrm>
          <a:prstGeom prst="roundRect">
            <a:avLst>
              <a:gd name="adj" fmla="val 4545"/>
            </a:avLst>
          </a:prstGeom>
          <a:solidFill>
            <a:srgbClr val="123C31"/>
          </a:solidFill>
          <a:ln w="9525">
            <a:solidFill>
              <a:srgbClr val="123C31"/>
            </a:solidFill>
            <a:prstDash val="solid"/>
          </a:ln>
        </p:spPr>
        <p:txBody>
          <a:bodyPr/>
          <a:lstStyle/>
          <a:p>
            <a:endParaRPr lang="en-US"/>
          </a:p>
        </p:txBody>
      </p:sp>
      <p:pic>
        <p:nvPicPr>
          <p:cNvPr id="42" name="Picture 41"/>
          <p:cNvPicPr>
            <a:picLocks noChangeAspect="1"/>
          </p:cNvPicPr>
          <p:nvPr/>
        </p:nvPicPr>
        <p:blipFill>
          <a:blip r:embed="rId3"/>
          <a:stretch/>
        </p:blipFill>
        <p:spPr>
          <a:xfrm>
            <a:off x="8324850" y="4267200"/>
            <a:ext cx="781050" cy="781050"/>
          </a:xfrm>
          <a:prstGeom prst="rect">
            <a:avLst/>
          </a:prstGeom>
        </p:spPr>
      </p:pic>
      <p:sp>
        <p:nvSpPr>
          <p:cNvPr id="43" name="Rectangle 42">
            <a:extLst>
              <a:ext uri="{FF2B5EF4-FFF2-40B4-BE49-F238E27FC236}">
                <a16:creationId xmlns:a16="http://schemas.microsoft.com/office/drawing/2014/main" id="{7C541C2D-A13D-47B3-AD0D-621A80581195}"/>
              </a:ext>
            </a:extLst>
          </p:cNvPr>
          <p:cNvSpPr>
            <a:spLocks noGrp="1"/>
          </p:cNvSpPr>
          <p:nvPr/>
        </p:nvSpPr>
        <p:spPr>
          <a:xfrm>
            <a:off x="9334500" y="4248150"/>
            <a:ext cx="1714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B9D94A"/>
                </a:solidFill>
                <a:latin typeface="Aptos"/>
                <a:ea typeface="Aptos"/>
                <a:cs typeface="Aptos"/>
              </a:defRPr>
            </a:pPr>
            <a:r>
              <a:rPr sz="675" b="1">
                <a:solidFill>
                  <a:srgbClr val="B9D94A"/>
                </a:solidFill>
                <a:latin typeface="Aptos"/>
                <a:ea typeface="Aptos"/>
                <a:cs typeface="Aptos"/>
              </a:rPr>
              <a:t>CASO LOGO</a:t>
            </a:r>
          </a:p>
        </p:txBody>
      </p:sp>
      <p:sp>
        <p:nvSpPr>
          <p:cNvPr id="44" name="Rectangle 43">
            <a:extLst>
              <a:ext uri="{FF2B5EF4-FFF2-40B4-BE49-F238E27FC236}">
                <a16:creationId xmlns:a16="http://schemas.microsoft.com/office/drawing/2014/main" id="{B60894BF-A333-4B1E-874F-87B7608D25FA}"/>
              </a:ext>
            </a:extLst>
          </p:cNvPr>
          <p:cNvSpPr>
            <a:spLocks noGrp="1"/>
          </p:cNvSpPr>
          <p:nvPr/>
        </p:nvSpPr>
        <p:spPr>
          <a:xfrm>
            <a:off x="9334500" y="4552950"/>
            <a:ext cx="19050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FFFFF"/>
                </a:solidFill>
                <a:latin typeface="Georgia"/>
                <a:ea typeface="Georgia"/>
                <a:cs typeface="Georgia"/>
              </a:defRPr>
            </a:pPr>
            <a:r>
              <a:rPr sz="1050" b="1">
                <a:solidFill>
                  <a:srgbClr val="FFFFFF"/>
                </a:solidFill>
                <a:latin typeface="Georgia"/>
                <a:ea typeface="Georgia"/>
                <a:cs typeface="Georgia"/>
              </a:rPr>
              <a:t>concept generato con AI</a:t>
            </a:r>
          </a:p>
        </p:txBody>
      </p:sp>
      <p:sp>
        <p:nvSpPr>
          <p:cNvPr id="45" name="Rectangle 44">
            <a:extLst>
              <a:ext uri="{FF2B5EF4-FFF2-40B4-BE49-F238E27FC236}">
                <a16:creationId xmlns:a16="http://schemas.microsoft.com/office/drawing/2014/main" id="{F0F331B9-6A00-4DF2-9D16-E5FD883C8CF8}"/>
              </a:ext>
            </a:extLst>
          </p:cNvPr>
          <p:cNvSpPr>
            <a:spLocks noGrp="1"/>
          </p:cNvSpPr>
          <p:nvPr/>
        </p:nvSpPr>
        <p:spPr>
          <a:xfrm>
            <a:off x="9334500" y="4876800"/>
            <a:ext cx="19050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DDE5DD"/>
                </a:solidFill>
                <a:latin typeface="Aptos"/>
                <a:ea typeface="Aptos"/>
                <a:cs typeface="Aptos"/>
              </a:defRPr>
            </a:pPr>
            <a:r>
              <a:rPr sz="750" b="0">
                <a:solidFill>
                  <a:srgbClr val="DDE5DD"/>
                </a:solidFill>
                <a:latin typeface="Aptos"/>
                <a:ea typeface="Aptos"/>
                <a:cs typeface="Aptos"/>
              </a:rPr>
              <a:t>poi implementato e verificato</a:t>
            </a:r>
          </a:p>
          <a:p>
            <a:pPr algn="l">
              <a:defRPr sz="750" b="0">
                <a:solidFill>
                  <a:srgbClr val="DDE5DD"/>
                </a:solidFill>
                <a:latin typeface="Aptos"/>
                <a:ea typeface="Aptos"/>
                <a:cs typeface="Aptos"/>
              </a:defRPr>
            </a:pPr>
            <a:r>
              <a:rPr sz="750" b="0">
                <a:solidFill>
                  <a:srgbClr val="DDE5DD"/>
                </a:solidFill>
                <a:latin typeface="Aptos"/>
                <a:ea typeface="Aptos"/>
                <a:cs typeface="Aptos"/>
              </a:rPr>
              <a:t>come SVG editabile</a:t>
            </a:r>
          </a:p>
        </p:txBody>
      </p:sp>
      <p:sp>
        <p:nvSpPr>
          <p:cNvPr id="46" name="Rectangle: Rounded Corners 45">
            <a:extLst>
              <a:ext uri="{FF2B5EF4-FFF2-40B4-BE49-F238E27FC236}">
                <a16:creationId xmlns:a16="http://schemas.microsoft.com/office/drawing/2014/main" id="{23CA320D-E25E-46A9-BD19-9DDFAC347BAB}"/>
              </a:ext>
            </a:extLst>
          </p:cNvPr>
          <p:cNvSpPr>
            <a:spLocks noGrp="1"/>
          </p:cNvSpPr>
          <p:nvPr/>
        </p:nvSpPr>
        <p:spPr>
          <a:xfrm>
            <a:off x="552450" y="5924550"/>
            <a:ext cx="4857750" cy="266700"/>
          </a:xfrm>
          <a:prstGeom prst="roundRect">
            <a:avLst>
              <a:gd name="adj" fmla="val 28571"/>
            </a:avLst>
          </a:prstGeom>
          <a:solidFill>
            <a:srgbClr val="EAE5DA"/>
          </a:solidFill>
          <a:ln w="0">
            <a:solidFill>
              <a:srgbClr val="000000">
                <a:alpha val="0"/>
              </a:srgbClr>
            </a:solidFill>
            <a:prstDash val="solid"/>
          </a:ln>
        </p:spPr>
        <p:txBody>
          <a:bodyPr/>
          <a:lstStyle/>
          <a:p>
            <a:endParaRPr lang="en-US"/>
          </a:p>
        </p:txBody>
      </p:sp>
      <p:sp>
        <p:nvSpPr>
          <p:cNvPr id="47" name="Rectangle 46">
            <a:extLst>
              <a:ext uri="{FF2B5EF4-FFF2-40B4-BE49-F238E27FC236}">
                <a16:creationId xmlns:a16="http://schemas.microsoft.com/office/drawing/2014/main" id="{9D006303-46C4-4250-9C70-F8EE0492E8C5}"/>
              </a:ext>
            </a:extLst>
          </p:cNvPr>
          <p:cNvSpPr>
            <a:spLocks noGrp="1"/>
          </p:cNvSpPr>
          <p:nvPr/>
        </p:nvSpPr>
        <p:spPr>
          <a:xfrm>
            <a:off x="638175" y="5943600"/>
            <a:ext cx="46863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1">
                <a:solidFill>
                  <a:srgbClr val="123C31"/>
                </a:solidFill>
                <a:latin typeface="Aptos"/>
                <a:ea typeface="Aptos"/>
                <a:cs typeface="Aptos"/>
              </a:defRPr>
            </a:pPr>
            <a:r>
              <a:rPr sz="675" b="1">
                <a:solidFill>
                  <a:srgbClr val="123C31"/>
                </a:solidFill>
                <a:latin typeface="Aptos"/>
                <a:ea typeface="Aptos"/>
                <a:cs typeface="Aptos"/>
              </a:rPr>
              <a:t>PROMPT COMPLETI: docs/prompt-register-progetto.md</a:t>
            </a:r>
          </a:p>
        </p:txBody>
      </p:sp>
      <p:sp>
        <p:nvSpPr>
          <p:cNvPr id="48" name="Rectangle 47">
            <a:extLst>
              <a:ext uri="{FF2B5EF4-FFF2-40B4-BE49-F238E27FC236}">
                <a16:creationId xmlns:a16="http://schemas.microsoft.com/office/drawing/2014/main" id="{BB4F0151-AD16-4F83-A282-B0FAFF226D59}"/>
              </a:ext>
            </a:extLst>
          </p:cNvPr>
          <p:cNvSpPr>
            <a:spLocks noGrp="1"/>
          </p:cNvSpPr>
          <p:nvPr/>
        </p:nvSpPr>
        <p:spPr>
          <a:xfrm>
            <a:off x="552450" y="6419850"/>
            <a:ext cx="11087100" cy="9525"/>
          </a:xfrm>
          <a:prstGeom prst="rect">
            <a:avLst/>
          </a:prstGeom>
          <a:solidFill>
            <a:srgbClr val="B9C3BB"/>
          </a:solidFill>
          <a:ln w="0">
            <a:solidFill>
              <a:srgbClr val="000000">
                <a:alpha val="0"/>
              </a:srgbClr>
            </a:solidFill>
            <a:prstDash val="solid"/>
          </a:ln>
        </p:spPr>
        <p:txBody>
          <a:bodyPr/>
          <a:lstStyle/>
          <a:p>
            <a:endParaRPr lang="en-US"/>
          </a:p>
        </p:txBody>
      </p:sp>
      <p:sp>
        <p:nvSpPr>
          <p:cNvPr id="49" name="Rectangle 48">
            <a:extLst>
              <a:ext uri="{FF2B5EF4-FFF2-40B4-BE49-F238E27FC236}">
                <a16:creationId xmlns:a16="http://schemas.microsoft.com/office/drawing/2014/main" id="{79AA3D84-19B8-4C1F-B7A9-AE5C3602D977}"/>
              </a:ext>
            </a:extLst>
          </p:cNvPr>
          <p:cNvSpPr>
            <a:spLocks noGrp="1"/>
          </p:cNvSpPr>
          <p:nvPr/>
        </p:nvSpPr>
        <p:spPr>
          <a:xfrm>
            <a:off x="552450" y="6496050"/>
            <a:ext cx="100393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65736B"/>
                </a:solidFill>
                <a:latin typeface="Aptos"/>
                <a:ea typeface="Aptos"/>
                <a:cs typeface="Aptos"/>
              </a:defRPr>
            </a:pPr>
            <a:r>
              <a:rPr sz="563" b="0">
                <a:solidFill>
                  <a:srgbClr val="65736B"/>
                </a:solidFill>
                <a:latin typeface="Aptos"/>
                <a:ea typeface="Aptos"/>
                <a:cs typeface="Aptos"/>
              </a:rPr>
              <a:t>Registro consolidato e riproducibile · non un log verbatim automatico delle chat</a:t>
            </a:r>
          </a:p>
        </p:txBody>
      </p:sp>
      <p:sp>
        <p:nvSpPr>
          <p:cNvPr id="50" name="Rectangle 49">
            <a:extLst>
              <a:ext uri="{FF2B5EF4-FFF2-40B4-BE49-F238E27FC236}">
                <a16:creationId xmlns:a16="http://schemas.microsoft.com/office/drawing/2014/main" id="{00FD9EF8-BD0B-4303-B29E-7FC2081228AA}"/>
              </a:ext>
            </a:extLst>
          </p:cNvPr>
          <p:cNvSpPr>
            <a:spLocks noGrp="1"/>
          </p:cNvSpPr>
          <p:nvPr/>
        </p:nvSpPr>
        <p:spPr>
          <a:xfrm>
            <a:off x="11049000" y="6477000"/>
            <a:ext cx="590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65736B"/>
                </a:solidFill>
                <a:latin typeface="Georgia"/>
                <a:ea typeface="Georgia"/>
                <a:cs typeface="Georgia"/>
              </a:defRPr>
            </a:pPr>
            <a:r>
              <a:rPr sz="750" b="1">
                <a:solidFill>
                  <a:srgbClr val="65736B"/>
                </a:solidFill>
                <a:latin typeface="Georgia"/>
                <a:ea typeface="Georgia"/>
                <a:cs typeface="Georgia"/>
              </a:rPr>
              <a:t>14</a:t>
            </a:r>
          </a:p>
        </p:txBody>
      </p:sp>
    </p:spTree>
    <p:extLst>
      <p:ext uri="{BB962C8B-B14F-4D97-AF65-F5344CB8AC3E}">
        <p14:creationId xmlns:p14="http://schemas.microsoft.com/office/powerpoint/2010/main" val="2143718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background">
            <a:extLst>
              <a:ext uri="{FF2B5EF4-FFF2-40B4-BE49-F238E27FC236}">
                <a16:creationId xmlns:a16="http://schemas.microsoft.com/office/drawing/2014/main" id="{739E218D-C6BA-4146-9329-CCFEABA50602}"/>
              </a:ext>
            </a:extLst>
          </p:cNvPr>
          <p:cNvSpPr>
            <a:spLocks noGrp="1"/>
          </p:cNvSpPr>
          <p:nvPr/>
        </p:nvSpPr>
        <p:spPr>
          <a:xfrm>
            <a:off x="0" y="0"/>
            <a:ext cx="12192000" cy="6858000"/>
          </a:xfrm>
          <a:prstGeom prst="rect">
            <a:avLst/>
          </a:prstGeom>
          <a:solidFill>
            <a:srgbClr val="123C31"/>
          </a:solidFill>
          <a:ln w="0">
            <a:solidFill>
              <a:srgbClr val="000000">
                <a:alpha val="0"/>
              </a:srgbClr>
            </a:solidFill>
            <a:prstDash val="solid"/>
          </a:ln>
        </p:spPr>
        <p:txBody>
          <a:bodyPr/>
          <a:lstStyle/>
          <a:p>
            <a:endParaRPr lang="en-US"/>
          </a:p>
        </p:txBody>
      </p:sp>
      <p:sp>
        <p:nvSpPr>
          <p:cNvPr id="2" name="Oval 1">
            <a:extLst>
              <a:ext uri="{FF2B5EF4-FFF2-40B4-BE49-F238E27FC236}">
                <a16:creationId xmlns:a16="http://schemas.microsoft.com/office/drawing/2014/main" id="{E0FB39D2-178E-409C-B948-BF2A2A341CD7}"/>
              </a:ext>
            </a:extLst>
          </p:cNvPr>
          <p:cNvSpPr>
            <a:spLocks noGrp="1"/>
          </p:cNvSpPr>
          <p:nvPr/>
        </p:nvSpPr>
        <p:spPr>
          <a:xfrm>
            <a:off x="552450" y="409575"/>
            <a:ext cx="85725" cy="85725"/>
          </a:xfrm>
          <a:prstGeom prst="ellipse">
            <a:avLst/>
          </a:prstGeom>
          <a:solidFill>
            <a:srgbClr val="B9D94A"/>
          </a:solidFill>
          <a:ln w="0">
            <a:solidFill>
              <a:srgbClr val="000000">
                <a:alpha val="0"/>
              </a:srgbClr>
            </a:solidFill>
            <a:prstDash val="solid"/>
          </a:ln>
        </p:spPr>
        <p:txBody>
          <a:bodyPr/>
          <a:lstStyle/>
          <a:p>
            <a:endParaRPr lang="en-US"/>
          </a:p>
        </p:txBody>
      </p:sp>
      <p:sp>
        <p:nvSpPr>
          <p:cNvPr id="3" name="Rectangle 2">
            <a:extLst>
              <a:ext uri="{FF2B5EF4-FFF2-40B4-BE49-F238E27FC236}">
                <a16:creationId xmlns:a16="http://schemas.microsoft.com/office/drawing/2014/main" id="{B1E7D7B1-A986-4454-9B08-A6733BC4A0CE}"/>
              </a:ext>
            </a:extLst>
          </p:cNvPr>
          <p:cNvSpPr>
            <a:spLocks noGrp="1"/>
          </p:cNvSpPr>
          <p:nvPr/>
        </p:nvSpPr>
        <p:spPr>
          <a:xfrm>
            <a:off x="742950" y="361950"/>
            <a:ext cx="666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DDE5DD"/>
                </a:solidFill>
                <a:latin typeface="Aptos"/>
                <a:ea typeface="Aptos"/>
                <a:cs typeface="Aptos"/>
              </a:defRPr>
            </a:pPr>
            <a:r>
              <a:rPr sz="638" b="1">
                <a:solidFill>
                  <a:srgbClr val="DDE5DD"/>
                </a:solidFill>
                <a:latin typeface="Aptos"/>
                <a:ea typeface="Aptos"/>
                <a:cs typeface="Aptos"/>
              </a:rPr>
              <a:t>P A S S A G G I O   A I   M O D E L L I</a:t>
            </a:r>
          </a:p>
        </p:txBody>
      </p:sp>
      <p:sp>
        <p:nvSpPr>
          <p:cNvPr id="4" name="Rectangle 3">
            <a:extLst>
              <a:ext uri="{FF2B5EF4-FFF2-40B4-BE49-F238E27FC236}">
                <a16:creationId xmlns:a16="http://schemas.microsoft.com/office/drawing/2014/main" id="{CEC502D5-C286-444D-A5B8-3C029F0F56C2}"/>
              </a:ext>
            </a:extLst>
          </p:cNvPr>
          <p:cNvSpPr>
            <a:spLocks noGrp="1"/>
          </p:cNvSpPr>
          <p:nvPr/>
        </p:nvSpPr>
        <p:spPr>
          <a:xfrm>
            <a:off x="552450" y="1333500"/>
            <a:ext cx="2571750" cy="914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150" b="1">
                <a:solidFill>
                  <a:srgbClr val="B9D94A"/>
                </a:solidFill>
                <a:latin typeface="Georgia"/>
                <a:ea typeface="Georgia"/>
                <a:cs typeface="Georgia"/>
              </a:defRPr>
            </a:pPr>
            <a:r>
              <a:rPr sz="6150" b="1">
                <a:solidFill>
                  <a:srgbClr val="B9D94A"/>
                </a:solidFill>
                <a:latin typeface="Georgia"/>
                <a:ea typeface="Georgia"/>
                <a:cs typeface="Georgia"/>
              </a:rPr>
              <a:t>LIVE</a:t>
            </a:r>
          </a:p>
        </p:txBody>
      </p:sp>
      <p:sp>
        <p:nvSpPr>
          <p:cNvPr id="5" name="Rectangle 4">
            <a:extLst>
              <a:ext uri="{FF2B5EF4-FFF2-40B4-BE49-F238E27FC236}">
                <a16:creationId xmlns:a16="http://schemas.microsoft.com/office/drawing/2014/main" id="{AFAF606E-2448-4818-887C-BCB80CF4C64E}"/>
              </a:ext>
            </a:extLst>
          </p:cNvPr>
          <p:cNvSpPr>
            <a:spLocks noGrp="1"/>
          </p:cNvSpPr>
          <p:nvPr/>
        </p:nvSpPr>
        <p:spPr>
          <a:xfrm>
            <a:off x="552450" y="2381250"/>
            <a:ext cx="5905500" cy="1066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600" b="1">
                <a:solidFill>
                  <a:srgbClr val="FFFFFF"/>
                </a:solidFill>
                <a:latin typeface="Georgia"/>
                <a:ea typeface="Georgia"/>
                <a:cs typeface="Georgia"/>
              </a:defRPr>
            </a:pPr>
            <a:r>
              <a:rPr sz="6600" b="1">
                <a:solidFill>
                  <a:srgbClr val="FFFFFF"/>
                </a:solidFill>
                <a:latin typeface="Georgia"/>
                <a:ea typeface="Georgia"/>
                <a:cs typeface="Georgia"/>
              </a:rPr>
              <a:t>ML DEMO</a:t>
            </a:r>
          </a:p>
        </p:txBody>
      </p:sp>
      <p:sp>
        <p:nvSpPr>
          <p:cNvPr id="6" name="Rectangle 5">
            <a:extLst>
              <a:ext uri="{FF2B5EF4-FFF2-40B4-BE49-F238E27FC236}">
                <a16:creationId xmlns:a16="http://schemas.microsoft.com/office/drawing/2014/main" id="{4FF0354C-E26B-49E7-A5C2-C8AB1905B58F}"/>
              </a:ext>
            </a:extLst>
          </p:cNvPr>
          <p:cNvSpPr>
            <a:spLocks noGrp="1"/>
          </p:cNvSpPr>
          <p:nvPr/>
        </p:nvSpPr>
        <p:spPr>
          <a:xfrm>
            <a:off x="552450" y="3905250"/>
            <a:ext cx="53340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DDE5DD"/>
                </a:solidFill>
                <a:latin typeface="Georgia"/>
                <a:ea typeface="Georgia"/>
                <a:cs typeface="Georgia"/>
              </a:defRPr>
            </a:pPr>
            <a:r>
              <a:rPr sz="1800" b="1">
                <a:solidFill>
                  <a:srgbClr val="DDE5DD"/>
                </a:solidFill>
                <a:latin typeface="Georgia"/>
                <a:ea typeface="Georgia"/>
                <a:cs typeface="Georgia"/>
              </a:rPr>
              <a:t>Mostrare il processo, non “la magia”.</a:t>
            </a:r>
          </a:p>
        </p:txBody>
      </p:sp>
      <p:sp>
        <p:nvSpPr>
          <p:cNvPr id="7" name="Rectangle 6">
            <a:extLst>
              <a:ext uri="{FF2B5EF4-FFF2-40B4-BE49-F238E27FC236}">
                <a16:creationId xmlns:a16="http://schemas.microsoft.com/office/drawing/2014/main" id="{56D82CC1-4971-49F7-98B9-2E17D1388120}"/>
              </a:ext>
            </a:extLst>
          </p:cNvPr>
          <p:cNvSpPr>
            <a:spLocks noGrp="1"/>
          </p:cNvSpPr>
          <p:nvPr/>
        </p:nvSpPr>
        <p:spPr>
          <a:xfrm>
            <a:off x="7239000" y="1581150"/>
            <a:ext cx="4572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2F7D5B"/>
                </a:solidFill>
                <a:latin typeface="Georgia"/>
                <a:ea typeface="Georgia"/>
                <a:cs typeface="Georgia"/>
              </a:defRPr>
            </a:pPr>
            <a:r>
              <a:rPr sz="900" b="1">
                <a:solidFill>
                  <a:srgbClr val="2F7D5B"/>
                </a:solidFill>
                <a:latin typeface="Georgia"/>
                <a:ea typeface="Georgia"/>
                <a:cs typeface="Georgia"/>
              </a:rPr>
              <a:t>01</a:t>
            </a:r>
          </a:p>
        </p:txBody>
      </p:sp>
      <p:sp>
        <p:nvSpPr>
          <p:cNvPr id="8" name="Rectangle 7">
            <a:extLst>
              <a:ext uri="{FF2B5EF4-FFF2-40B4-BE49-F238E27FC236}">
                <a16:creationId xmlns:a16="http://schemas.microsoft.com/office/drawing/2014/main" id="{A8282B0B-AD08-46E2-899B-0D0A7F568E88}"/>
              </a:ext>
            </a:extLst>
          </p:cNvPr>
          <p:cNvSpPr>
            <a:spLocks noGrp="1"/>
          </p:cNvSpPr>
          <p:nvPr/>
        </p:nvSpPr>
        <p:spPr>
          <a:xfrm>
            <a:off x="7886700" y="1543050"/>
            <a:ext cx="1714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DDE5DD"/>
                </a:solidFill>
                <a:latin typeface="Aptos"/>
                <a:ea typeface="Aptos"/>
                <a:cs typeface="Aptos"/>
              </a:defRPr>
            </a:pPr>
            <a:r>
              <a:rPr sz="750" b="1">
                <a:solidFill>
                  <a:srgbClr val="DDE5DD"/>
                </a:solidFill>
                <a:latin typeface="Aptos"/>
                <a:ea typeface="Aptos"/>
                <a:cs typeface="Aptos"/>
              </a:rPr>
              <a:t>INPUT</a:t>
            </a:r>
          </a:p>
        </p:txBody>
      </p:sp>
      <p:sp>
        <p:nvSpPr>
          <p:cNvPr id="9" name="Rectangle 8">
            <a:extLst>
              <a:ext uri="{FF2B5EF4-FFF2-40B4-BE49-F238E27FC236}">
                <a16:creationId xmlns:a16="http://schemas.microsoft.com/office/drawing/2014/main" id="{975EF43D-AD04-44D6-A029-C799162307C7}"/>
              </a:ext>
            </a:extLst>
          </p:cNvPr>
          <p:cNvSpPr>
            <a:spLocks noGrp="1"/>
          </p:cNvSpPr>
          <p:nvPr/>
        </p:nvSpPr>
        <p:spPr>
          <a:xfrm>
            <a:off x="7886700" y="1847850"/>
            <a:ext cx="31432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FFFFFF"/>
                </a:solidFill>
                <a:latin typeface="Georgia"/>
                <a:ea typeface="Georgia"/>
                <a:cs typeface="Georgia"/>
              </a:defRPr>
            </a:pPr>
            <a:r>
              <a:rPr sz="1275" b="1">
                <a:solidFill>
                  <a:srgbClr val="FFFFFF"/>
                </a:solidFill>
                <a:latin typeface="Georgia"/>
                <a:ea typeface="Georgia"/>
                <a:cs typeface="Georgia"/>
              </a:rPr>
              <a:t>foto / 14 segnali</a:t>
            </a:r>
          </a:p>
        </p:txBody>
      </p:sp>
      <p:sp>
        <p:nvSpPr>
          <p:cNvPr id="10" name="Rectangle 9">
            <a:extLst>
              <a:ext uri="{FF2B5EF4-FFF2-40B4-BE49-F238E27FC236}">
                <a16:creationId xmlns:a16="http://schemas.microsoft.com/office/drawing/2014/main" id="{B116C40B-7AAA-4E71-8F22-E601083DBC40}"/>
              </a:ext>
            </a:extLst>
          </p:cNvPr>
          <p:cNvSpPr>
            <a:spLocks noGrp="1"/>
          </p:cNvSpPr>
          <p:nvPr/>
        </p:nvSpPr>
        <p:spPr>
          <a:xfrm>
            <a:off x="7239000" y="2533650"/>
            <a:ext cx="4572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2F7D5B"/>
                </a:solidFill>
                <a:latin typeface="Georgia"/>
                <a:ea typeface="Georgia"/>
                <a:cs typeface="Georgia"/>
              </a:defRPr>
            </a:pPr>
            <a:r>
              <a:rPr sz="900" b="1">
                <a:solidFill>
                  <a:srgbClr val="2F7D5B"/>
                </a:solidFill>
                <a:latin typeface="Georgia"/>
                <a:ea typeface="Georgia"/>
                <a:cs typeface="Georgia"/>
              </a:rPr>
              <a:t>02</a:t>
            </a:r>
          </a:p>
        </p:txBody>
      </p:sp>
      <p:sp>
        <p:nvSpPr>
          <p:cNvPr id="11" name="Rectangle 10">
            <a:extLst>
              <a:ext uri="{FF2B5EF4-FFF2-40B4-BE49-F238E27FC236}">
                <a16:creationId xmlns:a16="http://schemas.microsoft.com/office/drawing/2014/main" id="{FBE8682E-3A1E-42C4-B843-3E3B72E390BC}"/>
              </a:ext>
            </a:extLst>
          </p:cNvPr>
          <p:cNvSpPr>
            <a:spLocks noGrp="1"/>
          </p:cNvSpPr>
          <p:nvPr/>
        </p:nvSpPr>
        <p:spPr>
          <a:xfrm>
            <a:off x="7886700" y="2495550"/>
            <a:ext cx="1714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DDE5DD"/>
                </a:solidFill>
                <a:latin typeface="Aptos"/>
                <a:ea typeface="Aptos"/>
                <a:cs typeface="Aptos"/>
              </a:defRPr>
            </a:pPr>
            <a:r>
              <a:rPr sz="750" b="1">
                <a:solidFill>
                  <a:srgbClr val="DDE5DD"/>
                </a:solidFill>
                <a:latin typeface="Aptos"/>
                <a:ea typeface="Aptos"/>
                <a:cs typeface="Aptos"/>
              </a:rPr>
              <a:t>INFERENZA</a:t>
            </a:r>
          </a:p>
        </p:txBody>
      </p:sp>
      <p:sp>
        <p:nvSpPr>
          <p:cNvPr id="12" name="Rectangle 11">
            <a:extLst>
              <a:ext uri="{FF2B5EF4-FFF2-40B4-BE49-F238E27FC236}">
                <a16:creationId xmlns:a16="http://schemas.microsoft.com/office/drawing/2014/main" id="{F3B64936-D161-4DEA-A213-6677E10D5059}"/>
              </a:ext>
            </a:extLst>
          </p:cNvPr>
          <p:cNvSpPr>
            <a:spLocks noGrp="1"/>
          </p:cNvSpPr>
          <p:nvPr/>
        </p:nvSpPr>
        <p:spPr>
          <a:xfrm>
            <a:off x="7886700" y="2800350"/>
            <a:ext cx="31432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FFFFFF"/>
                </a:solidFill>
                <a:latin typeface="Georgia"/>
                <a:ea typeface="Georgia"/>
                <a:cs typeface="Georgia"/>
              </a:defRPr>
            </a:pPr>
            <a:r>
              <a:rPr sz="1275" b="1">
                <a:solidFill>
                  <a:srgbClr val="FFFFFF"/>
                </a:solidFill>
                <a:latin typeface="Georgia"/>
                <a:ea typeface="Georgia"/>
                <a:cs typeface="Georgia"/>
              </a:rPr>
              <a:t>checkpoint locale</a:t>
            </a:r>
          </a:p>
        </p:txBody>
      </p:sp>
      <p:sp>
        <p:nvSpPr>
          <p:cNvPr id="13" name="Rectangle 12">
            <a:extLst>
              <a:ext uri="{FF2B5EF4-FFF2-40B4-BE49-F238E27FC236}">
                <a16:creationId xmlns:a16="http://schemas.microsoft.com/office/drawing/2014/main" id="{929A254A-C1F2-4AA9-9DA6-27F8DC0BE22A}"/>
              </a:ext>
            </a:extLst>
          </p:cNvPr>
          <p:cNvSpPr>
            <a:spLocks noGrp="1"/>
          </p:cNvSpPr>
          <p:nvPr/>
        </p:nvSpPr>
        <p:spPr>
          <a:xfrm>
            <a:off x="7239000" y="3486150"/>
            <a:ext cx="4572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2F7D5B"/>
                </a:solidFill>
                <a:latin typeface="Georgia"/>
                <a:ea typeface="Georgia"/>
                <a:cs typeface="Georgia"/>
              </a:defRPr>
            </a:pPr>
            <a:r>
              <a:rPr sz="900" b="1">
                <a:solidFill>
                  <a:srgbClr val="2F7D5B"/>
                </a:solidFill>
                <a:latin typeface="Georgia"/>
                <a:ea typeface="Georgia"/>
                <a:cs typeface="Georgia"/>
              </a:rPr>
              <a:t>03</a:t>
            </a:r>
          </a:p>
        </p:txBody>
      </p:sp>
      <p:sp>
        <p:nvSpPr>
          <p:cNvPr id="14" name="Rectangle 13">
            <a:extLst>
              <a:ext uri="{FF2B5EF4-FFF2-40B4-BE49-F238E27FC236}">
                <a16:creationId xmlns:a16="http://schemas.microsoft.com/office/drawing/2014/main" id="{81DCD970-74A6-4A98-8178-95A201C07BF1}"/>
              </a:ext>
            </a:extLst>
          </p:cNvPr>
          <p:cNvSpPr>
            <a:spLocks noGrp="1"/>
          </p:cNvSpPr>
          <p:nvPr/>
        </p:nvSpPr>
        <p:spPr>
          <a:xfrm>
            <a:off x="7886700" y="3448050"/>
            <a:ext cx="1714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DDE5DD"/>
                </a:solidFill>
                <a:latin typeface="Aptos"/>
                <a:ea typeface="Aptos"/>
                <a:cs typeface="Aptos"/>
              </a:defRPr>
            </a:pPr>
            <a:r>
              <a:rPr sz="750" b="1">
                <a:solidFill>
                  <a:srgbClr val="DDE5DD"/>
                </a:solidFill>
                <a:latin typeface="Aptos"/>
                <a:ea typeface="Aptos"/>
                <a:cs typeface="Aptos"/>
              </a:rPr>
              <a:t>OUTPUT</a:t>
            </a:r>
          </a:p>
        </p:txBody>
      </p:sp>
      <p:sp>
        <p:nvSpPr>
          <p:cNvPr id="15" name="Rectangle 14">
            <a:extLst>
              <a:ext uri="{FF2B5EF4-FFF2-40B4-BE49-F238E27FC236}">
                <a16:creationId xmlns:a16="http://schemas.microsoft.com/office/drawing/2014/main" id="{B03426CD-89BE-43F0-9F1D-366E501ADE06}"/>
              </a:ext>
            </a:extLst>
          </p:cNvPr>
          <p:cNvSpPr>
            <a:spLocks noGrp="1"/>
          </p:cNvSpPr>
          <p:nvPr/>
        </p:nvSpPr>
        <p:spPr>
          <a:xfrm>
            <a:off x="7886700" y="3752850"/>
            <a:ext cx="31432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FFFFFF"/>
                </a:solidFill>
                <a:latin typeface="Georgia"/>
                <a:ea typeface="Georgia"/>
                <a:cs typeface="Georgia"/>
              </a:defRPr>
            </a:pPr>
            <a:r>
              <a:rPr sz="1275" b="1">
                <a:solidFill>
                  <a:srgbClr val="FFFFFF"/>
                </a:solidFill>
                <a:latin typeface="Georgia"/>
                <a:ea typeface="Georgia"/>
                <a:cs typeface="Georgia"/>
              </a:rPr>
              <a:t>3 stati / 6 gap</a:t>
            </a:r>
          </a:p>
        </p:txBody>
      </p:sp>
      <p:sp>
        <p:nvSpPr>
          <p:cNvPr id="16" name="Rectangle 15">
            <a:extLst>
              <a:ext uri="{FF2B5EF4-FFF2-40B4-BE49-F238E27FC236}">
                <a16:creationId xmlns:a16="http://schemas.microsoft.com/office/drawing/2014/main" id="{E57F4315-C84A-446C-8F05-F423203BC3D2}"/>
              </a:ext>
            </a:extLst>
          </p:cNvPr>
          <p:cNvSpPr>
            <a:spLocks noGrp="1"/>
          </p:cNvSpPr>
          <p:nvPr/>
        </p:nvSpPr>
        <p:spPr>
          <a:xfrm>
            <a:off x="7239000" y="4438650"/>
            <a:ext cx="4572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B9D94A"/>
                </a:solidFill>
                <a:latin typeface="Georgia"/>
                <a:ea typeface="Georgia"/>
                <a:cs typeface="Georgia"/>
              </a:defRPr>
            </a:pPr>
            <a:r>
              <a:rPr sz="900" b="1">
                <a:solidFill>
                  <a:srgbClr val="B9D94A"/>
                </a:solidFill>
                <a:latin typeface="Georgia"/>
                <a:ea typeface="Georgia"/>
                <a:cs typeface="Georgia"/>
              </a:rPr>
              <a:t>04</a:t>
            </a:r>
          </a:p>
        </p:txBody>
      </p:sp>
      <p:sp>
        <p:nvSpPr>
          <p:cNvPr id="17" name="Rectangle 16">
            <a:extLst>
              <a:ext uri="{FF2B5EF4-FFF2-40B4-BE49-F238E27FC236}">
                <a16:creationId xmlns:a16="http://schemas.microsoft.com/office/drawing/2014/main" id="{320D1345-C113-4C09-9D95-68907433334A}"/>
              </a:ext>
            </a:extLst>
          </p:cNvPr>
          <p:cNvSpPr>
            <a:spLocks noGrp="1"/>
          </p:cNvSpPr>
          <p:nvPr/>
        </p:nvSpPr>
        <p:spPr>
          <a:xfrm>
            <a:off x="7886700" y="4400550"/>
            <a:ext cx="1714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B9D94A"/>
                </a:solidFill>
                <a:latin typeface="Aptos"/>
                <a:ea typeface="Aptos"/>
                <a:cs typeface="Aptos"/>
              </a:defRPr>
            </a:pPr>
            <a:r>
              <a:rPr sz="750" b="1">
                <a:solidFill>
                  <a:srgbClr val="B9D94A"/>
                </a:solidFill>
                <a:latin typeface="Aptos"/>
                <a:ea typeface="Aptos"/>
                <a:cs typeface="Aptos"/>
              </a:rPr>
              <a:t>LIMITE</a:t>
            </a:r>
          </a:p>
        </p:txBody>
      </p:sp>
      <p:sp>
        <p:nvSpPr>
          <p:cNvPr id="18" name="Rectangle 17">
            <a:extLst>
              <a:ext uri="{FF2B5EF4-FFF2-40B4-BE49-F238E27FC236}">
                <a16:creationId xmlns:a16="http://schemas.microsoft.com/office/drawing/2014/main" id="{0CDAD95C-9999-41FD-BF7C-D46A19001B84}"/>
              </a:ext>
            </a:extLst>
          </p:cNvPr>
          <p:cNvSpPr>
            <a:spLocks noGrp="1"/>
          </p:cNvSpPr>
          <p:nvPr/>
        </p:nvSpPr>
        <p:spPr>
          <a:xfrm>
            <a:off x="7886700" y="4705350"/>
            <a:ext cx="31432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FFFFFF"/>
                </a:solidFill>
                <a:latin typeface="Georgia"/>
                <a:ea typeface="Georgia"/>
                <a:cs typeface="Georgia"/>
              </a:defRPr>
            </a:pPr>
            <a:r>
              <a:rPr sz="1275" b="1">
                <a:solidFill>
                  <a:srgbClr val="FFFFFF"/>
                </a:solidFill>
                <a:latin typeface="Georgia"/>
                <a:ea typeface="Georgia"/>
                <a:cs typeface="Georgia"/>
              </a:rPr>
              <a:t>holdout locale / simulato</a:t>
            </a:r>
          </a:p>
        </p:txBody>
      </p:sp>
      <p:sp>
        <p:nvSpPr>
          <p:cNvPr id="19" name="Rectangle 18">
            <a:extLst>
              <a:ext uri="{FF2B5EF4-FFF2-40B4-BE49-F238E27FC236}">
                <a16:creationId xmlns:a16="http://schemas.microsoft.com/office/drawing/2014/main" id="{0147FB47-C565-4E48-BE9B-A2D2DD561825}"/>
              </a:ext>
            </a:extLst>
          </p:cNvPr>
          <p:cNvSpPr>
            <a:spLocks noGrp="1"/>
          </p:cNvSpPr>
          <p:nvPr/>
        </p:nvSpPr>
        <p:spPr>
          <a:xfrm>
            <a:off x="552450" y="6419850"/>
            <a:ext cx="11087100" cy="9525"/>
          </a:xfrm>
          <a:prstGeom prst="rect">
            <a:avLst/>
          </a:prstGeom>
          <a:solidFill>
            <a:srgbClr val="3F685A"/>
          </a:solidFill>
          <a:ln w="0">
            <a:solidFill>
              <a:srgbClr val="000000">
                <a:alpha val="0"/>
              </a:srgbClr>
            </a:solidFill>
            <a:prstDash val="solid"/>
          </a:ln>
        </p:spPr>
        <p:txBody>
          <a:bodyPr/>
          <a:lstStyle/>
          <a:p>
            <a:endParaRPr lang="en-US"/>
          </a:p>
        </p:txBody>
      </p:sp>
      <p:sp>
        <p:nvSpPr>
          <p:cNvPr id="20" name="Rectangle 19">
            <a:extLst>
              <a:ext uri="{FF2B5EF4-FFF2-40B4-BE49-F238E27FC236}">
                <a16:creationId xmlns:a16="http://schemas.microsoft.com/office/drawing/2014/main" id="{CA955DFE-1588-429C-8E81-048F5073F53A}"/>
              </a:ext>
            </a:extLst>
          </p:cNvPr>
          <p:cNvSpPr>
            <a:spLocks noGrp="1"/>
          </p:cNvSpPr>
          <p:nvPr/>
        </p:nvSpPr>
        <p:spPr>
          <a:xfrm>
            <a:off x="552450" y="6496050"/>
            <a:ext cx="100393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91AA9F"/>
                </a:solidFill>
                <a:latin typeface="Aptos"/>
                <a:ea typeface="Aptos"/>
                <a:cs typeface="Aptos"/>
              </a:defRPr>
            </a:pPr>
            <a:r>
              <a:rPr sz="563" b="0">
                <a:solidFill>
                  <a:srgbClr val="91AA9F"/>
                </a:solidFill>
                <a:latin typeface="Aptos"/>
                <a:ea typeface="Aptos"/>
                <a:cs typeface="Aptos"/>
              </a:rPr>
              <a:t>Notebook consigliati: 01_condition_state_mlp.ipynb · 02_wardrobe_gap_mlp.ipynb</a:t>
            </a:r>
          </a:p>
        </p:txBody>
      </p:sp>
      <p:sp>
        <p:nvSpPr>
          <p:cNvPr id="21" name="Rectangle 20">
            <a:extLst>
              <a:ext uri="{FF2B5EF4-FFF2-40B4-BE49-F238E27FC236}">
                <a16:creationId xmlns:a16="http://schemas.microsoft.com/office/drawing/2014/main" id="{3617A2FA-35FC-4392-9E38-95669A2E64BC}"/>
              </a:ext>
            </a:extLst>
          </p:cNvPr>
          <p:cNvSpPr>
            <a:spLocks noGrp="1"/>
          </p:cNvSpPr>
          <p:nvPr/>
        </p:nvSpPr>
        <p:spPr>
          <a:xfrm>
            <a:off x="11049000" y="6477000"/>
            <a:ext cx="590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91AA9F"/>
                </a:solidFill>
                <a:latin typeface="Georgia"/>
                <a:ea typeface="Georgia"/>
                <a:cs typeface="Georgia"/>
              </a:defRPr>
            </a:pPr>
            <a:r>
              <a:rPr sz="750" b="1">
                <a:solidFill>
                  <a:srgbClr val="91AA9F"/>
                </a:solidFill>
                <a:latin typeface="Georgia"/>
                <a:ea typeface="Georgia"/>
                <a:cs typeface="Georgia"/>
              </a:rPr>
              <a:t>15</a:t>
            </a:r>
          </a:p>
        </p:txBody>
      </p:sp>
    </p:spTree>
    <p:extLst>
      <p:ext uri="{BB962C8B-B14F-4D97-AF65-F5344CB8AC3E}">
        <p14:creationId xmlns:p14="http://schemas.microsoft.com/office/powerpoint/2010/main" val="2558067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background">
            <a:extLst>
              <a:ext uri="{FF2B5EF4-FFF2-40B4-BE49-F238E27FC236}">
                <a16:creationId xmlns:a16="http://schemas.microsoft.com/office/drawing/2014/main" id="{C6E212E8-F464-4348-8B20-D85295ED89B6}"/>
              </a:ext>
            </a:extLst>
          </p:cNvPr>
          <p:cNvSpPr>
            <a:spLocks noGrp="1"/>
          </p:cNvSpPr>
          <p:nvPr/>
        </p:nvSpPr>
        <p:spPr>
          <a:xfrm>
            <a:off x="0" y="0"/>
            <a:ext cx="12192000" cy="6858000"/>
          </a:xfrm>
          <a:prstGeom prst="rect">
            <a:avLst/>
          </a:prstGeom>
          <a:solidFill>
            <a:srgbClr val="123C31"/>
          </a:solidFill>
          <a:ln w="0">
            <a:solidFill>
              <a:srgbClr val="000000">
                <a:alpha val="0"/>
              </a:srgbClr>
            </a:solidFill>
            <a:prstDash val="solid"/>
          </a:ln>
        </p:spPr>
        <p:txBody>
          <a:bodyPr/>
          <a:lstStyle/>
          <a:p>
            <a:endParaRPr lang="en-US"/>
          </a:p>
        </p:txBody>
      </p:sp>
      <p:sp>
        <p:nvSpPr>
          <p:cNvPr id="2" name="Oval 1">
            <a:extLst>
              <a:ext uri="{FF2B5EF4-FFF2-40B4-BE49-F238E27FC236}">
                <a16:creationId xmlns:a16="http://schemas.microsoft.com/office/drawing/2014/main" id="{04BE0C4A-0556-49E4-8576-956109B466E8}"/>
              </a:ext>
            </a:extLst>
          </p:cNvPr>
          <p:cNvSpPr>
            <a:spLocks noGrp="1"/>
          </p:cNvSpPr>
          <p:nvPr/>
        </p:nvSpPr>
        <p:spPr>
          <a:xfrm>
            <a:off x="552450" y="409575"/>
            <a:ext cx="85725" cy="85725"/>
          </a:xfrm>
          <a:prstGeom prst="ellipse">
            <a:avLst/>
          </a:prstGeom>
          <a:solidFill>
            <a:srgbClr val="B9D94A"/>
          </a:solidFill>
          <a:ln w="0">
            <a:solidFill>
              <a:srgbClr val="000000">
                <a:alpha val="0"/>
              </a:srgbClr>
            </a:solidFill>
            <a:prstDash val="solid"/>
          </a:ln>
        </p:spPr>
        <p:txBody>
          <a:bodyPr/>
          <a:lstStyle/>
          <a:p>
            <a:endParaRPr lang="en-US"/>
          </a:p>
        </p:txBody>
      </p:sp>
      <p:sp>
        <p:nvSpPr>
          <p:cNvPr id="3" name="Rectangle 2">
            <a:extLst>
              <a:ext uri="{FF2B5EF4-FFF2-40B4-BE49-F238E27FC236}">
                <a16:creationId xmlns:a16="http://schemas.microsoft.com/office/drawing/2014/main" id="{C6D3E251-10F1-4847-8E7C-C5D2B899C8DC}"/>
              </a:ext>
            </a:extLst>
          </p:cNvPr>
          <p:cNvSpPr>
            <a:spLocks noGrp="1"/>
          </p:cNvSpPr>
          <p:nvPr/>
        </p:nvSpPr>
        <p:spPr>
          <a:xfrm>
            <a:off x="742950" y="361950"/>
            <a:ext cx="666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DDE5DD"/>
                </a:solidFill>
                <a:latin typeface="Aptos"/>
                <a:ea typeface="Aptos"/>
                <a:cs typeface="Aptos"/>
              </a:defRPr>
            </a:pPr>
            <a:r>
              <a:rPr sz="638" b="1">
                <a:solidFill>
                  <a:srgbClr val="DDE5DD"/>
                </a:solidFill>
                <a:latin typeface="Aptos"/>
                <a:ea typeface="Aptos"/>
                <a:cs typeface="Aptos"/>
              </a:rPr>
              <a:t>A R C H I T E T T U R A   E   F A T T I B I L I T À</a:t>
            </a:r>
          </a:p>
        </p:txBody>
      </p:sp>
      <p:sp>
        <p:nvSpPr>
          <p:cNvPr id="4" name="claim-title">
            <a:extLst>
              <a:ext uri="{FF2B5EF4-FFF2-40B4-BE49-F238E27FC236}">
                <a16:creationId xmlns:a16="http://schemas.microsoft.com/office/drawing/2014/main" id="{C46602B7-3BD8-471A-8C33-77D466950C17}"/>
              </a:ext>
            </a:extLst>
          </p:cNvPr>
          <p:cNvSpPr>
            <a:spLocks noGrp="1"/>
          </p:cNvSpPr>
          <p:nvPr/>
        </p:nvSpPr>
        <p:spPr>
          <a:xfrm>
            <a:off x="552450" y="742950"/>
            <a:ext cx="10668000" cy="914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775" b="1">
                <a:solidFill>
                  <a:srgbClr val="FFFFFF"/>
                </a:solidFill>
                <a:latin typeface="Georgia"/>
                <a:ea typeface="Georgia"/>
                <a:cs typeface="Georgia"/>
              </a:defRPr>
            </a:pPr>
            <a:r>
              <a:rPr sz="2775" b="1">
                <a:solidFill>
                  <a:srgbClr val="FFFFFF"/>
                </a:solidFill>
                <a:latin typeface="Georgia"/>
                <a:ea typeface="Georgia"/>
                <a:cs typeface="Georgia"/>
              </a:rPr>
              <a:t>Il prototipo è fattibile oggi; la scalabilità procede per sostituzioni controllate.</a:t>
            </a:r>
          </a:p>
        </p:txBody>
      </p:sp>
      <p:sp>
        <p:nvSpPr>
          <p:cNvPr id="5" name="Rectangle: Rounded Corners 4">
            <a:extLst>
              <a:ext uri="{FF2B5EF4-FFF2-40B4-BE49-F238E27FC236}">
                <a16:creationId xmlns:a16="http://schemas.microsoft.com/office/drawing/2014/main" id="{347F3C8D-9A7E-4792-8AE4-EC81F8ACF5FC}"/>
              </a:ext>
            </a:extLst>
          </p:cNvPr>
          <p:cNvSpPr>
            <a:spLocks noGrp="1"/>
          </p:cNvSpPr>
          <p:nvPr/>
        </p:nvSpPr>
        <p:spPr>
          <a:xfrm>
            <a:off x="552450" y="1962150"/>
            <a:ext cx="2381250" cy="1104900"/>
          </a:xfrm>
          <a:prstGeom prst="roundRect">
            <a:avLst>
              <a:gd name="adj" fmla="val 6897"/>
            </a:avLst>
          </a:prstGeom>
          <a:solidFill>
            <a:srgbClr val="1B4C3D"/>
          </a:solidFill>
          <a:ln w="9525">
            <a:solidFill>
              <a:srgbClr val="3F685A"/>
            </a:solidFill>
            <a:prstDash val="solid"/>
          </a:ln>
        </p:spPr>
        <p:txBody>
          <a:bodyPr/>
          <a:lstStyle/>
          <a:p>
            <a:endParaRPr lang="en-US"/>
          </a:p>
        </p:txBody>
      </p:sp>
      <p:sp>
        <p:nvSpPr>
          <p:cNvPr id="6" name="Oval 5">
            <a:extLst>
              <a:ext uri="{FF2B5EF4-FFF2-40B4-BE49-F238E27FC236}">
                <a16:creationId xmlns:a16="http://schemas.microsoft.com/office/drawing/2014/main" id="{209EE9BB-A771-483A-8FA4-693A911AC5BB}"/>
              </a:ext>
            </a:extLst>
          </p:cNvPr>
          <p:cNvSpPr>
            <a:spLocks noGrp="1"/>
          </p:cNvSpPr>
          <p:nvPr/>
        </p:nvSpPr>
        <p:spPr>
          <a:xfrm>
            <a:off x="723900" y="2190750"/>
            <a:ext cx="323850" cy="323850"/>
          </a:xfrm>
          <a:prstGeom prst="ellipse">
            <a:avLst/>
          </a:prstGeom>
          <a:solidFill>
            <a:srgbClr val="466D86"/>
          </a:solidFill>
          <a:ln w="0">
            <a:solidFill>
              <a:srgbClr val="000000">
                <a:alpha val="0"/>
              </a:srgbClr>
            </a:solidFill>
            <a:prstDash val="solid"/>
          </a:ln>
        </p:spPr>
        <p:txBody>
          <a:bodyPr/>
          <a:lstStyle/>
          <a:p>
            <a:endParaRPr lang="en-US"/>
          </a:p>
        </p:txBody>
      </p:sp>
      <p:sp>
        <p:nvSpPr>
          <p:cNvPr id="7" name="Rectangle 6">
            <a:extLst>
              <a:ext uri="{FF2B5EF4-FFF2-40B4-BE49-F238E27FC236}">
                <a16:creationId xmlns:a16="http://schemas.microsoft.com/office/drawing/2014/main" id="{3C579460-DF87-4CC4-ABA6-2A83B8CDE2E7}"/>
              </a:ext>
            </a:extLst>
          </p:cNvPr>
          <p:cNvSpPr>
            <a:spLocks noGrp="1"/>
          </p:cNvSpPr>
          <p:nvPr/>
        </p:nvSpPr>
        <p:spPr>
          <a:xfrm>
            <a:off x="723900" y="2228850"/>
            <a:ext cx="3238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1">
                <a:solidFill>
                  <a:srgbClr val="FFFFFF"/>
                </a:solidFill>
                <a:latin typeface="Aptos"/>
                <a:ea typeface="Aptos"/>
                <a:cs typeface="Aptos"/>
              </a:defRPr>
            </a:pPr>
            <a:r>
              <a:rPr sz="825" b="1">
                <a:solidFill>
                  <a:srgbClr val="FFFFFF"/>
                </a:solidFill>
                <a:latin typeface="Aptos"/>
                <a:ea typeface="Aptos"/>
                <a:cs typeface="Aptos"/>
              </a:rPr>
              <a:t>1</a:t>
            </a:r>
          </a:p>
        </p:txBody>
      </p:sp>
      <p:sp>
        <p:nvSpPr>
          <p:cNvPr id="8" name="Rectangle 7">
            <a:extLst>
              <a:ext uri="{FF2B5EF4-FFF2-40B4-BE49-F238E27FC236}">
                <a16:creationId xmlns:a16="http://schemas.microsoft.com/office/drawing/2014/main" id="{71316955-487E-4497-8E31-BB56ECF12A34}"/>
              </a:ext>
            </a:extLst>
          </p:cNvPr>
          <p:cNvSpPr>
            <a:spLocks noGrp="1"/>
          </p:cNvSpPr>
          <p:nvPr/>
        </p:nvSpPr>
        <p:spPr>
          <a:xfrm>
            <a:off x="1181100" y="2133600"/>
            <a:ext cx="150495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FFFFFF"/>
                </a:solidFill>
                <a:latin typeface="Georgia"/>
                <a:ea typeface="Georgia"/>
                <a:cs typeface="Georgia"/>
              </a:defRPr>
            </a:pPr>
            <a:r>
              <a:rPr sz="1275" b="1">
                <a:solidFill>
                  <a:srgbClr val="FFFFFF"/>
                </a:solidFill>
                <a:latin typeface="Georgia"/>
                <a:ea typeface="Georgia"/>
                <a:cs typeface="Georgia"/>
              </a:rPr>
              <a:t>React</a:t>
            </a:r>
          </a:p>
        </p:txBody>
      </p:sp>
      <p:sp>
        <p:nvSpPr>
          <p:cNvPr id="9" name="Rectangle 8">
            <a:extLst>
              <a:ext uri="{FF2B5EF4-FFF2-40B4-BE49-F238E27FC236}">
                <a16:creationId xmlns:a16="http://schemas.microsoft.com/office/drawing/2014/main" id="{355FD71A-B097-428A-8F5A-A81B9A0E0705}"/>
              </a:ext>
            </a:extLst>
          </p:cNvPr>
          <p:cNvSpPr>
            <a:spLocks noGrp="1"/>
          </p:cNvSpPr>
          <p:nvPr/>
        </p:nvSpPr>
        <p:spPr>
          <a:xfrm>
            <a:off x="781050" y="2609850"/>
            <a:ext cx="19240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13" b="0">
                <a:solidFill>
                  <a:srgbClr val="DDE5DD"/>
                </a:solidFill>
                <a:latin typeface="Aptos"/>
                <a:ea typeface="Aptos"/>
                <a:cs typeface="Aptos"/>
              </a:defRPr>
            </a:pPr>
            <a:r>
              <a:rPr sz="713" b="0">
                <a:solidFill>
                  <a:srgbClr val="DDE5DD"/>
                </a:solidFill>
                <a:latin typeface="Aptos"/>
                <a:ea typeface="Aptos"/>
                <a:cs typeface="Aptos"/>
              </a:rPr>
              <a:t>interfaccia responsive</a:t>
            </a:r>
          </a:p>
        </p:txBody>
      </p:sp>
      <p:sp>
        <p:nvSpPr>
          <p:cNvPr id="10" name="Rectangle 9">
            <a:extLst>
              <a:ext uri="{FF2B5EF4-FFF2-40B4-BE49-F238E27FC236}">
                <a16:creationId xmlns:a16="http://schemas.microsoft.com/office/drawing/2014/main" id="{F5E74BA6-1750-490F-A36D-4EA87BE13875}"/>
              </a:ext>
            </a:extLst>
          </p:cNvPr>
          <p:cNvSpPr>
            <a:spLocks noGrp="1"/>
          </p:cNvSpPr>
          <p:nvPr/>
        </p:nvSpPr>
        <p:spPr>
          <a:xfrm>
            <a:off x="2933700" y="2514600"/>
            <a:ext cx="209550" cy="28575"/>
          </a:xfrm>
          <a:prstGeom prst="rect">
            <a:avLst/>
          </a:prstGeom>
          <a:solidFill>
            <a:srgbClr val="B9D94A"/>
          </a:solidFill>
          <a:ln w="0">
            <a:solidFill>
              <a:srgbClr val="000000">
                <a:alpha val="0"/>
              </a:srgbClr>
            </a:solidFill>
            <a:prstDash val="solid"/>
          </a:ln>
        </p:spPr>
        <p:txBody>
          <a:bodyPr/>
          <a:lstStyle/>
          <a:p>
            <a:endParaRPr lang="en-US"/>
          </a:p>
        </p:txBody>
      </p:sp>
      <p:sp>
        <p:nvSpPr>
          <p:cNvPr id="11" name="Isosceles Triangle 10">
            <a:extLst>
              <a:ext uri="{FF2B5EF4-FFF2-40B4-BE49-F238E27FC236}">
                <a16:creationId xmlns:a16="http://schemas.microsoft.com/office/drawing/2014/main" id="{E1013654-90FD-47AE-A1F3-094AFC86E1D7}"/>
              </a:ext>
            </a:extLst>
          </p:cNvPr>
          <p:cNvSpPr>
            <a:spLocks noGrp="1"/>
          </p:cNvSpPr>
          <p:nvPr/>
        </p:nvSpPr>
        <p:spPr>
          <a:xfrm>
            <a:off x="3114675" y="2457450"/>
            <a:ext cx="133350" cy="133350"/>
          </a:xfrm>
          <a:prstGeom prst="triangle">
            <a:avLst/>
          </a:prstGeom>
          <a:solidFill>
            <a:srgbClr val="B9D94A"/>
          </a:solidFill>
          <a:ln w="0">
            <a:solidFill>
              <a:srgbClr val="000000">
                <a:alpha val="0"/>
              </a:srgbClr>
            </a:solidFill>
            <a:prstDash val="solid"/>
          </a:ln>
        </p:spPr>
        <p:txBody>
          <a:bodyPr/>
          <a:lstStyle/>
          <a:p>
            <a:endParaRPr lang="en-US"/>
          </a:p>
        </p:txBody>
      </p:sp>
      <p:sp>
        <p:nvSpPr>
          <p:cNvPr id="12" name="Rectangle: Rounded Corners 11">
            <a:extLst>
              <a:ext uri="{FF2B5EF4-FFF2-40B4-BE49-F238E27FC236}">
                <a16:creationId xmlns:a16="http://schemas.microsoft.com/office/drawing/2014/main" id="{75635BD3-B45F-4E88-AF48-268B2BB1DF9F}"/>
              </a:ext>
            </a:extLst>
          </p:cNvPr>
          <p:cNvSpPr>
            <a:spLocks noGrp="1"/>
          </p:cNvSpPr>
          <p:nvPr/>
        </p:nvSpPr>
        <p:spPr>
          <a:xfrm>
            <a:off x="3333750" y="1962150"/>
            <a:ext cx="2381250" cy="1104900"/>
          </a:xfrm>
          <a:prstGeom prst="roundRect">
            <a:avLst>
              <a:gd name="adj" fmla="val 6897"/>
            </a:avLst>
          </a:prstGeom>
          <a:solidFill>
            <a:srgbClr val="1B4C3D"/>
          </a:solidFill>
          <a:ln w="9525">
            <a:solidFill>
              <a:srgbClr val="3F685A"/>
            </a:solidFill>
            <a:prstDash val="solid"/>
          </a:ln>
        </p:spPr>
        <p:txBody>
          <a:bodyPr/>
          <a:lstStyle/>
          <a:p>
            <a:endParaRPr lang="en-US"/>
          </a:p>
        </p:txBody>
      </p:sp>
      <p:sp>
        <p:nvSpPr>
          <p:cNvPr id="13" name="Oval 12">
            <a:extLst>
              <a:ext uri="{FF2B5EF4-FFF2-40B4-BE49-F238E27FC236}">
                <a16:creationId xmlns:a16="http://schemas.microsoft.com/office/drawing/2014/main" id="{76E0D47F-2AD8-4605-A768-804241833BFA}"/>
              </a:ext>
            </a:extLst>
          </p:cNvPr>
          <p:cNvSpPr>
            <a:spLocks noGrp="1"/>
          </p:cNvSpPr>
          <p:nvPr/>
        </p:nvSpPr>
        <p:spPr>
          <a:xfrm>
            <a:off x="3505200" y="2190750"/>
            <a:ext cx="323850" cy="323850"/>
          </a:xfrm>
          <a:prstGeom prst="ellipse">
            <a:avLst/>
          </a:prstGeom>
          <a:solidFill>
            <a:srgbClr val="D56E42"/>
          </a:solidFill>
          <a:ln w="0">
            <a:solidFill>
              <a:srgbClr val="000000">
                <a:alpha val="0"/>
              </a:srgbClr>
            </a:solidFill>
            <a:prstDash val="solid"/>
          </a:ln>
        </p:spPr>
        <p:txBody>
          <a:bodyPr/>
          <a:lstStyle/>
          <a:p>
            <a:endParaRPr lang="en-US"/>
          </a:p>
        </p:txBody>
      </p:sp>
      <p:sp>
        <p:nvSpPr>
          <p:cNvPr id="14" name="Rectangle 13">
            <a:extLst>
              <a:ext uri="{FF2B5EF4-FFF2-40B4-BE49-F238E27FC236}">
                <a16:creationId xmlns:a16="http://schemas.microsoft.com/office/drawing/2014/main" id="{55E31127-FB7C-4280-9872-E42F49CB492B}"/>
              </a:ext>
            </a:extLst>
          </p:cNvPr>
          <p:cNvSpPr>
            <a:spLocks noGrp="1"/>
          </p:cNvSpPr>
          <p:nvPr/>
        </p:nvSpPr>
        <p:spPr>
          <a:xfrm>
            <a:off x="3505200" y="2228850"/>
            <a:ext cx="3238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1">
                <a:solidFill>
                  <a:srgbClr val="FFFFFF"/>
                </a:solidFill>
                <a:latin typeface="Aptos"/>
                <a:ea typeface="Aptos"/>
                <a:cs typeface="Aptos"/>
              </a:defRPr>
            </a:pPr>
            <a:r>
              <a:rPr sz="825" b="1">
                <a:solidFill>
                  <a:srgbClr val="FFFFFF"/>
                </a:solidFill>
                <a:latin typeface="Aptos"/>
                <a:ea typeface="Aptos"/>
                <a:cs typeface="Aptos"/>
              </a:rPr>
              <a:t>2</a:t>
            </a:r>
          </a:p>
        </p:txBody>
      </p:sp>
      <p:sp>
        <p:nvSpPr>
          <p:cNvPr id="15" name="Rectangle 14">
            <a:extLst>
              <a:ext uri="{FF2B5EF4-FFF2-40B4-BE49-F238E27FC236}">
                <a16:creationId xmlns:a16="http://schemas.microsoft.com/office/drawing/2014/main" id="{330EDEAB-FDB9-45A3-AE3F-D38067FDDF88}"/>
              </a:ext>
            </a:extLst>
          </p:cNvPr>
          <p:cNvSpPr>
            <a:spLocks noGrp="1"/>
          </p:cNvSpPr>
          <p:nvPr/>
        </p:nvSpPr>
        <p:spPr>
          <a:xfrm>
            <a:off x="3962400" y="2133600"/>
            <a:ext cx="150495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FFFFFF"/>
                </a:solidFill>
                <a:latin typeface="Georgia"/>
                <a:ea typeface="Georgia"/>
                <a:cs typeface="Georgia"/>
              </a:defRPr>
            </a:pPr>
            <a:r>
              <a:rPr sz="1275" b="1">
                <a:solidFill>
                  <a:srgbClr val="FFFFFF"/>
                </a:solidFill>
                <a:latin typeface="Georgia"/>
                <a:ea typeface="Georgia"/>
                <a:cs typeface="Georgia"/>
              </a:rPr>
              <a:t>FastAPI</a:t>
            </a:r>
          </a:p>
        </p:txBody>
      </p:sp>
      <p:sp>
        <p:nvSpPr>
          <p:cNvPr id="16" name="Rectangle 15">
            <a:extLst>
              <a:ext uri="{FF2B5EF4-FFF2-40B4-BE49-F238E27FC236}">
                <a16:creationId xmlns:a16="http://schemas.microsoft.com/office/drawing/2014/main" id="{B0C253E3-694D-41B5-AC4B-29FBB188A9B3}"/>
              </a:ext>
            </a:extLst>
          </p:cNvPr>
          <p:cNvSpPr>
            <a:spLocks noGrp="1"/>
          </p:cNvSpPr>
          <p:nvPr/>
        </p:nvSpPr>
        <p:spPr>
          <a:xfrm>
            <a:off x="3562350" y="2609850"/>
            <a:ext cx="19240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13" b="0">
                <a:solidFill>
                  <a:srgbClr val="DDE5DD"/>
                </a:solidFill>
                <a:latin typeface="Aptos"/>
                <a:ea typeface="Aptos"/>
                <a:cs typeface="Aptos"/>
              </a:defRPr>
            </a:pPr>
            <a:r>
              <a:rPr sz="713" b="0">
                <a:solidFill>
                  <a:srgbClr val="DDE5DD"/>
                </a:solidFill>
                <a:latin typeface="Aptos"/>
                <a:ea typeface="Aptos"/>
                <a:cs typeface="Aptos"/>
              </a:rPr>
              <a:t>API e logica applicativa</a:t>
            </a:r>
          </a:p>
        </p:txBody>
      </p:sp>
      <p:sp>
        <p:nvSpPr>
          <p:cNvPr id="17" name="Rectangle 16">
            <a:extLst>
              <a:ext uri="{FF2B5EF4-FFF2-40B4-BE49-F238E27FC236}">
                <a16:creationId xmlns:a16="http://schemas.microsoft.com/office/drawing/2014/main" id="{A1B3DC50-2181-4FEE-AA19-B3DAB4E894AC}"/>
              </a:ext>
            </a:extLst>
          </p:cNvPr>
          <p:cNvSpPr>
            <a:spLocks noGrp="1"/>
          </p:cNvSpPr>
          <p:nvPr/>
        </p:nvSpPr>
        <p:spPr>
          <a:xfrm>
            <a:off x="5715000" y="2514600"/>
            <a:ext cx="209550" cy="28575"/>
          </a:xfrm>
          <a:prstGeom prst="rect">
            <a:avLst/>
          </a:prstGeom>
          <a:solidFill>
            <a:srgbClr val="B9D94A"/>
          </a:solidFill>
          <a:ln w="0">
            <a:solidFill>
              <a:srgbClr val="000000">
                <a:alpha val="0"/>
              </a:srgbClr>
            </a:solidFill>
            <a:prstDash val="solid"/>
          </a:ln>
        </p:spPr>
        <p:txBody>
          <a:bodyPr/>
          <a:lstStyle/>
          <a:p>
            <a:endParaRPr lang="en-US"/>
          </a:p>
        </p:txBody>
      </p:sp>
      <p:sp>
        <p:nvSpPr>
          <p:cNvPr id="18" name="Isosceles Triangle 17">
            <a:extLst>
              <a:ext uri="{FF2B5EF4-FFF2-40B4-BE49-F238E27FC236}">
                <a16:creationId xmlns:a16="http://schemas.microsoft.com/office/drawing/2014/main" id="{03A08E2D-E6A8-494D-AD7B-7DDCB2C375A2}"/>
              </a:ext>
            </a:extLst>
          </p:cNvPr>
          <p:cNvSpPr>
            <a:spLocks noGrp="1"/>
          </p:cNvSpPr>
          <p:nvPr/>
        </p:nvSpPr>
        <p:spPr>
          <a:xfrm>
            <a:off x="5895975" y="2457450"/>
            <a:ext cx="133350" cy="133350"/>
          </a:xfrm>
          <a:prstGeom prst="triangle">
            <a:avLst/>
          </a:prstGeom>
          <a:solidFill>
            <a:srgbClr val="B9D94A"/>
          </a:solidFill>
          <a:ln w="0">
            <a:solidFill>
              <a:srgbClr val="000000">
                <a:alpha val="0"/>
              </a:srgbClr>
            </a:solidFill>
            <a:prstDash val="solid"/>
          </a:ln>
        </p:spPr>
        <p:txBody>
          <a:bodyPr/>
          <a:lstStyle/>
          <a:p>
            <a:endParaRPr lang="en-US"/>
          </a:p>
        </p:txBody>
      </p:sp>
      <p:sp>
        <p:nvSpPr>
          <p:cNvPr id="19" name="Rectangle: Rounded Corners 18">
            <a:extLst>
              <a:ext uri="{FF2B5EF4-FFF2-40B4-BE49-F238E27FC236}">
                <a16:creationId xmlns:a16="http://schemas.microsoft.com/office/drawing/2014/main" id="{0C6C08B2-75AC-4F69-8B72-5564BBC23CD2}"/>
              </a:ext>
            </a:extLst>
          </p:cNvPr>
          <p:cNvSpPr>
            <a:spLocks noGrp="1"/>
          </p:cNvSpPr>
          <p:nvPr/>
        </p:nvSpPr>
        <p:spPr>
          <a:xfrm>
            <a:off x="6115050" y="1962150"/>
            <a:ext cx="2381250" cy="1104900"/>
          </a:xfrm>
          <a:prstGeom prst="roundRect">
            <a:avLst>
              <a:gd name="adj" fmla="val 6897"/>
            </a:avLst>
          </a:prstGeom>
          <a:solidFill>
            <a:srgbClr val="1B4C3D"/>
          </a:solidFill>
          <a:ln w="9525">
            <a:solidFill>
              <a:srgbClr val="3F685A"/>
            </a:solidFill>
            <a:prstDash val="solid"/>
          </a:ln>
        </p:spPr>
        <p:txBody>
          <a:bodyPr/>
          <a:lstStyle/>
          <a:p>
            <a:endParaRPr lang="en-US"/>
          </a:p>
        </p:txBody>
      </p:sp>
      <p:sp>
        <p:nvSpPr>
          <p:cNvPr id="20" name="Oval 19">
            <a:extLst>
              <a:ext uri="{FF2B5EF4-FFF2-40B4-BE49-F238E27FC236}">
                <a16:creationId xmlns:a16="http://schemas.microsoft.com/office/drawing/2014/main" id="{64165E92-09E7-4D23-86FC-0AFA79E8DF65}"/>
              </a:ext>
            </a:extLst>
          </p:cNvPr>
          <p:cNvSpPr>
            <a:spLocks noGrp="1"/>
          </p:cNvSpPr>
          <p:nvPr/>
        </p:nvSpPr>
        <p:spPr>
          <a:xfrm>
            <a:off x="6286500" y="2190750"/>
            <a:ext cx="323850" cy="323850"/>
          </a:xfrm>
          <a:prstGeom prst="ellipse">
            <a:avLst/>
          </a:prstGeom>
          <a:solidFill>
            <a:srgbClr val="2F7D5B"/>
          </a:solidFill>
          <a:ln w="0">
            <a:solidFill>
              <a:srgbClr val="000000">
                <a:alpha val="0"/>
              </a:srgbClr>
            </a:solidFill>
            <a:prstDash val="solid"/>
          </a:ln>
        </p:spPr>
        <p:txBody>
          <a:bodyPr/>
          <a:lstStyle/>
          <a:p>
            <a:endParaRPr lang="en-US"/>
          </a:p>
        </p:txBody>
      </p:sp>
      <p:sp>
        <p:nvSpPr>
          <p:cNvPr id="21" name="Rectangle 20">
            <a:extLst>
              <a:ext uri="{FF2B5EF4-FFF2-40B4-BE49-F238E27FC236}">
                <a16:creationId xmlns:a16="http://schemas.microsoft.com/office/drawing/2014/main" id="{B71A2598-9B30-4AC9-85FD-82FE1A0F31D7}"/>
              </a:ext>
            </a:extLst>
          </p:cNvPr>
          <p:cNvSpPr>
            <a:spLocks noGrp="1"/>
          </p:cNvSpPr>
          <p:nvPr/>
        </p:nvSpPr>
        <p:spPr>
          <a:xfrm>
            <a:off x="6286500" y="2228850"/>
            <a:ext cx="3238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1">
                <a:solidFill>
                  <a:srgbClr val="FFFFFF"/>
                </a:solidFill>
                <a:latin typeface="Aptos"/>
                <a:ea typeface="Aptos"/>
                <a:cs typeface="Aptos"/>
              </a:defRPr>
            </a:pPr>
            <a:r>
              <a:rPr sz="825" b="1">
                <a:solidFill>
                  <a:srgbClr val="FFFFFF"/>
                </a:solidFill>
                <a:latin typeface="Aptos"/>
                <a:ea typeface="Aptos"/>
                <a:cs typeface="Aptos"/>
              </a:rPr>
              <a:t>3</a:t>
            </a:r>
          </a:p>
        </p:txBody>
      </p:sp>
      <p:sp>
        <p:nvSpPr>
          <p:cNvPr id="22" name="Rectangle 21">
            <a:extLst>
              <a:ext uri="{FF2B5EF4-FFF2-40B4-BE49-F238E27FC236}">
                <a16:creationId xmlns:a16="http://schemas.microsoft.com/office/drawing/2014/main" id="{B26BDD7C-4B13-4581-AD95-11A6A9C4B424}"/>
              </a:ext>
            </a:extLst>
          </p:cNvPr>
          <p:cNvSpPr>
            <a:spLocks noGrp="1"/>
          </p:cNvSpPr>
          <p:nvPr/>
        </p:nvSpPr>
        <p:spPr>
          <a:xfrm>
            <a:off x="6743700" y="2133600"/>
            <a:ext cx="150495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FFFFFF"/>
                </a:solidFill>
                <a:latin typeface="Georgia"/>
                <a:ea typeface="Georgia"/>
                <a:cs typeface="Georgia"/>
              </a:defRPr>
            </a:pPr>
            <a:r>
              <a:rPr sz="1275" b="1">
                <a:solidFill>
                  <a:srgbClr val="FFFFFF"/>
                </a:solidFill>
                <a:latin typeface="Georgia"/>
                <a:ea typeface="Georgia"/>
                <a:cs typeface="Georgia"/>
              </a:rPr>
              <a:t>Dati + modelli</a:t>
            </a:r>
          </a:p>
        </p:txBody>
      </p:sp>
      <p:sp>
        <p:nvSpPr>
          <p:cNvPr id="23" name="Rectangle 22">
            <a:extLst>
              <a:ext uri="{FF2B5EF4-FFF2-40B4-BE49-F238E27FC236}">
                <a16:creationId xmlns:a16="http://schemas.microsoft.com/office/drawing/2014/main" id="{838B200B-4DB1-4831-A21A-89E4282D0339}"/>
              </a:ext>
            </a:extLst>
          </p:cNvPr>
          <p:cNvSpPr>
            <a:spLocks noGrp="1"/>
          </p:cNvSpPr>
          <p:nvPr/>
        </p:nvSpPr>
        <p:spPr>
          <a:xfrm>
            <a:off x="6343650" y="2609850"/>
            <a:ext cx="19240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13" b="0">
                <a:solidFill>
                  <a:srgbClr val="DDE5DD"/>
                </a:solidFill>
                <a:latin typeface="Aptos"/>
                <a:ea typeface="Aptos"/>
                <a:cs typeface="Aptos"/>
              </a:defRPr>
            </a:pPr>
            <a:r>
              <a:rPr sz="713" b="0">
                <a:solidFill>
                  <a:srgbClr val="DDE5DD"/>
                </a:solidFill>
                <a:latin typeface="Aptos"/>
                <a:ea typeface="Aptos"/>
                <a:cs typeface="Aptos"/>
              </a:rPr>
              <a:t>SQLite · immagini · checkpoint</a:t>
            </a:r>
          </a:p>
        </p:txBody>
      </p:sp>
      <p:sp>
        <p:nvSpPr>
          <p:cNvPr id="24" name="Rectangle 23">
            <a:extLst>
              <a:ext uri="{FF2B5EF4-FFF2-40B4-BE49-F238E27FC236}">
                <a16:creationId xmlns:a16="http://schemas.microsoft.com/office/drawing/2014/main" id="{554F9806-A507-488E-A61C-6966661C69D5}"/>
              </a:ext>
            </a:extLst>
          </p:cNvPr>
          <p:cNvSpPr>
            <a:spLocks noGrp="1"/>
          </p:cNvSpPr>
          <p:nvPr/>
        </p:nvSpPr>
        <p:spPr>
          <a:xfrm>
            <a:off x="8496300" y="2514600"/>
            <a:ext cx="209550" cy="28575"/>
          </a:xfrm>
          <a:prstGeom prst="rect">
            <a:avLst/>
          </a:prstGeom>
          <a:solidFill>
            <a:srgbClr val="B9D94A"/>
          </a:solidFill>
          <a:ln w="0">
            <a:solidFill>
              <a:srgbClr val="000000">
                <a:alpha val="0"/>
              </a:srgbClr>
            </a:solidFill>
            <a:prstDash val="solid"/>
          </a:ln>
        </p:spPr>
        <p:txBody>
          <a:bodyPr/>
          <a:lstStyle/>
          <a:p>
            <a:endParaRPr lang="en-US"/>
          </a:p>
        </p:txBody>
      </p:sp>
      <p:sp>
        <p:nvSpPr>
          <p:cNvPr id="25" name="Isosceles Triangle 24">
            <a:extLst>
              <a:ext uri="{FF2B5EF4-FFF2-40B4-BE49-F238E27FC236}">
                <a16:creationId xmlns:a16="http://schemas.microsoft.com/office/drawing/2014/main" id="{DA99E71E-7A0F-4CF7-B757-965A77084E62}"/>
              </a:ext>
            </a:extLst>
          </p:cNvPr>
          <p:cNvSpPr>
            <a:spLocks noGrp="1"/>
          </p:cNvSpPr>
          <p:nvPr/>
        </p:nvSpPr>
        <p:spPr>
          <a:xfrm>
            <a:off x="8677275" y="2457450"/>
            <a:ext cx="133350" cy="133350"/>
          </a:xfrm>
          <a:prstGeom prst="triangle">
            <a:avLst/>
          </a:prstGeom>
          <a:solidFill>
            <a:srgbClr val="B9D94A"/>
          </a:solidFill>
          <a:ln w="0">
            <a:solidFill>
              <a:srgbClr val="000000">
                <a:alpha val="0"/>
              </a:srgbClr>
            </a:solidFill>
            <a:prstDash val="solid"/>
          </a:ln>
        </p:spPr>
        <p:txBody>
          <a:bodyPr/>
          <a:lstStyle/>
          <a:p>
            <a:endParaRPr lang="en-US"/>
          </a:p>
        </p:txBody>
      </p:sp>
      <p:sp>
        <p:nvSpPr>
          <p:cNvPr id="26" name="Rectangle: Rounded Corners 25">
            <a:extLst>
              <a:ext uri="{FF2B5EF4-FFF2-40B4-BE49-F238E27FC236}">
                <a16:creationId xmlns:a16="http://schemas.microsoft.com/office/drawing/2014/main" id="{96D1D142-4DAE-4649-9824-A8B818A47471}"/>
              </a:ext>
            </a:extLst>
          </p:cNvPr>
          <p:cNvSpPr>
            <a:spLocks noGrp="1"/>
          </p:cNvSpPr>
          <p:nvPr/>
        </p:nvSpPr>
        <p:spPr>
          <a:xfrm>
            <a:off x="8896350" y="1962150"/>
            <a:ext cx="2381250" cy="1104900"/>
          </a:xfrm>
          <a:prstGeom prst="roundRect">
            <a:avLst>
              <a:gd name="adj" fmla="val 6897"/>
            </a:avLst>
          </a:prstGeom>
          <a:solidFill>
            <a:srgbClr val="1B4C3D"/>
          </a:solidFill>
          <a:ln w="9525">
            <a:solidFill>
              <a:srgbClr val="3F685A"/>
            </a:solidFill>
            <a:prstDash val="solid"/>
          </a:ln>
        </p:spPr>
        <p:txBody>
          <a:bodyPr/>
          <a:lstStyle/>
          <a:p>
            <a:endParaRPr lang="en-US"/>
          </a:p>
        </p:txBody>
      </p:sp>
      <p:sp>
        <p:nvSpPr>
          <p:cNvPr id="27" name="Oval 26">
            <a:extLst>
              <a:ext uri="{FF2B5EF4-FFF2-40B4-BE49-F238E27FC236}">
                <a16:creationId xmlns:a16="http://schemas.microsoft.com/office/drawing/2014/main" id="{EB6E5FF5-58BC-44ED-A885-53B05C3F42B8}"/>
              </a:ext>
            </a:extLst>
          </p:cNvPr>
          <p:cNvSpPr>
            <a:spLocks noGrp="1"/>
          </p:cNvSpPr>
          <p:nvPr/>
        </p:nvSpPr>
        <p:spPr>
          <a:xfrm>
            <a:off x="9067800" y="2190750"/>
            <a:ext cx="323850" cy="323850"/>
          </a:xfrm>
          <a:prstGeom prst="ellipse">
            <a:avLst/>
          </a:prstGeom>
          <a:solidFill>
            <a:srgbClr val="B9D94A"/>
          </a:solidFill>
          <a:ln w="0">
            <a:solidFill>
              <a:srgbClr val="000000">
                <a:alpha val="0"/>
              </a:srgbClr>
            </a:solidFill>
            <a:prstDash val="solid"/>
          </a:ln>
        </p:spPr>
        <p:txBody>
          <a:bodyPr/>
          <a:lstStyle/>
          <a:p>
            <a:endParaRPr lang="en-US"/>
          </a:p>
        </p:txBody>
      </p:sp>
      <p:sp>
        <p:nvSpPr>
          <p:cNvPr id="28" name="Rectangle 27">
            <a:extLst>
              <a:ext uri="{FF2B5EF4-FFF2-40B4-BE49-F238E27FC236}">
                <a16:creationId xmlns:a16="http://schemas.microsoft.com/office/drawing/2014/main" id="{F0208B9B-1627-4517-A520-5FC59713A6BD}"/>
              </a:ext>
            </a:extLst>
          </p:cNvPr>
          <p:cNvSpPr>
            <a:spLocks noGrp="1"/>
          </p:cNvSpPr>
          <p:nvPr/>
        </p:nvSpPr>
        <p:spPr>
          <a:xfrm>
            <a:off x="9067800" y="2228850"/>
            <a:ext cx="3238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1">
                <a:solidFill>
                  <a:srgbClr val="123C31"/>
                </a:solidFill>
                <a:latin typeface="Aptos"/>
                <a:ea typeface="Aptos"/>
                <a:cs typeface="Aptos"/>
              </a:defRPr>
            </a:pPr>
            <a:r>
              <a:rPr sz="825" b="1">
                <a:solidFill>
                  <a:srgbClr val="123C31"/>
                </a:solidFill>
                <a:latin typeface="Aptos"/>
                <a:ea typeface="Aptos"/>
                <a:cs typeface="Aptos"/>
              </a:rPr>
              <a:t>4</a:t>
            </a:r>
          </a:p>
        </p:txBody>
      </p:sp>
      <p:sp>
        <p:nvSpPr>
          <p:cNvPr id="29" name="Rectangle 28">
            <a:extLst>
              <a:ext uri="{FF2B5EF4-FFF2-40B4-BE49-F238E27FC236}">
                <a16:creationId xmlns:a16="http://schemas.microsoft.com/office/drawing/2014/main" id="{68284C7C-7AD3-48D4-BBB2-F4523A6A0F81}"/>
              </a:ext>
            </a:extLst>
          </p:cNvPr>
          <p:cNvSpPr>
            <a:spLocks noGrp="1"/>
          </p:cNvSpPr>
          <p:nvPr/>
        </p:nvSpPr>
        <p:spPr>
          <a:xfrm>
            <a:off x="9525000" y="2133600"/>
            <a:ext cx="150495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FFFFFF"/>
                </a:solidFill>
                <a:latin typeface="Georgia"/>
                <a:ea typeface="Georgia"/>
                <a:cs typeface="Georgia"/>
              </a:defRPr>
            </a:pPr>
            <a:r>
              <a:rPr sz="1275" b="1">
                <a:solidFill>
                  <a:srgbClr val="FFFFFF"/>
                </a:solidFill>
                <a:latin typeface="Georgia"/>
                <a:ea typeface="Georgia"/>
                <a:cs typeface="Georgia"/>
              </a:rPr>
              <a:t>PWA</a:t>
            </a:r>
          </a:p>
        </p:txBody>
      </p:sp>
      <p:sp>
        <p:nvSpPr>
          <p:cNvPr id="30" name="Rectangle 29">
            <a:extLst>
              <a:ext uri="{FF2B5EF4-FFF2-40B4-BE49-F238E27FC236}">
                <a16:creationId xmlns:a16="http://schemas.microsoft.com/office/drawing/2014/main" id="{53BDD141-5A13-47F3-81AB-9B56F15AF50D}"/>
              </a:ext>
            </a:extLst>
          </p:cNvPr>
          <p:cNvSpPr>
            <a:spLocks noGrp="1"/>
          </p:cNvSpPr>
          <p:nvPr/>
        </p:nvSpPr>
        <p:spPr>
          <a:xfrm>
            <a:off x="9124950" y="2609850"/>
            <a:ext cx="19240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13" b="0">
                <a:solidFill>
                  <a:srgbClr val="DDE5DD"/>
                </a:solidFill>
                <a:latin typeface="Aptos"/>
                <a:ea typeface="Aptos"/>
                <a:cs typeface="Aptos"/>
              </a:defRPr>
            </a:pPr>
            <a:r>
              <a:rPr sz="713" b="0">
                <a:solidFill>
                  <a:srgbClr val="DDE5DD"/>
                </a:solidFill>
                <a:latin typeface="Aptos"/>
                <a:ea typeface="Aptos"/>
                <a:cs typeface="Aptos"/>
              </a:rPr>
              <a:t>installabile da browser</a:t>
            </a:r>
          </a:p>
        </p:txBody>
      </p:sp>
      <p:sp>
        <p:nvSpPr>
          <p:cNvPr id="31" name="Rectangle 30">
            <a:extLst>
              <a:ext uri="{FF2B5EF4-FFF2-40B4-BE49-F238E27FC236}">
                <a16:creationId xmlns:a16="http://schemas.microsoft.com/office/drawing/2014/main" id="{F5240C0C-8AF4-4F6C-9D89-6277282245D6}"/>
              </a:ext>
            </a:extLst>
          </p:cNvPr>
          <p:cNvSpPr>
            <a:spLocks noGrp="1"/>
          </p:cNvSpPr>
          <p:nvPr/>
        </p:nvSpPr>
        <p:spPr>
          <a:xfrm>
            <a:off x="552450" y="3543300"/>
            <a:ext cx="11087100" cy="9525"/>
          </a:xfrm>
          <a:prstGeom prst="rect">
            <a:avLst/>
          </a:prstGeom>
          <a:solidFill>
            <a:srgbClr val="3F685A"/>
          </a:solidFill>
          <a:ln w="0">
            <a:solidFill>
              <a:srgbClr val="000000">
                <a:alpha val="0"/>
              </a:srgbClr>
            </a:solidFill>
            <a:prstDash val="solid"/>
          </a:ln>
        </p:spPr>
        <p:txBody>
          <a:bodyPr/>
          <a:lstStyle/>
          <a:p>
            <a:endParaRPr lang="en-US"/>
          </a:p>
        </p:txBody>
      </p:sp>
      <p:sp>
        <p:nvSpPr>
          <p:cNvPr id="32" name="Rectangle 31">
            <a:extLst>
              <a:ext uri="{FF2B5EF4-FFF2-40B4-BE49-F238E27FC236}">
                <a16:creationId xmlns:a16="http://schemas.microsoft.com/office/drawing/2014/main" id="{20E29FEB-1511-4D58-993E-F9377AFF89EA}"/>
              </a:ext>
            </a:extLst>
          </p:cNvPr>
          <p:cNvSpPr>
            <a:spLocks noGrp="1"/>
          </p:cNvSpPr>
          <p:nvPr/>
        </p:nvSpPr>
        <p:spPr>
          <a:xfrm>
            <a:off x="552450" y="3943350"/>
            <a:ext cx="31432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D56E42"/>
                </a:solidFill>
                <a:latin typeface="Aptos"/>
                <a:ea typeface="Aptos"/>
                <a:cs typeface="Aptos"/>
              </a:defRPr>
            </a:pPr>
            <a:r>
              <a:rPr sz="675" b="1">
                <a:solidFill>
                  <a:srgbClr val="D56E42"/>
                </a:solidFill>
                <a:latin typeface="Aptos"/>
                <a:ea typeface="Aptos"/>
                <a:cs typeface="Aptos"/>
              </a:rPr>
              <a:t>COSTI</a:t>
            </a:r>
          </a:p>
        </p:txBody>
      </p:sp>
      <p:sp>
        <p:nvSpPr>
          <p:cNvPr id="33" name="Rectangle 32">
            <a:extLst>
              <a:ext uri="{FF2B5EF4-FFF2-40B4-BE49-F238E27FC236}">
                <a16:creationId xmlns:a16="http://schemas.microsoft.com/office/drawing/2014/main" id="{C525B07D-CB99-4934-A91C-1FA34EEF7FC9}"/>
              </a:ext>
            </a:extLst>
          </p:cNvPr>
          <p:cNvSpPr>
            <a:spLocks noGrp="1"/>
          </p:cNvSpPr>
          <p:nvPr/>
        </p:nvSpPr>
        <p:spPr>
          <a:xfrm>
            <a:off x="552450" y="4305300"/>
            <a:ext cx="3143250" cy="819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FFFFF"/>
                </a:solidFill>
                <a:latin typeface="Georgia"/>
                <a:ea typeface="Georgia"/>
                <a:cs typeface="Georgia"/>
              </a:defRPr>
            </a:pPr>
            <a:r>
              <a:rPr sz="1050" b="1">
                <a:solidFill>
                  <a:srgbClr val="FFFFFF"/>
                </a:solidFill>
                <a:latin typeface="Georgia"/>
                <a:ea typeface="Georgia"/>
                <a:cs typeface="Georgia"/>
              </a:rPr>
              <a:t>software prevalentemente open source; costo principale: tempo e servizi cloud opzionali</a:t>
            </a:r>
          </a:p>
        </p:txBody>
      </p:sp>
      <p:sp>
        <p:nvSpPr>
          <p:cNvPr id="34" name="Rectangle 33">
            <a:extLst>
              <a:ext uri="{FF2B5EF4-FFF2-40B4-BE49-F238E27FC236}">
                <a16:creationId xmlns:a16="http://schemas.microsoft.com/office/drawing/2014/main" id="{881484FD-9477-4AD2-ACDC-F49AC6979F9E}"/>
              </a:ext>
            </a:extLst>
          </p:cNvPr>
          <p:cNvSpPr>
            <a:spLocks noGrp="1"/>
          </p:cNvSpPr>
          <p:nvPr/>
        </p:nvSpPr>
        <p:spPr>
          <a:xfrm>
            <a:off x="4248150" y="3943350"/>
            <a:ext cx="31432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466D86"/>
                </a:solidFill>
                <a:latin typeface="Aptos"/>
                <a:ea typeface="Aptos"/>
                <a:cs typeface="Aptos"/>
              </a:defRPr>
            </a:pPr>
            <a:r>
              <a:rPr sz="675" b="1">
                <a:solidFill>
                  <a:srgbClr val="466D86"/>
                </a:solidFill>
                <a:latin typeface="Aptos"/>
                <a:ea typeface="Aptos"/>
                <a:cs typeface="Aptos"/>
              </a:rPr>
              <a:t>MATERIALI</a:t>
            </a:r>
          </a:p>
        </p:txBody>
      </p:sp>
      <p:sp>
        <p:nvSpPr>
          <p:cNvPr id="35" name="Rectangle 34">
            <a:extLst>
              <a:ext uri="{FF2B5EF4-FFF2-40B4-BE49-F238E27FC236}">
                <a16:creationId xmlns:a16="http://schemas.microsoft.com/office/drawing/2014/main" id="{F477B67F-7A35-451A-B610-8DACA1C0EE50}"/>
              </a:ext>
            </a:extLst>
          </p:cNvPr>
          <p:cNvSpPr>
            <a:spLocks noGrp="1"/>
          </p:cNvSpPr>
          <p:nvPr/>
        </p:nvSpPr>
        <p:spPr>
          <a:xfrm>
            <a:off x="4248150" y="4305300"/>
            <a:ext cx="3143250" cy="819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FFFFF"/>
                </a:solidFill>
                <a:latin typeface="Georgia"/>
                <a:ea typeface="Georgia"/>
                <a:cs typeface="Georgia"/>
              </a:defRPr>
            </a:pPr>
            <a:r>
              <a:rPr sz="1050" b="1">
                <a:solidFill>
                  <a:srgbClr val="FFFFFF"/>
                </a:solidFill>
                <a:latin typeface="Georgia"/>
                <a:ea typeface="Georgia"/>
                <a:cs typeface="Georgia"/>
              </a:rPr>
              <a:t>smartphone e laptop esistenti; nessun hardware dedicato nel prototipo</a:t>
            </a:r>
          </a:p>
        </p:txBody>
      </p:sp>
      <p:sp>
        <p:nvSpPr>
          <p:cNvPr id="36" name="Rectangle 35">
            <a:extLst>
              <a:ext uri="{FF2B5EF4-FFF2-40B4-BE49-F238E27FC236}">
                <a16:creationId xmlns:a16="http://schemas.microsoft.com/office/drawing/2014/main" id="{87424867-F7FA-4AB4-A3DD-8B697817B26C}"/>
              </a:ext>
            </a:extLst>
          </p:cNvPr>
          <p:cNvSpPr>
            <a:spLocks noGrp="1"/>
          </p:cNvSpPr>
          <p:nvPr/>
        </p:nvSpPr>
        <p:spPr>
          <a:xfrm>
            <a:off x="7943850" y="3943350"/>
            <a:ext cx="31432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B9D94A"/>
                </a:solidFill>
                <a:latin typeface="Aptos"/>
                <a:ea typeface="Aptos"/>
                <a:cs typeface="Aptos"/>
              </a:defRPr>
            </a:pPr>
            <a:r>
              <a:rPr sz="675" b="1">
                <a:solidFill>
                  <a:srgbClr val="B9D94A"/>
                </a:solidFill>
                <a:latin typeface="Aptos"/>
                <a:ea typeface="Aptos"/>
                <a:cs typeface="Aptos"/>
              </a:rPr>
              <a:t>SCALABILITÀ</a:t>
            </a:r>
          </a:p>
        </p:txBody>
      </p:sp>
      <p:sp>
        <p:nvSpPr>
          <p:cNvPr id="37" name="Rectangle 36">
            <a:extLst>
              <a:ext uri="{FF2B5EF4-FFF2-40B4-BE49-F238E27FC236}">
                <a16:creationId xmlns:a16="http://schemas.microsoft.com/office/drawing/2014/main" id="{E198910C-EE20-41DB-95B7-048B21293C78}"/>
              </a:ext>
            </a:extLst>
          </p:cNvPr>
          <p:cNvSpPr>
            <a:spLocks noGrp="1"/>
          </p:cNvSpPr>
          <p:nvPr/>
        </p:nvSpPr>
        <p:spPr>
          <a:xfrm>
            <a:off x="7943850" y="4305300"/>
            <a:ext cx="3143250" cy="819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FFFFF"/>
                </a:solidFill>
                <a:latin typeface="Georgia"/>
                <a:ea typeface="Georgia"/>
                <a:cs typeface="Georgia"/>
              </a:defRPr>
            </a:pPr>
            <a:r>
              <a:rPr sz="1050" b="1">
                <a:solidFill>
                  <a:srgbClr val="FFFFFF"/>
                </a:solidFill>
                <a:latin typeface="Georgia"/>
                <a:ea typeface="Georgia"/>
                <a:cs typeface="Georgia"/>
              </a:rPr>
              <a:t>SQLite → PostgreSQL; file locali → object storage; auth e job asincroni</a:t>
            </a:r>
          </a:p>
        </p:txBody>
      </p:sp>
      <p:sp>
        <p:nvSpPr>
          <p:cNvPr id="38" name="Rectangle: Rounded Corners 37">
            <a:extLst>
              <a:ext uri="{FF2B5EF4-FFF2-40B4-BE49-F238E27FC236}">
                <a16:creationId xmlns:a16="http://schemas.microsoft.com/office/drawing/2014/main" id="{E8A68D2E-A6E2-4EC1-A9D5-0CA43895FB1A}"/>
              </a:ext>
            </a:extLst>
          </p:cNvPr>
          <p:cNvSpPr>
            <a:spLocks noGrp="1"/>
          </p:cNvSpPr>
          <p:nvPr/>
        </p:nvSpPr>
        <p:spPr>
          <a:xfrm>
            <a:off x="552450" y="5581650"/>
            <a:ext cx="11087100" cy="400050"/>
          </a:xfrm>
          <a:prstGeom prst="roundRect">
            <a:avLst>
              <a:gd name="adj" fmla="val 19048"/>
            </a:avLst>
          </a:prstGeom>
          <a:solidFill>
            <a:srgbClr val="F4F0E7"/>
          </a:solidFill>
          <a:ln w="0">
            <a:solidFill>
              <a:srgbClr val="000000">
                <a:alpha val="0"/>
              </a:srgbClr>
            </a:solidFill>
            <a:prstDash val="solid"/>
          </a:ln>
        </p:spPr>
        <p:txBody>
          <a:bodyPr/>
          <a:lstStyle/>
          <a:p>
            <a:endParaRPr lang="en-US"/>
          </a:p>
        </p:txBody>
      </p:sp>
      <p:sp>
        <p:nvSpPr>
          <p:cNvPr id="39" name="Rectangle 38">
            <a:extLst>
              <a:ext uri="{FF2B5EF4-FFF2-40B4-BE49-F238E27FC236}">
                <a16:creationId xmlns:a16="http://schemas.microsoft.com/office/drawing/2014/main" id="{069B16DD-307C-4C03-9025-861DA5D591B4}"/>
              </a:ext>
            </a:extLst>
          </p:cNvPr>
          <p:cNvSpPr>
            <a:spLocks noGrp="1"/>
          </p:cNvSpPr>
          <p:nvPr/>
        </p:nvSpPr>
        <p:spPr>
          <a:xfrm>
            <a:off x="781050" y="5667375"/>
            <a:ext cx="106299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0">
                <a:solidFill>
                  <a:srgbClr val="123C31"/>
                </a:solidFill>
                <a:latin typeface="Aptos"/>
                <a:ea typeface="Aptos"/>
                <a:cs typeface="Aptos"/>
              </a:defRPr>
            </a:pPr>
            <a:r>
              <a:rPr sz="825" b="0">
                <a:solidFill>
                  <a:srgbClr val="123C31"/>
                </a:solidFill>
                <a:latin typeface="Aptos"/>
                <a:ea typeface="Aptos"/>
                <a:cs typeface="Aptos"/>
              </a:rPr>
              <a:t>Versione smartphone: PWA prima; wrapper o app nativa solo se camera, push e offline lo richiedono.</a:t>
            </a:r>
          </a:p>
        </p:txBody>
      </p:sp>
      <p:sp>
        <p:nvSpPr>
          <p:cNvPr id="40" name="Rectangle 39">
            <a:extLst>
              <a:ext uri="{FF2B5EF4-FFF2-40B4-BE49-F238E27FC236}">
                <a16:creationId xmlns:a16="http://schemas.microsoft.com/office/drawing/2014/main" id="{DCB8D03E-0F93-4DCC-9337-709973B453FF}"/>
              </a:ext>
            </a:extLst>
          </p:cNvPr>
          <p:cNvSpPr>
            <a:spLocks noGrp="1"/>
          </p:cNvSpPr>
          <p:nvPr/>
        </p:nvSpPr>
        <p:spPr>
          <a:xfrm>
            <a:off x="552450" y="6419850"/>
            <a:ext cx="11087100" cy="9525"/>
          </a:xfrm>
          <a:prstGeom prst="rect">
            <a:avLst/>
          </a:prstGeom>
          <a:solidFill>
            <a:srgbClr val="3F685A"/>
          </a:solidFill>
          <a:ln w="0">
            <a:solidFill>
              <a:srgbClr val="000000">
                <a:alpha val="0"/>
              </a:srgbClr>
            </a:solidFill>
            <a:prstDash val="solid"/>
          </a:ln>
        </p:spPr>
        <p:txBody>
          <a:bodyPr/>
          <a:lstStyle/>
          <a:p>
            <a:endParaRPr lang="en-US"/>
          </a:p>
        </p:txBody>
      </p:sp>
      <p:sp>
        <p:nvSpPr>
          <p:cNvPr id="41" name="Rectangle 40">
            <a:extLst>
              <a:ext uri="{FF2B5EF4-FFF2-40B4-BE49-F238E27FC236}">
                <a16:creationId xmlns:a16="http://schemas.microsoft.com/office/drawing/2014/main" id="{CCAC9787-2C38-40ED-ACB9-9648433E6759}"/>
              </a:ext>
            </a:extLst>
          </p:cNvPr>
          <p:cNvSpPr>
            <a:spLocks noGrp="1"/>
          </p:cNvSpPr>
          <p:nvPr/>
        </p:nvSpPr>
        <p:spPr>
          <a:xfrm>
            <a:off x="552450" y="6496050"/>
            <a:ext cx="100393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91AA9F"/>
                </a:solidFill>
                <a:latin typeface="Aptos"/>
                <a:ea typeface="Aptos"/>
                <a:cs typeface="Aptos"/>
              </a:defRPr>
            </a:pPr>
            <a:r>
              <a:rPr sz="563" b="0">
                <a:solidFill>
                  <a:srgbClr val="91AA9F"/>
                </a:solidFill>
                <a:latin typeface="Aptos"/>
                <a:ea typeface="Aptos"/>
                <a:cs typeface="Aptos"/>
              </a:rPr>
              <a:t>Architettura logica · prima della produzione: autenticazione, isolamento utenti, storage sicuro e GDPR</a:t>
            </a:r>
          </a:p>
        </p:txBody>
      </p:sp>
      <p:sp>
        <p:nvSpPr>
          <p:cNvPr id="42" name="Rectangle 41">
            <a:extLst>
              <a:ext uri="{FF2B5EF4-FFF2-40B4-BE49-F238E27FC236}">
                <a16:creationId xmlns:a16="http://schemas.microsoft.com/office/drawing/2014/main" id="{954D9E2C-66C4-4A7E-A27E-68BDFA7B781C}"/>
              </a:ext>
            </a:extLst>
          </p:cNvPr>
          <p:cNvSpPr>
            <a:spLocks noGrp="1"/>
          </p:cNvSpPr>
          <p:nvPr/>
        </p:nvSpPr>
        <p:spPr>
          <a:xfrm>
            <a:off x="11049000" y="6477000"/>
            <a:ext cx="590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91AA9F"/>
                </a:solidFill>
                <a:latin typeface="Georgia"/>
                <a:ea typeface="Georgia"/>
                <a:cs typeface="Georgia"/>
              </a:defRPr>
            </a:pPr>
            <a:r>
              <a:rPr sz="750" b="1">
                <a:solidFill>
                  <a:srgbClr val="91AA9F"/>
                </a:solidFill>
                <a:latin typeface="Georgia"/>
                <a:ea typeface="Georgia"/>
                <a:cs typeface="Georgia"/>
              </a:rPr>
              <a:t>16</a:t>
            </a:r>
          </a:p>
        </p:txBody>
      </p:sp>
    </p:spTree>
    <p:extLst>
      <p:ext uri="{BB962C8B-B14F-4D97-AF65-F5344CB8AC3E}">
        <p14:creationId xmlns:p14="http://schemas.microsoft.com/office/powerpoint/2010/main" val="16263656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background">
            <a:extLst>
              <a:ext uri="{FF2B5EF4-FFF2-40B4-BE49-F238E27FC236}">
                <a16:creationId xmlns:a16="http://schemas.microsoft.com/office/drawing/2014/main" id="{833A1042-BEF1-4D98-BEF4-943F70A5620D}"/>
              </a:ext>
            </a:extLst>
          </p:cNvPr>
          <p:cNvSpPr>
            <a:spLocks noGrp="1"/>
          </p:cNvSpPr>
          <p:nvPr/>
        </p:nvSpPr>
        <p:spPr>
          <a:xfrm>
            <a:off x="0" y="0"/>
            <a:ext cx="12192000" cy="6858000"/>
          </a:xfrm>
          <a:prstGeom prst="rect">
            <a:avLst/>
          </a:prstGeom>
          <a:solidFill>
            <a:srgbClr val="F4F0E7"/>
          </a:solidFill>
          <a:ln w="0">
            <a:solidFill>
              <a:srgbClr val="000000">
                <a:alpha val="0"/>
              </a:srgbClr>
            </a:solidFill>
            <a:prstDash val="solid"/>
          </a:ln>
        </p:spPr>
        <p:txBody>
          <a:bodyPr/>
          <a:lstStyle/>
          <a:p>
            <a:endParaRPr lang="en-US"/>
          </a:p>
        </p:txBody>
      </p:sp>
      <p:sp>
        <p:nvSpPr>
          <p:cNvPr id="2" name="Oval 1">
            <a:extLst>
              <a:ext uri="{FF2B5EF4-FFF2-40B4-BE49-F238E27FC236}">
                <a16:creationId xmlns:a16="http://schemas.microsoft.com/office/drawing/2014/main" id="{4165FBBA-1EC2-4FAA-8027-8A48F6622ADC}"/>
              </a:ext>
            </a:extLst>
          </p:cNvPr>
          <p:cNvSpPr>
            <a:spLocks noGrp="1"/>
          </p:cNvSpPr>
          <p:nvPr/>
        </p:nvSpPr>
        <p:spPr>
          <a:xfrm>
            <a:off x="552450" y="409575"/>
            <a:ext cx="85725" cy="85725"/>
          </a:xfrm>
          <a:prstGeom prst="ellipse">
            <a:avLst/>
          </a:prstGeom>
          <a:solidFill>
            <a:srgbClr val="2F7D5B"/>
          </a:solidFill>
          <a:ln w="0">
            <a:solidFill>
              <a:srgbClr val="000000">
                <a:alpha val="0"/>
              </a:srgbClr>
            </a:solidFill>
            <a:prstDash val="solid"/>
          </a:ln>
        </p:spPr>
        <p:txBody>
          <a:bodyPr/>
          <a:lstStyle/>
          <a:p>
            <a:endParaRPr lang="en-US"/>
          </a:p>
        </p:txBody>
      </p:sp>
      <p:sp>
        <p:nvSpPr>
          <p:cNvPr id="3" name="Rectangle 2">
            <a:extLst>
              <a:ext uri="{FF2B5EF4-FFF2-40B4-BE49-F238E27FC236}">
                <a16:creationId xmlns:a16="http://schemas.microsoft.com/office/drawing/2014/main" id="{B8E4D770-4267-4634-869F-C8B5788EE80E}"/>
              </a:ext>
            </a:extLst>
          </p:cNvPr>
          <p:cNvSpPr>
            <a:spLocks noGrp="1"/>
          </p:cNvSpPr>
          <p:nvPr/>
        </p:nvSpPr>
        <p:spPr>
          <a:xfrm>
            <a:off x="742950" y="361950"/>
            <a:ext cx="6667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65736B"/>
                </a:solidFill>
                <a:latin typeface="Aptos"/>
                <a:ea typeface="Aptos"/>
                <a:cs typeface="Aptos"/>
              </a:defRPr>
            </a:pPr>
            <a:r>
              <a:rPr sz="638" b="1">
                <a:solidFill>
                  <a:srgbClr val="65736B"/>
                </a:solidFill>
                <a:latin typeface="Aptos"/>
                <a:ea typeface="Aptos"/>
                <a:cs typeface="Aptos"/>
              </a:rPr>
              <a:t>A N A L I S I   D I   S O S T E N I B I L I T À   ·   C O N S E G N A   U F F I C I A L E</a:t>
            </a:r>
          </a:p>
        </p:txBody>
      </p:sp>
      <p:sp>
        <p:nvSpPr>
          <p:cNvPr id="4" name="claim-title">
            <a:extLst>
              <a:ext uri="{FF2B5EF4-FFF2-40B4-BE49-F238E27FC236}">
                <a16:creationId xmlns:a16="http://schemas.microsoft.com/office/drawing/2014/main" id="{E72514C3-E1DE-4A30-B36F-C6434F27C03B}"/>
              </a:ext>
            </a:extLst>
          </p:cNvPr>
          <p:cNvSpPr>
            <a:spLocks noGrp="1"/>
          </p:cNvSpPr>
          <p:nvPr/>
        </p:nvSpPr>
        <p:spPr>
          <a:xfrm>
            <a:off x="552450" y="742950"/>
            <a:ext cx="8953500" cy="1066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3000" b="1">
                <a:solidFill>
                  <a:srgbClr val="17211D"/>
                </a:solidFill>
                <a:latin typeface="Georgia"/>
                <a:ea typeface="Georgia"/>
                <a:cs typeface="Georgia"/>
              </a:defRPr>
            </a:pPr>
            <a:r>
              <a:rPr sz="3000" b="1">
                <a:solidFill>
                  <a:srgbClr val="17211D"/>
                </a:solidFill>
                <a:latin typeface="Georgia"/>
                <a:ea typeface="Georgia"/>
                <a:cs typeface="Georgia"/>
              </a:rPr>
              <a:t>La sostenibilità è un bilancio, non uno slogan.</a:t>
            </a:r>
          </a:p>
        </p:txBody>
      </p:sp>
      <p:sp>
        <p:nvSpPr>
          <p:cNvPr id="5" name="Rectangle: Rounded Corners 4">
            <a:extLst>
              <a:ext uri="{FF2B5EF4-FFF2-40B4-BE49-F238E27FC236}">
                <a16:creationId xmlns:a16="http://schemas.microsoft.com/office/drawing/2014/main" id="{5821345D-7EDA-4682-B8EA-FE5C16F5A801}"/>
              </a:ext>
            </a:extLst>
          </p:cNvPr>
          <p:cNvSpPr>
            <a:spLocks noGrp="1"/>
          </p:cNvSpPr>
          <p:nvPr/>
        </p:nvSpPr>
        <p:spPr>
          <a:xfrm>
            <a:off x="552450" y="1924050"/>
            <a:ext cx="4953000" cy="3009900"/>
          </a:xfrm>
          <a:prstGeom prst="roundRect">
            <a:avLst>
              <a:gd name="adj" fmla="val 2532"/>
            </a:avLst>
          </a:prstGeom>
          <a:solidFill>
            <a:srgbClr val="FFFFFF"/>
          </a:solidFill>
          <a:ln w="9525">
            <a:solidFill>
              <a:srgbClr val="B9C3BB"/>
            </a:solidFill>
            <a:prstDash val="solid"/>
          </a:ln>
        </p:spPr>
        <p:txBody>
          <a:bodyPr/>
          <a:lstStyle/>
          <a:p>
            <a:endParaRPr lang="en-US"/>
          </a:p>
        </p:txBody>
      </p:sp>
      <p:sp>
        <p:nvSpPr>
          <p:cNvPr id="6" name="Rectangle 5">
            <a:extLst>
              <a:ext uri="{FF2B5EF4-FFF2-40B4-BE49-F238E27FC236}">
                <a16:creationId xmlns:a16="http://schemas.microsoft.com/office/drawing/2014/main" id="{DE86598A-52F2-454F-9C70-0A9E180F05B3}"/>
              </a:ext>
            </a:extLst>
          </p:cNvPr>
          <p:cNvSpPr>
            <a:spLocks noGrp="1"/>
          </p:cNvSpPr>
          <p:nvPr/>
        </p:nvSpPr>
        <p:spPr>
          <a:xfrm>
            <a:off x="800100" y="2152650"/>
            <a:ext cx="2286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2F7D5B"/>
                </a:solidFill>
                <a:latin typeface="Aptos"/>
                <a:ea typeface="Aptos"/>
                <a:cs typeface="Aptos"/>
              </a:defRPr>
            </a:pPr>
            <a:r>
              <a:rPr sz="675" b="1">
                <a:solidFill>
                  <a:srgbClr val="2F7D5B"/>
                </a:solidFill>
                <a:latin typeface="Aptos"/>
                <a:ea typeface="Aptos"/>
                <a:cs typeface="Aptos"/>
              </a:rPr>
              <a:t>BENEFICIO POTENZIALE</a:t>
            </a:r>
          </a:p>
        </p:txBody>
      </p:sp>
      <p:sp>
        <p:nvSpPr>
          <p:cNvPr id="7" name="Oval 6">
            <a:extLst>
              <a:ext uri="{FF2B5EF4-FFF2-40B4-BE49-F238E27FC236}">
                <a16:creationId xmlns:a16="http://schemas.microsoft.com/office/drawing/2014/main" id="{9D589D02-8D02-4E50-A0A5-A2EB05D32565}"/>
              </a:ext>
            </a:extLst>
          </p:cNvPr>
          <p:cNvSpPr>
            <a:spLocks noGrp="1"/>
          </p:cNvSpPr>
          <p:nvPr/>
        </p:nvSpPr>
        <p:spPr>
          <a:xfrm>
            <a:off x="800100" y="2609850"/>
            <a:ext cx="171450" cy="171450"/>
          </a:xfrm>
          <a:prstGeom prst="ellipse">
            <a:avLst/>
          </a:prstGeom>
          <a:solidFill>
            <a:srgbClr val="2F7D5B"/>
          </a:solidFill>
          <a:ln w="0">
            <a:solidFill>
              <a:srgbClr val="000000">
                <a:alpha val="0"/>
              </a:srgbClr>
            </a:solidFill>
            <a:prstDash val="solid"/>
          </a:ln>
        </p:spPr>
        <p:txBody>
          <a:bodyPr/>
          <a:lstStyle/>
          <a:p>
            <a:endParaRPr lang="en-US"/>
          </a:p>
        </p:txBody>
      </p:sp>
      <p:sp>
        <p:nvSpPr>
          <p:cNvPr id="8" name="Rectangle 7">
            <a:extLst>
              <a:ext uri="{FF2B5EF4-FFF2-40B4-BE49-F238E27FC236}">
                <a16:creationId xmlns:a16="http://schemas.microsoft.com/office/drawing/2014/main" id="{21AF9A51-2309-46E3-A92D-B9574DA5EDF3}"/>
              </a:ext>
            </a:extLst>
          </p:cNvPr>
          <p:cNvSpPr>
            <a:spLocks noGrp="1"/>
          </p:cNvSpPr>
          <p:nvPr/>
        </p:nvSpPr>
        <p:spPr>
          <a:xfrm>
            <a:off x="800100" y="2609850"/>
            <a:ext cx="1714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1">
                <a:solidFill>
                  <a:srgbClr val="FFFFFF"/>
                </a:solidFill>
                <a:latin typeface="Aptos"/>
                <a:ea typeface="Aptos"/>
                <a:cs typeface="Aptos"/>
              </a:defRPr>
            </a:pPr>
            <a:r>
              <a:rPr sz="750" b="1">
                <a:solidFill>
                  <a:srgbClr val="FFFFFF"/>
                </a:solidFill>
                <a:latin typeface="Aptos"/>
                <a:ea typeface="Aptos"/>
                <a:cs typeface="Aptos"/>
              </a:rPr>
              <a:t>+</a:t>
            </a:r>
          </a:p>
        </p:txBody>
      </p:sp>
      <p:sp>
        <p:nvSpPr>
          <p:cNvPr id="9" name="Rectangle 8">
            <a:extLst>
              <a:ext uri="{FF2B5EF4-FFF2-40B4-BE49-F238E27FC236}">
                <a16:creationId xmlns:a16="http://schemas.microsoft.com/office/drawing/2014/main" id="{655D1528-B0FD-44CC-9094-89E071E084D7}"/>
              </a:ext>
            </a:extLst>
          </p:cNvPr>
          <p:cNvSpPr>
            <a:spLocks noGrp="1"/>
          </p:cNvSpPr>
          <p:nvPr/>
        </p:nvSpPr>
        <p:spPr>
          <a:xfrm>
            <a:off x="1104900" y="2571750"/>
            <a:ext cx="3714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17211D"/>
                </a:solidFill>
                <a:latin typeface="Georgia"/>
                <a:ea typeface="Georgia"/>
                <a:cs typeface="Georgia"/>
              </a:defRPr>
            </a:pPr>
            <a:r>
              <a:rPr sz="975" b="1">
                <a:solidFill>
                  <a:srgbClr val="17211D"/>
                </a:solidFill>
                <a:latin typeface="Georgia"/>
                <a:ea typeface="Georgia"/>
                <a:cs typeface="Georgia"/>
              </a:rPr>
              <a:t>più riuso e rotazione</a:t>
            </a:r>
          </a:p>
        </p:txBody>
      </p:sp>
      <p:sp>
        <p:nvSpPr>
          <p:cNvPr id="10" name="Oval 9">
            <a:extLst>
              <a:ext uri="{FF2B5EF4-FFF2-40B4-BE49-F238E27FC236}">
                <a16:creationId xmlns:a16="http://schemas.microsoft.com/office/drawing/2014/main" id="{4FFF7A4C-C50A-4A23-964F-D4CD272F1254}"/>
              </a:ext>
            </a:extLst>
          </p:cNvPr>
          <p:cNvSpPr>
            <a:spLocks noGrp="1"/>
          </p:cNvSpPr>
          <p:nvPr/>
        </p:nvSpPr>
        <p:spPr>
          <a:xfrm>
            <a:off x="800100" y="3086100"/>
            <a:ext cx="171450" cy="171450"/>
          </a:xfrm>
          <a:prstGeom prst="ellipse">
            <a:avLst/>
          </a:prstGeom>
          <a:solidFill>
            <a:srgbClr val="2F7D5B"/>
          </a:solidFill>
          <a:ln w="0">
            <a:solidFill>
              <a:srgbClr val="000000">
                <a:alpha val="0"/>
              </a:srgbClr>
            </a:solidFill>
            <a:prstDash val="solid"/>
          </a:ln>
        </p:spPr>
        <p:txBody>
          <a:bodyPr/>
          <a:lstStyle/>
          <a:p>
            <a:endParaRPr lang="en-US"/>
          </a:p>
        </p:txBody>
      </p:sp>
      <p:sp>
        <p:nvSpPr>
          <p:cNvPr id="11" name="Rectangle 10">
            <a:extLst>
              <a:ext uri="{FF2B5EF4-FFF2-40B4-BE49-F238E27FC236}">
                <a16:creationId xmlns:a16="http://schemas.microsoft.com/office/drawing/2014/main" id="{F6851E33-D852-421F-AD29-D5830B10A1E5}"/>
              </a:ext>
            </a:extLst>
          </p:cNvPr>
          <p:cNvSpPr>
            <a:spLocks noGrp="1"/>
          </p:cNvSpPr>
          <p:nvPr/>
        </p:nvSpPr>
        <p:spPr>
          <a:xfrm>
            <a:off x="800100" y="3086100"/>
            <a:ext cx="1714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1">
                <a:solidFill>
                  <a:srgbClr val="FFFFFF"/>
                </a:solidFill>
                <a:latin typeface="Aptos"/>
                <a:ea typeface="Aptos"/>
                <a:cs typeface="Aptos"/>
              </a:defRPr>
            </a:pPr>
            <a:r>
              <a:rPr sz="750" b="1">
                <a:solidFill>
                  <a:srgbClr val="FFFFFF"/>
                </a:solidFill>
                <a:latin typeface="Aptos"/>
                <a:ea typeface="Aptos"/>
                <a:cs typeface="Aptos"/>
              </a:rPr>
              <a:t>+</a:t>
            </a:r>
          </a:p>
        </p:txBody>
      </p:sp>
      <p:sp>
        <p:nvSpPr>
          <p:cNvPr id="12" name="Rectangle 11">
            <a:extLst>
              <a:ext uri="{FF2B5EF4-FFF2-40B4-BE49-F238E27FC236}">
                <a16:creationId xmlns:a16="http://schemas.microsoft.com/office/drawing/2014/main" id="{36703001-5A38-41C9-8A6A-7803ACDF166B}"/>
              </a:ext>
            </a:extLst>
          </p:cNvPr>
          <p:cNvSpPr>
            <a:spLocks noGrp="1"/>
          </p:cNvSpPr>
          <p:nvPr/>
        </p:nvSpPr>
        <p:spPr>
          <a:xfrm>
            <a:off x="1104900" y="3048000"/>
            <a:ext cx="3714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17211D"/>
                </a:solidFill>
                <a:latin typeface="Georgia"/>
                <a:ea typeface="Georgia"/>
                <a:cs typeface="Georgia"/>
              </a:defRPr>
            </a:pPr>
            <a:r>
              <a:rPr sz="975" b="1">
                <a:solidFill>
                  <a:srgbClr val="17211D"/>
                </a:solidFill>
                <a:latin typeface="Georgia"/>
                <a:ea typeface="Georgia"/>
                <a:cs typeface="Georgia"/>
              </a:rPr>
              <a:t>cura prima della sostituzione</a:t>
            </a:r>
          </a:p>
        </p:txBody>
      </p:sp>
      <p:sp>
        <p:nvSpPr>
          <p:cNvPr id="13" name="Oval 12">
            <a:extLst>
              <a:ext uri="{FF2B5EF4-FFF2-40B4-BE49-F238E27FC236}">
                <a16:creationId xmlns:a16="http://schemas.microsoft.com/office/drawing/2014/main" id="{CF916543-57E3-4437-B84A-AA5E1F298BFD}"/>
              </a:ext>
            </a:extLst>
          </p:cNvPr>
          <p:cNvSpPr>
            <a:spLocks noGrp="1"/>
          </p:cNvSpPr>
          <p:nvPr/>
        </p:nvSpPr>
        <p:spPr>
          <a:xfrm>
            <a:off x="800100" y="3562350"/>
            <a:ext cx="171450" cy="171450"/>
          </a:xfrm>
          <a:prstGeom prst="ellipse">
            <a:avLst/>
          </a:prstGeom>
          <a:solidFill>
            <a:srgbClr val="2F7D5B"/>
          </a:solidFill>
          <a:ln w="0">
            <a:solidFill>
              <a:srgbClr val="000000">
                <a:alpha val="0"/>
              </a:srgbClr>
            </a:solidFill>
            <a:prstDash val="solid"/>
          </a:ln>
        </p:spPr>
        <p:txBody>
          <a:bodyPr/>
          <a:lstStyle/>
          <a:p>
            <a:endParaRPr lang="en-US"/>
          </a:p>
        </p:txBody>
      </p:sp>
      <p:sp>
        <p:nvSpPr>
          <p:cNvPr id="14" name="Rectangle 13">
            <a:extLst>
              <a:ext uri="{FF2B5EF4-FFF2-40B4-BE49-F238E27FC236}">
                <a16:creationId xmlns:a16="http://schemas.microsoft.com/office/drawing/2014/main" id="{020558CD-B2BF-4EC3-B3B3-BCB79F83E7E5}"/>
              </a:ext>
            </a:extLst>
          </p:cNvPr>
          <p:cNvSpPr>
            <a:spLocks noGrp="1"/>
          </p:cNvSpPr>
          <p:nvPr/>
        </p:nvSpPr>
        <p:spPr>
          <a:xfrm>
            <a:off x="800100" y="3562350"/>
            <a:ext cx="1714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1">
                <a:solidFill>
                  <a:srgbClr val="FFFFFF"/>
                </a:solidFill>
                <a:latin typeface="Aptos"/>
                <a:ea typeface="Aptos"/>
                <a:cs typeface="Aptos"/>
              </a:defRPr>
            </a:pPr>
            <a:r>
              <a:rPr sz="750" b="1">
                <a:solidFill>
                  <a:srgbClr val="FFFFFF"/>
                </a:solidFill>
                <a:latin typeface="Aptos"/>
                <a:ea typeface="Aptos"/>
                <a:cs typeface="Aptos"/>
              </a:rPr>
              <a:t>+</a:t>
            </a:r>
          </a:p>
        </p:txBody>
      </p:sp>
      <p:sp>
        <p:nvSpPr>
          <p:cNvPr id="15" name="Rectangle 14">
            <a:extLst>
              <a:ext uri="{FF2B5EF4-FFF2-40B4-BE49-F238E27FC236}">
                <a16:creationId xmlns:a16="http://schemas.microsoft.com/office/drawing/2014/main" id="{A5FDD614-B76F-4982-A420-B4575F15F85F}"/>
              </a:ext>
            </a:extLst>
          </p:cNvPr>
          <p:cNvSpPr>
            <a:spLocks noGrp="1"/>
          </p:cNvSpPr>
          <p:nvPr/>
        </p:nvSpPr>
        <p:spPr>
          <a:xfrm>
            <a:off x="1104900" y="3524250"/>
            <a:ext cx="3714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17211D"/>
                </a:solidFill>
                <a:latin typeface="Georgia"/>
                <a:ea typeface="Georgia"/>
                <a:cs typeface="Georgia"/>
              </a:defRPr>
            </a:pPr>
            <a:r>
              <a:rPr sz="975" b="1">
                <a:solidFill>
                  <a:srgbClr val="17211D"/>
                </a:solidFill>
                <a:latin typeface="Georgia"/>
                <a:ea typeface="Georgia"/>
                <a:cs typeface="Georgia"/>
              </a:rPr>
              <a:t>meno acquisti non necessari</a:t>
            </a:r>
          </a:p>
        </p:txBody>
      </p:sp>
      <p:sp>
        <p:nvSpPr>
          <p:cNvPr id="16" name="Oval 15">
            <a:extLst>
              <a:ext uri="{FF2B5EF4-FFF2-40B4-BE49-F238E27FC236}">
                <a16:creationId xmlns:a16="http://schemas.microsoft.com/office/drawing/2014/main" id="{C1DFA352-FE9C-40A9-A16A-78C3CE2B8011}"/>
              </a:ext>
            </a:extLst>
          </p:cNvPr>
          <p:cNvSpPr>
            <a:spLocks noGrp="1"/>
          </p:cNvSpPr>
          <p:nvPr/>
        </p:nvSpPr>
        <p:spPr>
          <a:xfrm>
            <a:off x="800100" y="4038600"/>
            <a:ext cx="171450" cy="171450"/>
          </a:xfrm>
          <a:prstGeom prst="ellipse">
            <a:avLst/>
          </a:prstGeom>
          <a:solidFill>
            <a:srgbClr val="2F7D5B"/>
          </a:solidFill>
          <a:ln w="0">
            <a:solidFill>
              <a:srgbClr val="000000">
                <a:alpha val="0"/>
              </a:srgbClr>
            </a:solidFill>
            <a:prstDash val="solid"/>
          </a:ln>
        </p:spPr>
        <p:txBody>
          <a:bodyPr/>
          <a:lstStyle/>
          <a:p>
            <a:endParaRPr lang="en-US"/>
          </a:p>
        </p:txBody>
      </p:sp>
      <p:sp>
        <p:nvSpPr>
          <p:cNvPr id="17" name="Rectangle 16">
            <a:extLst>
              <a:ext uri="{FF2B5EF4-FFF2-40B4-BE49-F238E27FC236}">
                <a16:creationId xmlns:a16="http://schemas.microsoft.com/office/drawing/2014/main" id="{6902B0E9-1BDE-466F-9291-952A964CD92F}"/>
              </a:ext>
            </a:extLst>
          </p:cNvPr>
          <p:cNvSpPr>
            <a:spLocks noGrp="1"/>
          </p:cNvSpPr>
          <p:nvPr/>
        </p:nvSpPr>
        <p:spPr>
          <a:xfrm>
            <a:off x="800100" y="4038600"/>
            <a:ext cx="1714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1">
                <a:solidFill>
                  <a:srgbClr val="FFFFFF"/>
                </a:solidFill>
                <a:latin typeface="Aptos"/>
                <a:ea typeface="Aptos"/>
                <a:cs typeface="Aptos"/>
              </a:defRPr>
            </a:pPr>
            <a:r>
              <a:rPr sz="750" b="1">
                <a:solidFill>
                  <a:srgbClr val="FFFFFF"/>
                </a:solidFill>
                <a:latin typeface="Aptos"/>
                <a:ea typeface="Aptos"/>
                <a:cs typeface="Aptos"/>
              </a:rPr>
              <a:t>+</a:t>
            </a:r>
          </a:p>
        </p:txBody>
      </p:sp>
      <p:sp>
        <p:nvSpPr>
          <p:cNvPr id="18" name="Rectangle 17">
            <a:extLst>
              <a:ext uri="{FF2B5EF4-FFF2-40B4-BE49-F238E27FC236}">
                <a16:creationId xmlns:a16="http://schemas.microsoft.com/office/drawing/2014/main" id="{BDA8A82E-6BB2-406A-A026-C6DDE94E77DC}"/>
              </a:ext>
            </a:extLst>
          </p:cNvPr>
          <p:cNvSpPr>
            <a:spLocks noGrp="1"/>
          </p:cNvSpPr>
          <p:nvPr/>
        </p:nvSpPr>
        <p:spPr>
          <a:xfrm>
            <a:off x="1104900" y="4000500"/>
            <a:ext cx="3714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17211D"/>
                </a:solidFill>
                <a:latin typeface="Georgia"/>
                <a:ea typeface="Georgia"/>
                <a:cs typeface="Georgia"/>
              </a:defRPr>
            </a:pPr>
            <a:r>
              <a:rPr sz="975" b="1">
                <a:solidFill>
                  <a:srgbClr val="17211D"/>
                </a:solidFill>
                <a:latin typeface="Georgia"/>
                <a:ea typeface="Georgia"/>
                <a:cs typeface="Georgia"/>
              </a:rPr>
              <a:t>seconda vita documentata</a:t>
            </a:r>
          </a:p>
        </p:txBody>
      </p:sp>
      <p:sp>
        <p:nvSpPr>
          <p:cNvPr id="19" name="Rectangle 18">
            <a:extLst>
              <a:ext uri="{FF2B5EF4-FFF2-40B4-BE49-F238E27FC236}">
                <a16:creationId xmlns:a16="http://schemas.microsoft.com/office/drawing/2014/main" id="{ED76286C-BAF9-4BB5-8C03-C94D1062F9B0}"/>
              </a:ext>
            </a:extLst>
          </p:cNvPr>
          <p:cNvSpPr>
            <a:spLocks noGrp="1"/>
          </p:cNvSpPr>
          <p:nvPr/>
        </p:nvSpPr>
        <p:spPr>
          <a:xfrm>
            <a:off x="800100" y="4343400"/>
            <a:ext cx="4229100" cy="9525"/>
          </a:xfrm>
          <a:prstGeom prst="rect">
            <a:avLst/>
          </a:prstGeom>
          <a:solidFill>
            <a:srgbClr val="B9C3BB"/>
          </a:solidFill>
          <a:ln w="0">
            <a:solidFill>
              <a:srgbClr val="000000">
                <a:alpha val="0"/>
              </a:srgbClr>
            </a:solidFill>
            <a:prstDash val="solid"/>
          </a:ln>
        </p:spPr>
        <p:txBody>
          <a:bodyPr/>
          <a:lstStyle/>
          <a:p>
            <a:endParaRPr lang="en-US"/>
          </a:p>
        </p:txBody>
      </p:sp>
      <p:sp>
        <p:nvSpPr>
          <p:cNvPr id="20" name="Rectangle 19">
            <a:extLst>
              <a:ext uri="{FF2B5EF4-FFF2-40B4-BE49-F238E27FC236}">
                <a16:creationId xmlns:a16="http://schemas.microsoft.com/office/drawing/2014/main" id="{59572432-1BC3-4B8C-A818-742B3D242B9F}"/>
              </a:ext>
            </a:extLst>
          </p:cNvPr>
          <p:cNvSpPr>
            <a:spLocks noGrp="1"/>
          </p:cNvSpPr>
          <p:nvPr/>
        </p:nvSpPr>
        <p:spPr>
          <a:xfrm>
            <a:off x="800100" y="4514850"/>
            <a:ext cx="11430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466D86"/>
                </a:solidFill>
                <a:latin typeface="Aptos"/>
                <a:ea typeface="Aptos"/>
                <a:cs typeface="Aptos"/>
              </a:defRPr>
            </a:pPr>
            <a:r>
              <a:rPr sz="638" b="1">
                <a:solidFill>
                  <a:srgbClr val="466D86"/>
                </a:solidFill>
                <a:latin typeface="Aptos"/>
                <a:ea typeface="Aptos"/>
                <a:cs typeface="Aptos"/>
              </a:rPr>
              <a:t>MITIGAZIONE</a:t>
            </a:r>
          </a:p>
        </p:txBody>
      </p:sp>
      <p:sp>
        <p:nvSpPr>
          <p:cNvPr id="21" name="Rectangle 20">
            <a:extLst>
              <a:ext uri="{FF2B5EF4-FFF2-40B4-BE49-F238E27FC236}">
                <a16:creationId xmlns:a16="http://schemas.microsoft.com/office/drawing/2014/main" id="{B6A8F840-6F92-44DC-A5C8-EC3AC749D61D}"/>
              </a:ext>
            </a:extLst>
          </p:cNvPr>
          <p:cNvSpPr>
            <a:spLocks noGrp="1"/>
          </p:cNvSpPr>
          <p:nvPr/>
        </p:nvSpPr>
        <p:spPr>
          <a:xfrm>
            <a:off x="2038350" y="4438650"/>
            <a:ext cx="29527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5736B"/>
                </a:solidFill>
                <a:latin typeface="Aptos"/>
                <a:ea typeface="Aptos"/>
                <a:cs typeface="Aptos"/>
              </a:defRPr>
            </a:pPr>
            <a:r>
              <a:rPr sz="750" b="0">
                <a:solidFill>
                  <a:srgbClr val="65736B"/>
                </a:solidFill>
                <a:latin typeface="Aptos"/>
                <a:ea typeface="Aptos"/>
                <a:cs typeface="Aptos"/>
              </a:rPr>
              <a:t>modelli piccoli, backbone congelato, inferenza locale e generazione opzionale</a:t>
            </a:r>
          </a:p>
        </p:txBody>
      </p:sp>
      <p:sp>
        <p:nvSpPr>
          <p:cNvPr id="22" name="Rectangle: Rounded Corners 21">
            <a:extLst>
              <a:ext uri="{FF2B5EF4-FFF2-40B4-BE49-F238E27FC236}">
                <a16:creationId xmlns:a16="http://schemas.microsoft.com/office/drawing/2014/main" id="{9F108A32-864E-4DDB-BCE1-4C8DFC194BA8}"/>
              </a:ext>
            </a:extLst>
          </p:cNvPr>
          <p:cNvSpPr>
            <a:spLocks noGrp="1"/>
          </p:cNvSpPr>
          <p:nvPr/>
        </p:nvSpPr>
        <p:spPr>
          <a:xfrm>
            <a:off x="5734050" y="1924050"/>
            <a:ext cx="2857500" cy="3009900"/>
          </a:xfrm>
          <a:prstGeom prst="roundRect">
            <a:avLst>
              <a:gd name="adj" fmla="val 2667"/>
            </a:avLst>
          </a:prstGeom>
          <a:solidFill>
            <a:srgbClr val="123C31"/>
          </a:solidFill>
          <a:ln w="9525">
            <a:solidFill>
              <a:srgbClr val="123C31"/>
            </a:solidFill>
            <a:prstDash val="solid"/>
          </a:ln>
        </p:spPr>
        <p:txBody>
          <a:bodyPr/>
          <a:lstStyle/>
          <a:p>
            <a:endParaRPr lang="en-US"/>
          </a:p>
        </p:txBody>
      </p:sp>
      <p:sp>
        <p:nvSpPr>
          <p:cNvPr id="23" name="Rectangle 22">
            <a:extLst>
              <a:ext uri="{FF2B5EF4-FFF2-40B4-BE49-F238E27FC236}">
                <a16:creationId xmlns:a16="http://schemas.microsoft.com/office/drawing/2014/main" id="{EBCBDC6B-11F5-455D-9D5D-7E149C68DBCA}"/>
              </a:ext>
            </a:extLst>
          </p:cNvPr>
          <p:cNvSpPr>
            <a:spLocks noGrp="1"/>
          </p:cNvSpPr>
          <p:nvPr/>
        </p:nvSpPr>
        <p:spPr>
          <a:xfrm>
            <a:off x="5981700" y="2152650"/>
            <a:ext cx="1905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B9D94A"/>
                </a:solidFill>
                <a:latin typeface="Aptos"/>
                <a:ea typeface="Aptos"/>
                <a:cs typeface="Aptos"/>
              </a:defRPr>
            </a:pPr>
            <a:r>
              <a:rPr sz="675" b="1">
                <a:solidFill>
                  <a:srgbClr val="B9D94A"/>
                </a:solidFill>
                <a:latin typeface="Aptos"/>
                <a:ea typeface="Aptos"/>
                <a:cs typeface="Aptos"/>
              </a:rPr>
              <a:t>COSTO DIGITALE</a:t>
            </a:r>
          </a:p>
        </p:txBody>
      </p:sp>
      <p:sp>
        <p:nvSpPr>
          <p:cNvPr id="24" name="Oval 23">
            <a:extLst>
              <a:ext uri="{FF2B5EF4-FFF2-40B4-BE49-F238E27FC236}">
                <a16:creationId xmlns:a16="http://schemas.microsoft.com/office/drawing/2014/main" id="{A4018FC8-5D20-48CC-A61C-9E7601C58CBB}"/>
              </a:ext>
            </a:extLst>
          </p:cNvPr>
          <p:cNvSpPr>
            <a:spLocks noGrp="1"/>
          </p:cNvSpPr>
          <p:nvPr/>
        </p:nvSpPr>
        <p:spPr>
          <a:xfrm>
            <a:off x="5981700" y="2609850"/>
            <a:ext cx="171450" cy="171450"/>
          </a:xfrm>
          <a:prstGeom prst="ellipse">
            <a:avLst/>
          </a:prstGeom>
          <a:solidFill>
            <a:srgbClr val="D56E42"/>
          </a:solidFill>
          <a:ln w="0">
            <a:solidFill>
              <a:srgbClr val="000000">
                <a:alpha val="0"/>
              </a:srgbClr>
            </a:solidFill>
            <a:prstDash val="solid"/>
          </a:ln>
        </p:spPr>
        <p:txBody>
          <a:bodyPr/>
          <a:lstStyle/>
          <a:p>
            <a:endParaRPr lang="en-US"/>
          </a:p>
        </p:txBody>
      </p:sp>
      <p:sp>
        <p:nvSpPr>
          <p:cNvPr id="25" name="Rectangle 24">
            <a:extLst>
              <a:ext uri="{FF2B5EF4-FFF2-40B4-BE49-F238E27FC236}">
                <a16:creationId xmlns:a16="http://schemas.microsoft.com/office/drawing/2014/main" id="{3DB7F747-9824-4729-9670-901FD0A8D3F4}"/>
              </a:ext>
            </a:extLst>
          </p:cNvPr>
          <p:cNvSpPr>
            <a:spLocks noGrp="1"/>
          </p:cNvSpPr>
          <p:nvPr/>
        </p:nvSpPr>
        <p:spPr>
          <a:xfrm>
            <a:off x="5981700" y="2600325"/>
            <a:ext cx="1714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1">
                <a:solidFill>
                  <a:srgbClr val="FFFFFF"/>
                </a:solidFill>
                <a:latin typeface="Aptos"/>
                <a:ea typeface="Aptos"/>
                <a:cs typeface="Aptos"/>
              </a:defRPr>
            </a:pPr>
            <a:r>
              <a:rPr sz="750" b="1">
                <a:solidFill>
                  <a:srgbClr val="FFFFFF"/>
                </a:solidFill>
                <a:latin typeface="Aptos"/>
                <a:ea typeface="Aptos"/>
                <a:cs typeface="Aptos"/>
              </a:rPr>
              <a:t>−</a:t>
            </a:r>
          </a:p>
        </p:txBody>
      </p:sp>
      <p:sp>
        <p:nvSpPr>
          <p:cNvPr id="26" name="Rectangle 25">
            <a:extLst>
              <a:ext uri="{FF2B5EF4-FFF2-40B4-BE49-F238E27FC236}">
                <a16:creationId xmlns:a16="http://schemas.microsoft.com/office/drawing/2014/main" id="{087111C8-DB76-4621-A140-9840E27CBC0B}"/>
              </a:ext>
            </a:extLst>
          </p:cNvPr>
          <p:cNvSpPr>
            <a:spLocks noGrp="1"/>
          </p:cNvSpPr>
          <p:nvPr/>
        </p:nvSpPr>
        <p:spPr>
          <a:xfrm>
            <a:off x="6286500" y="2571750"/>
            <a:ext cx="2000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FFFFFF"/>
                </a:solidFill>
                <a:latin typeface="Georgia"/>
                <a:ea typeface="Georgia"/>
                <a:cs typeface="Georgia"/>
              </a:defRPr>
            </a:pPr>
            <a:r>
              <a:rPr sz="975" b="1">
                <a:solidFill>
                  <a:srgbClr val="FFFFFF"/>
                </a:solidFill>
                <a:latin typeface="Georgia"/>
                <a:ea typeface="Georgia"/>
                <a:cs typeface="Georgia"/>
              </a:rPr>
              <a:t>training e inferenza</a:t>
            </a:r>
          </a:p>
        </p:txBody>
      </p:sp>
      <p:sp>
        <p:nvSpPr>
          <p:cNvPr id="27" name="Oval 26">
            <a:extLst>
              <a:ext uri="{FF2B5EF4-FFF2-40B4-BE49-F238E27FC236}">
                <a16:creationId xmlns:a16="http://schemas.microsoft.com/office/drawing/2014/main" id="{90D17169-7C18-4FA1-BD47-AB64DBF13271}"/>
              </a:ext>
            </a:extLst>
          </p:cNvPr>
          <p:cNvSpPr>
            <a:spLocks noGrp="1"/>
          </p:cNvSpPr>
          <p:nvPr/>
        </p:nvSpPr>
        <p:spPr>
          <a:xfrm>
            <a:off x="5981700" y="3086100"/>
            <a:ext cx="171450" cy="171450"/>
          </a:xfrm>
          <a:prstGeom prst="ellipse">
            <a:avLst/>
          </a:prstGeom>
          <a:solidFill>
            <a:srgbClr val="D56E42"/>
          </a:solidFill>
          <a:ln w="0">
            <a:solidFill>
              <a:srgbClr val="000000">
                <a:alpha val="0"/>
              </a:srgbClr>
            </a:solidFill>
            <a:prstDash val="solid"/>
          </a:ln>
        </p:spPr>
        <p:txBody>
          <a:bodyPr/>
          <a:lstStyle/>
          <a:p>
            <a:endParaRPr lang="en-US"/>
          </a:p>
        </p:txBody>
      </p:sp>
      <p:sp>
        <p:nvSpPr>
          <p:cNvPr id="28" name="Rectangle 27">
            <a:extLst>
              <a:ext uri="{FF2B5EF4-FFF2-40B4-BE49-F238E27FC236}">
                <a16:creationId xmlns:a16="http://schemas.microsoft.com/office/drawing/2014/main" id="{E73BC5DA-E694-481A-B12B-09E8ECBE0E99}"/>
              </a:ext>
            </a:extLst>
          </p:cNvPr>
          <p:cNvSpPr>
            <a:spLocks noGrp="1"/>
          </p:cNvSpPr>
          <p:nvPr/>
        </p:nvSpPr>
        <p:spPr>
          <a:xfrm>
            <a:off x="5981700" y="3076575"/>
            <a:ext cx="1714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1">
                <a:solidFill>
                  <a:srgbClr val="FFFFFF"/>
                </a:solidFill>
                <a:latin typeface="Aptos"/>
                <a:ea typeface="Aptos"/>
                <a:cs typeface="Aptos"/>
              </a:defRPr>
            </a:pPr>
            <a:r>
              <a:rPr sz="750" b="1">
                <a:solidFill>
                  <a:srgbClr val="FFFFFF"/>
                </a:solidFill>
                <a:latin typeface="Aptos"/>
                <a:ea typeface="Aptos"/>
                <a:cs typeface="Aptos"/>
              </a:rPr>
              <a:t>−</a:t>
            </a:r>
          </a:p>
        </p:txBody>
      </p:sp>
      <p:sp>
        <p:nvSpPr>
          <p:cNvPr id="29" name="Rectangle 28">
            <a:extLst>
              <a:ext uri="{FF2B5EF4-FFF2-40B4-BE49-F238E27FC236}">
                <a16:creationId xmlns:a16="http://schemas.microsoft.com/office/drawing/2014/main" id="{C50B794F-A66E-4B83-AFE3-5BF242D1EB3A}"/>
              </a:ext>
            </a:extLst>
          </p:cNvPr>
          <p:cNvSpPr>
            <a:spLocks noGrp="1"/>
          </p:cNvSpPr>
          <p:nvPr/>
        </p:nvSpPr>
        <p:spPr>
          <a:xfrm>
            <a:off x="6286500" y="3048000"/>
            <a:ext cx="2000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FFFFFF"/>
                </a:solidFill>
                <a:latin typeface="Georgia"/>
                <a:ea typeface="Georgia"/>
                <a:cs typeface="Georgia"/>
              </a:defRPr>
            </a:pPr>
            <a:r>
              <a:rPr sz="975" b="1">
                <a:solidFill>
                  <a:srgbClr val="FFFFFF"/>
                </a:solidFill>
                <a:latin typeface="Georgia"/>
                <a:ea typeface="Georgia"/>
                <a:cs typeface="Georgia"/>
              </a:rPr>
              <a:t>storage delle immagini</a:t>
            </a:r>
          </a:p>
        </p:txBody>
      </p:sp>
      <p:sp>
        <p:nvSpPr>
          <p:cNvPr id="30" name="Oval 29">
            <a:extLst>
              <a:ext uri="{FF2B5EF4-FFF2-40B4-BE49-F238E27FC236}">
                <a16:creationId xmlns:a16="http://schemas.microsoft.com/office/drawing/2014/main" id="{D881C8B1-0AAB-45C2-B92F-72B7CDF8BB00}"/>
              </a:ext>
            </a:extLst>
          </p:cNvPr>
          <p:cNvSpPr>
            <a:spLocks noGrp="1"/>
          </p:cNvSpPr>
          <p:nvPr/>
        </p:nvSpPr>
        <p:spPr>
          <a:xfrm>
            <a:off x="5981700" y="3562350"/>
            <a:ext cx="171450" cy="171450"/>
          </a:xfrm>
          <a:prstGeom prst="ellipse">
            <a:avLst/>
          </a:prstGeom>
          <a:solidFill>
            <a:srgbClr val="D56E42"/>
          </a:solidFill>
          <a:ln w="0">
            <a:solidFill>
              <a:srgbClr val="000000">
                <a:alpha val="0"/>
              </a:srgbClr>
            </a:solidFill>
            <a:prstDash val="solid"/>
          </a:ln>
        </p:spPr>
        <p:txBody>
          <a:bodyPr/>
          <a:lstStyle/>
          <a:p>
            <a:endParaRPr lang="en-US"/>
          </a:p>
        </p:txBody>
      </p:sp>
      <p:sp>
        <p:nvSpPr>
          <p:cNvPr id="31" name="Rectangle 30">
            <a:extLst>
              <a:ext uri="{FF2B5EF4-FFF2-40B4-BE49-F238E27FC236}">
                <a16:creationId xmlns:a16="http://schemas.microsoft.com/office/drawing/2014/main" id="{1FE6C278-319F-4E7A-98D0-0B86350944EF}"/>
              </a:ext>
            </a:extLst>
          </p:cNvPr>
          <p:cNvSpPr>
            <a:spLocks noGrp="1"/>
          </p:cNvSpPr>
          <p:nvPr/>
        </p:nvSpPr>
        <p:spPr>
          <a:xfrm>
            <a:off x="5981700" y="3552825"/>
            <a:ext cx="1714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1">
                <a:solidFill>
                  <a:srgbClr val="FFFFFF"/>
                </a:solidFill>
                <a:latin typeface="Aptos"/>
                <a:ea typeface="Aptos"/>
                <a:cs typeface="Aptos"/>
              </a:defRPr>
            </a:pPr>
            <a:r>
              <a:rPr sz="750" b="1">
                <a:solidFill>
                  <a:srgbClr val="FFFFFF"/>
                </a:solidFill>
                <a:latin typeface="Aptos"/>
                <a:ea typeface="Aptos"/>
                <a:cs typeface="Aptos"/>
              </a:rPr>
              <a:t>−</a:t>
            </a:r>
          </a:p>
        </p:txBody>
      </p:sp>
      <p:sp>
        <p:nvSpPr>
          <p:cNvPr id="32" name="Rectangle 31">
            <a:extLst>
              <a:ext uri="{FF2B5EF4-FFF2-40B4-BE49-F238E27FC236}">
                <a16:creationId xmlns:a16="http://schemas.microsoft.com/office/drawing/2014/main" id="{2205EB11-50A0-44E7-AADC-16CF2C7FB98B}"/>
              </a:ext>
            </a:extLst>
          </p:cNvPr>
          <p:cNvSpPr>
            <a:spLocks noGrp="1"/>
          </p:cNvSpPr>
          <p:nvPr/>
        </p:nvSpPr>
        <p:spPr>
          <a:xfrm>
            <a:off x="6286500" y="3524250"/>
            <a:ext cx="2000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FFFFFF"/>
                </a:solidFill>
                <a:latin typeface="Georgia"/>
                <a:ea typeface="Georgia"/>
                <a:cs typeface="Georgia"/>
              </a:defRPr>
            </a:pPr>
            <a:r>
              <a:rPr sz="975" b="1">
                <a:solidFill>
                  <a:srgbClr val="FFFFFF"/>
                </a:solidFill>
                <a:latin typeface="Georgia"/>
                <a:ea typeface="Georgia"/>
                <a:cs typeface="Georgia"/>
              </a:rPr>
              <a:t>servizi generativi esterni</a:t>
            </a:r>
          </a:p>
        </p:txBody>
      </p:sp>
      <p:sp>
        <p:nvSpPr>
          <p:cNvPr id="33" name="Oval 32">
            <a:extLst>
              <a:ext uri="{FF2B5EF4-FFF2-40B4-BE49-F238E27FC236}">
                <a16:creationId xmlns:a16="http://schemas.microsoft.com/office/drawing/2014/main" id="{ADE7E5D0-932B-4200-866B-AA52B6E80C2E}"/>
              </a:ext>
            </a:extLst>
          </p:cNvPr>
          <p:cNvSpPr>
            <a:spLocks noGrp="1"/>
          </p:cNvSpPr>
          <p:nvPr/>
        </p:nvSpPr>
        <p:spPr>
          <a:xfrm>
            <a:off x="5981700" y="4038600"/>
            <a:ext cx="171450" cy="171450"/>
          </a:xfrm>
          <a:prstGeom prst="ellipse">
            <a:avLst/>
          </a:prstGeom>
          <a:solidFill>
            <a:srgbClr val="D56E42"/>
          </a:solidFill>
          <a:ln w="0">
            <a:solidFill>
              <a:srgbClr val="000000">
                <a:alpha val="0"/>
              </a:srgbClr>
            </a:solidFill>
            <a:prstDash val="solid"/>
          </a:ln>
        </p:spPr>
        <p:txBody>
          <a:bodyPr/>
          <a:lstStyle/>
          <a:p>
            <a:endParaRPr lang="en-US"/>
          </a:p>
        </p:txBody>
      </p:sp>
      <p:sp>
        <p:nvSpPr>
          <p:cNvPr id="34" name="Rectangle 33">
            <a:extLst>
              <a:ext uri="{FF2B5EF4-FFF2-40B4-BE49-F238E27FC236}">
                <a16:creationId xmlns:a16="http://schemas.microsoft.com/office/drawing/2014/main" id="{0D2274F0-1B60-44B3-80AB-705E5BE97076}"/>
              </a:ext>
            </a:extLst>
          </p:cNvPr>
          <p:cNvSpPr>
            <a:spLocks noGrp="1"/>
          </p:cNvSpPr>
          <p:nvPr/>
        </p:nvSpPr>
        <p:spPr>
          <a:xfrm>
            <a:off x="5981700" y="4029075"/>
            <a:ext cx="1714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1">
                <a:solidFill>
                  <a:srgbClr val="FFFFFF"/>
                </a:solidFill>
                <a:latin typeface="Aptos"/>
                <a:ea typeface="Aptos"/>
                <a:cs typeface="Aptos"/>
              </a:defRPr>
            </a:pPr>
            <a:r>
              <a:rPr sz="750" b="1">
                <a:solidFill>
                  <a:srgbClr val="FFFFFF"/>
                </a:solidFill>
                <a:latin typeface="Aptos"/>
                <a:ea typeface="Aptos"/>
                <a:cs typeface="Aptos"/>
              </a:rPr>
              <a:t>−</a:t>
            </a:r>
          </a:p>
        </p:txBody>
      </p:sp>
      <p:sp>
        <p:nvSpPr>
          <p:cNvPr id="35" name="Rectangle 34">
            <a:extLst>
              <a:ext uri="{FF2B5EF4-FFF2-40B4-BE49-F238E27FC236}">
                <a16:creationId xmlns:a16="http://schemas.microsoft.com/office/drawing/2014/main" id="{908AC615-DF5D-4679-AAC9-32CCD1F28332}"/>
              </a:ext>
            </a:extLst>
          </p:cNvPr>
          <p:cNvSpPr>
            <a:spLocks noGrp="1"/>
          </p:cNvSpPr>
          <p:nvPr/>
        </p:nvSpPr>
        <p:spPr>
          <a:xfrm>
            <a:off x="6286500" y="4000500"/>
            <a:ext cx="2000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FFFFFF"/>
                </a:solidFill>
                <a:latin typeface="Georgia"/>
                <a:ea typeface="Georgia"/>
                <a:cs typeface="Georgia"/>
              </a:defRPr>
            </a:pPr>
            <a:r>
              <a:rPr sz="975" b="1">
                <a:solidFill>
                  <a:srgbClr val="FFFFFF"/>
                </a:solidFill>
                <a:latin typeface="Georgia"/>
                <a:ea typeface="Georgia"/>
                <a:cs typeface="Georgia"/>
              </a:rPr>
              <a:t>device e rete</a:t>
            </a:r>
          </a:p>
        </p:txBody>
      </p:sp>
      <p:sp>
        <p:nvSpPr>
          <p:cNvPr id="36" name="Rectangle 35">
            <a:extLst>
              <a:ext uri="{FF2B5EF4-FFF2-40B4-BE49-F238E27FC236}">
                <a16:creationId xmlns:a16="http://schemas.microsoft.com/office/drawing/2014/main" id="{EC2C3BC7-E003-4B6B-B528-381C45F40B5D}"/>
              </a:ext>
            </a:extLst>
          </p:cNvPr>
          <p:cNvSpPr>
            <a:spLocks noGrp="1"/>
          </p:cNvSpPr>
          <p:nvPr/>
        </p:nvSpPr>
        <p:spPr>
          <a:xfrm>
            <a:off x="5981700" y="4343400"/>
            <a:ext cx="22669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DDE5DD"/>
                </a:solidFill>
                <a:latin typeface="Aptos"/>
                <a:ea typeface="Aptos"/>
                <a:cs typeface="Aptos"/>
              </a:defRPr>
            </a:pPr>
            <a:r>
              <a:rPr sz="750" b="0">
                <a:solidFill>
                  <a:srgbClr val="DDE5DD"/>
                </a:solidFill>
                <a:latin typeface="Aptos"/>
                <a:ea typeface="Aptos"/>
                <a:cs typeface="Aptos"/>
              </a:rPr>
              <a:t>L’impatto netto va misurato con dati reali e intervalli d’incertezza.</a:t>
            </a:r>
          </a:p>
        </p:txBody>
      </p:sp>
      <p:sp>
        <p:nvSpPr>
          <p:cNvPr id="37" name="Rectangle: Rounded Corners 36">
            <a:extLst>
              <a:ext uri="{FF2B5EF4-FFF2-40B4-BE49-F238E27FC236}">
                <a16:creationId xmlns:a16="http://schemas.microsoft.com/office/drawing/2014/main" id="{FFBCE9F5-836A-4F65-90F4-79EB54B783E2}"/>
              </a:ext>
            </a:extLst>
          </p:cNvPr>
          <p:cNvSpPr>
            <a:spLocks noGrp="1"/>
          </p:cNvSpPr>
          <p:nvPr/>
        </p:nvSpPr>
        <p:spPr>
          <a:xfrm>
            <a:off x="8820150" y="1924050"/>
            <a:ext cx="2819400" cy="3009900"/>
          </a:xfrm>
          <a:prstGeom prst="roundRect">
            <a:avLst>
              <a:gd name="adj" fmla="val 2703"/>
            </a:avLst>
          </a:prstGeom>
          <a:solidFill>
            <a:srgbClr val="EAE5DA"/>
          </a:solidFill>
          <a:ln w="9525">
            <a:solidFill>
              <a:srgbClr val="B9C3BB"/>
            </a:solidFill>
            <a:prstDash val="solid"/>
          </a:ln>
        </p:spPr>
        <p:txBody>
          <a:bodyPr/>
          <a:lstStyle/>
          <a:p>
            <a:endParaRPr lang="en-US"/>
          </a:p>
        </p:txBody>
      </p:sp>
      <p:sp>
        <p:nvSpPr>
          <p:cNvPr id="38" name="Rectangle 37">
            <a:extLst>
              <a:ext uri="{FF2B5EF4-FFF2-40B4-BE49-F238E27FC236}">
                <a16:creationId xmlns:a16="http://schemas.microsoft.com/office/drawing/2014/main" id="{7CA2A622-9718-47BC-8D37-182B2EE2B86E}"/>
              </a:ext>
            </a:extLst>
          </p:cNvPr>
          <p:cNvSpPr>
            <a:spLocks noGrp="1"/>
          </p:cNvSpPr>
          <p:nvPr/>
        </p:nvSpPr>
        <p:spPr>
          <a:xfrm>
            <a:off x="9067800" y="2152650"/>
            <a:ext cx="20002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123C31"/>
                </a:solidFill>
                <a:latin typeface="Aptos"/>
                <a:ea typeface="Aptos"/>
                <a:cs typeface="Aptos"/>
              </a:defRPr>
            </a:pPr>
            <a:r>
              <a:rPr sz="675" b="1">
                <a:solidFill>
                  <a:srgbClr val="123C31"/>
                </a:solidFill>
                <a:latin typeface="Aptos"/>
                <a:ea typeface="Aptos"/>
                <a:cs typeface="Aptos"/>
              </a:rPr>
              <a:t>CHECK CONSEGNA</a:t>
            </a:r>
          </a:p>
        </p:txBody>
      </p:sp>
      <p:sp>
        <p:nvSpPr>
          <p:cNvPr id="39" name="Oval 38">
            <a:extLst>
              <a:ext uri="{FF2B5EF4-FFF2-40B4-BE49-F238E27FC236}">
                <a16:creationId xmlns:a16="http://schemas.microsoft.com/office/drawing/2014/main" id="{56FED33A-2266-4046-8C4E-FC456C9E413C}"/>
              </a:ext>
            </a:extLst>
          </p:cNvPr>
          <p:cNvSpPr>
            <a:spLocks noGrp="1"/>
          </p:cNvSpPr>
          <p:nvPr/>
        </p:nvSpPr>
        <p:spPr>
          <a:xfrm>
            <a:off x="9067800" y="2571750"/>
            <a:ext cx="152400" cy="152400"/>
          </a:xfrm>
          <a:prstGeom prst="ellipse">
            <a:avLst/>
          </a:prstGeom>
          <a:solidFill>
            <a:srgbClr val="2F7D5B"/>
          </a:solidFill>
          <a:ln w="0">
            <a:solidFill>
              <a:srgbClr val="000000">
                <a:alpha val="0"/>
              </a:srgbClr>
            </a:solidFill>
            <a:prstDash val="solid"/>
          </a:ln>
        </p:spPr>
        <p:txBody>
          <a:bodyPr/>
          <a:lstStyle/>
          <a:p>
            <a:endParaRPr lang="en-US"/>
          </a:p>
        </p:txBody>
      </p:sp>
      <p:sp>
        <p:nvSpPr>
          <p:cNvPr id="40" name="Rectangle 39">
            <a:extLst>
              <a:ext uri="{FF2B5EF4-FFF2-40B4-BE49-F238E27FC236}">
                <a16:creationId xmlns:a16="http://schemas.microsoft.com/office/drawing/2014/main" id="{5163445D-702F-4A64-96E6-52F459D25D10}"/>
              </a:ext>
            </a:extLst>
          </p:cNvPr>
          <p:cNvSpPr>
            <a:spLocks noGrp="1"/>
          </p:cNvSpPr>
          <p:nvPr/>
        </p:nvSpPr>
        <p:spPr>
          <a:xfrm>
            <a:off x="9067800" y="2581275"/>
            <a:ext cx="1524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1">
                <a:solidFill>
                  <a:srgbClr val="FFFFFF"/>
                </a:solidFill>
                <a:latin typeface="Aptos"/>
                <a:ea typeface="Aptos"/>
                <a:cs typeface="Aptos"/>
              </a:defRPr>
            </a:pPr>
            <a:r>
              <a:rPr sz="675" b="1">
                <a:solidFill>
                  <a:srgbClr val="FFFFFF"/>
                </a:solidFill>
                <a:latin typeface="Aptos"/>
                <a:ea typeface="Aptos"/>
                <a:cs typeface="Aptos"/>
              </a:rPr>
              <a:t>✓</a:t>
            </a:r>
          </a:p>
        </p:txBody>
      </p:sp>
      <p:sp>
        <p:nvSpPr>
          <p:cNvPr id="41" name="Rectangle 40">
            <a:extLst>
              <a:ext uri="{FF2B5EF4-FFF2-40B4-BE49-F238E27FC236}">
                <a16:creationId xmlns:a16="http://schemas.microsoft.com/office/drawing/2014/main" id="{92B6A0AC-2C09-4B2E-867F-C715E1C1B61C}"/>
              </a:ext>
            </a:extLst>
          </p:cNvPr>
          <p:cNvSpPr>
            <a:spLocks noGrp="1"/>
          </p:cNvSpPr>
          <p:nvPr/>
        </p:nvSpPr>
        <p:spPr>
          <a:xfrm>
            <a:off x="9334500" y="2533650"/>
            <a:ext cx="20002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17211D"/>
                </a:solidFill>
                <a:latin typeface="Aptos"/>
                <a:ea typeface="Aptos"/>
                <a:cs typeface="Aptos"/>
              </a:defRPr>
            </a:pPr>
            <a:r>
              <a:rPr sz="788" b="1">
                <a:solidFill>
                  <a:srgbClr val="17211D"/>
                </a:solidFill>
                <a:latin typeface="Aptos"/>
                <a:ea typeface="Aptos"/>
                <a:cs typeface="Aptos"/>
              </a:rPr>
              <a:t>Problem setting</a:t>
            </a:r>
          </a:p>
        </p:txBody>
      </p:sp>
      <p:sp>
        <p:nvSpPr>
          <p:cNvPr id="42" name="Oval 41">
            <a:extLst>
              <a:ext uri="{FF2B5EF4-FFF2-40B4-BE49-F238E27FC236}">
                <a16:creationId xmlns:a16="http://schemas.microsoft.com/office/drawing/2014/main" id="{9C512C6E-A75D-4459-A4C1-AEA1D83FDAEE}"/>
              </a:ext>
            </a:extLst>
          </p:cNvPr>
          <p:cNvSpPr>
            <a:spLocks noGrp="1"/>
          </p:cNvSpPr>
          <p:nvPr/>
        </p:nvSpPr>
        <p:spPr>
          <a:xfrm>
            <a:off x="9067800" y="2914650"/>
            <a:ext cx="152400" cy="152400"/>
          </a:xfrm>
          <a:prstGeom prst="ellipse">
            <a:avLst/>
          </a:prstGeom>
          <a:solidFill>
            <a:srgbClr val="2F7D5B"/>
          </a:solidFill>
          <a:ln w="0">
            <a:solidFill>
              <a:srgbClr val="000000">
                <a:alpha val="0"/>
              </a:srgbClr>
            </a:solidFill>
            <a:prstDash val="solid"/>
          </a:ln>
        </p:spPr>
        <p:txBody>
          <a:bodyPr/>
          <a:lstStyle/>
          <a:p>
            <a:endParaRPr lang="en-US"/>
          </a:p>
        </p:txBody>
      </p:sp>
      <p:sp>
        <p:nvSpPr>
          <p:cNvPr id="43" name="Rectangle 42">
            <a:extLst>
              <a:ext uri="{FF2B5EF4-FFF2-40B4-BE49-F238E27FC236}">
                <a16:creationId xmlns:a16="http://schemas.microsoft.com/office/drawing/2014/main" id="{FEC1DC4D-4C16-41FC-A005-D48A842525E7}"/>
              </a:ext>
            </a:extLst>
          </p:cNvPr>
          <p:cNvSpPr>
            <a:spLocks noGrp="1"/>
          </p:cNvSpPr>
          <p:nvPr/>
        </p:nvSpPr>
        <p:spPr>
          <a:xfrm>
            <a:off x="9067800" y="2924175"/>
            <a:ext cx="1524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1">
                <a:solidFill>
                  <a:srgbClr val="FFFFFF"/>
                </a:solidFill>
                <a:latin typeface="Aptos"/>
                <a:ea typeface="Aptos"/>
                <a:cs typeface="Aptos"/>
              </a:defRPr>
            </a:pPr>
            <a:r>
              <a:rPr sz="675" b="1">
                <a:solidFill>
                  <a:srgbClr val="FFFFFF"/>
                </a:solidFill>
                <a:latin typeface="Aptos"/>
                <a:ea typeface="Aptos"/>
                <a:cs typeface="Aptos"/>
              </a:rPr>
              <a:t>✓</a:t>
            </a:r>
          </a:p>
        </p:txBody>
      </p:sp>
      <p:sp>
        <p:nvSpPr>
          <p:cNvPr id="44" name="Rectangle 43">
            <a:extLst>
              <a:ext uri="{FF2B5EF4-FFF2-40B4-BE49-F238E27FC236}">
                <a16:creationId xmlns:a16="http://schemas.microsoft.com/office/drawing/2014/main" id="{F623A859-3835-4EA0-97C8-621E3FAEF9F8}"/>
              </a:ext>
            </a:extLst>
          </p:cNvPr>
          <p:cNvSpPr>
            <a:spLocks noGrp="1"/>
          </p:cNvSpPr>
          <p:nvPr/>
        </p:nvSpPr>
        <p:spPr>
          <a:xfrm>
            <a:off x="9334500" y="2876550"/>
            <a:ext cx="20002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17211D"/>
                </a:solidFill>
                <a:latin typeface="Aptos"/>
                <a:ea typeface="Aptos"/>
                <a:cs typeface="Aptos"/>
              </a:defRPr>
            </a:pPr>
            <a:r>
              <a:rPr sz="788" b="1">
                <a:solidFill>
                  <a:srgbClr val="17211D"/>
                </a:solidFill>
                <a:latin typeface="Aptos"/>
                <a:ea typeface="Aptos"/>
                <a:cs typeface="Aptos"/>
              </a:rPr>
              <a:t>Workflow + prompt</a:t>
            </a:r>
          </a:p>
        </p:txBody>
      </p:sp>
      <p:sp>
        <p:nvSpPr>
          <p:cNvPr id="45" name="Oval 44">
            <a:extLst>
              <a:ext uri="{FF2B5EF4-FFF2-40B4-BE49-F238E27FC236}">
                <a16:creationId xmlns:a16="http://schemas.microsoft.com/office/drawing/2014/main" id="{E1814DEC-AA75-43BE-B668-B41F21514728}"/>
              </a:ext>
            </a:extLst>
          </p:cNvPr>
          <p:cNvSpPr>
            <a:spLocks noGrp="1"/>
          </p:cNvSpPr>
          <p:nvPr/>
        </p:nvSpPr>
        <p:spPr>
          <a:xfrm>
            <a:off x="9067800" y="3257550"/>
            <a:ext cx="152400" cy="152400"/>
          </a:xfrm>
          <a:prstGeom prst="ellipse">
            <a:avLst/>
          </a:prstGeom>
          <a:solidFill>
            <a:srgbClr val="2F7D5B"/>
          </a:solidFill>
          <a:ln w="0">
            <a:solidFill>
              <a:srgbClr val="000000">
                <a:alpha val="0"/>
              </a:srgbClr>
            </a:solidFill>
            <a:prstDash val="solid"/>
          </a:ln>
        </p:spPr>
        <p:txBody>
          <a:bodyPr/>
          <a:lstStyle/>
          <a:p>
            <a:endParaRPr lang="en-US"/>
          </a:p>
        </p:txBody>
      </p:sp>
      <p:sp>
        <p:nvSpPr>
          <p:cNvPr id="46" name="Rectangle 45">
            <a:extLst>
              <a:ext uri="{FF2B5EF4-FFF2-40B4-BE49-F238E27FC236}">
                <a16:creationId xmlns:a16="http://schemas.microsoft.com/office/drawing/2014/main" id="{11C74C08-9AD5-4063-9605-905F9E0DFF7C}"/>
              </a:ext>
            </a:extLst>
          </p:cNvPr>
          <p:cNvSpPr>
            <a:spLocks noGrp="1"/>
          </p:cNvSpPr>
          <p:nvPr/>
        </p:nvSpPr>
        <p:spPr>
          <a:xfrm>
            <a:off x="9067800" y="3267075"/>
            <a:ext cx="1524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1">
                <a:solidFill>
                  <a:srgbClr val="FFFFFF"/>
                </a:solidFill>
                <a:latin typeface="Aptos"/>
                <a:ea typeface="Aptos"/>
                <a:cs typeface="Aptos"/>
              </a:defRPr>
            </a:pPr>
            <a:r>
              <a:rPr sz="675" b="1">
                <a:solidFill>
                  <a:srgbClr val="FFFFFF"/>
                </a:solidFill>
                <a:latin typeface="Aptos"/>
                <a:ea typeface="Aptos"/>
                <a:cs typeface="Aptos"/>
              </a:rPr>
              <a:t>✓</a:t>
            </a:r>
          </a:p>
        </p:txBody>
      </p:sp>
      <p:sp>
        <p:nvSpPr>
          <p:cNvPr id="47" name="Rectangle 46">
            <a:extLst>
              <a:ext uri="{FF2B5EF4-FFF2-40B4-BE49-F238E27FC236}">
                <a16:creationId xmlns:a16="http://schemas.microsoft.com/office/drawing/2014/main" id="{AFF99F2C-365E-4A86-B191-B2A9377BF6A1}"/>
              </a:ext>
            </a:extLst>
          </p:cNvPr>
          <p:cNvSpPr>
            <a:spLocks noGrp="1"/>
          </p:cNvSpPr>
          <p:nvPr/>
        </p:nvSpPr>
        <p:spPr>
          <a:xfrm>
            <a:off x="9334500" y="3219450"/>
            <a:ext cx="20002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17211D"/>
                </a:solidFill>
                <a:latin typeface="Aptos"/>
                <a:ea typeface="Aptos"/>
                <a:cs typeface="Aptos"/>
              </a:defRPr>
            </a:pPr>
            <a:r>
              <a:rPr sz="788" b="1">
                <a:solidFill>
                  <a:srgbClr val="17211D"/>
                </a:solidFill>
                <a:latin typeface="Aptos"/>
                <a:ea typeface="Aptos"/>
                <a:cs typeface="Aptos"/>
              </a:rPr>
              <a:t>Confronti + allucinazioni</a:t>
            </a:r>
          </a:p>
        </p:txBody>
      </p:sp>
      <p:sp>
        <p:nvSpPr>
          <p:cNvPr id="48" name="Oval 47">
            <a:extLst>
              <a:ext uri="{FF2B5EF4-FFF2-40B4-BE49-F238E27FC236}">
                <a16:creationId xmlns:a16="http://schemas.microsoft.com/office/drawing/2014/main" id="{C6E759A9-D8E4-4C8C-912C-85FD4F2138F0}"/>
              </a:ext>
            </a:extLst>
          </p:cNvPr>
          <p:cNvSpPr>
            <a:spLocks noGrp="1"/>
          </p:cNvSpPr>
          <p:nvPr/>
        </p:nvSpPr>
        <p:spPr>
          <a:xfrm>
            <a:off x="9067800" y="3600450"/>
            <a:ext cx="152400" cy="152400"/>
          </a:xfrm>
          <a:prstGeom prst="ellipse">
            <a:avLst/>
          </a:prstGeom>
          <a:solidFill>
            <a:srgbClr val="2F7D5B"/>
          </a:solidFill>
          <a:ln w="0">
            <a:solidFill>
              <a:srgbClr val="000000">
                <a:alpha val="0"/>
              </a:srgbClr>
            </a:solidFill>
            <a:prstDash val="solid"/>
          </a:ln>
        </p:spPr>
        <p:txBody>
          <a:bodyPr/>
          <a:lstStyle/>
          <a:p>
            <a:endParaRPr lang="en-US"/>
          </a:p>
        </p:txBody>
      </p:sp>
      <p:sp>
        <p:nvSpPr>
          <p:cNvPr id="49" name="Rectangle 48">
            <a:extLst>
              <a:ext uri="{FF2B5EF4-FFF2-40B4-BE49-F238E27FC236}">
                <a16:creationId xmlns:a16="http://schemas.microsoft.com/office/drawing/2014/main" id="{DDE96872-68C9-4080-805E-66A145622798}"/>
              </a:ext>
            </a:extLst>
          </p:cNvPr>
          <p:cNvSpPr>
            <a:spLocks noGrp="1"/>
          </p:cNvSpPr>
          <p:nvPr/>
        </p:nvSpPr>
        <p:spPr>
          <a:xfrm>
            <a:off x="9067800" y="3609975"/>
            <a:ext cx="1524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1">
                <a:solidFill>
                  <a:srgbClr val="FFFFFF"/>
                </a:solidFill>
                <a:latin typeface="Aptos"/>
                <a:ea typeface="Aptos"/>
                <a:cs typeface="Aptos"/>
              </a:defRPr>
            </a:pPr>
            <a:r>
              <a:rPr sz="675" b="1">
                <a:solidFill>
                  <a:srgbClr val="FFFFFF"/>
                </a:solidFill>
                <a:latin typeface="Aptos"/>
                <a:ea typeface="Aptos"/>
                <a:cs typeface="Aptos"/>
              </a:rPr>
              <a:t>✓</a:t>
            </a:r>
          </a:p>
        </p:txBody>
      </p:sp>
      <p:sp>
        <p:nvSpPr>
          <p:cNvPr id="50" name="Rectangle 49">
            <a:extLst>
              <a:ext uri="{FF2B5EF4-FFF2-40B4-BE49-F238E27FC236}">
                <a16:creationId xmlns:a16="http://schemas.microsoft.com/office/drawing/2014/main" id="{ABD7C680-38A8-40BD-8F66-3C1D005A5BA4}"/>
              </a:ext>
            </a:extLst>
          </p:cNvPr>
          <p:cNvSpPr>
            <a:spLocks noGrp="1"/>
          </p:cNvSpPr>
          <p:nvPr/>
        </p:nvSpPr>
        <p:spPr>
          <a:xfrm>
            <a:off x="9334500" y="3562350"/>
            <a:ext cx="20002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17211D"/>
                </a:solidFill>
                <a:latin typeface="Aptos"/>
                <a:ea typeface="Aptos"/>
                <a:cs typeface="Aptos"/>
              </a:defRPr>
            </a:pPr>
            <a:r>
              <a:rPr sz="788" b="1">
                <a:solidFill>
                  <a:srgbClr val="17211D"/>
                </a:solidFill>
                <a:latin typeface="Aptos"/>
                <a:ea typeface="Aptos"/>
                <a:cs typeface="Aptos"/>
              </a:rPr>
              <a:t>ML + notebook Python</a:t>
            </a:r>
          </a:p>
        </p:txBody>
      </p:sp>
      <p:sp>
        <p:nvSpPr>
          <p:cNvPr id="51" name="Oval 50">
            <a:extLst>
              <a:ext uri="{FF2B5EF4-FFF2-40B4-BE49-F238E27FC236}">
                <a16:creationId xmlns:a16="http://schemas.microsoft.com/office/drawing/2014/main" id="{B1FD564B-4D0B-4D1D-A85C-A3F13E50F351}"/>
              </a:ext>
            </a:extLst>
          </p:cNvPr>
          <p:cNvSpPr>
            <a:spLocks noGrp="1"/>
          </p:cNvSpPr>
          <p:nvPr/>
        </p:nvSpPr>
        <p:spPr>
          <a:xfrm>
            <a:off x="9067800" y="3943350"/>
            <a:ext cx="152400" cy="152400"/>
          </a:xfrm>
          <a:prstGeom prst="ellipse">
            <a:avLst/>
          </a:prstGeom>
          <a:solidFill>
            <a:srgbClr val="2F7D5B"/>
          </a:solidFill>
          <a:ln w="0">
            <a:solidFill>
              <a:srgbClr val="000000">
                <a:alpha val="0"/>
              </a:srgbClr>
            </a:solidFill>
            <a:prstDash val="solid"/>
          </a:ln>
        </p:spPr>
        <p:txBody>
          <a:bodyPr/>
          <a:lstStyle/>
          <a:p>
            <a:endParaRPr lang="en-US"/>
          </a:p>
        </p:txBody>
      </p:sp>
      <p:sp>
        <p:nvSpPr>
          <p:cNvPr id="52" name="Rectangle 51">
            <a:extLst>
              <a:ext uri="{FF2B5EF4-FFF2-40B4-BE49-F238E27FC236}">
                <a16:creationId xmlns:a16="http://schemas.microsoft.com/office/drawing/2014/main" id="{6BCA8846-934E-4D8F-9095-755517AF51B5}"/>
              </a:ext>
            </a:extLst>
          </p:cNvPr>
          <p:cNvSpPr>
            <a:spLocks noGrp="1"/>
          </p:cNvSpPr>
          <p:nvPr/>
        </p:nvSpPr>
        <p:spPr>
          <a:xfrm>
            <a:off x="9067800" y="3952875"/>
            <a:ext cx="1524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1">
                <a:solidFill>
                  <a:srgbClr val="FFFFFF"/>
                </a:solidFill>
                <a:latin typeface="Aptos"/>
                <a:ea typeface="Aptos"/>
                <a:cs typeface="Aptos"/>
              </a:defRPr>
            </a:pPr>
            <a:r>
              <a:rPr sz="675" b="1">
                <a:solidFill>
                  <a:srgbClr val="FFFFFF"/>
                </a:solidFill>
                <a:latin typeface="Aptos"/>
                <a:ea typeface="Aptos"/>
                <a:cs typeface="Aptos"/>
              </a:rPr>
              <a:t>✓</a:t>
            </a:r>
          </a:p>
        </p:txBody>
      </p:sp>
      <p:sp>
        <p:nvSpPr>
          <p:cNvPr id="53" name="Rectangle 52">
            <a:extLst>
              <a:ext uri="{FF2B5EF4-FFF2-40B4-BE49-F238E27FC236}">
                <a16:creationId xmlns:a16="http://schemas.microsoft.com/office/drawing/2014/main" id="{922EEDB1-EB4E-41FC-B1B1-5CE38D1C9284}"/>
              </a:ext>
            </a:extLst>
          </p:cNvPr>
          <p:cNvSpPr>
            <a:spLocks noGrp="1"/>
          </p:cNvSpPr>
          <p:nvPr/>
        </p:nvSpPr>
        <p:spPr>
          <a:xfrm>
            <a:off x="9334500" y="3905250"/>
            <a:ext cx="20002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17211D"/>
                </a:solidFill>
                <a:latin typeface="Aptos"/>
                <a:ea typeface="Aptos"/>
                <a:cs typeface="Aptos"/>
              </a:defRPr>
            </a:pPr>
            <a:r>
              <a:rPr sz="788" b="1">
                <a:solidFill>
                  <a:srgbClr val="17211D"/>
                </a:solidFill>
                <a:latin typeface="Aptos"/>
                <a:ea typeface="Aptos"/>
                <a:cs typeface="Aptos"/>
              </a:rPr>
              <a:t>Fattibilità</a:t>
            </a:r>
          </a:p>
        </p:txBody>
      </p:sp>
      <p:sp>
        <p:nvSpPr>
          <p:cNvPr id="54" name="Oval 53">
            <a:extLst>
              <a:ext uri="{FF2B5EF4-FFF2-40B4-BE49-F238E27FC236}">
                <a16:creationId xmlns:a16="http://schemas.microsoft.com/office/drawing/2014/main" id="{C8E35405-3A06-4D8F-A726-C2526400EBC5}"/>
              </a:ext>
            </a:extLst>
          </p:cNvPr>
          <p:cNvSpPr>
            <a:spLocks noGrp="1"/>
          </p:cNvSpPr>
          <p:nvPr/>
        </p:nvSpPr>
        <p:spPr>
          <a:xfrm>
            <a:off x="9067800" y="4286250"/>
            <a:ext cx="152400" cy="152400"/>
          </a:xfrm>
          <a:prstGeom prst="ellipse">
            <a:avLst/>
          </a:prstGeom>
          <a:solidFill>
            <a:srgbClr val="2F7D5B"/>
          </a:solidFill>
          <a:ln w="0">
            <a:solidFill>
              <a:srgbClr val="000000">
                <a:alpha val="0"/>
              </a:srgbClr>
            </a:solidFill>
            <a:prstDash val="solid"/>
          </a:ln>
        </p:spPr>
        <p:txBody>
          <a:bodyPr/>
          <a:lstStyle/>
          <a:p>
            <a:endParaRPr lang="en-US"/>
          </a:p>
        </p:txBody>
      </p:sp>
      <p:sp>
        <p:nvSpPr>
          <p:cNvPr id="55" name="Rectangle 54">
            <a:extLst>
              <a:ext uri="{FF2B5EF4-FFF2-40B4-BE49-F238E27FC236}">
                <a16:creationId xmlns:a16="http://schemas.microsoft.com/office/drawing/2014/main" id="{87F1DAF9-D673-4822-9765-3772B7B1E9BC}"/>
              </a:ext>
            </a:extLst>
          </p:cNvPr>
          <p:cNvSpPr>
            <a:spLocks noGrp="1"/>
          </p:cNvSpPr>
          <p:nvPr/>
        </p:nvSpPr>
        <p:spPr>
          <a:xfrm>
            <a:off x="9067800" y="4295775"/>
            <a:ext cx="1524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75" b="1">
                <a:solidFill>
                  <a:srgbClr val="FFFFFF"/>
                </a:solidFill>
                <a:latin typeface="Aptos"/>
                <a:ea typeface="Aptos"/>
                <a:cs typeface="Aptos"/>
              </a:defRPr>
            </a:pPr>
            <a:r>
              <a:rPr sz="675" b="1">
                <a:solidFill>
                  <a:srgbClr val="FFFFFF"/>
                </a:solidFill>
                <a:latin typeface="Aptos"/>
                <a:ea typeface="Aptos"/>
                <a:cs typeface="Aptos"/>
              </a:rPr>
              <a:t>✓</a:t>
            </a:r>
          </a:p>
        </p:txBody>
      </p:sp>
      <p:sp>
        <p:nvSpPr>
          <p:cNvPr id="56" name="Rectangle 55">
            <a:extLst>
              <a:ext uri="{FF2B5EF4-FFF2-40B4-BE49-F238E27FC236}">
                <a16:creationId xmlns:a16="http://schemas.microsoft.com/office/drawing/2014/main" id="{73B1AD57-9F9A-4FC9-B4F6-71620581526C}"/>
              </a:ext>
            </a:extLst>
          </p:cNvPr>
          <p:cNvSpPr>
            <a:spLocks noGrp="1"/>
          </p:cNvSpPr>
          <p:nvPr/>
        </p:nvSpPr>
        <p:spPr>
          <a:xfrm>
            <a:off x="9334500" y="4248150"/>
            <a:ext cx="20002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17211D"/>
                </a:solidFill>
                <a:latin typeface="Aptos"/>
                <a:ea typeface="Aptos"/>
                <a:cs typeface="Aptos"/>
              </a:defRPr>
            </a:pPr>
            <a:r>
              <a:rPr sz="788" b="1">
                <a:solidFill>
                  <a:srgbClr val="17211D"/>
                </a:solidFill>
                <a:latin typeface="Aptos"/>
                <a:ea typeface="Aptos"/>
                <a:cs typeface="Aptos"/>
              </a:rPr>
              <a:t>Analisi di sostenibilità</a:t>
            </a:r>
          </a:p>
        </p:txBody>
      </p:sp>
      <p:sp>
        <p:nvSpPr>
          <p:cNvPr id="57" name="Rectangle: Rounded Corners 56">
            <a:extLst>
              <a:ext uri="{FF2B5EF4-FFF2-40B4-BE49-F238E27FC236}">
                <a16:creationId xmlns:a16="http://schemas.microsoft.com/office/drawing/2014/main" id="{4F82C14E-71C5-4059-8B08-C7708DAFB229}"/>
              </a:ext>
            </a:extLst>
          </p:cNvPr>
          <p:cNvSpPr>
            <a:spLocks noGrp="1"/>
          </p:cNvSpPr>
          <p:nvPr/>
        </p:nvSpPr>
        <p:spPr>
          <a:xfrm>
            <a:off x="552450" y="5295900"/>
            <a:ext cx="11087100" cy="685800"/>
          </a:xfrm>
          <a:prstGeom prst="roundRect">
            <a:avLst>
              <a:gd name="adj" fmla="val 11111"/>
            </a:avLst>
          </a:prstGeom>
          <a:solidFill>
            <a:srgbClr val="123C31"/>
          </a:solidFill>
          <a:ln w="0">
            <a:solidFill>
              <a:srgbClr val="000000">
                <a:alpha val="0"/>
              </a:srgbClr>
            </a:solidFill>
            <a:prstDash val="solid"/>
          </a:ln>
        </p:spPr>
        <p:txBody>
          <a:bodyPr/>
          <a:lstStyle/>
          <a:p>
            <a:endParaRPr lang="en-US"/>
          </a:p>
        </p:txBody>
      </p:sp>
      <p:sp>
        <p:nvSpPr>
          <p:cNvPr id="58" name="Rectangle 57">
            <a:extLst>
              <a:ext uri="{FF2B5EF4-FFF2-40B4-BE49-F238E27FC236}">
                <a16:creationId xmlns:a16="http://schemas.microsoft.com/office/drawing/2014/main" id="{862C8177-3DC2-4CD3-A360-413716623F34}"/>
              </a:ext>
            </a:extLst>
          </p:cNvPr>
          <p:cNvSpPr>
            <a:spLocks noGrp="1"/>
          </p:cNvSpPr>
          <p:nvPr/>
        </p:nvSpPr>
        <p:spPr>
          <a:xfrm>
            <a:off x="781050" y="5410200"/>
            <a:ext cx="106299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350" b="1">
                <a:solidFill>
                  <a:srgbClr val="FFFFFF"/>
                </a:solidFill>
                <a:latin typeface="Georgia"/>
                <a:ea typeface="Georgia"/>
                <a:cs typeface="Georgia"/>
              </a:defRPr>
            </a:pPr>
            <a:r>
              <a:rPr sz="1350" b="1">
                <a:solidFill>
                  <a:srgbClr val="FFFFFF"/>
                </a:solidFill>
                <a:latin typeface="Georgia"/>
                <a:ea typeface="Georgia"/>
                <a:cs typeface="Georgia"/>
              </a:rPr>
              <a:t>Usare l’AI dove riduce davvero l’incertezza.</a:t>
            </a:r>
          </a:p>
          <a:p>
            <a:pPr algn="ctr">
              <a:defRPr sz="1350" b="1">
                <a:solidFill>
                  <a:srgbClr val="FFFFFF"/>
                </a:solidFill>
                <a:latin typeface="Georgia"/>
                <a:ea typeface="Georgia"/>
                <a:cs typeface="Georgia"/>
              </a:defRPr>
            </a:pPr>
            <a:r>
              <a:rPr sz="1350" b="1">
                <a:solidFill>
                  <a:srgbClr val="FFFFFF"/>
                </a:solidFill>
                <a:latin typeface="Georgia"/>
                <a:ea typeface="Georgia"/>
                <a:cs typeface="Georgia"/>
              </a:rPr>
              <a:t>Mantenere spiegabile tutto il resto.</a:t>
            </a:r>
          </a:p>
        </p:txBody>
      </p:sp>
      <p:sp>
        <p:nvSpPr>
          <p:cNvPr id="59" name="Rectangle 58">
            <a:extLst>
              <a:ext uri="{FF2B5EF4-FFF2-40B4-BE49-F238E27FC236}">
                <a16:creationId xmlns:a16="http://schemas.microsoft.com/office/drawing/2014/main" id="{4DC53FDF-E541-473D-AC97-BAB94D54AC3C}"/>
              </a:ext>
            </a:extLst>
          </p:cNvPr>
          <p:cNvSpPr>
            <a:spLocks noGrp="1"/>
          </p:cNvSpPr>
          <p:nvPr/>
        </p:nvSpPr>
        <p:spPr>
          <a:xfrm>
            <a:off x="552450" y="6419850"/>
            <a:ext cx="11087100" cy="9525"/>
          </a:xfrm>
          <a:prstGeom prst="rect">
            <a:avLst/>
          </a:prstGeom>
          <a:solidFill>
            <a:srgbClr val="B9C3BB"/>
          </a:solidFill>
          <a:ln w="0">
            <a:solidFill>
              <a:srgbClr val="000000">
                <a:alpha val="0"/>
              </a:srgbClr>
            </a:solidFill>
            <a:prstDash val="solid"/>
          </a:ln>
        </p:spPr>
        <p:txBody>
          <a:bodyPr/>
          <a:lstStyle/>
          <a:p>
            <a:endParaRPr lang="en-US"/>
          </a:p>
        </p:txBody>
      </p:sp>
      <p:sp>
        <p:nvSpPr>
          <p:cNvPr id="60" name="Rectangle 59">
            <a:extLst>
              <a:ext uri="{FF2B5EF4-FFF2-40B4-BE49-F238E27FC236}">
                <a16:creationId xmlns:a16="http://schemas.microsoft.com/office/drawing/2014/main" id="{554BE5ED-7415-423E-B8EA-7621F3CBBBD9}"/>
              </a:ext>
            </a:extLst>
          </p:cNvPr>
          <p:cNvSpPr>
            <a:spLocks noGrp="1"/>
          </p:cNvSpPr>
          <p:nvPr/>
        </p:nvSpPr>
        <p:spPr>
          <a:xfrm>
            <a:off x="552450" y="6496050"/>
            <a:ext cx="100393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65736B"/>
                </a:solidFill>
                <a:latin typeface="Aptos"/>
                <a:ea typeface="Aptos"/>
                <a:cs typeface="Aptos"/>
              </a:defRPr>
            </a:pPr>
            <a:r>
              <a:rPr sz="563" b="0" dirty="0">
                <a:solidFill>
                  <a:srgbClr val="65736B"/>
                </a:solidFill>
                <a:latin typeface="Aptos"/>
                <a:ea typeface="Aptos"/>
                <a:cs typeface="Aptos"/>
              </a:rPr>
              <a:t>Deliverable: PPTX con note </a:t>
            </a:r>
            <a:r>
              <a:rPr sz="563" b="0" dirty="0" err="1">
                <a:solidFill>
                  <a:srgbClr val="65736B"/>
                </a:solidFill>
                <a:latin typeface="Aptos"/>
                <a:ea typeface="Aptos"/>
                <a:cs typeface="Aptos"/>
              </a:rPr>
              <a:t>orali</a:t>
            </a:r>
            <a:r>
              <a:rPr sz="563" b="0" dirty="0">
                <a:solidFill>
                  <a:srgbClr val="65736B"/>
                </a:solidFill>
                <a:latin typeface="Aptos"/>
                <a:ea typeface="Aptos"/>
                <a:cs typeface="Aptos"/>
              </a:rPr>
              <a:t> · </a:t>
            </a:r>
            <a:r>
              <a:rPr lang="it-IT" sz="563" b="0" dirty="0">
                <a:solidFill>
                  <a:srgbClr val="65736B"/>
                </a:solidFill>
                <a:latin typeface="Aptos"/>
                <a:ea typeface="Aptos"/>
                <a:cs typeface="Aptos"/>
              </a:rPr>
              <a:t>2</a:t>
            </a:r>
            <a:r>
              <a:rPr sz="563" b="0" dirty="0">
                <a:solidFill>
                  <a:srgbClr val="65736B"/>
                </a:solidFill>
                <a:latin typeface="Aptos"/>
                <a:ea typeface="Aptos"/>
                <a:cs typeface="Aptos"/>
              </a:rPr>
              <a:t> notebook · </a:t>
            </a:r>
            <a:r>
              <a:rPr sz="563" b="0" dirty="0" err="1">
                <a:solidFill>
                  <a:srgbClr val="65736B"/>
                </a:solidFill>
                <a:latin typeface="Aptos"/>
                <a:ea typeface="Aptos"/>
                <a:cs typeface="Aptos"/>
              </a:rPr>
              <a:t>registro</a:t>
            </a:r>
            <a:r>
              <a:rPr sz="563" b="0" dirty="0">
                <a:solidFill>
                  <a:srgbClr val="65736B"/>
                </a:solidFill>
                <a:latin typeface="Aptos"/>
                <a:ea typeface="Aptos"/>
                <a:cs typeface="Aptos"/>
              </a:rPr>
              <a:t> tool e prompt · </a:t>
            </a:r>
            <a:r>
              <a:rPr sz="563" b="0" dirty="0" err="1">
                <a:solidFill>
                  <a:srgbClr val="65736B"/>
                </a:solidFill>
                <a:latin typeface="Aptos"/>
                <a:ea typeface="Aptos"/>
                <a:cs typeface="Aptos"/>
              </a:rPr>
              <a:t>codice</a:t>
            </a:r>
            <a:r>
              <a:rPr sz="563" b="0" dirty="0">
                <a:solidFill>
                  <a:srgbClr val="65736B"/>
                </a:solidFill>
                <a:latin typeface="Aptos"/>
                <a:ea typeface="Aptos"/>
                <a:cs typeface="Aptos"/>
              </a:rPr>
              <a:t> Python</a:t>
            </a:r>
          </a:p>
        </p:txBody>
      </p:sp>
      <p:sp>
        <p:nvSpPr>
          <p:cNvPr id="61" name="Rectangle 60">
            <a:extLst>
              <a:ext uri="{FF2B5EF4-FFF2-40B4-BE49-F238E27FC236}">
                <a16:creationId xmlns:a16="http://schemas.microsoft.com/office/drawing/2014/main" id="{1AC31EA6-2B56-4512-BC9D-EC4D174E822C}"/>
              </a:ext>
            </a:extLst>
          </p:cNvPr>
          <p:cNvSpPr>
            <a:spLocks noGrp="1"/>
          </p:cNvSpPr>
          <p:nvPr/>
        </p:nvSpPr>
        <p:spPr>
          <a:xfrm>
            <a:off x="11049000" y="6477000"/>
            <a:ext cx="590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65736B"/>
                </a:solidFill>
                <a:latin typeface="Georgia"/>
                <a:ea typeface="Georgia"/>
                <a:cs typeface="Georgia"/>
              </a:defRPr>
            </a:pPr>
            <a:r>
              <a:rPr sz="750" b="1">
                <a:solidFill>
                  <a:srgbClr val="65736B"/>
                </a:solidFill>
                <a:latin typeface="Georgia"/>
                <a:ea typeface="Georgia"/>
                <a:cs typeface="Georgia"/>
              </a:rPr>
              <a:t>17</a:t>
            </a:r>
          </a:p>
        </p:txBody>
      </p:sp>
    </p:spTree>
    <p:extLst>
      <p:ext uri="{BB962C8B-B14F-4D97-AF65-F5344CB8AC3E}">
        <p14:creationId xmlns:p14="http://schemas.microsoft.com/office/powerpoint/2010/main" val="113878706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3938</Words>
  <Application>Microsoft Office PowerPoint</Application>
  <DocSecurity>0</DocSecurity>
  <PresentationFormat>Widescreen</PresentationFormat>
  <Paragraphs>386</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Calibri</vt:lpstr>
      <vt:lpstr>Georgia</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ClosetAI — Presentazione ufficiale d'esame</dc:title>
  <dc:subject>User story, AI generativa, machine learning, fattibilità e sostenibilità</dc:subject>
  <dc:creator>Walnut Exporter</dc:creator>
  <dc:description>Include 17 note orali in italiano, una per ogni slide, destinate allo studente che espone.</dc:description>
  <cp:lastModifiedBy>MARCO DI BENEDETTO</cp:lastModifiedBy>
  <cp:revision>1</cp:revision>
  <dcterms:created xsi:type="dcterms:W3CDTF">2026-07-14T16:11:08Z</dcterms:created>
  <dcterms:modified xsi:type="dcterms:W3CDTF">2026-07-19T18:38:31Z</dcterms:modified>
</cp:coreProperties>
</file>