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2.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867816287b8401f" Type="http://schemas.openxmlformats.org/package/2006/relationships/metadata/core-properties" Target="docProps/core.xml"/><Relationship Id="R75942b01bc774a43" Type="http://schemas.openxmlformats.org/officeDocument/2006/relationships/officeDocument" Target="ppt/presentation.xml"/><Relationship Id="Ra1f2d42e54124077"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e962df8fc3d4449a"/>
  </p:sldMasterIdLst>
  <p:notesMasterIdLst>
    <p:notesMasterId xmlns:r="http://schemas.openxmlformats.org/officeDocument/2006/relationships" r:id="R9717c05b07994ab5"/>
  </p:notesMasterIdLst>
  <p:sldIdLst>
    <p:sldId xmlns:r="http://schemas.openxmlformats.org/officeDocument/2006/relationships" id="256" r:id="R7f2b15c9bc664e7a"/>
    <p:sldId xmlns:r="http://schemas.openxmlformats.org/officeDocument/2006/relationships" id="257" r:id="R62d9b182ebac4d71"/>
    <p:sldId xmlns:r="http://schemas.openxmlformats.org/officeDocument/2006/relationships" id="258" r:id="R14b87582d2174d5b"/>
    <p:sldId xmlns:r="http://schemas.openxmlformats.org/officeDocument/2006/relationships" id="259" r:id="R2b2f30d0f5e14b9e"/>
    <p:sldId xmlns:r="http://schemas.openxmlformats.org/officeDocument/2006/relationships" id="260" r:id="R69f7926fb536462e"/>
    <p:sldId xmlns:r="http://schemas.openxmlformats.org/officeDocument/2006/relationships" id="261" r:id="Re895e25003434073"/>
    <p:sldId xmlns:r="http://schemas.openxmlformats.org/officeDocument/2006/relationships" id="262" r:id="Rf11cbe1c1f444200"/>
    <p:sldId xmlns:r="http://schemas.openxmlformats.org/officeDocument/2006/relationships" id="263" r:id="R39f19056246a4fd4"/>
    <p:sldId xmlns:r="http://schemas.openxmlformats.org/officeDocument/2006/relationships" id="264" r:id="Rae89ecde946c4613"/>
    <p:sldId xmlns:r="http://schemas.openxmlformats.org/officeDocument/2006/relationships" id="265" r:id="R7ae0f336b1ce4d9f"/>
    <p:sldId xmlns:r="http://schemas.openxmlformats.org/officeDocument/2006/relationships" id="266" r:id="Rcaca129d55984c96"/>
    <p:sldId xmlns:r="http://schemas.openxmlformats.org/officeDocument/2006/relationships" id="267" r:id="Rd7b555d584ef47ad"/>
    <p:sldId xmlns:r="http://schemas.openxmlformats.org/officeDocument/2006/relationships" id="268" r:id="R9ecb763931e34e5d"/>
    <p:sldId xmlns:r="http://schemas.openxmlformats.org/officeDocument/2006/relationships" id="269" r:id="Rf16193f31d044f6f"/>
    <p:sldId xmlns:r="http://schemas.openxmlformats.org/officeDocument/2006/relationships" id="270" r:id="Ra8aa4c2a80ac478c"/>
    <p:sldId xmlns:r="http://schemas.openxmlformats.org/officeDocument/2006/relationships" id="271" r:id="R46b33e7258d04d63"/>
    <p:sldId xmlns:r="http://schemas.openxmlformats.org/officeDocument/2006/relationships" id="272" r:id="R8f7331d6a34c4e2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xml version='1.0' encoding='UTF-8' standalone='yes'?>
<Relationships xmlns="http://schemas.openxmlformats.org/package/2006/relationships"><Relationship Id="R14b87582d2174d5b" Type="http://schemas.openxmlformats.org/officeDocument/2006/relationships/slide" Target="slides/slide3.xml"/><Relationship Id="R2b2f30d0f5e14b9e" Type="http://schemas.openxmlformats.org/officeDocument/2006/relationships/slide" Target="slides/slide4.xml"/><Relationship Id="R39f19056246a4fd4" Type="http://schemas.openxmlformats.org/officeDocument/2006/relationships/slide" Target="slides/slide8.xml"/><Relationship Id="R46b33e7258d04d63" Type="http://schemas.openxmlformats.org/officeDocument/2006/relationships/slide" Target="slides/slide16.xml"/><Relationship Id="R5c41cb76a46a4b0d" Type="http://schemas.openxmlformats.org/officeDocument/2006/relationships/presProps" Target="presProps.xml"/><Relationship Id="R62d9b182ebac4d71" Type="http://schemas.openxmlformats.org/officeDocument/2006/relationships/slide" Target="slides/slide2.xml"/><Relationship Id="R69f7926fb536462e" Type="http://schemas.openxmlformats.org/officeDocument/2006/relationships/slide" Target="slides/slide5.xml"/><Relationship Id="R7ae0f336b1ce4d9f" Type="http://schemas.openxmlformats.org/officeDocument/2006/relationships/slide" Target="slides/slide10.xml"/><Relationship Id="R7f2b15c9bc664e7a" Type="http://schemas.openxmlformats.org/officeDocument/2006/relationships/slide" Target="slides/slide1.xml"/><Relationship Id="R8f7331d6a34c4e2c" Type="http://schemas.openxmlformats.org/officeDocument/2006/relationships/slide" Target="slides/slide17.xml"/><Relationship Id="R9717c05b07994ab5" Type="http://schemas.openxmlformats.org/officeDocument/2006/relationships/notesMaster" Target="notesMasters/notesMaster1.xml"/><Relationship Id="R9ecb763931e34e5d" Type="http://schemas.openxmlformats.org/officeDocument/2006/relationships/slide" Target="slides/slide13.xml"/><Relationship Id="Ra8aa4c2a80ac478c" Type="http://schemas.openxmlformats.org/officeDocument/2006/relationships/slide" Target="slides/slide15.xml"/><Relationship Id="Rae89ecde946c4613" Type="http://schemas.openxmlformats.org/officeDocument/2006/relationships/slide" Target="slides/slide9.xml"/><Relationship Id="Rcaca129d55984c96" Type="http://schemas.openxmlformats.org/officeDocument/2006/relationships/slide" Target="slides/slide11.xml"/><Relationship Id="Rd7b555d584ef47ad" Type="http://schemas.openxmlformats.org/officeDocument/2006/relationships/slide" Target="slides/slide12.xml"/><Relationship Id="Re193e66d730a4ac0" Type="http://schemas.openxmlformats.org/officeDocument/2006/relationships/theme" Target="theme/theme1.xml"/><Relationship Id="Re895e25003434073" Type="http://schemas.openxmlformats.org/officeDocument/2006/relationships/slide" Target="slides/slide6.xml"/><Relationship Id="Re962df8fc3d4449a" Type="http://schemas.openxmlformats.org/officeDocument/2006/relationships/slideMaster" Target="slideMasters/slideMaster1.xml"/><Relationship Id="Rf11cbe1c1f444200" Type="http://schemas.openxmlformats.org/officeDocument/2006/relationships/slide" Target="slides/slide7.xml"/><Relationship Id="Rf16193f31d044f6f" Type="http://schemas.openxmlformats.org/officeDocument/2006/relationships/slide" Target="slides/slide14.xml"/><Relationship Id="Rf19cc4dc92434351" Type="http://schemas.openxmlformats.org/officeDocument/2006/relationships/tableStyles" Target="tableStyles.xml"/><Relationship Id="Rf3ba75549ea94a9a"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b1c5c2be411544d5" Type="http://schemas.openxmlformats.org/officeDocument/2006/relationships/theme" Target="theme/theme2.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af8db9013110452f" Type="http://schemas.openxmlformats.org/officeDocument/2006/relationships/notesMaster" Target="../notesMasters/notesMaster1.xml"/><Relationship Id="Rf03d3d36b2244054"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c28abfff6014f02" Type="http://schemas.openxmlformats.org/officeDocument/2006/relationships/notesMaster" Target="../notesMasters/notesMaster1.xml"/><Relationship Id="R4c2f636d44c84375"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e28bb8be7f0487b" Type="http://schemas.openxmlformats.org/officeDocument/2006/relationships/notesMaster" Target="../notesMasters/notesMaster1.xml"/><Relationship Id="R7ae0019a2184461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25b6044b6b44ee6" Type="http://schemas.openxmlformats.org/officeDocument/2006/relationships/slide" Target="../slides/slide4.xml"/><Relationship Id="R104a5e45701e4926"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6dc844d4a164c1d" Type="http://schemas.openxmlformats.org/officeDocument/2006/relationships/slide" Target="../slides/slide5.xml"/><Relationship Id="R63f4edeaf08f4f2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a28447edd367481d" Type="http://schemas.openxmlformats.org/officeDocument/2006/relationships/slide" Target="../slides/slide6.xml"/><Relationship Id="Ra650e7d177d643f3"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9a39e88092b47b4" Type="http://schemas.openxmlformats.org/officeDocument/2006/relationships/slide" Target="../slides/slide7.xml"/><Relationship Id="Readf022bb93b42d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e38a23e4d7741a1" Type="http://schemas.openxmlformats.org/officeDocument/2006/relationships/notesMaster" Target="../notesMasters/notesMaster1.xml"/><Relationship Id="Rcd3400ff719540f5"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562b21afb56043cf" Type="http://schemas.openxmlformats.org/officeDocument/2006/relationships/notesMaster" Target="../notesMasters/notesMaster1.xml"/><Relationship Id="Rab51ce01ae344e6c"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1b8c0704fe614a38" Type="http://schemas.openxmlformats.org/officeDocument/2006/relationships/slide" Target="../slides/slide10.xml"/><Relationship Id="Rf2dd799f47634ef6"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a18c49c1db3e494b" Type="http://schemas.openxmlformats.org/officeDocument/2006/relationships/notesMaster" Target="../notesMasters/notesMaster1.xml"/><Relationship Id="Rf94dabf89b12444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fa1c2b7432f472b" Type="http://schemas.openxmlformats.org/officeDocument/2006/relationships/slide" Target="../slides/slide12.xml"/><Relationship Id="R513fdc4865ef466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b3f4a588d484409" Type="http://schemas.openxmlformats.org/officeDocument/2006/relationships/notesMaster" Target="../notesMasters/notesMaster1.xml"/><Relationship Id="R9442ceaf7c8546dd"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065fb6352ff14ddf" Type="http://schemas.openxmlformats.org/officeDocument/2006/relationships/notesMaster" Target="../notesMasters/notesMaster1.xml"/><Relationship Id="Rbe9c55afd7d4439a"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0172c3c01eb4246" Type="http://schemas.openxmlformats.org/officeDocument/2006/relationships/notesMaster" Target="../notesMasters/notesMaster1.xml"/><Relationship Id="Re8566758d240432d"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29ace3fa0a574293" Type="http://schemas.openxmlformats.org/officeDocument/2006/relationships/slide" Target="../slides/slide16.xml"/><Relationship Id="R95636fbae7904448"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8f7c12d656e4009" Type="http://schemas.openxmlformats.org/officeDocument/2006/relationships/notesMaster" Target="../notesMasters/notesMaster1.xml"/><Relationship Id="R8b8871ee1ca4482e"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Apro con la tesi, non con gli algoritmi. ClosetAI nasce da una domanda quotidiana: prima di comprare un altro capo, possiamo usare meglio ciò che abbiamo già? La presentazione è divisa in due parti. Nella prima seguiremo Marta, una persona narrativa, lungo tutto il percorso dell’app: inserimento, uso, outfit, ghost garments, stato, gap e seconda vita. Nella seconda distingueremo con precisione quattro cose diverse: modello pre-addestrato, modelli allenati da noi, regole trasparenti e AI generativa. Dichiariamo fin dall’inizio che l’AI generativa è stata usata anche per sviluppare il progetto, preparare i materiali e creare il concept del logo, sempre con controllo umano. La tesi finale sarà: usare l’AI dove riduce davvero l’incertezza e mantenere spiegabile tutto il resto.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Immaginiamo Marta davanti all’armadio: possiede molti capi, ma finisce per scegliere quasi sempre gli stessi. La giacca verde rimane invisibile. Marta non deriva da uno studio utenti: è una user story che ci aiuta a descrivere il problema. Il contesto ambientale, invece, è documentato. L’European Environment Agency riporta per il 2022 circa 19 chilogrammi di tessili consumati e circa 16 chilogrammi di rifiuti tessili per persona nell’Unione Europea. Non usiamo questi numeri per promettere che l’app risolverà il problema del settore; servono a mostrare perché allungare la vita utile e ridurre acquisti non necessari è una direzione rilevante. La domanda di progetto è quindi: come possiamo restituire a Marta memoria e contesto sulle sue scelte?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percorso comincia con una foto. Marta carica l’immagine del capo e crea una scheda con nome, categoria, colore, prezzo e data di acquisto, quando disponibili. Il punto importante da comunicare è che la scheda non diventa una verità incontestabile prodotta dall’AI: i campi restano visibili e correggibili. Questa scelta tutela sia l’usabilità sia la qualità dei dati. Dal punto di vista funzionale la foto collega un gesto semplice a un record strutturato, che potrà poi essere associato agli utilizzi, allo stato, alle raccomandazioni e alle azioni circolari. Durante la demo mostrerei prima il caricamento, poi la scheda, e direi esplicitamente che descrizione del capo e diagnosi dello stato sono due processi distinti.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Quando Marta indossa un capo, registra un utilizzo. Nel tempo, questi eventi rendono visibile la rotazione reale del guardaroba. Da prezzo e numero di utilizzi calcoliamo il cost-per-wear: prezzo diviso utilizzi. L’esempio mostra che un capo da 100 euro passa da 100 euro per uso, dopo il primo utilizzo, a 10 euro per uso dopo dieci utilizzi. È una formula semplice e trasparente, non un modello di machine learning. Va presentata con una cautela: non misura il valore affettivo, la qualità o la sostenibilità totale del capo e dipende dalla completezza del registro. Il suo valore è decisionale: aiuta Marta a distinguere ciò che usa davvero da ciò che occupa spazio senza entrare nella sua routine.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schermata Oggi crea un outfit con capi già presenti. Il ranking è una regola pesata, non una rete neurale addestrata. Considera soprattutto compatibilità dei colori e meteo, può aggiungere un bonus a un ghost garment eleggibile e applica un piccolo aggiustamento dal feedback. Nella spiegazione orale conviene sottolineare due vantaggi: la proposta è comprensibile e può riportare in rotazione la giacca verde senza imporla. Non diciamo che l’AI “capisce lo stile” di Marta: oggi la combinazione deriva da pesi dichiarati. Il feedback rende il sistema adattabile, ma i suoi limiti restano visibili. Questa è una scelta importante del progetto: non usare un modello complesso quando una regola auditabile soddisfa meglio il bisogno.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 rispondo in modo diretto alla domanda sui ghost garments: sì, vengono rilevati. La regola richiede tre condizioni contemporanee: il capo è attivo, ha zero utilizzi registrati ed è posseduto da almeno la soglia scelta, 30 giorni per default. Se manca la data di acquisto, usiamo la data di inserimento. Quindi ghost significa “mai indossato dopo almeno 30 giorni”, non semplicemente “usato poco”: dopo un solo utilizzo non è più ghost secondo questa definizione. Nell’interfaccia il risultato è visibile in tre punti: nella dashboard come metrica e lista dei capi da riscoprire; nel dettaglio come badge con soglia esplicita; nella proposta di outfit come segnale anti-fantasma. Preciso anche che questa è logica deterministica, non machine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Quando Marta ritrova la giacca, vuole sapere in che stato si trova. Le tre classi sono buono, usurato e danneggiato. Con una foto e il checkpoint disponibili, Fashion-CLIP pre-addestrato produce l’embedding visivo e la nostra piccola MLP propone una classe. Se il modello o l’immagine non sono disponibili, l’app può usare un fallback euristico basato sui dati disponibili. In ogni caso il risultato indica la sua origine e Marta può confermare o correggere lo stato. Questo punto è importante durante l’esame: non presentiamo il modello come certificazione professionale né come diagnosi certa. Riduce l’incertezza e collega l’esito a una decisione di cura: continuare a usare, riparare o scegliere una seconda vita.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gap analysis osserva il guardaroba nel suo insieme. Gli input sono 14 segnali aggregati: quantità per ruolo, stagionalità, varietà cromatica, presenza di neutri, rapporto dei ghost e totale dei capi. L’output contiene sei possibili gap e può essere multi-label, quindi più risposte possono essere vere insieme. Il messaggio di prodotto più importante è che un gap non equivale automaticamente a un acquisto: il sistema può concludere che non serve comprare nulla oppure segnalare una sovrabbondanza. Le probabilità sono tradotte in consigli che privilegiano riuso, combinazioni e seconda mano. Il limite va dichiarato: il modello è stato addestrato su guardaroba simulati con label derivate da regole esperte, quindi prima di un uso reale servono dati e validazione esterna.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ciclo si chiude con un’azione: continuare a usare il capo, ripararlo, donarlo, venderlo o avviarlo alla corretta seconda vita. L’impatto verde mostrato dall’app è calcolato come media indicativa della categoria moltiplicata per un fattore dell’azione. Lo definiamo sempre stima di scenario in chilogrammi di CO2 equivalente. Non è una misura fisica, non è una Life Cycle Assessment completa e dipende dall’ipotesi che l’azione eviti almeno in parte un nuovo acquisto. Questa trasparenza è essenziale nell’esame: il numero serve a confrontare ordini di grandezza e rendere visibile una conseguenza, non a certificare un beneficio assoluto. Come sviluppo futuro proponiamo dati per materiale, fonti LCA più granulari e intervalli d’incertezza.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Rileggiamo ora la storia come una sequenza verificabile: Marta fotografa, usa, riscopre, cura e decide. Nel dataset dimostrativo abbiamo 12 capi attivi, 2 ghost garments, 2 azioni circolari e 57,5 chilogrammi di CO2 equivalente come stima di scenario. Ho volutamente evitato di fissare in slide il numero degli utilizzi, perché cambia mentre eseguiamo la demo. È importante non confondere questi valori con risultati scientifici: rendono la dimostrazione coerente e ripetibile, ma non sono uno studio utenti e non dimostrano un impatto ambientale reale. A questo punto abbiamo mostrato il prodotto senza sovraccaricarlo di termini tecnici; ora possiamo entrare nelle scelte di AI e spiegare da dove proviene ogni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Questa è una slide di passaggio alla demo web. La dimostrazione dovrebbe durare tra tre e quattro minuti e seguire un solo capo, senza visitare ogni schermata. L’ordine suggerito è: aprire il capo nel catalogo; registrare un utilizzo; mostrare la metrica o lista ghost; eseguire o mostrare lo stato e la gap analysis; registrare un’azione circolare e leggere l’impatto come stima. Per ogni passaggio uso la stessa frase guida: qual è l’input, quale trasformazione avviene, quale output vedo, quale beneficio offre e quale limite devo dichiarare. Se una funzione non è disponibile durante la demo, non improvviso: mostro il dato già preparato o passo alla slide successiva, spiegando il comportamento atteso.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Ora separiamo quattro categorie che spesso vengono chiamate tutte genericamente AI. Fashion-CLIP è pre-addestrato da altri e noi lo usiamo congelato. Le due MLP per stato e gap sono addestrate da noi. Ghost, outfit, cost-per-wear e impatto sono regole o formule trasparenti. Infine l’AI generativa è stata usata nel processo di creazione: ideazione, architettura, supporto al codice, test, documentazione, presentazione e concept del logo. Gli output generativi non sono stati accettati automaticamente: sono stati confrontati con repository, test e dati. Nel runtime, testi LLM e virtual try-on restano opzionali e non sono modelli addestrati da noi. Questa distinzione ci consente di rispondere con precisione alla domanda: “che cosa avete davvero allenato?”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modelli allenati da noi sono due. Per lo stato, Fashion-CLIP congelato trasforma la foto in 512 valori; la nostra MLP 512-256-128-3 produce buono, usurato o danneggiato. Sul holdout locale di circa 600 immagini otteniamo circa il 94 per cento di accuracy, senza validazione esterna. Per i gap, una seconda MLP riceve 14 segnali e produce sei probabilità; su 5.000 guardaroba simulati raggiunge una micro-F1 di circa 0,943. Le label derivano da regole, quindi il dato non prova generalizzazione su utenti reali. Abbiamo preparato cinque notebook autonomi e commentati: due riproducono i modelli runtime; tre documentano esperimenti accademici su rischio ghost, previsione degli utilizzi e clustering e non sono collegati alla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Questa slide documenta il workflow generativo richiesto dalla traccia. Un prompt valido include contesto, obiettivo, vincoli, formato di uscita e controlli. L’output diventa una bozza; confrontiamo alternative e trade-off; verifichiamo con repository, test e metriche; infine correggiamo. Tre esempi di allucinazioni bloccate sono: quattro stati inventati invece delle tre classi reali; un VLM dichiarato nella UI ma assente dal runtime; la CO2 presentata come dato certo invece che stima di scenario. Il logo segue lo stesso metodo: concept creato con AI generativa, poi implementato e verificato come SVG editabile nel repository. Il file docs/prompt-register-progetto.md raccoglie tool, prompt riproducibili, tentativi e correzioni; è un registro consolidato, non un log automatico verbatim delle chat storiche.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Durante la demo ML non mi limito a mostrare la percentuale. Per il modello stato mostro una foto, spiego che Fashion-CLIP è congelato, carico il checkpoint della nostra MLP e leggo la classe proposta; poi ricordo il limite del holdout locale. Per il modello gap mostro i 14 segnali aggregati, le sei probabilità e il consiglio finale; poi ricordo che training e label sono simulati. Se apro un notebook, scelgo uno dei due runtime: eseguo le celle principali, faccio vedere caricamento dati, definizione del modello, training, metriche e salvataggio del checkpoint. I notebook sono auto-contenuti e commentati per permettere al professore di seguire il ragionamento anche senza conoscere in dettaglio PyTorch.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L’architettura separa client React, API FastAPI, dati e modelli. Questo rende il prototipo comprensibile e consente di sostituire componenti senza riscrivere tutto. La fattibilità va discussa in tre dimensioni. Costi: lo stack è prevalentemente open source; pesano tempo di sviluppo e servizi cloud generativi opzionali. Materiali: bastano smartphone e laptop esistenti, senza hardware dedicato nel prototipo. Scalabilità: SQLite può diventare PostgreSQL, i file locali object storage, e si possono aggiungere autenticazione, job asincroni e monitoraggio. Per lo smartphone il primo passo razionale è una PWA installabile; wrapper o app nativa hanno senso solo se camera, push e offline diventano requisiti centrali. Prima della produzione servono sicurezza, isolamento utenti e verifica GDPR.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Chiudo con un bilancio. Il beneficio potenziale nasce da maggiore rotazione, cura prima della sostituzione, minori acquisti non necessari e seconda vita documentata. Esiste però un costo digitale: training, inferenza, storage delle immagini, servizi generativi esterni, dispositivi e rete. Le mitigazioni già presenti o progettate sono backbone congelato, reti piccole, inferenza locale, caching e generazione opzionale. Non dichiariamo un impatto netto positivo senza dati reali: servono sperimentazione con utenti, misure del comportamento, fonti LCA e intervalli d’incertezza. La checklist finale mostra che la consegna copre problem setting, workflow e prompt, confronti e allucinazioni, ML con notebook Python, fattibilità e sostenibilità. La frase conclusiva riassume la nostra scelta: usare l’AI dove riduce davvero l’incertezza e mantenere spiegabile tutto il resto.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xml version='1.0' encoding='UTF-8' standalone='yes'?>
<Relationships xmlns="http://schemas.openxmlformats.org/package/2006/relationships"><Relationship Id="Rf88eeaf29d444c63" Type="http://schemas.openxmlformats.org/officeDocument/2006/relationships/slideMaster" Target="../slideMasters/slideMaster1.xml"/></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42bfd14c0864ae3" Type="http://schemas.openxmlformats.org/officeDocument/2006/relationships/slideLayout" Target="../slideLayouts/slideLayout2.xml"/><Relationship Id="Rbfa6597880254ae9" Type="http://schemas.openxmlformats.org/officeDocument/2006/relationships/theme" Target="../theme/theme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2bfd14c0864a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3660b9d81d4c4de5" Type="http://schemas.openxmlformats.org/officeDocument/2006/relationships/image" Target="../media/image.png"/><Relationship Id="R5685d9971f7746bc" Type="http://schemas.openxmlformats.org/officeDocument/2006/relationships/image" Target="../media/image2.png"/><Relationship Id="Rdc20447a25014a49" Type="http://schemas.openxmlformats.org/officeDocument/2006/relationships/slideLayout" Target="../slideLayouts/slideLayout2.xml"/><Relationship Id="Reed1050f9c0a410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cac385aa8bc42a3" Type="http://schemas.openxmlformats.org/officeDocument/2006/relationships/slideLayout" Target="../slideLayouts/slideLayout2.xml"/><Relationship Id="R67d5ab0f2d0747a9" Type="http://schemas.openxmlformats.org/officeDocument/2006/relationships/image" Target="../media/image3.png"/><Relationship Id="Re5cc9f57726e461d"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6f790110509a43c8" Type="http://schemas.openxmlformats.org/officeDocument/2006/relationships/notesSlide" Target="../notesSlides/notesSlide3.xml"/><Relationship Id="Rd8ab39d8c29a47d6"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38c2faa54dc24d9c" Type="http://schemas.openxmlformats.org/officeDocument/2006/relationships/notesSlide" Target="../notesSlides/notesSlide4.xml"/><Relationship Id="Rc9b82399630246c6"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55aee52f520a4225" Type="http://schemas.openxmlformats.org/officeDocument/2006/relationships/slideLayout" Target="../slideLayouts/slideLayout2.xml"/><Relationship Id="R693c19aae1cb433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3059cd5658924c76" Type="http://schemas.openxmlformats.org/officeDocument/2006/relationships/notesSlide" Target="../notesSlides/notesSlide6.xml"/><Relationship Id="R84f7e6b2341c48eb"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264801d56937426c" Type="http://schemas.openxmlformats.org/officeDocument/2006/relationships/slideLayout" Target="../slideLayouts/slideLayout2.xml"/><Relationship Id="Re86ef00becfc4db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fec11ac6b7d40bf" Type="http://schemas.openxmlformats.org/officeDocument/2006/relationships/slideLayout" Target="../slideLayouts/slideLayout2.xml"/><Relationship Id="Raec83280d41d486a"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b6df8ec979d4505" Type="http://schemas.openxmlformats.org/officeDocument/2006/relationships/notesSlide" Target="../notesSlides/notesSlide9.xml"/><Relationship Id="Rb19b612e9f574ca7"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d7758e69d7d8466f" Type="http://schemas.openxmlformats.org/officeDocument/2006/relationships/notesSlide" Target="../notesSlides/notesSlide10.xml"/><Relationship Id="Rdda2ea7802fa460f"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1c978dbc3c1243b7" Type="http://schemas.openxmlformats.org/officeDocument/2006/relationships/slideLayout" Target="../slideLayouts/slideLayout2.xml"/><Relationship Id="R238da046b13e468e"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107130fddcc640c0" Type="http://schemas.openxmlformats.org/officeDocument/2006/relationships/slideLayout" Target="../slideLayouts/slideLayout2.xml"/><Relationship Id="Rd079856e640749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568b01c9292a4fc1" Type="http://schemas.openxmlformats.org/officeDocument/2006/relationships/notesSlide" Target="../notesSlides/notesSlide13.xml"/><Relationship Id="Rd1422e7f525842f9"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0955b40888864c5d" Type="http://schemas.openxmlformats.org/officeDocument/2006/relationships/slideLayout" Target="../slideLayouts/slideLayout2.xml"/><Relationship Id="R84b130ce4b714ddb" Type="http://schemas.openxmlformats.org/officeDocument/2006/relationships/notesSlide" Target="../notesSlides/notesSlide14.xml"/><Relationship Id="Rd0e083c3fe904975" Type="http://schemas.openxmlformats.org/officeDocument/2006/relationships/image" Target="../media/image4.png"/></Relationships>
</file>

<file path=ppt/slides/_rels/slide15.xml.rels><?xml version='1.0' encoding='UTF-8' standalone='yes'?>
<Relationships xmlns="http://schemas.openxmlformats.org/package/2006/relationships"><Relationship Id="R25e96023658243d3" Type="http://schemas.openxmlformats.org/officeDocument/2006/relationships/slideLayout" Target="../slideLayouts/slideLayout2.xml"/><Relationship Id="R4e9ad48e8dfd484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3dd79208e8cd4ce8" Type="http://schemas.openxmlformats.org/officeDocument/2006/relationships/slideLayout" Target="../slideLayouts/slideLayout2.xml"/><Relationship Id="Rc306a6acd5564d7b"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6db3e396200e4682" Type="http://schemas.openxmlformats.org/officeDocument/2006/relationships/slideLayout" Target="../slideLayouts/slideLayout2.xml"/><Relationship Id="R743a2aae889c429c" Type="http://schemas.openxmlformats.org/officeDocument/2006/relationships/notesSlide" Target="../notesSlides/notesSlide17.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BDC1591-A783-44CD-B77A-58B188B47A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660b9d81d4c4de5"/>
          <a:srcRect xmlns:a="http://schemas.openxmlformats.org/drawingml/2006/main" l="28895" t="0" r="28895" b="0"/>
          <a:stretch xmlns:a="http://schemas.openxmlformats.org/drawingml/2006/main">
            <a:fillRect l="0" t="0" r="0" b="0"/>
          </a:stretch>
        </p:blipFill>
        <p:spPr>
          <a:xfrm xmlns:a="http://schemas.openxmlformats.org/drawingml/2006/main">
            <a:off x="7048500" y="0"/>
            <a:ext cx="5143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56F1DF-A4B4-407C-98FC-8EB58F3BDEAC}"/>
              </a:ext>
            </a:extLst>
          </p:cNvPr>
          <p:cNvSpPr>
            <a:spLocks xmlns:a="http://schemas.openxmlformats.org/drawingml/2006/main" noGrp="1"/>
          </p:cNvSpPr>
          <p:nvPr/>
        </p:nvSpPr>
        <p:spPr>
          <a:xfrm xmlns:a="http://schemas.openxmlformats.org/drawingml/2006/main">
            <a:off x="6667500" y="0"/>
            <a:ext cx="5524500" cy="6858000"/>
          </a:xfrm>
          <a:prstGeom xmlns:a="http://schemas.openxmlformats.org/drawingml/2006/main" prst="rect">
            <a:avLst/>
          </a:prstGeom>
          <a:solidFill xmlns:a="http://schemas.openxmlformats.org/drawingml/2006/main">
            <a:srgbClr val="123C31">
              <a:alpha val="40784"/>
            </a:srgbClr>
          </a:solidFill>
          <a:ln xmlns:a="http://schemas.openxmlformats.org/drawingml/2006/main" w="0">
            <a:solidFill>
              <a:srgbClr val="000000">
                <a:alpha val="0"/>
              </a:srgbClr>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685d9971f7746bc"/>
          <a:stretch xmlns:a="http://schemas.openxmlformats.org/drawingml/2006/main"/>
        </p:blipFill>
        <p:spPr>
          <a:xfrm xmlns:a="http://schemas.openxmlformats.org/drawingml/2006/main">
            <a:off x="552450" y="628650"/>
            <a:ext cx="685800" cy="68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1E784E9-83DC-4583-81ED-9A8546EEFF41}"/>
              </a:ext>
            </a:extLst>
          </p:cNvPr>
          <p:cNvSpPr>
            <a:spLocks xmlns:a="http://schemas.openxmlformats.org/drawingml/2006/main" noGrp="1"/>
          </p:cNvSpPr>
          <p:nvPr/>
        </p:nvSpPr>
        <p:spPr>
          <a:xfrm xmlns:a="http://schemas.openxmlformats.org/drawingml/2006/main">
            <a:off x="1466850" y="647700"/>
            <a:ext cx="44767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900" b="1">
                <a:solidFill>
                  <a:srgbClr val="FFFFFF"/>
                </a:solidFill>
                <a:latin typeface="Georgia"/>
                <a:ea typeface="Georgia"/>
                <a:cs typeface="Georgia"/>
              </a:defRPr>
            </a:pPr>
            <a:r>
              <a:rPr sz="3900" b="1">
                <a:solidFill>
                  <a:srgbClr val="FFFFFF"/>
                </a:solidFill>
                <a:latin typeface="Georgia"/>
                <a:ea typeface="Georgia"/>
                <a:cs typeface="Georgia"/>
              </a:rPr>
              <a:t>ClosetAI</a:t>
            </a:r>
          </a:p>
        </p:txBody>
      </p:sp>
      <p:sp>
        <p:nvSpPr>
          <p:cNvPr id="6" name="">
            <a:extLst xmlns:a="http://schemas.openxmlformats.org/drawingml/2006/main">
              <a:ext uri="{FF2B5EF4-FFF2-40B4-BE49-F238E27FC236}">
                <a16:creationId xmlns:a16="http://schemas.microsoft.com/office/drawing/2014/main" id="{D465DD20-5A3B-44ED-A767-71C8C13BDD8E}"/>
              </a:ext>
            </a:extLst>
          </p:cNvPr>
          <p:cNvSpPr>
            <a:spLocks xmlns:a="http://schemas.openxmlformats.org/drawingml/2006/main" noGrp="1"/>
          </p:cNvSpPr>
          <p:nvPr/>
        </p:nvSpPr>
        <p:spPr>
          <a:xfrm xmlns:a="http://schemas.openxmlformats.org/drawingml/2006/main">
            <a:off x="552450" y="1809750"/>
            <a:ext cx="590550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B9D94A"/>
                </a:solidFill>
                <a:latin typeface="Georgia"/>
                <a:ea typeface="Georgia"/>
                <a:cs typeface="Georgia"/>
              </a:defRPr>
            </a:pPr>
            <a:r>
              <a:rPr sz="2775" b="1">
                <a:solidFill>
                  <a:srgbClr val="B9D94A"/>
                </a:solidFill>
                <a:latin typeface="Georgia"/>
                <a:ea typeface="Georgia"/>
                <a:cs typeface="Georgia"/>
              </a:rPr>
              <a:t>Compra meno.</a:t>
            </a:r>
          </a:p>
          <a:p xmlns:a="http://schemas.openxmlformats.org/drawingml/2006/main">
            <a:pPr algn="l">
              <a:defRPr sz="2775" b="1">
                <a:solidFill>
                  <a:srgbClr val="B9D94A"/>
                </a:solidFill>
                <a:latin typeface="Georgia"/>
                <a:ea typeface="Georgia"/>
                <a:cs typeface="Georgia"/>
              </a:defRPr>
            </a:pPr>
            <a:r>
              <a:rPr sz="2775" b="1">
                <a:solidFill>
                  <a:srgbClr val="B9D94A"/>
                </a:solidFill>
                <a:latin typeface="Georgia"/>
                <a:ea typeface="Georgia"/>
                <a:cs typeface="Georgia"/>
              </a:rPr>
              <a:t>Usa meglio ciò che hai già.</a:t>
            </a:r>
          </a:p>
        </p:txBody>
      </p:sp>
      <p:sp>
        <p:nvSpPr>
          <p:cNvPr id="7" name="">
            <a:extLst xmlns:a="http://schemas.openxmlformats.org/drawingml/2006/main">
              <a:ext uri="{FF2B5EF4-FFF2-40B4-BE49-F238E27FC236}">
                <a16:creationId xmlns:a16="http://schemas.microsoft.com/office/drawing/2014/main" id="{A05E70FA-D5A2-46CD-AA7A-FD7C19C920B2}"/>
              </a:ext>
            </a:extLst>
          </p:cNvPr>
          <p:cNvSpPr>
            <a:spLocks xmlns:a="http://schemas.openxmlformats.org/drawingml/2006/main" noGrp="1"/>
          </p:cNvSpPr>
          <p:nvPr/>
        </p:nvSpPr>
        <p:spPr>
          <a:xfrm xmlns:a="http://schemas.openxmlformats.org/drawingml/2006/main">
            <a:off x="552450" y="3600450"/>
            <a:ext cx="5619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DE5DD"/>
                </a:solidFill>
                <a:latin typeface="Aptos"/>
                <a:ea typeface="Aptos"/>
                <a:cs typeface="Aptos"/>
              </a:defRPr>
            </a:pPr>
            <a:r>
              <a:rPr sz="1275" b="0">
                <a:solidFill>
                  <a:srgbClr val="DDE5DD"/>
                </a:solidFill>
                <a:latin typeface="Aptos"/>
                <a:ea typeface="Aptos"/>
                <a:cs typeface="Aptos"/>
              </a:rPr>
              <a:t>Una user story completa, poi le scelte tecniche: AI funzionale, AI generativa, notebook, fattibilità e impatto.</a:t>
            </a:r>
          </a:p>
        </p:txBody>
      </p:sp>
      <p:sp>
        <p:nvSpPr>
          <p:cNvPr id="8" name="">
            <a:extLst xmlns:a="http://schemas.openxmlformats.org/drawingml/2006/main">
              <a:ext uri="{FF2B5EF4-FFF2-40B4-BE49-F238E27FC236}">
                <a16:creationId xmlns:a16="http://schemas.microsoft.com/office/drawing/2014/main" id="{FA103BAA-C7DC-4D71-A2CF-092DD09015B9}"/>
              </a:ext>
            </a:extLst>
          </p:cNvPr>
          <p:cNvSpPr>
            <a:spLocks xmlns:a="http://schemas.openxmlformats.org/drawingml/2006/main" noGrp="1"/>
          </p:cNvSpPr>
          <p:nvPr/>
        </p:nvSpPr>
        <p:spPr>
          <a:xfrm xmlns:a="http://schemas.openxmlformats.org/drawingml/2006/main">
            <a:off x="552450" y="4857750"/>
            <a:ext cx="3028950" cy="266700"/>
          </a:xfrm>
          <a:prstGeom xmlns:a="http://schemas.openxmlformats.org/drawingml/2006/main" prst="roundRect">
            <a:avLst>
              <a:gd name="adj" fmla="val 28571"/>
            </a:avLst>
          </a:prstGeom>
          <a:solidFill xmlns:a="http://schemas.openxmlformats.org/drawingml/2006/main">
            <a:srgbClr val="1D594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501C5CD-BA3A-4DB9-B648-64AA22280581}"/>
              </a:ext>
            </a:extLst>
          </p:cNvPr>
          <p:cNvSpPr>
            <a:spLocks xmlns:a="http://schemas.openxmlformats.org/drawingml/2006/main" noGrp="1"/>
          </p:cNvSpPr>
          <p:nvPr/>
        </p:nvSpPr>
        <p:spPr>
          <a:xfrm xmlns:a="http://schemas.openxmlformats.org/drawingml/2006/main">
            <a:off x="638175" y="487680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PRODOTTO AI ECO-SOSTENIBILE</a:t>
            </a:r>
          </a:p>
        </p:txBody>
      </p:sp>
      <p:sp>
        <p:nvSpPr>
          <p:cNvPr id="10" name="">
            <a:extLst xmlns:a="http://schemas.openxmlformats.org/drawingml/2006/main">
              <a:ext uri="{FF2B5EF4-FFF2-40B4-BE49-F238E27FC236}">
                <a16:creationId xmlns:a16="http://schemas.microsoft.com/office/drawing/2014/main" id="{D8B798CB-7B78-4FAD-9846-E1AF4FF9329F}"/>
              </a:ext>
            </a:extLst>
          </p:cNvPr>
          <p:cNvSpPr>
            <a:spLocks xmlns:a="http://schemas.openxmlformats.org/drawingml/2006/main" noGrp="1"/>
          </p:cNvSpPr>
          <p:nvPr/>
        </p:nvSpPr>
        <p:spPr>
          <a:xfrm xmlns:a="http://schemas.openxmlformats.org/drawingml/2006/main">
            <a:off x="8496300" y="6153150"/>
            <a:ext cx="2952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DDE5DD"/>
                </a:solidFill>
                <a:latin typeface="Aptos"/>
                <a:ea typeface="Aptos"/>
                <a:cs typeface="Aptos"/>
              </a:defRPr>
            </a:pPr>
            <a:r>
              <a:rPr sz="600" b="0">
                <a:solidFill>
                  <a:srgbClr val="DDE5DD"/>
                </a:solidFill>
                <a:latin typeface="Aptos"/>
                <a:ea typeface="Aptos"/>
                <a:cs typeface="Aptos"/>
              </a:rPr>
              <a:t>Immagine illustrativa generata con AI</a:t>
            </a:r>
          </a:p>
        </p:txBody>
      </p:sp>
      <p:sp>
        <p:nvSpPr>
          <p:cNvPr id="11" name="">
            <a:extLst xmlns:a="http://schemas.openxmlformats.org/drawingml/2006/main">
              <a:ext uri="{FF2B5EF4-FFF2-40B4-BE49-F238E27FC236}">
                <a16:creationId xmlns:a16="http://schemas.microsoft.com/office/drawing/2014/main" id="{3A022202-9298-4EFE-9C94-1BCD5FE9E356}"/>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75F29FF-FCE8-4804-B923-B3593D233FB1}"/>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91AA9F"/>
                </a:solidFill>
                <a:latin typeface="Aptos"/>
                <a:ea typeface="Aptos"/>
                <a:cs typeface="Aptos"/>
              </a:defRPr>
            </a:pPr>
            <a:r>
              <a:rPr sz="563" b="0">
                <a:solidFill>
                  <a:srgbClr val="91AA9F"/>
                </a:solidFill>
                <a:latin typeface="Aptos"/>
                <a:ea typeface="Aptos"/>
                <a:cs typeface="Aptos"/>
              </a:rPr>
              <a:t>Esame universitario ufficiale · AI generativa dichiarata e verificata</a:t>
            </a:r>
          </a:p>
        </p:txBody>
      </p:sp>
      <p:sp>
        <p:nvSpPr>
          <p:cNvPr id="13" name="">
            <a:extLst xmlns:a="http://schemas.openxmlformats.org/drawingml/2006/main">
              <a:ext uri="{FF2B5EF4-FFF2-40B4-BE49-F238E27FC236}">
                <a16:creationId xmlns:a16="http://schemas.microsoft.com/office/drawing/2014/main" id="{13D99433-7F23-4B3E-B8C1-0A77499A9A14}"/>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91AA9F"/>
                </a:solidFill>
                <a:latin typeface="Georgia"/>
                <a:ea typeface="Georgia"/>
                <a:cs typeface="Georgia"/>
              </a:defRPr>
            </a:pPr>
            <a:r>
              <a:rPr sz="750" b="1">
                <a:solidFill>
                  <a:srgbClr val="91AA9F"/>
                </a:solidFill>
                <a:latin typeface="Georgia"/>
                <a:ea typeface="Georgia"/>
                <a:cs typeface="Georgia"/>
              </a:rPr>
              <a:t>01</a:t>
            </a:r>
          </a:p>
        </p:txBody>
      </p:sp>
    </p:spTree>
    <p:extLst>
      <p:ext uri="{BB962C8B-B14F-4D97-AF65-F5344CB8AC3E}">
        <p14:creationId xmlns:p14="http://schemas.microsoft.com/office/powerpoint/2010/main" val="179621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BE8F15D0-DB88-4F76-9BC3-A789D1A0E4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7d5ab0f2d0747a9"/>
          <a:srcRect xmlns:a="http://schemas.openxmlformats.org/drawingml/2006/main" l="31006" t="0" r="31006" b="0"/>
          <a:stretch xmlns:a="http://schemas.openxmlformats.org/drawingml/2006/main">
            <a:fillRect l="0" t="0" r="0" b="0"/>
          </a:stretch>
        </p:blipFill>
        <p:spPr>
          <a:xfrm xmlns:a="http://schemas.openxmlformats.org/drawingml/2006/main">
            <a:off x="7562850" y="0"/>
            <a:ext cx="46291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559141E-7C1B-4CEE-B3E3-F4F76EC09505}"/>
              </a:ext>
            </a:extLst>
          </p:cNvPr>
          <p:cNvSpPr>
            <a:spLocks xmlns:a="http://schemas.openxmlformats.org/drawingml/2006/main" noGrp="1"/>
          </p:cNvSpPr>
          <p:nvPr/>
        </p:nvSpPr>
        <p:spPr>
          <a:xfrm xmlns:a="http://schemas.openxmlformats.org/drawingml/2006/main">
            <a:off x="7219950" y="0"/>
            <a:ext cx="4972050" cy="6858000"/>
          </a:xfrm>
          <a:prstGeom xmlns:a="http://schemas.openxmlformats.org/drawingml/2006/main" prst="rect">
            <a:avLst/>
          </a:prstGeom>
          <a:solidFill xmlns:a="http://schemas.openxmlformats.org/drawingml/2006/main">
            <a:srgbClr val="17211D">
              <a:alpha val="18824"/>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0BCFDD8-7375-44D3-A293-414A044B3E23}"/>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43BC1F6-0E8D-498A-B5DF-4AD7D5FA73E1}"/>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U S E R   S T O R Y   ·   P R O B L E M A</a:t>
            </a:r>
          </a:p>
        </p:txBody>
      </p:sp>
      <p:sp>
        <p:nvSpPr>
          <p:cNvPr id="6" name="claim-title">
            <a:extLst xmlns:a="http://schemas.openxmlformats.org/drawingml/2006/main">
              <a:ext uri="{FF2B5EF4-FFF2-40B4-BE49-F238E27FC236}">
                <a16:creationId xmlns:a16="http://schemas.microsoft.com/office/drawing/2014/main" id="{A622DD38-57C4-4572-8CFB-A1D6FDE9FB18}"/>
              </a:ext>
            </a:extLst>
          </p:cNvPr>
          <p:cNvSpPr>
            <a:spLocks xmlns:a="http://schemas.openxmlformats.org/drawingml/2006/main" noGrp="1"/>
          </p:cNvSpPr>
          <p:nvPr/>
        </p:nvSpPr>
        <p:spPr>
          <a:xfrm xmlns:a="http://schemas.openxmlformats.org/drawingml/2006/main">
            <a:off x="552450" y="742950"/>
            <a:ext cx="6381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11D"/>
                </a:solidFill>
                <a:latin typeface="Georgia"/>
                <a:ea typeface="Georgia"/>
                <a:cs typeface="Georgia"/>
              </a:defRPr>
            </a:pPr>
            <a:r>
              <a:rPr sz="2850" b="1">
                <a:solidFill>
                  <a:srgbClr val="17211D"/>
                </a:solidFill>
                <a:latin typeface="Georgia"/>
                <a:ea typeface="Georgia"/>
                <a:cs typeface="Georgia"/>
              </a:rPr>
              <a:t>Marta ha molti capi, ma ogni mattina sceglie sempre gli stessi.</a:t>
            </a:r>
          </a:p>
        </p:txBody>
      </p:sp>
      <p:sp>
        <p:nvSpPr>
          <p:cNvPr id="7" name="">
            <a:extLst xmlns:a="http://schemas.openxmlformats.org/drawingml/2006/main">
              <a:ext uri="{FF2B5EF4-FFF2-40B4-BE49-F238E27FC236}">
                <a16:creationId xmlns:a16="http://schemas.microsoft.com/office/drawing/2014/main" id="{3B6F783C-F92D-4CF8-A11B-8E067535FBF9}"/>
              </a:ext>
            </a:extLst>
          </p:cNvPr>
          <p:cNvSpPr>
            <a:spLocks xmlns:a="http://schemas.openxmlformats.org/drawingml/2006/main" noGrp="1"/>
          </p:cNvSpPr>
          <p:nvPr/>
        </p:nvSpPr>
        <p:spPr>
          <a:xfrm xmlns:a="http://schemas.openxmlformats.org/drawingml/2006/main">
            <a:off x="552450" y="1905000"/>
            <a:ext cx="5905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5736B"/>
                </a:solidFill>
                <a:latin typeface="Aptos"/>
                <a:ea typeface="Aptos"/>
                <a:cs typeface="Aptos"/>
              </a:defRPr>
            </a:pPr>
            <a:r>
              <a:rPr sz="1275" b="0">
                <a:solidFill>
                  <a:srgbClr val="65736B"/>
                </a:solidFill>
                <a:latin typeface="Aptos"/>
                <a:ea typeface="Aptos"/>
                <a:cs typeface="Aptos"/>
              </a:rPr>
              <a:t>La giacca verde resta invisibile: il problema non è soltanto possedere, ma non vedere l’uso reale.</a:t>
            </a:r>
          </a:p>
        </p:txBody>
      </p:sp>
      <p:sp>
        <p:nvSpPr>
          <p:cNvPr id="8" name="">
            <a:extLst xmlns:a="http://schemas.openxmlformats.org/drawingml/2006/main">
              <a:ext uri="{FF2B5EF4-FFF2-40B4-BE49-F238E27FC236}">
                <a16:creationId xmlns:a16="http://schemas.microsoft.com/office/drawing/2014/main" id="{54396D0C-1770-4F7A-BD8C-6BDBC40CC25D}"/>
              </a:ext>
            </a:extLst>
          </p:cNvPr>
          <p:cNvSpPr>
            <a:spLocks xmlns:a="http://schemas.openxmlformats.org/drawingml/2006/main" noGrp="1"/>
          </p:cNvSpPr>
          <p:nvPr/>
        </p:nvSpPr>
        <p:spPr>
          <a:xfrm xmlns:a="http://schemas.openxmlformats.org/drawingml/2006/main">
            <a:off x="552450" y="30861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B9C3BB"/>
            </a:solidFill>
            <a:prstDash val="solid"/>
          </a:ln>
        </p:spPr>
      </p:sp>
      <p:sp>
        <p:nvSpPr>
          <p:cNvPr id="9" name="">
            <a:extLst xmlns:a="http://schemas.openxmlformats.org/drawingml/2006/main">
              <a:ext uri="{FF2B5EF4-FFF2-40B4-BE49-F238E27FC236}">
                <a16:creationId xmlns:a16="http://schemas.microsoft.com/office/drawing/2014/main" id="{56BDFF12-C994-4854-9E60-5528EAE5A6D8}"/>
              </a:ext>
            </a:extLst>
          </p:cNvPr>
          <p:cNvSpPr>
            <a:spLocks xmlns:a="http://schemas.openxmlformats.org/drawingml/2006/main" noGrp="1"/>
          </p:cNvSpPr>
          <p:nvPr/>
        </p:nvSpPr>
        <p:spPr>
          <a:xfrm xmlns:a="http://schemas.openxmlformats.org/drawingml/2006/main">
            <a:off x="552450" y="3086100"/>
            <a:ext cx="2667000" cy="47625"/>
          </a:xfrm>
          <a:prstGeom xmlns:a="http://schemas.openxmlformats.org/drawingml/2006/main" prst="rect">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02ED9C0-B0C5-4A64-8A91-7253C5A87F3D}"/>
              </a:ext>
            </a:extLst>
          </p:cNvPr>
          <p:cNvSpPr>
            <a:spLocks xmlns:a="http://schemas.openxmlformats.org/drawingml/2006/main" noGrp="1"/>
          </p:cNvSpPr>
          <p:nvPr/>
        </p:nvSpPr>
        <p:spPr>
          <a:xfrm xmlns:a="http://schemas.openxmlformats.org/drawingml/2006/main">
            <a:off x="723900" y="3257550"/>
            <a:ext cx="23241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F7D5B"/>
                </a:solidFill>
                <a:latin typeface="Georgia"/>
                <a:ea typeface="Georgia"/>
                <a:cs typeface="Georgia"/>
              </a:defRPr>
            </a:pPr>
            <a:r>
              <a:rPr sz="2700" b="1">
                <a:solidFill>
                  <a:srgbClr val="2F7D5B"/>
                </a:solidFill>
                <a:latin typeface="Georgia"/>
                <a:ea typeface="Georgia"/>
                <a:cs typeface="Georgia"/>
              </a:rPr>
              <a:t>19 kg</a:t>
            </a:r>
          </a:p>
        </p:txBody>
      </p:sp>
      <p:sp>
        <p:nvSpPr>
          <p:cNvPr id="11" name="">
            <a:extLst xmlns:a="http://schemas.openxmlformats.org/drawingml/2006/main">
              <a:ext uri="{FF2B5EF4-FFF2-40B4-BE49-F238E27FC236}">
                <a16:creationId xmlns:a16="http://schemas.microsoft.com/office/drawing/2014/main" id="{6A2ED326-9653-4F60-BEF1-9046C4E61A8C}"/>
              </a:ext>
            </a:extLst>
          </p:cNvPr>
          <p:cNvSpPr>
            <a:spLocks xmlns:a="http://schemas.openxmlformats.org/drawingml/2006/main" noGrp="1"/>
          </p:cNvSpPr>
          <p:nvPr/>
        </p:nvSpPr>
        <p:spPr>
          <a:xfrm xmlns:a="http://schemas.openxmlformats.org/drawingml/2006/main">
            <a:off x="723900" y="3829050"/>
            <a:ext cx="2324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65736B"/>
                </a:solidFill>
                <a:latin typeface="Aptos"/>
                <a:ea typeface="Aptos"/>
                <a:cs typeface="Aptos"/>
              </a:defRPr>
            </a:pPr>
            <a:r>
              <a:rPr sz="788" b="1">
                <a:solidFill>
                  <a:srgbClr val="65736B"/>
                </a:solidFill>
                <a:latin typeface="Aptos"/>
                <a:ea typeface="Aptos"/>
                <a:cs typeface="Aptos"/>
              </a:rPr>
              <a:t>tessili consumati per persona · UE 2022</a:t>
            </a:r>
          </a:p>
        </p:txBody>
      </p:sp>
      <p:sp>
        <p:nvSpPr>
          <p:cNvPr id="12" name="">
            <a:extLst xmlns:a="http://schemas.openxmlformats.org/drawingml/2006/main">
              <a:ext uri="{FF2B5EF4-FFF2-40B4-BE49-F238E27FC236}">
                <a16:creationId xmlns:a16="http://schemas.microsoft.com/office/drawing/2014/main" id="{E9A655C9-0A74-4425-87C1-1267EF39493A}"/>
              </a:ext>
            </a:extLst>
          </p:cNvPr>
          <p:cNvSpPr>
            <a:spLocks xmlns:a="http://schemas.openxmlformats.org/drawingml/2006/main" noGrp="1"/>
          </p:cNvSpPr>
          <p:nvPr/>
        </p:nvSpPr>
        <p:spPr>
          <a:xfrm xmlns:a="http://schemas.openxmlformats.org/drawingml/2006/main">
            <a:off x="3486150" y="30861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B9C3BB"/>
            </a:solidFill>
            <a:prstDash val="solid"/>
          </a:ln>
        </p:spPr>
      </p:sp>
      <p:sp>
        <p:nvSpPr>
          <p:cNvPr id="13" name="">
            <a:extLst xmlns:a="http://schemas.openxmlformats.org/drawingml/2006/main">
              <a:ext uri="{FF2B5EF4-FFF2-40B4-BE49-F238E27FC236}">
                <a16:creationId xmlns:a16="http://schemas.microsoft.com/office/drawing/2014/main" id="{536968E1-2C35-47A8-92C7-59CF0024FAE1}"/>
              </a:ext>
            </a:extLst>
          </p:cNvPr>
          <p:cNvSpPr>
            <a:spLocks xmlns:a="http://schemas.openxmlformats.org/drawingml/2006/main" noGrp="1"/>
          </p:cNvSpPr>
          <p:nvPr/>
        </p:nvSpPr>
        <p:spPr>
          <a:xfrm xmlns:a="http://schemas.openxmlformats.org/drawingml/2006/main">
            <a:off x="3486150" y="3086100"/>
            <a:ext cx="2667000" cy="47625"/>
          </a:xfrm>
          <a:prstGeom xmlns:a="http://schemas.openxmlformats.org/drawingml/2006/main" prst="rect">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B202F8E-6C5D-4853-A731-4F8B29A4D182}"/>
              </a:ext>
            </a:extLst>
          </p:cNvPr>
          <p:cNvSpPr>
            <a:spLocks xmlns:a="http://schemas.openxmlformats.org/drawingml/2006/main" noGrp="1"/>
          </p:cNvSpPr>
          <p:nvPr/>
        </p:nvSpPr>
        <p:spPr>
          <a:xfrm xmlns:a="http://schemas.openxmlformats.org/drawingml/2006/main">
            <a:off x="3657600" y="3257550"/>
            <a:ext cx="23241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D56E42"/>
                </a:solidFill>
                <a:latin typeface="Georgia"/>
                <a:ea typeface="Georgia"/>
                <a:cs typeface="Georgia"/>
              </a:defRPr>
            </a:pPr>
            <a:r>
              <a:rPr sz="2700" b="1">
                <a:solidFill>
                  <a:srgbClr val="D56E42"/>
                </a:solidFill>
                <a:latin typeface="Georgia"/>
                <a:ea typeface="Georgia"/>
                <a:cs typeface="Georgia"/>
              </a:rPr>
              <a:t>16 kg</a:t>
            </a:r>
          </a:p>
        </p:txBody>
      </p:sp>
      <p:sp>
        <p:nvSpPr>
          <p:cNvPr id="15" name="">
            <a:extLst xmlns:a="http://schemas.openxmlformats.org/drawingml/2006/main">
              <a:ext uri="{FF2B5EF4-FFF2-40B4-BE49-F238E27FC236}">
                <a16:creationId xmlns:a16="http://schemas.microsoft.com/office/drawing/2014/main" id="{55579DFD-DAE0-4050-A720-9C36558CCA7C}"/>
              </a:ext>
            </a:extLst>
          </p:cNvPr>
          <p:cNvSpPr>
            <a:spLocks xmlns:a="http://schemas.openxmlformats.org/drawingml/2006/main" noGrp="1"/>
          </p:cNvSpPr>
          <p:nvPr/>
        </p:nvSpPr>
        <p:spPr>
          <a:xfrm xmlns:a="http://schemas.openxmlformats.org/drawingml/2006/main">
            <a:off x="3657600" y="3829050"/>
            <a:ext cx="2324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65736B"/>
                </a:solidFill>
                <a:latin typeface="Aptos"/>
                <a:ea typeface="Aptos"/>
                <a:cs typeface="Aptos"/>
              </a:defRPr>
            </a:pPr>
            <a:r>
              <a:rPr sz="788" b="1">
                <a:solidFill>
                  <a:srgbClr val="65736B"/>
                </a:solidFill>
                <a:latin typeface="Aptos"/>
                <a:ea typeface="Aptos"/>
                <a:cs typeface="Aptos"/>
              </a:rPr>
              <a:t>rifiuti tessili per persona · UE 2022</a:t>
            </a:r>
          </a:p>
        </p:txBody>
      </p:sp>
      <p:sp>
        <p:nvSpPr>
          <p:cNvPr id="16" name="">
            <a:extLst xmlns:a="http://schemas.openxmlformats.org/drawingml/2006/main">
              <a:ext uri="{FF2B5EF4-FFF2-40B4-BE49-F238E27FC236}">
                <a16:creationId xmlns:a16="http://schemas.microsoft.com/office/drawing/2014/main" id="{3E983527-55ED-44AB-B089-E3737FADFD59}"/>
              </a:ext>
            </a:extLst>
          </p:cNvPr>
          <p:cNvSpPr>
            <a:spLocks xmlns:a="http://schemas.openxmlformats.org/drawingml/2006/main" noGrp="1"/>
          </p:cNvSpPr>
          <p:nvPr/>
        </p:nvSpPr>
        <p:spPr>
          <a:xfrm xmlns:a="http://schemas.openxmlformats.org/drawingml/2006/main">
            <a:off x="552450" y="4705350"/>
            <a:ext cx="5600700" cy="895350"/>
          </a:xfrm>
          <a:prstGeom xmlns:a="http://schemas.openxmlformats.org/drawingml/2006/main" prst="roundRect">
            <a:avLst>
              <a:gd name="adj" fmla="val 8511"/>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8712735-2DA1-420E-9D21-36DA266DEFE3}"/>
              </a:ext>
            </a:extLst>
          </p:cNvPr>
          <p:cNvSpPr>
            <a:spLocks xmlns:a="http://schemas.openxmlformats.org/drawingml/2006/main" noGrp="1"/>
          </p:cNvSpPr>
          <p:nvPr/>
        </p:nvSpPr>
        <p:spPr>
          <a:xfrm xmlns:a="http://schemas.openxmlformats.org/drawingml/2006/main">
            <a:off x="781050" y="4895850"/>
            <a:ext cx="1905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B9D94A"/>
                </a:solidFill>
                <a:latin typeface="Aptos"/>
                <a:ea typeface="Aptos"/>
                <a:cs typeface="Aptos"/>
              </a:defRPr>
            </a:pPr>
            <a:r>
              <a:rPr sz="675" b="1">
                <a:solidFill>
                  <a:srgbClr val="B9D94A"/>
                </a:solidFill>
                <a:latin typeface="Aptos"/>
                <a:ea typeface="Aptos"/>
                <a:cs typeface="Aptos"/>
              </a:rPr>
              <a:t>DOMANDA DI PROGETTO</a:t>
            </a:r>
          </a:p>
        </p:txBody>
      </p:sp>
      <p:sp>
        <p:nvSpPr>
          <p:cNvPr id="18" name="">
            <a:extLst xmlns:a="http://schemas.openxmlformats.org/drawingml/2006/main">
              <a:ext uri="{FF2B5EF4-FFF2-40B4-BE49-F238E27FC236}">
                <a16:creationId xmlns:a16="http://schemas.microsoft.com/office/drawing/2014/main" id="{03A76D9B-DD1B-405D-9F53-48AFACFA0770}"/>
              </a:ext>
            </a:extLst>
          </p:cNvPr>
          <p:cNvSpPr>
            <a:spLocks xmlns:a="http://schemas.openxmlformats.org/drawingml/2006/main" noGrp="1"/>
          </p:cNvSpPr>
          <p:nvPr/>
        </p:nvSpPr>
        <p:spPr>
          <a:xfrm xmlns:a="http://schemas.openxmlformats.org/drawingml/2006/main">
            <a:off x="781050" y="5105400"/>
            <a:ext cx="4953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Georgia"/>
                <a:ea typeface="Georgia"/>
                <a:cs typeface="Georgia"/>
              </a:defRPr>
            </a:pPr>
            <a:r>
              <a:rPr sz="1350" b="1">
                <a:solidFill>
                  <a:srgbClr val="FFFFFF"/>
                </a:solidFill>
                <a:latin typeface="Georgia"/>
                <a:ea typeface="Georgia"/>
                <a:cs typeface="Georgia"/>
              </a:rPr>
              <a:t>Come aiutare Marta a usare più a lungo ciò che possiede?</a:t>
            </a:r>
          </a:p>
        </p:txBody>
      </p:sp>
      <p:sp>
        <p:nvSpPr>
          <p:cNvPr id="19" name="">
            <a:extLst xmlns:a="http://schemas.openxmlformats.org/drawingml/2006/main">
              <a:ext uri="{FF2B5EF4-FFF2-40B4-BE49-F238E27FC236}">
                <a16:creationId xmlns:a16="http://schemas.microsoft.com/office/drawing/2014/main" id="{5B540215-28CB-47DB-A45A-AE4C789B6DF1}"/>
              </a:ext>
            </a:extLst>
          </p:cNvPr>
          <p:cNvSpPr>
            <a:spLocks xmlns:a="http://schemas.openxmlformats.org/drawingml/2006/main" noGrp="1"/>
          </p:cNvSpPr>
          <p:nvPr/>
        </p:nvSpPr>
        <p:spPr>
          <a:xfrm xmlns:a="http://schemas.openxmlformats.org/drawingml/2006/main">
            <a:off x="8724900" y="6153150"/>
            <a:ext cx="2724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FFFFFF"/>
                </a:solidFill>
                <a:latin typeface="Aptos"/>
                <a:ea typeface="Aptos"/>
                <a:cs typeface="Aptos"/>
              </a:defRPr>
            </a:pPr>
            <a:r>
              <a:rPr sz="600" b="0">
                <a:solidFill>
                  <a:srgbClr val="FFFFFF"/>
                </a:solidFill>
                <a:latin typeface="Aptos"/>
                <a:ea typeface="Aptos"/>
                <a:cs typeface="Aptos"/>
              </a:rPr>
              <a:t>Immagine illustrativa generata con AI</a:t>
            </a:r>
          </a:p>
        </p:txBody>
      </p:sp>
      <p:sp>
        <p:nvSpPr>
          <p:cNvPr id="20" name="">
            <a:extLst xmlns:a="http://schemas.openxmlformats.org/drawingml/2006/main">
              <a:ext uri="{FF2B5EF4-FFF2-40B4-BE49-F238E27FC236}">
                <a16:creationId xmlns:a16="http://schemas.microsoft.com/office/drawing/2014/main" id="{CC6929CB-7E0D-456C-999D-941FEC64AFE6}"/>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092248D-E802-4770-B09B-A51D0806E063}"/>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Fonte dati: European Environment Agency, UE-27, 2022</a:t>
            </a:r>
          </a:p>
        </p:txBody>
      </p:sp>
      <p:sp>
        <p:nvSpPr>
          <p:cNvPr id="22" name="">
            <a:extLst xmlns:a="http://schemas.openxmlformats.org/drawingml/2006/main">
              <a:ext uri="{FF2B5EF4-FFF2-40B4-BE49-F238E27FC236}">
                <a16:creationId xmlns:a16="http://schemas.microsoft.com/office/drawing/2014/main" id="{3D7450FF-BBB3-4913-99E1-D544CD6B6D85}"/>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02</a:t>
            </a:r>
          </a:p>
        </p:txBody>
      </p:sp>
    </p:spTree>
    <p:extLst>
      <p:ext uri="{BB962C8B-B14F-4D97-AF65-F5344CB8AC3E}">
        <p14:creationId xmlns:p14="http://schemas.microsoft.com/office/powerpoint/2010/main" val="9007811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D01F8C6F-DFB5-42F1-9644-A70D7DA341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ACF7FC7-D210-49EF-B42A-21B6B6A316E3}"/>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9897178-080C-40B6-A3FC-049B7AC84ED0}"/>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U S E R   S T O R Y   ·   C A T A L O G A</a:t>
            </a:r>
          </a:p>
        </p:txBody>
      </p:sp>
      <p:sp>
        <p:nvSpPr>
          <p:cNvPr id="4" name="claim-title">
            <a:extLst xmlns:a="http://schemas.openxmlformats.org/drawingml/2006/main">
              <a:ext uri="{FF2B5EF4-FFF2-40B4-BE49-F238E27FC236}">
                <a16:creationId xmlns:a16="http://schemas.microsoft.com/office/drawing/2014/main" id="{D79423D2-F3C5-4AB4-9539-E4C5F26ED9BC}"/>
              </a:ext>
            </a:extLst>
          </p:cNvPr>
          <p:cNvSpPr>
            <a:spLocks xmlns:a="http://schemas.openxmlformats.org/drawingml/2006/main" noGrp="1"/>
          </p:cNvSpPr>
          <p:nvPr/>
        </p:nvSpPr>
        <p:spPr>
          <a:xfrm xmlns:a="http://schemas.openxmlformats.org/drawingml/2006/main">
            <a:off x="552450" y="742950"/>
            <a:ext cx="10572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11D"/>
                </a:solidFill>
                <a:latin typeface="Georgia"/>
                <a:ea typeface="Georgia"/>
                <a:cs typeface="Georgia"/>
              </a:defRPr>
            </a:pPr>
            <a:r>
              <a:rPr sz="2850" b="1">
                <a:solidFill>
                  <a:srgbClr val="17211D"/>
                </a:solidFill>
                <a:latin typeface="Georgia"/>
                <a:ea typeface="Georgia"/>
                <a:cs typeface="Georgia"/>
              </a:rPr>
              <a:t>Una foto trasforma un capo in una scheda che Marta può correggere.</a:t>
            </a:r>
          </a:p>
        </p:txBody>
      </p:sp>
      <p:sp>
        <p:nvSpPr>
          <p:cNvPr id="5" name="">
            <a:extLst xmlns:a="http://schemas.openxmlformats.org/drawingml/2006/main">
              <a:ext uri="{FF2B5EF4-FFF2-40B4-BE49-F238E27FC236}">
                <a16:creationId xmlns:a16="http://schemas.microsoft.com/office/drawing/2014/main" id="{F31FEDA6-72A0-456D-82DA-821EF15FC940}"/>
              </a:ext>
            </a:extLst>
          </p:cNvPr>
          <p:cNvSpPr>
            <a:spLocks xmlns:a="http://schemas.openxmlformats.org/drawingml/2006/main" noGrp="1"/>
          </p:cNvSpPr>
          <p:nvPr/>
        </p:nvSpPr>
        <p:spPr>
          <a:xfrm xmlns:a="http://schemas.openxmlformats.org/drawingml/2006/main">
            <a:off x="552450" y="1962150"/>
            <a:ext cx="2857500" cy="35052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2481903C-8A05-4028-AAFE-CA9410ECDCAC}"/>
              </a:ext>
            </a:extLst>
          </p:cNvPr>
          <p:cNvSpPr>
            <a:spLocks xmlns:a="http://schemas.openxmlformats.org/drawingml/2006/main" noGrp="1"/>
          </p:cNvSpPr>
          <p:nvPr/>
        </p:nvSpPr>
        <p:spPr>
          <a:xfrm xmlns:a="http://schemas.openxmlformats.org/drawingml/2006/main">
            <a:off x="1371600" y="2457450"/>
            <a:ext cx="1219200" cy="1219200"/>
          </a:xfrm>
          <a:prstGeom xmlns:a="http://schemas.openxmlformats.org/drawingml/2006/main" prst="ellipse">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28E4398-3A93-4A85-B523-317CD860E412}"/>
              </a:ext>
            </a:extLst>
          </p:cNvPr>
          <p:cNvSpPr>
            <a:spLocks xmlns:a="http://schemas.openxmlformats.org/drawingml/2006/main" noGrp="1"/>
          </p:cNvSpPr>
          <p:nvPr/>
        </p:nvSpPr>
        <p:spPr>
          <a:xfrm xmlns:a="http://schemas.openxmlformats.org/drawingml/2006/main">
            <a:off x="1371600" y="2647950"/>
            <a:ext cx="12192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450" b="0">
                <a:solidFill>
                  <a:srgbClr val="123C31"/>
                </a:solidFill>
                <a:latin typeface="Aptos"/>
                <a:ea typeface="Aptos"/>
                <a:cs typeface="Aptos"/>
              </a:defRPr>
            </a:pPr>
            <a:r>
              <a:rPr sz="3450" b="0">
                <a:solidFill>
                  <a:srgbClr val="123C31"/>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266BA6E2-354A-4910-B90D-53A6C366421F}"/>
              </a:ext>
            </a:extLst>
          </p:cNvPr>
          <p:cNvSpPr>
            <a:spLocks xmlns:a="http://schemas.openxmlformats.org/drawingml/2006/main" noGrp="1"/>
          </p:cNvSpPr>
          <p:nvPr/>
        </p:nvSpPr>
        <p:spPr>
          <a:xfrm xmlns:a="http://schemas.openxmlformats.org/drawingml/2006/main">
            <a:off x="838200" y="40195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2F7D5B"/>
                </a:solidFill>
                <a:latin typeface="Aptos"/>
                <a:ea typeface="Aptos"/>
                <a:cs typeface="Aptos"/>
              </a:defRPr>
            </a:pPr>
            <a:r>
              <a:rPr sz="750" b="1">
                <a:solidFill>
                  <a:srgbClr val="2F7D5B"/>
                </a:solidFill>
                <a:latin typeface="Aptos"/>
                <a:ea typeface="Aptos"/>
                <a:cs typeface="Aptos"/>
              </a:rPr>
              <a:t>FOTOGRAFA IL CAPO</a:t>
            </a:r>
          </a:p>
        </p:txBody>
      </p:sp>
      <p:sp>
        <p:nvSpPr>
          <p:cNvPr id="9" name="">
            <a:extLst xmlns:a="http://schemas.openxmlformats.org/drawingml/2006/main">
              <a:ext uri="{FF2B5EF4-FFF2-40B4-BE49-F238E27FC236}">
                <a16:creationId xmlns:a16="http://schemas.microsoft.com/office/drawing/2014/main" id="{4057CAA1-528D-4E80-A769-CC847CC63B9F}"/>
              </a:ext>
            </a:extLst>
          </p:cNvPr>
          <p:cNvSpPr>
            <a:spLocks xmlns:a="http://schemas.openxmlformats.org/drawingml/2006/main" noGrp="1"/>
          </p:cNvSpPr>
          <p:nvPr/>
        </p:nvSpPr>
        <p:spPr>
          <a:xfrm xmlns:a="http://schemas.openxmlformats.org/drawingml/2006/main">
            <a:off x="838200" y="4400550"/>
            <a:ext cx="2286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5736B"/>
                </a:solidFill>
                <a:latin typeface="Aptos"/>
                <a:ea typeface="Aptos"/>
                <a:cs typeface="Aptos"/>
              </a:defRPr>
            </a:pPr>
            <a:r>
              <a:rPr sz="900" b="0">
                <a:solidFill>
                  <a:srgbClr val="65736B"/>
                </a:solidFill>
                <a:latin typeface="Aptos"/>
                <a:ea typeface="Aptos"/>
                <a:cs typeface="Aptos"/>
              </a:rPr>
              <a:t>JPG · PNG · WebP</a:t>
            </a:r>
          </a:p>
          <a:p xmlns:a="http://schemas.openxmlformats.org/drawingml/2006/main">
            <a:pPr algn="ctr">
              <a:defRPr sz="900" b="0">
                <a:solidFill>
                  <a:srgbClr val="65736B"/>
                </a:solidFill>
                <a:latin typeface="Aptos"/>
                <a:ea typeface="Aptos"/>
                <a:cs typeface="Aptos"/>
              </a:defRPr>
            </a:pPr>
            <a:r>
              <a:rPr sz="900" b="0">
                <a:solidFill>
                  <a:srgbClr val="65736B"/>
                </a:solidFill>
                <a:latin typeface="Aptos"/>
                <a:ea typeface="Aptos"/>
                <a:cs typeface="Aptos"/>
              </a:rPr>
              <a:t>massimo 10 MB</a:t>
            </a:r>
          </a:p>
        </p:txBody>
      </p:sp>
      <p:sp>
        <p:nvSpPr>
          <p:cNvPr id="10" name="">
            <a:extLst xmlns:a="http://schemas.openxmlformats.org/drawingml/2006/main">
              <a:ext uri="{FF2B5EF4-FFF2-40B4-BE49-F238E27FC236}">
                <a16:creationId xmlns:a16="http://schemas.microsoft.com/office/drawing/2014/main" id="{B6CAAC34-E4F4-47A2-88F1-73EF2184F048}"/>
              </a:ext>
            </a:extLst>
          </p:cNvPr>
          <p:cNvSpPr>
            <a:spLocks xmlns:a="http://schemas.openxmlformats.org/drawingml/2006/main" noGrp="1"/>
          </p:cNvSpPr>
          <p:nvPr/>
        </p:nvSpPr>
        <p:spPr>
          <a:xfrm xmlns:a="http://schemas.openxmlformats.org/drawingml/2006/main">
            <a:off x="3619500" y="3714750"/>
            <a:ext cx="1085850" cy="28575"/>
          </a:xfrm>
          <a:prstGeom xmlns:a="http://schemas.openxmlformats.org/drawingml/2006/main" prst="rect">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60F8B41-B6C3-40BD-86EB-133142CB6778}"/>
              </a:ext>
            </a:extLst>
          </p:cNvPr>
          <p:cNvSpPr>
            <a:spLocks xmlns:a="http://schemas.openxmlformats.org/drawingml/2006/main" noGrp="1"/>
          </p:cNvSpPr>
          <p:nvPr/>
        </p:nvSpPr>
        <p:spPr>
          <a:xfrm xmlns:a="http://schemas.openxmlformats.org/drawingml/2006/main">
            <a:off x="4676775" y="3657600"/>
            <a:ext cx="133350" cy="133350"/>
          </a:xfrm>
          <a:prstGeom xmlns:a="http://schemas.openxmlformats.org/drawingml/2006/main" prst="triangl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B36A998-CF4B-4C60-9A42-0E0BCF609CFE}"/>
              </a:ext>
            </a:extLst>
          </p:cNvPr>
          <p:cNvSpPr>
            <a:spLocks xmlns:a="http://schemas.openxmlformats.org/drawingml/2006/main" noGrp="1"/>
          </p:cNvSpPr>
          <p:nvPr/>
        </p:nvSpPr>
        <p:spPr>
          <a:xfrm xmlns:a="http://schemas.openxmlformats.org/drawingml/2006/main">
            <a:off x="5048250" y="1962150"/>
            <a:ext cx="6591300" cy="350520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9525">
            <a:solidFill>
              <a:srgbClr val="B9C3BB"/>
            </a:solidFill>
            <a:prstDash val="solid"/>
          </a:ln>
        </p:spPr>
      </p:sp>
      <p:sp>
        <p:nvSpPr>
          <p:cNvPr id="13" name="">
            <a:extLst xmlns:a="http://schemas.openxmlformats.org/drawingml/2006/main">
              <a:ext uri="{FF2B5EF4-FFF2-40B4-BE49-F238E27FC236}">
                <a16:creationId xmlns:a16="http://schemas.microsoft.com/office/drawing/2014/main" id="{92338E87-2CE0-474D-A864-1DF6BDEAFBBC}"/>
              </a:ext>
            </a:extLst>
          </p:cNvPr>
          <p:cNvSpPr>
            <a:spLocks xmlns:a="http://schemas.openxmlformats.org/drawingml/2006/main" noGrp="1"/>
          </p:cNvSpPr>
          <p:nvPr/>
        </p:nvSpPr>
        <p:spPr>
          <a:xfrm xmlns:a="http://schemas.openxmlformats.org/drawingml/2006/main">
            <a:off x="5314950" y="2209800"/>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2F7D5B"/>
                </a:solidFill>
                <a:latin typeface="Aptos"/>
                <a:ea typeface="Aptos"/>
                <a:cs typeface="Aptos"/>
              </a:defRPr>
            </a:pPr>
            <a:r>
              <a:rPr sz="675" b="1">
                <a:solidFill>
                  <a:srgbClr val="2F7D5B"/>
                </a:solidFill>
                <a:latin typeface="Aptos"/>
                <a:ea typeface="Aptos"/>
                <a:cs typeface="Aptos"/>
              </a:rPr>
              <a:t>SCHEDA CORREGGIBILE</a:t>
            </a:r>
          </a:p>
        </p:txBody>
      </p:sp>
      <p:sp>
        <p:nvSpPr>
          <p:cNvPr id="14" name="">
            <a:extLst xmlns:a="http://schemas.openxmlformats.org/drawingml/2006/main">
              <a:ext uri="{FF2B5EF4-FFF2-40B4-BE49-F238E27FC236}">
                <a16:creationId xmlns:a16="http://schemas.microsoft.com/office/drawing/2014/main" id="{6BFFC1C9-02F0-4B38-8C6D-DA4697FE050D}"/>
              </a:ext>
            </a:extLst>
          </p:cNvPr>
          <p:cNvSpPr>
            <a:spLocks xmlns:a="http://schemas.openxmlformats.org/drawingml/2006/main" noGrp="1"/>
          </p:cNvSpPr>
          <p:nvPr/>
        </p:nvSpPr>
        <p:spPr>
          <a:xfrm xmlns:a="http://schemas.openxmlformats.org/drawingml/2006/main">
            <a:off x="5314950" y="3009900"/>
            <a:ext cx="5886450" cy="9525"/>
          </a:xfrm>
          <a:prstGeom xmlns:a="http://schemas.openxmlformats.org/drawingml/2006/main" prst="rect">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C37B535-0A26-4186-A395-0D759364A2AE}"/>
              </a:ext>
            </a:extLst>
          </p:cNvPr>
          <p:cNvSpPr>
            <a:spLocks xmlns:a="http://schemas.openxmlformats.org/drawingml/2006/main" noGrp="1"/>
          </p:cNvSpPr>
          <p:nvPr/>
        </p:nvSpPr>
        <p:spPr>
          <a:xfrm xmlns:a="http://schemas.openxmlformats.org/drawingml/2006/main">
            <a:off x="5314950" y="26860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Nome</a:t>
            </a:r>
          </a:p>
        </p:txBody>
      </p:sp>
      <p:sp>
        <p:nvSpPr>
          <p:cNvPr id="16" name="">
            <a:extLst xmlns:a="http://schemas.openxmlformats.org/drawingml/2006/main">
              <a:ext uri="{FF2B5EF4-FFF2-40B4-BE49-F238E27FC236}">
                <a16:creationId xmlns:a16="http://schemas.microsoft.com/office/drawing/2014/main" id="{CAD2E71D-3375-48AB-83FA-9CDA9E6B279C}"/>
              </a:ext>
            </a:extLst>
          </p:cNvPr>
          <p:cNvSpPr>
            <a:spLocks xmlns:a="http://schemas.openxmlformats.org/drawingml/2006/main" noGrp="1"/>
          </p:cNvSpPr>
          <p:nvPr/>
        </p:nvSpPr>
        <p:spPr>
          <a:xfrm xmlns:a="http://schemas.openxmlformats.org/drawingml/2006/main">
            <a:off x="7277100" y="2686050"/>
            <a:ext cx="3905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211D"/>
                </a:solidFill>
                <a:latin typeface="Georgia"/>
                <a:ea typeface="Georgia"/>
                <a:cs typeface="Georgia"/>
              </a:defRPr>
            </a:pPr>
            <a:r>
              <a:rPr sz="975" b="1">
                <a:solidFill>
                  <a:srgbClr val="17211D"/>
                </a:solidFill>
                <a:latin typeface="Georgia"/>
                <a:ea typeface="Georgia"/>
                <a:cs typeface="Georgia"/>
              </a:rPr>
              <a:t>Giacca verde</a:t>
            </a:r>
          </a:p>
        </p:txBody>
      </p:sp>
      <p:sp>
        <p:nvSpPr>
          <p:cNvPr id="17" name="">
            <a:extLst xmlns:a="http://schemas.openxmlformats.org/drawingml/2006/main">
              <a:ext uri="{FF2B5EF4-FFF2-40B4-BE49-F238E27FC236}">
                <a16:creationId xmlns:a16="http://schemas.microsoft.com/office/drawing/2014/main" id="{5BE69F81-556C-4613-B38A-1155DA5584AD}"/>
              </a:ext>
            </a:extLst>
          </p:cNvPr>
          <p:cNvSpPr>
            <a:spLocks xmlns:a="http://schemas.openxmlformats.org/drawingml/2006/main" noGrp="1"/>
          </p:cNvSpPr>
          <p:nvPr/>
        </p:nvSpPr>
        <p:spPr>
          <a:xfrm xmlns:a="http://schemas.openxmlformats.org/drawingml/2006/main">
            <a:off x="5314950" y="3467100"/>
            <a:ext cx="5886450" cy="9525"/>
          </a:xfrm>
          <a:prstGeom xmlns:a="http://schemas.openxmlformats.org/drawingml/2006/main" prst="rect">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CCF25DD-3F27-47D3-9FFA-58E16F559BD7}"/>
              </a:ext>
            </a:extLst>
          </p:cNvPr>
          <p:cNvSpPr>
            <a:spLocks xmlns:a="http://schemas.openxmlformats.org/drawingml/2006/main" noGrp="1"/>
          </p:cNvSpPr>
          <p:nvPr/>
        </p:nvSpPr>
        <p:spPr>
          <a:xfrm xmlns:a="http://schemas.openxmlformats.org/drawingml/2006/main">
            <a:off x="5314950" y="31432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Categoria</a:t>
            </a:r>
          </a:p>
        </p:txBody>
      </p:sp>
      <p:sp>
        <p:nvSpPr>
          <p:cNvPr id="19" name="">
            <a:extLst xmlns:a="http://schemas.openxmlformats.org/drawingml/2006/main">
              <a:ext uri="{FF2B5EF4-FFF2-40B4-BE49-F238E27FC236}">
                <a16:creationId xmlns:a16="http://schemas.microsoft.com/office/drawing/2014/main" id="{136B3E3D-168D-4857-AAD3-B14829106894}"/>
              </a:ext>
            </a:extLst>
          </p:cNvPr>
          <p:cNvSpPr>
            <a:spLocks xmlns:a="http://schemas.openxmlformats.org/drawingml/2006/main" noGrp="1"/>
          </p:cNvSpPr>
          <p:nvPr/>
        </p:nvSpPr>
        <p:spPr>
          <a:xfrm xmlns:a="http://schemas.openxmlformats.org/drawingml/2006/main">
            <a:off x="7277100" y="3143250"/>
            <a:ext cx="3905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211D"/>
                </a:solidFill>
                <a:latin typeface="Georgia"/>
                <a:ea typeface="Georgia"/>
                <a:cs typeface="Georgia"/>
              </a:defRPr>
            </a:pPr>
            <a:r>
              <a:rPr sz="975" b="1">
                <a:solidFill>
                  <a:srgbClr val="17211D"/>
                </a:solidFill>
                <a:latin typeface="Georgia"/>
                <a:ea typeface="Georgia"/>
                <a:cs typeface="Georgia"/>
              </a:rPr>
              <a:t>giacca</a:t>
            </a:r>
          </a:p>
        </p:txBody>
      </p:sp>
      <p:sp>
        <p:nvSpPr>
          <p:cNvPr id="20" name="">
            <a:extLst xmlns:a="http://schemas.openxmlformats.org/drawingml/2006/main">
              <a:ext uri="{FF2B5EF4-FFF2-40B4-BE49-F238E27FC236}">
                <a16:creationId xmlns:a16="http://schemas.microsoft.com/office/drawing/2014/main" id="{422BDC36-1A42-4094-B0BA-02F05D448DCC}"/>
              </a:ext>
            </a:extLst>
          </p:cNvPr>
          <p:cNvSpPr>
            <a:spLocks xmlns:a="http://schemas.openxmlformats.org/drawingml/2006/main" noGrp="1"/>
          </p:cNvSpPr>
          <p:nvPr/>
        </p:nvSpPr>
        <p:spPr>
          <a:xfrm xmlns:a="http://schemas.openxmlformats.org/drawingml/2006/main">
            <a:off x="5314950" y="3924300"/>
            <a:ext cx="5886450" cy="9525"/>
          </a:xfrm>
          <a:prstGeom xmlns:a="http://schemas.openxmlformats.org/drawingml/2006/main" prst="rect">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FB7ECE8-AEA2-4956-B69D-26F1E5E3A4D5}"/>
              </a:ext>
            </a:extLst>
          </p:cNvPr>
          <p:cNvSpPr>
            <a:spLocks xmlns:a="http://schemas.openxmlformats.org/drawingml/2006/main" noGrp="1"/>
          </p:cNvSpPr>
          <p:nvPr/>
        </p:nvSpPr>
        <p:spPr>
          <a:xfrm xmlns:a="http://schemas.openxmlformats.org/drawingml/2006/main">
            <a:off x="5314950" y="36004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Colore</a:t>
            </a:r>
          </a:p>
        </p:txBody>
      </p:sp>
      <p:sp>
        <p:nvSpPr>
          <p:cNvPr id="22" name="">
            <a:extLst xmlns:a="http://schemas.openxmlformats.org/drawingml/2006/main">
              <a:ext uri="{FF2B5EF4-FFF2-40B4-BE49-F238E27FC236}">
                <a16:creationId xmlns:a16="http://schemas.microsoft.com/office/drawing/2014/main" id="{F81F268A-E399-40B0-A47C-E968FBF93BAB}"/>
              </a:ext>
            </a:extLst>
          </p:cNvPr>
          <p:cNvSpPr>
            <a:spLocks xmlns:a="http://schemas.openxmlformats.org/drawingml/2006/main" noGrp="1"/>
          </p:cNvSpPr>
          <p:nvPr/>
        </p:nvSpPr>
        <p:spPr>
          <a:xfrm xmlns:a="http://schemas.openxmlformats.org/drawingml/2006/main">
            <a:off x="7277100" y="3600450"/>
            <a:ext cx="3905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211D"/>
                </a:solidFill>
                <a:latin typeface="Georgia"/>
                <a:ea typeface="Georgia"/>
                <a:cs typeface="Georgia"/>
              </a:defRPr>
            </a:pPr>
            <a:r>
              <a:rPr sz="975" b="1">
                <a:solidFill>
                  <a:srgbClr val="17211D"/>
                </a:solidFill>
                <a:latin typeface="Georgia"/>
                <a:ea typeface="Georgia"/>
                <a:cs typeface="Georgia"/>
              </a:rPr>
              <a:t>verde</a:t>
            </a:r>
          </a:p>
        </p:txBody>
      </p:sp>
      <p:sp>
        <p:nvSpPr>
          <p:cNvPr id="23" name="">
            <a:extLst xmlns:a="http://schemas.openxmlformats.org/drawingml/2006/main">
              <a:ext uri="{FF2B5EF4-FFF2-40B4-BE49-F238E27FC236}">
                <a16:creationId xmlns:a16="http://schemas.microsoft.com/office/drawing/2014/main" id="{443E47B5-94F9-41C1-9493-46887EDD0981}"/>
              </a:ext>
            </a:extLst>
          </p:cNvPr>
          <p:cNvSpPr>
            <a:spLocks xmlns:a="http://schemas.openxmlformats.org/drawingml/2006/main" noGrp="1"/>
          </p:cNvSpPr>
          <p:nvPr/>
        </p:nvSpPr>
        <p:spPr>
          <a:xfrm xmlns:a="http://schemas.openxmlformats.org/drawingml/2006/main">
            <a:off x="5314950" y="4381500"/>
            <a:ext cx="5886450" cy="9525"/>
          </a:xfrm>
          <a:prstGeom xmlns:a="http://schemas.openxmlformats.org/drawingml/2006/main" prst="rect">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1781F5F2-14F7-429E-AF90-17A7C299611F}"/>
              </a:ext>
            </a:extLst>
          </p:cNvPr>
          <p:cNvSpPr>
            <a:spLocks xmlns:a="http://schemas.openxmlformats.org/drawingml/2006/main" noGrp="1"/>
          </p:cNvSpPr>
          <p:nvPr/>
        </p:nvSpPr>
        <p:spPr>
          <a:xfrm xmlns:a="http://schemas.openxmlformats.org/drawingml/2006/main">
            <a:off x="5314950" y="40576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Prezzo</a:t>
            </a:r>
          </a:p>
        </p:txBody>
      </p:sp>
      <p:sp>
        <p:nvSpPr>
          <p:cNvPr id="25" name="">
            <a:extLst xmlns:a="http://schemas.openxmlformats.org/drawingml/2006/main">
              <a:ext uri="{FF2B5EF4-FFF2-40B4-BE49-F238E27FC236}">
                <a16:creationId xmlns:a16="http://schemas.microsoft.com/office/drawing/2014/main" id="{4A0E14E2-3047-42F8-9069-0266FD7545C7}"/>
              </a:ext>
            </a:extLst>
          </p:cNvPr>
          <p:cNvSpPr>
            <a:spLocks xmlns:a="http://schemas.openxmlformats.org/drawingml/2006/main" noGrp="1"/>
          </p:cNvSpPr>
          <p:nvPr/>
        </p:nvSpPr>
        <p:spPr>
          <a:xfrm xmlns:a="http://schemas.openxmlformats.org/drawingml/2006/main">
            <a:off x="7277100" y="4057650"/>
            <a:ext cx="3905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211D"/>
                </a:solidFill>
                <a:latin typeface="Georgia"/>
                <a:ea typeface="Georgia"/>
                <a:cs typeface="Georgia"/>
              </a:defRPr>
            </a:pPr>
            <a:r>
              <a:rPr sz="975" b="1">
                <a:solidFill>
                  <a:srgbClr val="17211D"/>
                </a:solidFill>
                <a:latin typeface="Georgia"/>
                <a:ea typeface="Georgia"/>
                <a:cs typeface="Georgia"/>
              </a:rPr>
              <a:t>facoltativo</a:t>
            </a:r>
          </a:p>
        </p:txBody>
      </p:sp>
      <p:sp>
        <p:nvSpPr>
          <p:cNvPr id="26" name="">
            <a:extLst xmlns:a="http://schemas.openxmlformats.org/drawingml/2006/main">
              <a:ext uri="{FF2B5EF4-FFF2-40B4-BE49-F238E27FC236}">
                <a16:creationId xmlns:a16="http://schemas.microsoft.com/office/drawing/2014/main" id="{720734B4-0486-460B-9DD7-E0C0826C361F}"/>
              </a:ext>
            </a:extLst>
          </p:cNvPr>
          <p:cNvSpPr>
            <a:spLocks xmlns:a="http://schemas.openxmlformats.org/drawingml/2006/main" noGrp="1"/>
          </p:cNvSpPr>
          <p:nvPr/>
        </p:nvSpPr>
        <p:spPr>
          <a:xfrm xmlns:a="http://schemas.openxmlformats.org/drawingml/2006/main">
            <a:off x="5314950" y="4838700"/>
            <a:ext cx="5886450" cy="9525"/>
          </a:xfrm>
          <a:prstGeom xmlns:a="http://schemas.openxmlformats.org/drawingml/2006/main" prst="rect">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71B06E3-1257-45CA-82E2-C995E406EE7F}"/>
              </a:ext>
            </a:extLst>
          </p:cNvPr>
          <p:cNvSpPr>
            <a:spLocks xmlns:a="http://schemas.openxmlformats.org/drawingml/2006/main" noGrp="1"/>
          </p:cNvSpPr>
          <p:nvPr/>
        </p:nvSpPr>
        <p:spPr>
          <a:xfrm xmlns:a="http://schemas.openxmlformats.org/drawingml/2006/main">
            <a:off x="5314950" y="45148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Data acquisto</a:t>
            </a:r>
          </a:p>
        </p:txBody>
      </p:sp>
      <p:sp>
        <p:nvSpPr>
          <p:cNvPr id="28" name="">
            <a:extLst xmlns:a="http://schemas.openxmlformats.org/drawingml/2006/main">
              <a:ext uri="{FF2B5EF4-FFF2-40B4-BE49-F238E27FC236}">
                <a16:creationId xmlns:a16="http://schemas.microsoft.com/office/drawing/2014/main" id="{AF544108-D499-4671-A53E-8B40D8FFE733}"/>
              </a:ext>
            </a:extLst>
          </p:cNvPr>
          <p:cNvSpPr>
            <a:spLocks xmlns:a="http://schemas.openxmlformats.org/drawingml/2006/main" noGrp="1"/>
          </p:cNvSpPr>
          <p:nvPr/>
        </p:nvSpPr>
        <p:spPr>
          <a:xfrm xmlns:a="http://schemas.openxmlformats.org/drawingml/2006/main">
            <a:off x="7277100" y="4514850"/>
            <a:ext cx="3905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7211D"/>
                </a:solidFill>
                <a:latin typeface="Georgia"/>
                <a:ea typeface="Georgia"/>
                <a:cs typeface="Georgia"/>
              </a:defRPr>
            </a:pPr>
            <a:r>
              <a:rPr sz="975" b="1">
                <a:solidFill>
                  <a:srgbClr val="17211D"/>
                </a:solidFill>
                <a:latin typeface="Georgia"/>
                <a:ea typeface="Georgia"/>
                <a:cs typeface="Georgia"/>
              </a:rPr>
              <a:t>facoltativa</a:t>
            </a:r>
          </a:p>
        </p:txBody>
      </p:sp>
      <p:sp>
        <p:nvSpPr>
          <p:cNvPr id="29" name="">
            <a:extLst xmlns:a="http://schemas.openxmlformats.org/drawingml/2006/main">
              <a:ext uri="{FF2B5EF4-FFF2-40B4-BE49-F238E27FC236}">
                <a16:creationId xmlns:a16="http://schemas.microsoft.com/office/drawing/2014/main" id="{087B264D-2B39-4CD2-9945-8E97B2DD4959}"/>
              </a:ext>
            </a:extLst>
          </p:cNvPr>
          <p:cNvSpPr>
            <a:spLocks xmlns:a="http://schemas.openxmlformats.org/drawingml/2006/main" noGrp="1"/>
          </p:cNvSpPr>
          <p:nvPr/>
        </p:nvSpPr>
        <p:spPr>
          <a:xfrm xmlns:a="http://schemas.openxmlformats.org/drawingml/2006/main">
            <a:off x="5314950" y="5010150"/>
            <a:ext cx="5886450" cy="266700"/>
          </a:xfrm>
          <a:prstGeom xmlns:a="http://schemas.openxmlformats.org/drawingml/2006/main" prst="roundRect">
            <a:avLst>
              <a:gd name="adj" fmla="val 28571"/>
            </a:avLst>
          </a:prstGeom>
          <a:solidFill xmlns:a="http://schemas.openxmlformats.org/drawingml/2006/main">
            <a:srgbClr val="EAE5D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D8FF16D8-27F6-4ACB-97C5-A850F30DA647}"/>
              </a:ext>
            </a:extLst>
          </p:cNvPr>
          <p:cNvSpPr>
            <a:spLocks xmlns:a="http://schemas.openxmlformats.org/drawingml/2006/main" noGrp="1"/>
          </p:cNvSpPr>
          <p:nvPr/>
        </p:nvSpPr>
        <p:spPr>
          <a:xfrm xmlns:a="http://schemas.openxmlformats.org/drawingml/2006/main">
            <a:off x="5314950" y="5029200"/>
            <a:ext cx="58864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5736B"/>
                </a:solidFill>
                <a:latin typeface="Aptos"/>
                <a:ea typeface="Aptos"/>
                <a:cs typeface="Aptos"/>
              </a:defRPr>
            </a:pPr>
            <a:r>
              <a:rPr sz="750" b="0">
                <a:solidFill>
                  <a:srgbClr val="65736B"/>
                </a:solidFill>
                <a:latin typeface="Aptos"/>
                <a:ea typeface="Aptos"/>
                <a:cs typeface="Aptos"/>
              </a:rPr>
              <a:t>L’AI propone; la persona vede e corregge.</a:t>
            </a:r>
          </a:p>
        </p:txBody>
      </p:sp>
      <p:sp>
        <p:nvSpPr>
          <p:cNvPr id="31" name="">
            <a:extLst xmlns:a="http://schemas.openxmlformats.org/drawingml/2006/main">
              <a:ext uri="{FF2B5EF4-FFF2-40B4-BE49-F238E27FC236}">
                <a16:creationId xmlns:a16="http://schemas.microsoft.com/office/drawing/2014/main" id="{6386A467-9E9B-43E0-82E8-A06897CD76B8}"/>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3A1DD780-8CD9-40E9-B7A2-09293A5331DE}"/>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Input utente visibile e modificabile · nessun dato nascosto</a:t>
            </a:r>
          </a:p>
        </p:txBody>
      </p:sp>
      <p:sp>
        <p:nvSpPr>
          <p:cNvPr id="33" name="">
            <a:extLst xmlns:a="http://schemas.openxmlformats.org/drawingml/2006/main">
              <a:ext uri="{FF2B5EF4-FFF2-40B4-BE49-F238E27FC236}">
                <a16:creationId xmlns:a16="http://schemas.microsoft.com/office/drawing/2014/main" id="{4300C42C-AC1D-4C18-81D7-8CA8D874F65E}"/>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03</a:t>
            </a:r>
          </a:p>
        </p:txBody>
      </p:sp>
    </p:spTree>
    <p:extLst>
      <p:ext uri="{BB962C8B-B14F-4D97-AF65-F5344CB8AC3E}">
        <p14:creationId xmlns:p14="http://schemas.microsoft.com/office/powerpoint/2010/main" val="12263910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28165EC-312C-420D-A415-B197BA7E27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D271D61-88FF-410A-90B6-54B070C3F99A}"/>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F8C1B32-D0F4-4BA7-AB54-AF255301A2EA}"/>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DDE5DD"/>
                </a:solidFill>
                <a:latin typeface="Aptos"/>
                <a:ea typeface="Aptos"/>
                <a:cs typeface="Aptos"/>
              </a:defRPr>
            </a:pPr>
            <a:r>
              <a:rPr sz="638" b="1">
                <a:solidFill>
                  <a:srgbClr val="DDE5DD"/>
                </a:solidFill>
                <a:latin typeface="Aptos"/>
                <a:ea typeface="Aptos"/>
                <a:cs typeface="Aptos"/>
              </a:rPr>
              <a:t>U S E R   S T O R Y   ·   U S A</a:t>
            </a:r>
          </a:p>
        </p:txBody>
      </p:sp>
      <p:sp>
        <p:nvSpPr>
          <p:cNvPr id="4" name="claim-title">
            <a:extLst xmlns:a="http://schemas.openxmlformats.org/drawingml/2006/main">
              <a:ext uri="{FF2B5EF4-FFF2-40B4-BE49-F238E27FC236}">
                <a16:creationId xmlns:a16="http://schemas.microsoft.com/office/drawing/2014/main" id="{2342F20E-E5CE-48EE-9D5E-A7546DE07664}"/>
              </a:ext>
            </a:extLst>
          </p:cNvPr>
          <p:cNvSpPr>
            <a:spLocks xmlns:a="http://schemas.openxmlformats.org/drawingml/2006/main" noGrp="1"/>
          </p:cNvSpPr>
          <p:nvPr/>
        </p:nvSpPr>
        <p:spPr>
          <a:xfrm xmlns:a="http://schemas.openxmlformats.org/drawingml/2006/main">
            <a:off x="552450" y="742950"/>
            <a:ext cx="10572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FFFFFF"/>
                </a:solidFill>
                <a:latin typeface="Georgia"/>
                <a:ea typeface="Georgia"/>
                <a:cs typeface="Georgia"/>
              </a:defRPr>
            </a:pPr>
            <a:r>
              <a:rPr sz="2925" b="1">
                <a:solidFill>
                  <a:srgbClr val="FFFFFF"/>
                </a:solidFill>
                <a:latin typeface="Georgia"/>
                <a:ea typeface="Georgia"/>
                <a:cs typeface="Georgia"/>
              </a:rPr>
              <a:t>Registrare gli utilizzi rende visibile il valore reale del capo.</a:t>
            </a:r>
          </a:p>
        </p:txBody>
      </p:sp>
      <p:sp>
        <p:nvSpPr>
          <p:cNvPr id="5" name="">
            <a:extLst xmlns:a="http://schemas.openxmlformats.org/drawingml/2006/main">
              <a:ext uri="{FF2B5EF4-FFF2-40B4-BE49-F238E27FC236}">
                <a16:creationId xmlns:a16="http://schemas.microsoft.com/office/drawing/2014/main" id="{A39D4034-8B55-4843-87B8-DEAD39363E0E}"/>
              </a:ext>
            </a:extLst>
          </p:cNvPr>
          <p:cNvSpPr>
            <a:spLocks xmlns:a="http://schemas.openxmlformats.org/drawingml/2006/main" noGrp="1"/>
          </p:cNvSpPr>
          <p:nvPr/>
        </p:nvSpPr>
        <p:spPr>
          <a:xfrm xmlns:a="http://schemas.openxmlformats.org/drawingml/2006/main">
            <a:off x="552450" y="1695450"/>
            <a:ext cx="1924050" cy="266700"/>
          </a:xfrm>
          <a:prstGeom xmlns:a="http://schemas.openxmlformats.org/drawingml/2006/main" prst="roundRect">
            <a:avLst>
              <a:gd name="adj" fmla="val 28571"/>
            </a:avLst>
          </a:prstGeom>
          <a:solidFill xmlns:a="http://schemas.openxmlformats.org/drawingml/2006/main">
            <a:srgbClr val="1D5946"/>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4F80E2F-4692-4744-97C3-4B8E4BE6E599}"/>
              </a:ext>
            </a:extLst>
          </p:cNvPr>
          <p:cNvSpPr>
            <a:spLocks xmlns:a="http://schemas.openxmlformats.org/drawingml/2006/main" noGrp="1"/>
          </p:cNvSpPr>
          <p:nvPr/>
        </p:nvSpPr>
        <p:spPr>
          <a:xfrm xmlns:a="http://schemas.openxmlformats.org/drawingml/2006/main">
            <a:off x="638175" y="1714500"/>
            <a:ext cx="1752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INDOSSA CAPO OGGI</a:t>
            </a:r>
          </a:p>
        </p:txBody>
      </p:sp>
      <p:sp>
        <p:nvSpPr>
          <p:cNvPr id="7" name="">
            <a:extLst xmlns:a="http://schemas.openxmlformats.org/drawingml/2006/main">
              <a:ext uri="{FF2B5EF4-FFF2-40B4-BE49-F238E27FC236}">
                <a16:creationId xmlns:a16="http://schemas.microsoft.com/office/drawing/2014/main" id="{F665EBDB-2115-435E-8CDC-7AD2183011B8}"/>
              </a:ext>
            </a:extLst>
          </p:cNvPr>
          <p:cNvSpPr>
            <a:spLocks xmlns:a="http://schemas.openxmlformats.org/drawingml/2006/main" noGrp="1"/>
          </p:cNvSpPr>
          <p:nvPr/>
        </p:nvSpPr>
        <p:spPr>
          <a:xfrm xmlns:a="http://schemas.openxmlformats.org/drawingml/2006/main">
            <a:off x="4953000" y="2190750"/>
            <a:ext cx="2476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Georgia"/>
                <a:ea typeface="Georgia"/>
                <a:cs typeface="Georgia"/>
              </a:defRPr>
            </a:pPr>
            <a:r>
              <a:rPr sz="1800" b="1">
                <a:solidFill>
                  <a:srgbClr val="FFFFFF"/>
                </a:solidFill>
                <a:latin typeface="Georgia"/>
                <a:ea typeface="Georgia"/>
                <a:cs typeface="Georgia"/>
              </a:rPr>
              <a:t>prezzo ÷ utilizzi</a:t>
            </a:r>
          </a:p>
        </p:txBody>
      </p:sp>
      <p:sp>
        <p:nvSpPr>
          <p:cNvPr id="8" name="">
            <a:extLst xmlns:a="http://schemas.openxmlformats.org/drawingml/2006/main">
              <a:ext uri="{FF2B5EF4-FFF2-40B4-BE49-F238E27FC236}">
                <a16:creationId xmlns:a16="http://schemas.microsoft.com/office/drawing/2014/main" id="{3FC54589-3500-47EB-845D-2D1630B9B4BD}"/>
              </a:ext>
            </a:extLst>
          </p:cNvPr>
          <p:cNvSpPr>
            <a:spLocks xmlns:a="http://schemas.openxmlformats.org/drawingml/2006/main" noGrp="1"/>
          </p:cNvSpPr>
          <p:nvPr/>
        </p:nvSpPr>
        <p:spPr>
          <a:xfrm xmlns:a="http://schemas.openxmlformats.org/drawingml/2006/main">
            <a:off x="1428750" y="3429000"/>
            <a:ext cx="9334500" cy="28575"/>
          </a:xfrm>
          <a:prstGeom xmlns:a="http://schemas.openxmlformats.org/drawingml/2006/main" prst="rect">
            <a:avLst/>
          </a:prstGeom>
          <a:solidFill xmlns:a="http://schemas.openxmlformats.org/drawingml/2006/main">
            <a:srgbClr val="4E7769"/>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98432D3-A475-4901-A48C-FDD11F196D82}"/>
              </a:ext>
            </a:extLst>
          </p:cNvPr>
          <p:cNvSpPr>
            <a:spLocks xmlns:a="http://schemas.openxmlformats.org/drawingml/2006/main" noGrp="1"/>
          </p:cNvSpPr>
          <p:nvPr/>
        </p:nvSpPr>
        <p:spPr>
          <a:xfrm xmlns:a="http://schemas.openxmlformats.org/drawingml/2006/main">
            <a:off x="1333500" y="3200400"/>
            <a:ext cx="457200" cy="45720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8DB7C0E-265D-45A9-A5FF-EF15F186C319}"/>
              </a:ext>
            </a:extLst>
          </p:cNvPr>
          <p:cNvSpPr>
            <a:spLocks xmlns:a="http://schemas.openxmlformats.org/drawingml/2006/main" noGrp="1"/>
          </p:cNvSpPr>
          <p:nvPr/>
        </p:nvSpPr>
        <p:spPr>
          <a:xfrm xmlns:a="http://schemas.openxmlformats.org/drawingml/2006/main">
            <a:off x="1333500" y="3257550"/>
            <a:ext cx="457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Georgia"/>
                <a:ea typeface="Georgia"/>
                <a:cs typeface="Georgia"/>
              </a:defRPr>
            </a:pPr>
            <a:r>
              <a:rPr sz="1200" b="1">
                <a:solidFill>
                  <a:srgbClr val="FFFFFF"/>
                </a:solidFill>
                <a:latin typeface="Georgia"/>
                <a:ea typeface="Georgia"/>
                <a:cs typeface="Georgia"/>
              </a:rPr>
              <a:t>1</a:t>
            </a:r>
          </a:p>
        </p:txBody>
      </p:sp>
      <p:sp>
        <p:nvSpPr>
          <p:cNvPr id="11" name="">
            <a:extLst xmlns:a="http://schemas.openxmlformats.org/drawingml/2006/main">
              <a:ext uri="{FF2B5EF4-FFF2-40B4-BE49-F238E27FC236}">
                <a16:creationId xmlns:a16="http://schemas.microsoft.com/office/drawing/2014/main" id="{D05E21E7-4745-4CCF-A953-681B86A73326}"/>
              </a:ext>
            </a:extLst>
          </p:cNvPr>
          <p:cNvSpPr>
            <a:spLocks xmlns:a="http://schemas.openxmlformats.org/drawingml/2006/main" noGrp="1"/>
          </p:cNvSpPr>
          <p:nvPr/>
        </p:nvSpPr>
        <p:spPr>
          <a:xfrm xmlns:a="http://schemas.openxmlformats.org/drawingml/2006/main">
            <a:off x="952500" y="3848100"/>
            <a:ext cx="1219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DDE5DD"/>
                </a:solidFill>
                <a:latin typeface="Aptos"/>
                <a:ea typeface="Aptos"/>
                <a:cs typeface="Aptos"/>
              </a:defRPr>
            </a:pPr>
            <a:r>
              <a:rPr sz="750" b="0">
                <a:solidFill>
                  <a:srgbClr val="DDE5DD"/>
                </a:solidFill>
                <a:latin typeface="Aptos"/>
                <a:ea typeface="Aptos"/>
                <a:cs typeface="Aptos"/>
              </a:rPr>
              <a:t>1 uso</a:t>
            </a:r>
          </a:p>
        </p:txBody>
      </p:sp>
      <p:sp>
        <p:nvSpPr>
          <p:cNvPr id="12" name="">
            <a:extLst xmlns:a="http://schemas.openxmlformats.org/drawingml/2006/main">
              <a:ext uri="{FF2B5EF4-FFF2-40B4-BE49-F238E27FC236}">
                <a16:creationId xmlns:a16="http://schemas.microsoft.com/office/drawing/2014/main" id="{759E40D0-1151-4358-BF40-7B3B71B91C91}"/>
              </a:ext>
            </a:extLst>
          </p:cNvPr>
          <p:cNvSpPr>
            <a:spLocks xmlns:a="http://schemas.openxmlformats.org/drawingml/2006/main" noGrp="1"/>
          </p:cNvSpPr>
          <p:nvPr/>
        </p:nvSpPr>
        <p:spPr>
          <a:xfrm xmlns:a="http://schemas.openxmlformats.org/drawingml/2006/main">
            <a:off x="952500" y="4229100"/>
            <a:ext cx="1219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025" b="1">
                <a:solidFill>
                  <a:srgbClr val="FFFFFF"/>
                </a:solidFill>
                <a:latin typeface="Georgia"/>
                <a:ea typeface="Georgia"/>
                <a:cs typeface="Georgia"/>
              </a:defRPr>
            </a:pPr>
            <a:r>
              <a:rPr sz="2025" b="1">
                <a:solidFill>
                  <a:srgbClr val="FFFFFF"/>
                </a:solidFill>
                <a:latin typeface="Georgia"/>
                <a:ea typeface="Georgia"/>
                <a:cs typeface="Georgia"/>
              </a:rPr>
              <a:t>100 €</a:t>
            </a:r>
          </a:p>
        </p:txBody>
      </p:sp>
      <p:sp>
        <p:nvSpPr>
          <p:cNvPr id="13" name="">
            <a:extLst xmlns:a="http://schemas.openxmlformats.org/drawingml/2006/main">
              <a:ext uri="{FF2B5EF4-FFF2-40B4-BE49-F238E27FC236}">
                <a16:creationId xmlns:a16="http://schemas.microsoft.com/office/drawing/2014/main" id="{C7BAE516-0149-4E95-95F9-68E4067C777C}"/>
              </a:ext>
            </a:extLst>
          </p:cNvPr>
          <p:cNvSpPr>
            <a:spLocks xmlns:a="http://schemas.openxmlformats.org/drawingml/2006/main" noGrp="1"/>
          </p:cNvSpPr>
          <p:nvPr/>
        </p:nvSpPr>
        <p:spPr>
          <a:xfrm xmlns:a="http://schemas.openxmlformats.org/drawingml/2006/main">
            <a:off x="952500" y="46863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94ADA2"/>
                </a:solidFill>
                <a:latin typeface="Aptos"/>
                <a:ea typeface="Aptos"/>
                <a:cs typeface="Aptos"/>
              </a:defRPr>
            </a:pPr>
            <a:r>
              <a:rPr sz="638" b="0">
                <a:solidFill>
                  <a:srgbClr val="94ADA2"/>
                </a:solidFill>
                <a:latin typeface="Aptos"/>
                <a:ea typeface="Aptos"/>
                <a:cs typeface="Aptos"/>
              </a:rPr>
              <a:t>cost per wear</a:t>
            </a:r>
          </a:p>
        </p:txBody>
      </p:sp>
      <p:sp>
        <p:nvSpPr>
          <p:cNvPr id="14" name="">
            <a:extLst xmlns:a="http://schemas.openxmlformats.org/drawingml/2006/main">
              <a:ext uri="{FF2B5EF4-FFF2-40B4-BE49-F238E27FC236}">
                <a16:creationId xmlns:a16="http://schemas.microsoft.com/office/drawing/2014/main" id="{4C5A72EA-F90E-4106-86C6-79054A473DED}"/>
              </a:ext>
            </a:extLst>
          </p:cNvPr>
          <p:cNvSpPr>
            <a:spLocks xmlns:a="http://schemas.openxmlformats.org/drawingml/2006/main" noGrp="1"/>
          </p:cNvSpPr>
          <p:nvPr/>
        </p:nvSpPr>
        <p:spPr>
          <a:xfrm xmlns:a="http://schemas.openxmlformats.org/drawingml/2006/main">
            <a:off x="6000750" y="3200400"/>
            <a:ext cx="457200" cy="457200"/>
          </a:xfrm>
          <a:prstGeom xmlns:a="http://schemas.openxmlformats.org/drawingml/2006/main" prst="ellipse">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410C683-E6E6-4185-954C-C76E64D62071}"/>
              </a:ext>
            </a:extLst>
          </p:cNvPr>
          <p:cNvSpPr>
            <a:spLocks xmlns:a="http://schemas.openxmlformats.org/drawingml/2006/main" noGrp="1"/>
          </p:cNvSpPr>
          <p:nvPr/>
        </p:nvSpPr>
        <p:spPr>
          <a:xfrm xmlns:a="http://schemas.openxmlformats.org/drawingml/2006/main">
            <a:off x="6000750" y="3257550"/>
            <a:ext cx="457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Georgia"/>
                <a:ea typeface="Georgia"/>
                <a:cs typeface="Georgia"/>
              </a:defRPr>
            </a:pPr>
            <a:r>
              <a:rPr sz="1200" b="1">
                <a:solidFill>
                  <a:srgbClr val="FFFFFF"/>
                </a:solidFill>
                <a:latin typeface="Georgia"/>
                <a:ea typeface="Georgia"/>
                <a:cs typeface="Georgia"/>
              </a:rPr>
              <a:t>5</a:t>
            </a:r>
          </a:p>
        </p:txBody>
      </p:sp>
      <p:sp>
        <p:nvSpPr>
          <p:cNvPr id="16" name="">
            <a:extLst xmlns:a="http://schemas.openxmlformats.org/drawingml/2006/main">
              <a:ext uri="{FF2B5EF4-FFF2-40B4-BE49-F238E27FC236}">
                <a16:creationId xmlns:a16="http://schemas.microsoft.com/office/drawing/2014/main" id="{4790B39D-0285-4289-9E35-5C4032CA7719}"/>
              </a:ext>
            </a:extLst>
          </p:cNvPr>
          <p:cNvSpPr>
            <a:spLocks xmlns:a="http://schemas.openxmlformats.org/drawingml/2006/main" noGrp="1"/>
          </p:cNvSpPr>
          <p:nvPr/>
        </p:nvSpPr>
        <p:spPr>
          <a:xfrm xmlns:a="http://schemas.openxmlformats.org/drawingml/2006/main">
            <a:off x="5619750" y="3848100"/>
            <a:ext cx="1219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DDE5DD"/>
                </a:solidFill>
                <a:latin typeface="Aptos"/>
                <a:ea typeface="Aptos"/>
                <a:cs typeface="Aptos"/>
              </a:defRPr>
            </a:pPr>
            <a:r>
              <a:rPr sz="750" b="0">
                <a:solidFill>
                  <a:srgbClr val="DDE5DD"/>
                </a:solidFill>
                <a:latin typeface="Aptos"/>
                <a:ea typeface="Aptos"/>
                <a:cs typeface="Aptos"/>
              </a:rPr>
              <a:t>5 usi</a:t>
            </a:r>
          </a:p>
        </p:txBody>
      </p:sp>
      <p:sp>
        <p:nvSpPr>
          <p:cNvPr id="17" name="">
            <a:extLst xmlns:a="http://schemas.openxmlformats.org/drawingml/2006/main">
              <a:ext uri="{FF2B5EF4-FFF2-40B4-BE49-F238E27FC236}">
                <a16:creationId xmlns:a16="http://schemas.microsoft.com/office/drawing/2014/main" id="{BA2EF4C2-1DA3-49B1-8D29-AA8DFE6E5958}"/>
              </a:ext>
            </a:extLst>
          </p:cNvPr>
          <p:cNvSpPr>
            <a:spLocks xmlns:a="http://schemas.openxmlformats.org/drawingml/2006/main" noGrp="1"/>
          </p:cNvSpPr>
          <p:nvPr/>
        </p:nvSpPr>
        <p:spPr>
          <a:xfrm xmlns:a="http://schemas.openxmlformats.org/drawingml/2006/main">
            <a:off x="5619750" y="4229100"/>
            <a:ext cx="1219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025" b="1">
                <a:solidFill>
                  <a:srgbClr val="FFFFFF"/>
                </a:solidFill>
                <a:latin typeface="Georgia"/>
                <a:ea typeface="Georgia"/>
                <a:cs typeface="Georgia"/>
              </a:defRPr>
            </a:pPr>
            <a:r>
              <a:rPr sz="2025" b="1">
                <a:solidFill>
                  <a:srgbClr val="FFFFFF"/>
                </a:solidFill>
                <a:latin typeface="Georgia"/>
                <a:ea typeface="Georgia"/>
                <a:cs typeface="Georgia"/>
              </a:rPr>
              <a:t>20 €</a:t>
            </a:r>
          </a:p>
        </p:txBody>
      </p:sp>
      <p:sp>
        <p:nvSpPr>
          <p:cNvPr id="18" name="">
            <a:extLst xmlns:a="http://schemas.openxmlformats.org/drawingml/2006/main">
              <a:ext uri="{FF2B5EF4-FFF2-40B4-BE49-F238E27FC236}">
                <a16:creationId xmlns:a16="http://schemas.microsoft.com/office/drawing/2014/main" id="{B69EA96C-90A4-426C-BC02-0866F2BEDBCD}"/>
              </a:ext>
            </a:extLst>
          </p:cNvPr>
          <p:cNvSpPr>
            <a:spLocks xmlns:a="http://schemas.openxmlformats.org/drawingml/2006/main" noGrp="1"/>
          </p:cNvSpPr>
          <p:nvPr/>
        </p:nvSpPr>
        <p:spPr>
          <a:xfrm xmlns:a="http://schemas.openxmlformats.org/drawingml/2006/main">
            <a:off x="5619750" y="46863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94ADA2"/>
                </a:solidFill>
                <a:latin typeface="Aptos"/>
                <a:ea typeface="Aptos"/>
                <a:cs typeface="Aptos"/>
              </a:defRPr>
            </a:pPr>
            <a:r>
              <a:rPr sz="638" b="0">
                <a:solidFill>
                  <a:srgbClr val="94ADA2"/>
                </a:solidFill>
                <a:latin typeface="Aptos"/>
                <a:ea typeface="Aptos"/>
                <a:cs typeface="Aptos"/>
              </a:rPr>
              <a:t>cost per wear</a:t>
            </a:r>
          </a:p>
        </p:txBody>
      </p:sp>
      <p:sp>
        <p:nvSpPr>
          <p:cNvPr id="19" name="">
            <a:extLst xmlns:a="http://schemas.openxmlformats.org/drawingml/2006/main">
              <a:ext uri="{FF2B5EF4-FFF2-40B4-BE49-F238E27FC236}">
                <a16:creationId xmlns:a16="http://schemas.microsoft.com/office/drawing/2014/main" id="{13243249-BF5F-485F-87FF-685850A667B9}"/>
              </a:ext>
            </a:extLst>
          </p:cNvPr>
          <p:cNvSpPr>
            <a:spLocks xmlns:a="http://schemas.openxmlformats.org/drawingml/2006/main" noGrp="1"/>
          </p:cNvSpPr>
          <p:nvPr/>
        </p:nvSpPr>
        <p:spPr>
          <a:xfrm xmlns:a="http://schemas.openxmlformats.org/drawingml/2006/main">
            <a:off x="10668000" y="3200400"/>
            <a:ext cx="457200" cy="45720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878E624-9E3A-4AE8-9E42-36C069D9EF38}"/>
              </a:ext>
            </a:extLst>
          </p:cNvPr>
          <p:cNvSpPr>
            <a:spLocks xmlns:a="http://schemas.openxmlformats.org/drawingml/2006/main" noGrp="1"/>
          </p:cNvSpPr>
          <p:nvPr/>
        </p:nvSpPr>
        <p:spPr>
          <a:xfrm xmlns:a="http://schemas.openxmlformats.org/drawingml/2006/main">
            <a:off x="10668000" y="3257550"/>
            <a:ext cx="457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Georgia"/>
                <a:ea typeface="Georgia"/>
                <a:cs typeface="Georgia"/>
              </a:defRPr>
            </a:pPr>
            <a:r>
              <a:rPr sz="1200" b="1">
                <a:solidFill>
                  <a:srgbClr val="FFFFFF"/>
                </a:solidFill>
                <a:latin typeface="Georgia"/>
                <a:ea typeface="Georgia"/>
                <a:cs typeface="Georgia"/>
              </a:rPr>
              <a:t>10</a:t>
            </a:r>
          </a:p>
        </p:txBody>
      </p:sp>
      <p:sp>
        <p:nvSpPr>
          <p:cNvPr id="21" name="">
            <a:extLst xmlns:a="http://schemas.openxmlformats.org/drawingml/2006/main">
              <a:ext uri="{FF2B5EF4-FFF2-40B4-BE49-F238E27FC236}">
                <a16:creationId xmlns:a16="http://schemas.microsoft.com/office/drawing/2014/main" id="{22D8406A-25A2-4B8D-84CB-33095AA5CB28}"/>
              </a:ext>
            </a:extLst>
          </p:cNvPr>
          <p:cNvSpPr>
            <a:spLocks xmlns:a="http://schemas.openxmlformats.org/drawingml/2006/main" noGrp="1"/>
          </p:cNvSpPr>
          <p:nvPr/>
        </p:nvSpPr>
        <p:spPr>
          <a:xfrm xmlns:a="http://schemas.openxmlformats.org/drawingml/2006/main">
            <a:off x="10287000" y="3848100"/>
            <a:ext cx="1219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DDE5DD"/>
                </a:solidFill>
                <a:latin typeface="Aptos"/>
                <a:ea typeface="Aptos"/>
                <a:cs typeface="Aptos"/>
              </a:defRPr>
            </a:pPr>
            <a:r>
              <a:rPr sz="750" b="0">
                <a:solidFill>
                  <a:srgbClr val="DDE5DD"/>
                </a:solidFill>
                <a:latin typeface="Aptos"/>
                <a:ea typeface="Aptos"/>
                <a:cs typeface="Aptos"/>
              </a:rPr>
              <a:t>10 usi</a:t>
            </a:r>
          </a:p>
        </p:txBody>
      </p:sp>
      <p:sp>
        <p:nvSpPr>
          <p:cNvPr id="22" name="">
            <a:extLst xmlns:a="http://schemas.openxmlformats.org/drawingml/2006/main">
              <a:ext uri="{FF2B5EF4-FFF2-40B4-BE49-F238E27FC236}">
                <a16:creationId xmlns:a16="http://schemas.microsoft.com/office/drawing/2014/main" id="{154048E3-064E-4EAF-8DF6-68610A778135}"/>
              </a:ext>
            </a:extLst>
          </p:cNvPr>
          <p:cNvSpPr>
            <a:spLocks xmlns:a="http://schemas.openxmlformats.org/drawingml/2006/main" noGrp="1"/>
          </p:cNvSpPr>
          <p:nvPr/>
        </p:nvSpPr>
        <p:spPr>
          <a:xfrm xmlns:a="http://schemas.openxmlformats.org/drawingml/2006/main">
            <a:off x="10287000" y="4229100"/>
            <a:ext cx="1219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025" b="1">
                <a:solidFill>
                  <a:srgbClr val="B9D94A"/>
                </a:solidFill>
                <a:latin typeface="Georgia"/>
                <a:ea typeface="Georgia"/>
                <a:cs typeface="Georgia"/>
              </a:defRPr>
            </a:pPr>
            <a:r>
              <a:rPr sz="2025" b="1">
                <a:solidFill>
                  <a:srgbClr val="B9D94A"/>
                </a:solidFill>
                <a:latin typeface="Georgia"/>
                <a:ea typeface="Georgia"/>
                <a:cs typeface="Georgia"/>
              </a:rPr>
              <a:t>10 €</a:t>
            </a:r>
          </a:p>
        </p:txBody>
      </p:sp>
      <p:sp>
        <p:nvSpPr>
          <p:cNvPr id="23" name="">
            <a:extLst xmlns:a="http://schemas.openxmlformats.org/drawingml/2006/main">
              <a:ext uri="{FF2B5EF4-FFF2-40B4-BE49-F238E27FC236}">
                <a16:creationId xmlns:a16="http://schemas.microsoft.com/office/drawing/2014/main" id="{27F9E4C6-24BE-4214-B937-F138CADB87A5}"/>
              </a:ext>
            </a:extLst>
          </p:cNvPr>
          <p:cNvSpPr>
            <a:spLocks xmlns:a="http://schemas.openxmlformats.org/drawingml/2006/main" noGrp="1"/>
          </p:cNvSpPr>
          <p:nvPr/>
        </p:nvSpPr>
        <p:spPr>
          <a:xfrm xmlns:a="http://schemas.openxmlformats.org/drawingml/2006/main">
            <a:off x="10287000" y="46863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94ADA2"/>
                </a:solidFill>
                <a:latin typeface="Aptos"/>
                <a:ea typeface="Aptos"/>
                <a:cs typeface="Aptos"/>
              </a:defRPr>
            </a:pPr>
            <a:r>
              <a:rPr sz="638" b="0">
                <a:solidFill>
                  <a:srgbClr val="94ADA2"/>
                </a:solidFill>
                <a:latin typeface="Aptos"/>
                <a:ea typeface="Aptos"/>
                <a:cs typeface="Aptos"/>
              </a:rPr>
              <a:t>cost per wear</a:t>
            </a:r>
          </a:p>
        </p:txBody>
      </p:sp>
      <p:sp>
        <p:nvSpPr>
          <p:cNvPr id="24" name="">
            <a:extLst xmlns:a="http://schemas.openxmlformats.org/drawingml/2006/main">
              <a:ext uri="{FF2B5EF4-FFF2-40B4-BE49-F238E27FC236}">
                <a16:creationId xmlns:a16="http://schemas.microsoft.com/office/drawing/2014/main" id="{4367830E-5FA7-4615-BBB3-907646148007}"/>
              </a:ext>
            </a:extLst>
          </p:cNvPr>
          <p:cNvSpPr>
            <a:spLocks xmlns:a="http://schemas.openxmlformats.org/drawingml/2006/main" noGrp="1"/>
          </p:cNvSpPr>
          <p:nvPr/>
        </p:nvSpPr>
        <p:spPr>
          <a:xfrm xmlns:a="http://schemas.openxmlformats.org/drawingml/2006/main">
            <a:off x="2952750" y="5448300"/>
            <a:ext cx="6286500" cy="419100"/>
          </a:xfrm>
          <a:prstGeom xmlns:a="http://schemas.openxmlformats.org/drawingml/2006/main" prst="roundRect">
            <a:avLst>
              <a:gd name="adj" fmla="val 18182"/>
            </a:avLst>
          </a:prstGeom>
          <a:solidFill xmlns:a="http://schemas.openxmlformats.org/drawingml/2006/main">
            <a:srgbClr val="1B4C3D"/>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2824886A-B717-40B4-8A48-6F4B0E64A09F}"/>
              </a:ext>
            </a:extLst>
          </p:cNvPr>
          <p:cNvSpPr>
            <a:spLocks xmlns:a="http://schemas.openxmlformats.org/drawingml/2006/main" noGrp="1"/>
          </p:cNvSpPr>
          <p:nvPr/>
        </p:nvSpPr>
        <p:spPr>
          <a:xfrm xmlns:a="http://schemas.openxmlformats.org/drawingml/2006/main">
            <a:off x="3143250" y="5534025"/>
            <a:ext cx="590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DDE5DD"/>
                </a:solidFill>
                <a:latin typeface="Aptos"/>
                <a:ea typeface="Aptos"/>
                <a:cs typeface="Aptos"/>
              </a:defRPr>
            </a:pPr>
            <a:r>
              <a:rPr sz="825" b="0">
                <a:solidFill>
                  <a:srgbClr val="DDE5DD"/>
                </a:solidFill>
                <a:latin typeface="Aptos"/>
                <a:ea typeface="Aptos"/>
                <a:cs typeface="Aptos"/>
              </a:rPr>
              <a:t>È costo per uso, non valore affettivo del capo.</a:t>
            </a:r>
          </a:p>
        </p:txBody>
      </p:sp>
      <p:sp>
        <p:nvSpPr>
          <p:cNvPr id="26" name="">
            <a:extLst xmlns:a="http://schemas.openxmlformats.org/drawingml/2006/main">
              <a:ext uri="{FF2B5EF4-FFF2-40B4-BE49-F238E27FC236}">
                <a16:creationId xmlns:a16="http://schemas.microsoft.com/office/drawing/2014/main" id="{FC6C03E6-5395-4998-9AF1-D10F481CA9C4}"/>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96B033D-0A0E-4C36-B5E0-925A00D9AD96}"/>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91AA9F"/>
                </a:solidFill>
                <a:latin typeface="Aptos"/>
                <a:ea typeface="Aptos"/>
                <a:cs typeface="Aptos"/>
              </a:defRPr>
            </a:pPr>
            <a:r>
              <a:rPr sz="563" b="0">
                <a:solidFill>
                  <a:srgbClr val="91AA9F"/>
                </a:solidFill>
                <a:latin typeface="Aptos"/>
                <a:ea typeface="Aptos"/>
                <a:cs typeface="Aptos"/>
              </a:rPr>
              <a:t>Formula trasparente · accuratezza dipende dalla registrazione degli utilizzi</a:t>
            </a:r>
          </a:p>
        </p:txBody>
      </p:sp>
      <p:sp>
        <p:nvSpPr>
          <p:cNvPr id="28" name="">
            <a:extLst xmlns:a="http://schemas.openxmlformats.org/drawingml/2006/main">
              <a:ext uri="{FF2B5EF4-FFF2-40B4-BE49-F238E27FC236}">
                <a16:creationId xmlns:a16="http://schemas.microsoft.com/office/drawing/2014/main" id="{CCEEA06D-9386-4AC5-9566-D7351C3446EC}"/>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91AA9F"/>
                </a:solidFill>
                <a:latin typeface="Georgia"/>
                <a:ea typeface="Georgia"/>
                <a:cs typeface="Georgia"/>
              </a:defRPr>
            </a:pPr>
            <a:r>
              <a:rPr sz="750" b="1">
                <a:solidFill>
                  <a:srgbClr val="91AA9F"/>
                </a:solidFill>
                <a:latin typeface="Georgia"/>
                <a:ea typeface="Georgia"/>
                <a:cs typeface="Georgia"/>
              </a:rPr>
              <a:t>04</a:t>
            </a:r>
          </a:p>
        </p:txBody>
      </p:sp>
    </p:spTree>
    <p:extLst>
      <p:ext uri="{BB962C8B-B14F-4D97-AF65-F5344CB8AC3E}">
        <p14:creationId xmlns:p14="http://schemas.microsoft.com/office/powerpoint/2010/main" val="150348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C6F3B38A-0B52-4A25-A7D0-9FFB37811A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015669C-D211-41FD-AA12-0657BE666F38}"/>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F3F55C4-653A-4875-A877-60835C9B01C8}"/>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U S E R   S T O R Y   ·   S C E G L I E</a:t>
            </a:r>
          </a:p>
        </p:txBody>
      </p:sp>
      <p:sp>
        <p:nvSpPr>
          <p:cNvPr id="4" name="claim-title">
            <a:extLst xmlns:a="http://schemas.openxmlformats.org/drawingml/2006/main">
              <a:ext uri="{FF2B5EF4-FFF2-40B4-BE49-F238E27FC236}">
                <a16:creationId xmlns:a16="http://schemas.microsoft.com/office/drawing/2014/main" id="{1649BCEE-FE9D-4EBF-BD86-04E80F4A2E8B}"/>
              </a:ext>
            </a:extLst>
          </p:cNvPr>
          <p:cNvSpPr>
            <a:spLocks xmlns:a="http://schemas.openxmlformats.org/drawingml/2006/main" noGrp="1"/>
          </p:cNvSpPr>
          <p:nvPr/>
        </p:nvSpPr>
        <p:spPr>
          <a:xfrm xmlns:a="http://schemas.openxmlformats.org/drawingml/2006/main">
            <a:off x="552450" y="742950"/>
            <a:ext cx="10287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11D"/>
                </a:solidFill>
                <a:latin typeface="Georgia"/>
                <a:ea typeface="Georgia"/>
                <a:cs typeface="Georgia"/>
              </a:defRPr>
            </a:pPr>
            <a:r>
              <a:rPr sz="2925" b="1">
                <a:solidFill>
                  <a:srgbClr val="17211D"/>
                </a:solidFill>
                <a:latin typeface="Georgia"/>
                <a:ea typeface="Georgia"/>
                <a:cs typeface="Georgia"/>
              </a:rPr>
              <a:t>L’outfit di oggi recupera ciò che Marta possiede già.</a:t>
            </a:r>
          </a:p>
        </p:txBody>
      </p:sp>
      <p:sp>
        <p:nvSpPr>
          <p:cNvPr id="5" name="">
            <a:extLst xmlns:a="http://schemas.openxmlformats.org/drawingml/2006/main">
              <a:ext uri="{FF2B5EF4-FFF2-40B4-BE49-F238E27FC236}">
                <a16:creationId xmlns:a16="http://schemas.microsoft.com/office/drawing/2014/main" id="{90F4351F-5A7B-4F94-8BA6-43296B8B2445}"/>
              </a:ext>
            </a:extLst>
          </p:cNvPr>
          <p:cNvSpPr>
            <a:spLocks xmlns:a="http://schemas.openxmlformats.org/drawingml/2006/main" noGrp="1"/>
          </p:cNvSpPr>
          <p:nvPr/>
        </p:nvSpPr>
        <p:spPr>
          <a:xfrm xmlns:a="http://schemas.openxmlformats.org/drawingml/2006/main">
            <a:off x="552450" y="2190750"/>
            <a:ext cx="1943100" cy="2457450"/>
          </a:xfrm>
          <a:prstGeom xmlns:a="http://schemas.openxmlformats.org/drawingml/2006/main" prst="roundRect">
            <a:avLst>
              <a:gd name="adj" fmla="val 3922"/>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9B5D6915-091B-426F-B366-B9B1142FDC6E}"/>
              </a:ext>
            </a:extLst>
          </p:cNvPr>
          <p:cNvSpPr>
            <a:spLocks xmlns:a="http://schemas.openxmlformats.org/drawingml/2006/main" noGrp="1"/>
          </p:cNvSpPr>
          <p:nvPr/>
        </p:nvSpPr>
        <p:spPr>
          <a:xfrm xmlns:a="http://schemas.openxmlformats.org/drawingml/2006/main">
            <a:off x="1143000" y="2457450"/>
            <a:ext cx="7620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750" b="1">
                <a:solidFill>
                  <a:srgbClr val="17211D"/>
                </a:solidFill>
                <a:latin typeface="Georgia"/>
                <a:ea typeface="Georgia"/>
                <a:cs typeface="Georgia"/>
              </a:defRPr>
            </a:pPr>
            <a:r>
              <a:rPr sz="3750" b="1">
                <a:solidFill>
                  <a:srgbClr val="17211D"/>
                </a:solidFill>
                <a:latin typeface="Georgia"/>
                <a:ea typeface="Georgia"/>
                <a:cs typeface="Georgia"/>
              </a:rPr>
              <a:t>T</a:t>
            </a:r>
          </a:p>
        </p:txBody>
      </p:sp>
      <p:sp>
        <p:nvSpPr>
          <p:cNvPr id="7" name="">
            <a:extLst xmlns:a="http://schemas.openxmlformats.org/drawingml/2006/main">
              <a:ext uri="{FF2B5EF4-FFF2-40B4-BE49-F238E27FC236}">
                <a16:creationId xmlns:a16="http://schemas.microsoft.com/office/drawing/2014/main" id="{86018C0C-242A-4F24-90B3-D373489F9E24}"/>
              </a:ext>
            </a:extLst>
          </p:cNvPr>
          <p:cNvSpPr>
            <a:spLocks xmlns:a="http://schemas.openxmlformats.org/drawingml/2006/main" noGrp="1"/>
          </p:cNvSpPr>
          <p:nvPr/>
        </p:nvSpPr>
        <p:spPr>
          <a:xfrm xmlns:a="http://schemas.openxmlformats.org/drawingml/2006/main">
            <a:off x="723900" y="3581400"/>
            <a:ext cx="1600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7211D"/>
                </a:solidFill>
                <a:latin typeface="Georgia"/>
                <a:ea typeface="Georgia"/>
                <a:cs typeface="Georgia"/>
              </a:defRPr>
            </a:pPr>
            <a:r>
              <a:rPr sz="1200" b="1">
                <a:solidFill>
                  <a:srgbClr val="17211D"/>
                </a:solidFill>
                <a:latin typeface="Georgia"/>
                <a:ea typeface="Georgia"/>
                <a:cs typeface="Georgia"/>
              </a:rPr>
              <a:t>Camicia bianca</a:t>
            </a:r>
          </a:p>
        </p:txBody>
      </p:sp>
      <p:sp>
        <p:nvSpPr>
          <p:cNvPr id="8" name="">
            <a:extLst xmlns:a="http://schemas.openxmlformats.org/drawingml/2006/main">
              <a:ext uri="{FF2B5EF4-FFF2-40B4-BE49-F238E27FC236}">
                <a16:creationId xmlns:a16="http://schemas.microsoft.com/office/drawing/2014/main" id="{758DF686-D519-409D-B073-BC3AF1E94DEC}"/>
              </a:ext>
            </a:extLst>
          </p:cNvPr>
          <p:cNvSpPr>
            <a:spLocks xmlns:a="http://schemas.openxmlformats.org/drawingml/2006/main" noGrp="1"/>
          </p:cNvSpPr>
          <p:nvPr/>
        </p:nvSpPr>
        <p:spPr>
          <a:xfrm xmlns:a="http://schemas.openxmlformats.org/drawingml/2006/main">
            <a:off x="723900" y="40386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0">
                <a:solidFill>
                  <a:srgbClr val="17211D"/>
                </a:solidFill>
                <a:latin typeface="Aptos"/>
                <a:ea typeface="Aptos"/>
                <a:cs typeface="Aptos"/>
              </a:defRPr>
            </a:pPr>
            <a:r>
              <a:rPr sz="675" b="0">
                <a:solidFill>
                  <a:srgbClr val="17211D"/>
                </a:solidFill>
                <a:latin typeface="Aptos"/>
                <a:ea typeface="Aptos"/>
                <a:cs typeface="Aptos"/>
              </a:rPr>
              <a:t>top</a:t>
            </a:r>
          </a:p>
        </p:txBody>
      </p:sp>
      <p:sp>
        <p:nvSpPr>
          <p:cNvPr id="9" name="">
            <a:extLst xmlns:a="http://schemas.openxmlformats.org/drawingml/2006/main">
              <a:ext uri="{FF2B5EF4-FFF2-40B4-BE49-F238E27FC236}">
                <a16:creationId xmlns:a16="http://schemas.microsoft.com/office/drawing/2014/main" id="{E2B081FE-12CA-4B25-81B4-6F2D8982CB97}"/>
              </a:ext>
            </a:extLst>
          </p:cNvPr>
          <p:cNvSpPr>
            <a:spLocks xmlns:a="http://schemas.openxmlformats.org/drawingml/2006/main" noGrp="1"/>
          </p:cNvSpPr>
          <p:nvPr/>
        </p:nvSpPr>
        <p:spPr>
          <a:xfrm xmlns:a="http://schemas.openxmlformats.org/drawingml/2006/main">
            <a:off x="2819400" y="2190750"/>
            <a:ext cx="1943100" cy="2457450"/>
          </a:xfrm>
          <a:prstGeom xmlns:a="http://schemas.openxmlformats.org/drawingml/2006/main" prst="roundRect">
            <a:avLst>
              <a:gd name="adj" fmla="val 3922"/>
            </a:avLst>
          </a:prstGeom>
          <a:solidFill xmlns:a="http://schemas.openxmlformats.org/drawingml/2006/main">
            <a:srgbClr val="466D86"/>
          </a:solidFill>
          <a:ln xmlns:a="http://schemas.openxmlformats.org/drawingml/2006/main" w="9525">
            <a:solidFill>
              <a:srgbClr val="466D86"/>
            </a:solidFill>
            <a:prstDash val="solid"/>
          </a:ln>
        </p:spPr>
      </p:sp>
      <p:sp>
        <p:nvSpPr>
          <p:cNvPr id="10" name="">
            <a:extLst xmlns:a="http://schemas.openxmlformats.org/drawingml/2006/main">
              <a:ext uri="{FF2B5EF4-FFF2-40B4-BE49-F238E27FC236}">
                <a16:creationId xmlns:a16="http://schemas.microsoft.com/office/drawing/2014/main" id="{8A11BEDE-1BFE-401F-9703-9884066CD89D}"/>
              </a:ext>
            </a:extLst>
          </p:cNvPr>
          <p:cNvSpPr>
            <a:spLocks xmlns:a="http://schemas.openxmlformats.org/drawingml/2006/main" noGrp="1"/>
          </p:cNvSpPr>
          <p:nvPr/>
        </p:nvSpPr>
        <p:spPr>
          <a:xfrm xmlns:a="http://schemas.openxmlformats.org/drawingml/2006/main">
            <a:off x="3409950" y="2457450"/>
            <a:ext cx="7620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750" b="1">
                <a:solidFill>
                  <a:srgbClr val="FFFFFF"/>
                </a:solidFill>
                <a:latin typeface="Georgia"/>
                <a:ea typeface="Georgia"/>
                <a:cs typeface="Georgia"/>
              </a:defRPr>
            </a:pPr>
            <a:r>
              <a:rPr sz="3750" b="1">
                <a:solidFill>
                  <a:srgbClr val="FFFFFF"/>
                </a:solidFill>
                <a:latin typeface="Georgia"/>
                <a:ea typeface="Georgia"/>
                <a:cs typeface="Georgia"/>
              </a:rPr>
              <a:t>J</a:t>
            </a:r>
          </a:p>
        </p:txBody>
      </p:sp>
      <p:sp>
        <p:nvSpPr>
          <p:cNvPr id="11" name="">
            <a:extLst xmlns:a="http://schemas.openxmlformats.org/drawingml/2006/main">
              <a:ext uri="{FF2B5EF4-FFF2-40B4-BE49-F238E27FC236}">
                <a16:creationId xmlns:a16="http://schemas.microsoft.com/office/drawing/2014/main" id="{BF853C19-52DE-4F71-8604-D3D72FB26056}"/>
              </a:ext>
            </a:extLst>
          </p:cNvPr>
          <p:cNvSpPr>
            <a:spLocks xmlns:a="http://schemas.openxmlformats.org/drawingml/2006/main" noGrp="1"/>
          </p:cNvSpPr>
          <p:nvPr/>
        </p:nvSpPr>
        <p:spPr>
          <a:xfrm xmlns:a="http://schemas.openxmlformats.org/drawingml/2006/main">
            <a:off x="2990850" y="3581400"/>
            <a:ext cx="1600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Georgia"/>
                <a:ea typeface="Georgia"/>
                <a:cs typeface="Georgia"/>
              </a:defRPr>
            </a:pPr>
            <a:r>
              <a:rPr sz="1200" b="1">
                <a:solidFill>
                  <a:srgbClr val="FFFFFF"/>
                </a:solidFill>
                <a:latin typeface="Georgia"/>
                <a:ea typeface="Georgia"/>
                <a:cs typeface="Georgia"/>
              </a:rPr>
              <a:t>Jeans blu</a:t>
            </a:r>
          </a:p>
        </p:txBody>
      </p:sp>
      <p:sp>
        <p:nvSpPr>
          <p:cNvPr id="12" name="">
            <a:extLst xmlns:a="http://schemas.openxmlformats.org/drawingml/2006/main">
              <a:ext uri="{FF2B5EF4-FFF2-40B4-BE49-F238E27FC236}">
                <a16:creationId xmlns:a16="http://schemas.microsoft.com/office/drawing/2014/main" id="{B2D8F05E-9A30-4AB5-88AA-82EE5D4FB4A7}"/>
              </a:ext>
            </a:extLst>
          </p:cNvPr>
          <p:cNvSpPr>
            <a:spLocks xmlns:a="http://schemas.openxmlformats.org/drawingml/2006/main" noGrp="1"/>
          </p:cNvSpPr>
          <p:nvPr/>
        </p:nvSpPr>
        <p:spPr>
          <a:xfrm xmlns:a="http://schemas.openxmlformats.org/drawingml/2006/main">
            <a:off x="2990850" y="40386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0">
                <a:solidFill>
                  <a:srgbClr val="FFFFFF"/>
                </a:solidFill>
                <a:latin typeface="Aptos"/>
                <a:ea typeface="Aptos"/>
                <a:cs typeface="Aptos"/>
              </a:defRPr>
            </a:pPr>
            <a:r>
              <a:rPr sz="675" b="0">
                <a:solidFill>
                  <a:srgbClr val="FFFFFF"/>
                </a:solidFill>
                <a:latin typeface="Aptos"/>
                <a:ea typeface="Aptos"/>
                <a:cs typeface="Aptos"/>
              </a:rPr>
              <a:t>bottom</a:t>
            </a:r>
          </a:p>
        </p:txBody>
      </p:sp>
      <p:sp>
        <p:nvSpPr>
          <p:cNvPr id="13" name="">
            <a:extLst xmlns:a="http://schemas.openxmlformats.org/drawingml/2006/main">
              <a:ext uri="{FF2B5EF4-FFF2-40B4-BE49-F238E27FC236}">
                <a16:creationId xmlns:a16="http://schemas.microsoft.com/office/drawing/2014/main" id="{30949BFC-C800-434A-B791-E99145C9ABAC}"/>
              </a:ext>
            </a:extLst>
          </p:cNvPr>
          <p:cNvSpPr>
            <a:spLocks xmlns:a="http://schemas.openxmlformats.org/drawingml/2006/main" noGrp="1"/>
          </p:cNvSpPr>
          <p:nvPr/>
        </p:nvSpPr>
        <p:spPr>
          <a:xfrm xmlns:a="http://schemas.openxmlformats.org/drawingml/2006/main">
            <a:off x="5086350" y="2190750"/>
            <a:ext cx="1943100" cy="2457450"/>
          </a:xfrm>
          <a:prstGeom xmlns:a="http://schemas.openxmlformats.org/drawingml/2006/main" prst="roundRect">
            <a:avLst>
              <a:gd name="adj" fmla="val 3922"/>
            </a:avLst>
          </a:prstGeom>
          <a:solidFill xmlns:a="http://schemas.openxmlformats.org/drawingml/2006/main">
            <a:srgbClr val="2F7D5B"/>
          </a:solidFill>
          <a:ln xmlns:a="http://schemas.openxmlformats.org/drawingml/2006/main" w="9525">
            <a:solidFill>
              <a:srgbClr val="2F7D5B"/>
            </a:solidFill>
            <a:prstDash val="solid"/>
          </a:ln>
        </p:spPr>
      </p:sp>
      <p:sp>
        <p:nvSpPr>
          <p:cNvPr id="14" name="">
            <a:extLst xmlns:a="http://schemas.openxmlformats.org/drawingml/2006/main">
              <a:ext uri="{FF2B5EF4-FFF2-40B4-BE49-F238E27FC236}">
                <a16:creationId xmlns:a16="http://schemas.microsoft.com/office/drawing/2014/main" id="{A17CFF02-187E-4E3D-A381-E14B9411DDC6}"/>
              </a:ext>
            </a:extLst>
          </p:cNvPr>
          <p:cNvSpPr>
            <a:spLocks xmlns:a="http://schemas.openxmlformats.org/drawingml/2006/main" noGrp="1"/>
          </p:cNvSpPr>
          <p:nvPr/>
        </p:nvSpPr>
        <p:spPr>
          <a:xfrm xmlns:a="http://schemas.openxmlformats.org/drawingml/2006/main">
            <a:off x="5676900" y="2457450"/>
            <a:ext cx="7620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750" b="1">
                <a:solidFill>
                  <a:srgbClr val="FFFFFF"/>
                </a:solidFill>
                <a:latin typeface="Georgia"/>
                <a:ea typeface="Georgia"/>
                <a:cs typeface="Georgia"/>
              </a:defRPr>
            </a:pPr>
            <a:r>
              <a:rPr sz="3750" b="1">
                <a:solidFill>
                  <a:srgbClr val="FFFFFF"/>
                </a:solidFill>
                <a:latin typeface="Georgia"/>
                <a:ea typeface="Georgia"/>
                <a:cs typeface="Georgia"/>
              </a:rPr>
              <a:t>G</a:t>
            </a:r>
          </a:p>
        </p:txBody>
      </p:sp>
      <p:sp>
        <p:nvSpPr>
          <p:cNvPr id="15" name="">
            <a:extLst xmlns:a="http://schemas.openxmlformats.org/drawingml/2006/main">
              <a:ext uri="{FF2B5EF4-FFF2-40B4-BE49-F238E27FC236}">
                <a16:creationId xmlns:a16="http://schemas.microsoft.com/office/drawing/2014/main" id="{C5F4CC06-B43A-41B3-BB2F-F1C1313DFA74}"/>
              </a:ext>
            </a:extLst>
          </p:cNvPr>
          <p:cNvSpPr>
            <a:spLocks xmlns:a="http://schemas.openxmlformats.org/drawingml/2006/main" noGrp="1"/>
          </p:cNvSpPr>
          <p:nvPr/>
        </p:nvSpPr>
        <p:spPr>
          <a:xfrm xmlns:a="http://schemas.openxmlformats.org/drawingml/2006/main">
            <a:off x="5257800" y="3581400"/>
            <a:ext cx="1600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Georgia"/>
                <a:ea typeface="Georgia"/>
                <a:cs typeface="Georgia"/>
              </a:defRPr>
            </a:pPr>
            <a:r>
              <a:rPr sz="1200" b="1">
                <a:solidFill>
                  <a:srgbClr val="FFFFFF"/>
                </a:solidFill>
                <a:latin typeface="Georgia"/>
                <a:ea typeface="Georgia"/>
                <a:cs typeface="Georgia"/>
              </a:rPr>
              <a:t>Giacca verde</a:t>
            </a:r>
          </a:p>
        </p:txBody>
      </p:sp>
      <p:sp>
        <p:nvSpPr>
          <p:cNvPr id="16" name="">
            <a:extLst xmlns:a="http://schemas.openxmlformats.org/drawingml/2006/main">
              <a:ext uri="{FF2B5EF4-FFF2-40B4-BE49-F238E27FC236}">
                <a16:creationId xmlns:a16="http://schemas.microsoft.com/office/drawing/2014/main" id="{50A3C912-395B-4FC4-96A5-B5145F3575A4}"/>
              </a:ext>
            </a:extLst>
          </p:cNvPr>
          <p:cNvSpPr>
            <a:spLocks xmlns:a="http://schemas.openxmlformats.org/drawingml/2006/main" noGrp="1"/>
          </p:cNvSpPr>
          <p:nvPr/>
        </p:nvSpPr>
        <p:spPr>
          <a:xfrm xmlns:a="http://schemas.openxmlformats.org/drawingml/2006/main">
            <a:off x="5257800" y="40386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0">
                <a:solidFill>
                  <a:srgbClr val="FFFFFF"/>
                </a:solidFill>
                <a:latin typeface="Aptos"/>
                <a:ea typeface="Aptos"/>
                <a:cs typeface="Aptos"/>
              </a:defRPr>
            </a:pPr>
            <a:r>
              <a:rPr sz="675" b="0">
                <a:solidFill>
                  <a:srgbClr val="FFFFFF"/>
                </a:solidFill>
                <a:latin typeface="Aptos"/>
                <a:ea typeface="Aptos"/>
                <a:cs typeface="Aptos"/>
              </a:rPr>
              <a:t>capospalla</a:t>
            </a:r>
          </a:p>
        </p:txBody>
      </p:sp>
      <p:sp>
        <p:nvSpPr>
          <p:cNvPr id="17" name="">
            <a:extLst xmlns:a="http://schemas.openxmlformats.org/drawingml/2006/main">
              <a:ext uri="{FF2B5EF4-FFF2-40B4-BE49-F238E27FC236}">
                <a16:creationId xmlns:a16="http://schemas.microsoft.com/office/drawing/2014/main" id="{81263335-830B-4AB6-9D79-D19176F429EE}"/>
              </a:ext>
            </a:extLst>
          </p:cNvPr>
          <p:cNvSpPr>
            <a:spLocks xmlns:a="http://schemas.openxmlformats.org/drawingml/2006/main" noGrp="1"/>
          </p:cNvSpPr>
          <p:nvPr/>
        </p:nvSpPr>
        <p:spPr>
          <a:xfrm xmlns:a="http://schemas.openxmlformats.org/drawingml/2006/main">
            <a:off x="7677150" y="2190750"/>
            <a:ext cx="3962400" cy="2952750"/>
          </a:xfrm>
          <a:prstGeom xmlns:a="http://schemas.openxmlformats.org/drawingml/2006/main" prst="roundRect">
            <a:avLst>
              <a:gd name="adj" fmla="val 2581"/>
            </a:avLst>
          </a:prstGeom>
          <a:solidFill xmlns:a="http://schemas.openxmlformats.org/drawingml/2006/main">
            <a:srgbClr val="123C31"/>
          </a:solidFill>
          <a:ln xmlns:a="http://schemas.openxmlformats.org/drawingml/2006/main" w="9525">
            <a:solidFill>
              <a:srgbClr val="123C31"/>
            </a:solidFill>
            <a:prstDash val="solid"/>
          </a:ln>
        </p:spPr>
      </p:sp>
      <p:sp>
        <p:nvSpPr>
          <p:cNvPr id="18" name="">
            <a:extLst xmlns:a="http://schemas.openxmlformats.org/drawingml/2006/main">
              <a:ext uri="{FF2B5EF4-FFF2-40B4-BE49-F238E27FC236}">
                <a16:creationId xmlns:a16="http://schemas.microsoft.com/office/drawing/2014/main" id="{A25B3826-629A-4740-9D36-9A5410EC61DE}"/>
              </a:ext>
            </a:extLst>
          </p:cNvPr>
          <p:cNvSpPr>
            <a:spLocks xmlns:a="http://schemas.openxmlformats.org/drawingml/2006/main" noGrp="1"/>
          </p:cNvSpPr>
          <p:nvPr/>
        </p:nvSpPr>
        <p:spPr>
          <a:xfrm xmlns:a="http://schemas.openxmlformats.org/drawingml/2006/main">
            <a:off x="7943850" y="243840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B9D94A"/>
                </a:solidFill>
                <a:latin typeface="Aptos"/>
                <a:ea typeface="Aptos"/>
                <a:cs typeface="Aptos"/>
              </a:defRPr>
            </a:pPr>
            <a:r>
              <a:rPr sz="675" b="1">
                <a:solidFill>
                  <a:srgbClr val="B9D94A"/>
                </a:solidFill>
                <a:latin typeface="Aptos"/>
                <a:ea typeface="Aptos"/>
                <a:cs typeface="Aptos"/>
              </a:rPr>
              <a:t>PERCHÉ QUESTA?</a:t>
            </a:r>
          </a:p>
        </p:txBody>
      </p:sp>
      <p:sp>
        <p:nvSpPr>
          <p:cNvPr id="19" name="">
            <a:extLst xmlns:a="http://schemas.openxmlformats.org/drawingml/2006/main">
              <a:ext uri="{FF2B5EF4-FFF2-40B4-BE49-F238E27FC236}">
                <a16:creationId xmlns:a16="http://schemas.microsoft.com/office/drawing/2014/main" id="{4CEA1D3A-F64C-4B2E-85FD-40D2E405B141}"/>
              </a:ext>
            </a:extLst>
          </p:cNvPr>
          <p:cNvSpPr>
            <a:spLocks xmlns:a="http://schemas.openxmlformats.org/drawingml/2006/main" noGrp="1"/>
          </p:cNvSpPr>
          <p:nvPr/>
        </p:nvSpPr>
        <p:spPr>
          <a:xfrm xmlns:a="http://schemas.openxmlformats.org/drawingml/2006/main">
            <a:off x="7943850" y="2952750"/>
            <a:ext cx="152400" cy="1524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A9948B5-7E2E-4AF3-B4FA-5AFB685B0B5B}"/>
              </a:ext>
            </a:extLst>
          </p:cNvPr>
          <p:cNvSpPr>
            <a:spLocks xmlns:a="http://schemas.openxmlformats.org/drawingml/2006/main" noGrp="1"/>
          </p:cNvSpPr>
          <p:nvPr/>
        </p:nvSpPr>
        <p:spPr>
          <a:xfrm xmlns:a="http://schemas.openxmlformats.org/drawingml/2006/main">
            <a:off x="8229600" y="28956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Palette</a:t>
            </a:r>
          </a:p>
        </p:txBody>
      </p:sp>
      <p:sp>
        <p:nvSpPr>
          <p:cNvPr id="21" name="">
            <a:extLst xmlns:a="http://schemas.openxmlformats.org/drawingml/2006/main">
              <a:ext uri="{FF2B5EF4-FFF2-40B4-BE49-F238E27FC236}">
                <a16:creationId xmlns:a16="http://schemas.microsoft.com/office/drawing/2014/main" id="{E887B0F7-A59B-4888-8BCC-80EBFC7FC1B2}"/>
              </a:ext>
            </a:extLst>
          </p:cNvPr>
          <p:cNvSpPr>
            <a:spLocks xmlns:a="http://schemas.openxmlformats.org/drawingml/2006/main" noGrp="1"/>
          </p:cNvSpPr>
          <p:nvPr/>
        </p:nvSpPr>
        <p:spPr>
          <a:xfrm xmlns:a="http://schemas.openxmlformats.org/drawingml/2006/main">
            <a:off x="8229600" y="3143250"/>
            <a:ext cx="285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DDE5DD"/>
                </a:solidFill>
                <a:latin typeface="Aptos"/>
                <a:ea typeface="Aptos"/>
                <a:cs typeface="Aptos"/>
              </a:defRPr>
            </a:pPr>
            <a:r>
              <a:rPr sz="713" b="0">
                <a:solidFill>
                  <a:srgbClr val="DDE5DD"/>
                </a:solidFill>
                <a:latin typeface="Aptos"/>
                <a:ea typeface="Aptos"/>
                <a:cs typeface="Aptos"/>
              </a:rPr>
              <a:t>colori compatibili</a:t>
            </a:r>
          </a:p>
        </p:txBody>
      </p:sp>
      <p:sp>
        <p:nvSpPr>
          <p:cNvPr id="22" name="">
            <a:extLst xmlns:a="http://schemas.openxmlformats.org/drawingml/2006/main">
              <a:ext uri="{FF2B5EF4-FFF2-40B4-BE49-F238E27FC236}">
                <a16:creationId xmlns:a16="http://schemas.microsoft.com/office/drawing/2014/main" id="{7BFE7206-07B9-49E3-B7F8-904F31701FAD}"/>
              </a:ext>
            </a:extLst>
          </p:cNvPr>
          <p:cNvSpPr>
            <a:spLocks xmlns:a="http://schemas.openxmlformats.org/drawingml/2006/main" noGrp="1"/>
          </p:cNvSpPr>
          <p:nvPr/>
        </p:nvSpPr>
        <p:spPr>
          <a:xfrm xmlns:a="http://schemas.openxmlformats.org/drawingml/2006/main">
            <a:off x="7943850" y="3581400"/>
            <a:ext cx="152400" cy="152400"/>
          </a:xfrm>
          <a:prstGeom xmlns:a="http://schemas.openxmlformats.org/drawingml/2006/main" prst="ellipse">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A3449AA-8B2F-442C-9931-F0AB35DE0CD7}"/>
              </a:ext>
            </a:extLst>
          </p:cNvPr>
          <p:cNvSpPr>
            <a:spLocks xmlns:a="http://schemas.openxmlformats.org/drawingml/2006/main" noGrp="1"/>
          </p:cNvSpPr>
          <p:nvPr/>
        </p:nvSpPr>
        <p:spPr>
          <a:xfrm xmlns:a="http://schemas.openxmlformats.org/drawingml/2006/main">
            <a:off x="8229600" y="352425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Meteo</a:t>
            </a:r>
          </a:p>
        </p:txBody>
      </p:sp>
      <p:sp>
        <p:nvSpPr>
          <p:cNvPr id="24" name="">
            <a:extLst xmlns:a="http://schemas.openxmlformats.org/drawingml/2006/main">
              <a:ext uri="{FF2B5EF4-FFF2-40B4-BE49-F238E27FC236}">
                <a16:creationId xmlns:a16="http://schemas.microsoft.com/office/drawing/2014/main" id="{9753148B-4444-46C6-8842-F53FE35F8023}"/>
              </a:ext>
            </a:extLst>
          </p:cNvPr>
          <p:cNvSpPr>
            <a:spLocks xmlns:a="http://schemas.openxmlformats.org/drawingml/2006/main" noGrp="1"/>
          </p:cNvSpPr>
          <p:nvPr/>
        </p:nvSpPr>
        <p:spPr>
          <a:xfrm xmlns:a="http://schemas.openxmlformats.org/drawingml/2006/main">
            <a:off x="8229600" y="3771900"/>
            <a:ext cx="285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DDE5DD"/>
                </a:solidFill>
                <a:latin typeface="Aptos"/>
                <a:ea typeface="Aptos"/>
                <a:cs typeface="Aptos"/>
              </a:defRPr>
            </a:pPr>
            <a:r>
              <a:rPr sz="713" b="0">
                <a:solidFill>
                  <a:srgbClr val="DDE5DD"/>
                </a:solidFill>
                <a:latin typeface="Aptos"/>
                <a:ea typeface="Aptos"/>
                <a:cs typeface="Aptos"/>
              </a:rPr>
              <a:t>adatto alla giornata</a:t>
            </a:r>
          </a:p>
        </p:txBody>
      </p:sp>
      <p:sp>
        <p:nvSpPr>
          <p:cNvPr id="25" name="">
            <a:extLst xmlns:a="http://schemas.openxmlformats.org/drawingml/2006/main">
              <a:ext uri="{FF2B5EF4-FFF2-40B4-BE49-F238E27FC236}">
                <a16:creationId xmlns:a16="http://schemas.microsoft.com/office/drawing/2014/main" id="{B439A6AE-D0F5-4C46-B31F-10A76D4BC811}"/>
              </a:ext>
            </a:extLst>
          </p:cNvPr>
          <p:cNvSpPr>
            <a:spLocks xmlns:a="http://schemas.openxmlformats.org/drawingml/2006/main" noGrp="1"/>
          </p:cNvSpPr>
          <p:nvPr/>
        </p:nvSpPr>
        <p:spPr>
          <a:xfrm xmlns:a="http://schemas.openxmlformats.org/drawingml/2006/main">
            <a:off x="7943850" y="4210050"/>
            <a:ext cx="152400" cy="15240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EA822A93-CD99-4C65-B94F-0C17F7A0A37E}"/>
              </a:ext>
            </a:extLst>
          </p:cNvPr>
          <p:cNvSpPr>
            <a:spLocks xmlns:a="http://schemas.openxmlformats.org/drawingml/2006/main" noGrp="1"/>
          </p:cNvSpPr>
          <p:nvPr/>
        </p:nvSpPr>
        <p:spPr>
          <a:xfrm xmlns:a="http://schemas.openxmlformats.org/drawingml/2006/main">
            <a:off x="8229600" y="41529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Anti-fantasma</a:t>
            </a:r>
          </a:p>
        </p:txBody>
      </p:sp>
      <p:sp>
        <p:nvSpPr>
          <p:cNvPr id="27" name="">
            <a:extLst xmlns:a="http://schemas.openxmlformats.org/drawingml/2006/main">
              <a:ext uri="{FF2B5EF4-FFF2-40B4-BE49-F238E27FC236}">
                <a16:creationId xmlns:a16="http://schemas.microsoft.com/office/drawing/2014/main" id="{01587772-BC97-407E-9D62-18EED79C4AB7}"/>
              </a:ext>
            </a:extLst>
          </p:cNvPr>
          <p:cNvSpPr>
            <a:spLocks xmlns:a="http://schemas.openxmlformats.org/drawingml/2006/main" noGrp="1"/>
          </p:cNvSpPr>
          <p:nvPr/>
        </p:nvSpPr>
        <p:spPr>
          <a:xfrm xmlns:a="http://schemas.openxmlformats.org/drawingml/2006/main">
            <a:off x="8229600" y="4400550"/>
            <a:ext cx="285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DDE5DD"/>
                </a:solidFill>
                <a:latin typeface="Aptos"/>
                <a:ea typeface="Aptos"/>
                <a:cs typeface="Aptos"/>
              </a:defRPr>
            </a:pPr>
            <a:r>
              <a:rPr sz="713" b="0">
                <a:solidFill>
                  <a:srgbClr val="DDE5DD"/>
                </a:solidFill>
                <a:latin typeface="Aptos"/>
                <a:ea typeface="Aptos"/>
                <a:cs typeface="Aptos"/>
              </a:rPr>
              <a:t>riporta la giacca in rotazione</a:t>
            </a:r>
          </a:p>
        </p:txBody>
      </p:sp>
      <p:sp>
        <p:nvSpPr>
          <p:cNvPr id="28" name="">
            <a:extLst xmlns:a="http://schemas.openxmlformats.org/drawingml/2006/main">
              <a:ext uri="{FF2B5EF4-FFF2-40B4-BE49-F238E27FC236}">
                <a16:creationId xmlns:a16="http://schemas.microsoft.com/office/drawing/2014/main" id="{420D74C4-E984-4B8A-A3B1-E5F9BB701708}"/>
              </a:ext>
            </a:extLst>
          </p:cNvPr>
          <p:cNvSpPr>
            <a:spLocks xmlns:a="http://schemas.openxmlformats.org/drawingml/2006/main" noGrp="1"/>
          </p:cNvSpPr>
          <p:nvPr/>
        </p:nvSpPr>
        <p:spPr>
          <a:xfrm xmlns:a="http://schemas.openxmlformats.org/drawingml/2006/main">
            <a:off x="552450" y="5391150"/>
            <a:ext cx="11087100" cy="476250"/>
          </a:xfrm>
          <a:prstGeom xmlns:a="http://schemas.openxmlformats.org/drawingml/2006/main" prst="roundRect">
            <a:avLst>
              <a:gd name="adj" fmla="val 16000"/>
            </a:avLst>
          </a:prstGeom>
          <a:solidFill xmlns:a="http://schemas.openxmlformats.org/drawingml/2006/main">
            <a:srgbClr val="EAE5D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B7C63838-9070-4ADA-9170-9278456864A0}"/>
              </a:ext>
            </a:extLst>
          </p:cNvPr>
          <p:cNvSpPr>
            <a:spLocks xmlns:a="http://schemas.openxmlformats.org/drawingml/2006/main" noGrp="1"/>
          </p:cNvSpPr>
          <p:nvPr/>
        </p:nvSpPr>
        <p:spPr>
          <a:xfrm xmlns:a="http://schemas.openxmlformats.org/drawingml/2006/main">
            <a:off x="781050" y="5505450"/>
            <a:ext cx="10629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5736B"/>
                </a:solidFill>
                <a:latin typeface="Aptos"/>
                <a:ea typeface="Aptos"/>
                <a:cs typeface="Aptos"/>
              </a:defRPr>
            </a:pPr>
            <a:r>
              <a:rPr sz="900" b="0">
                <a:solidFill>
                  <a:srgbClr val="65736B"/>
                </a:solidFill>
                <a:latin typeface="Aptos"/>
                <a:ea typeface="Aptos"/>
                <a:cs typeface="Aptos"/>
              </a:rPr>
              <a:t>Il ranking è una regola pesata con feedback: non è una rete neurale addestrata.</a:t>
            </a:r>
          </a:p>
        </p:txBody>
      </p:sp>
      <p:sp>
        <p:nvSpPr>
          <p:cNvPr id="30" name="">
            <a:extLst xmlns:a="http://schemas.openxmlformats.org/drawingml/2006/main">
              <a:ext uri="{FF2B5EF4-FFF2-40B4-BE49-F238E27FC236}">
                <a16:creationId xmlns:a16="http://schemas.microsoft.com/office/drawing/2014/main" id="{E1B76B8A-F2E0-4D65-BE35-DBE3DE136641}"/>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815256CF-BD9F-44DB-B508-FF9104439BB2}"/>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Regole: colore + meteo + bonus ghost + feedback</a:t>
            </a:r>
          </a:p>
        </p:txBody>
      </p:sp>
      <p:sp>
        <p:nvSpPr>
          <p:cNvPr id="32" name="">
            <a:extLst xmlns:a="http://schemas.openxmlformats.org/drawingml/2006/main">
              <a:ext uri="{FF2B5EF4-FFF2-40B4-BE49-F238E27FC236}">
                <a16:creationId xmlns:a16="http://schemas.microsoft.com/office/drawing/2014/main" id="{2B4E4C7C-3E04-422F-B213-35D805A1D944}"/>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05</a:t>
            </a:r>
          </a:p>
        </p:txBody>
      </p:sp>
    </p:spTree>
    <p:extLst>
      <p:ext uri="{BB962C8B-B14F-4D97-AF65-F5344CB8AC3E}">
        <p14:creationId xmlns:p14="http://schemas.microsoft.com/office/powerpoint/2010/main" val="7668425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36F9FF5C-3663-4AF1-A3B0-1146A32BAF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E6540BA-B6F1-4F6D-8563-8357C17854F2}"/>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0270188-E38E-4DC6-BF08-C4FFC4D0F546}"/>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DDE5DD"/>
                </a:solidFill>
                <a:latin typeface="Aptos"/>
                <a:ea typeface="Aptos"/>
                <a:cs typeface="Aptos"/>
              </a:defRPr>
            </a:pPr>
            <a:r>
              <a:rPr sz="638" b="1">
                <a:solidFill>
                  <a:srgbClr val="DDE5DD"/>
                </a:solidFill>
                <a:latin typeface="Aptos"/>
                <a:ea typeface="Aptos"/>
                <a:cs typeface="Aptos"/>
              </a:rPr>
              <a:t>U S E R   S T O R Y   ·   R I S C O P R E</a:t>
            </a:r>
          </a:p>
        </p:txBody>
      </p:sp>
      <p:sp>
        <p:nvSpPr>
          <p:cNvPr id="4" name="claim-title">
            <a:extLst xmlns:a="http://schemas.openxmlformats.org/drawingml/2006/main">
              <a:ext uri="{FF2B5EF4-FFF2-40B4-BE49-F238E27FC236}">
                <a16:creationId xmlns:a16="http://schemas.microsoft.com/office/drawing/2014/main" id="{183D1A1D-133A-4E9B-B8CD-62DEB6AEED97}"/>
              </a:ext>
            </a:extLst>
          </p:cNvPr>
          <p:cNvSpPr>
            <a:spLocks xmlns:a="http://schemas.openxmlformats.org/drawingml/2006/main" noGrp="1"/>
          </p:cNvSpPr>
          <p:nvPr/>
        </p:nvSpPr>
        <p:spPr>
          <a:xfrm xmlns:a="http://schemas.openxmlformats.org/drawingml/2006/main">
            <a:off x="552450" y="742950"/>
            <a:ext cx="1057275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FFFFFF"/>
                </a:solidFill>
                <a:latin typeface="Georgia"/>
                <a:ea typeface="Georgia"/>
                <a:cs typeface="Georgia"/>
              </a:defRPr>
            </a:pPr>
            <a:r>
              <a:rPr sz="2925" b="1">
                <a:solidFill>
                  <a:srgbClr val="FFFFFF"/>
                </a:solidFill>
                <a:latin typeface="Georgia"/>
                <a:ea typeface="Georgia"/>
                <a:cs typeface="Georgia"/>
              </a:rPr>
              <a:t>La giacca dimenticata riappare prima di un nuovo acquisto.</a:t>
            </a:r>
          </a:p>
        </p:txBody>
      </p:sp>
      <p:sp>
        <p:nvSpPr>
          <p:cNvPr id="5" name="">
            <a:extLst xmlns:a="http://schemas.openxmlformats.org/drawingml/2006/main">
              <a:ext uri="{FF2B5EF4-FFF2-40B4-BE49-F238E27FC236}">
                <a16:creationId xmlns:a16="http://schemas.microsoft.com/office/drawing/2014/main" id="{62A236C3-2AE1-4B61-84FF-CA681FD73915}"/>
              </a:ext>
            </a:extLst>
          </p:cNvPr>
          <p:cNvSpPr>
            <a:spLocks xmlns:a="http://schemas.openxmlformats.org/drawingml/2006/main" noGrp="1"/>
          </p:cNvSpPr>
          <p:nvPr/>
        </p:nvSpPr>
        <p:spPr>
          <a:xfrm xmlns:a="http://schemas.openxmlformats.org/drawingml/2006/main">
            <a:off x="552450" y="1790700"/>
            <a:ext cx="885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DE5DD"/>
                </a:solidFill>
                <a:latin typeface="Aptos"/>
                <a:ea typeface="Aptos"/>
                <a:cs typeface="Aptos"/>
              </a:defRPr>
            </a:pPr>
            <a:r>
              <a:rPr sz="1050" b="0">
                <a:solidFill>
                  <a:srgbClr val="DDE5DD"/>
                </a:solidFill>
                <a:latin typeface="Aptos"/>
                <a:ea typeface="Aptos"/>
                <a:cs typeface="Aptos"/>
              </a:rPr>
              <a:t>Sì: i ghost garments sono rilevati con una regola deterministica.</a:t>
            </a:r>
          </a:p>
        </p:txBody>
      </p:sp>
      <p:sp>
        <p:nvSpPr>
          <p:cNvPr id="6" name="">
            <a:extLst xmlns:a="http://schemas.openxmlformats.org/drawingml/2006/main">
              <a:ext uri="{FF2B5EF4-FFF2-40B4-BE49-F238E27FC236}">
                <a16:creationId xmlns:a16="http://schemas.microsoft.com/office/drawing/2014/main" id="{ADA5F3FE-62C1-4BD8-9E85-DCA6EFAA00BB}"/>
              </a:ext>
            </a:extLst>
          </p:cNvPr>
          <p:cNvSpPr>
            <a:spLocks xmlns:a="http://schemas.openxmlformats.org/drawingml/2006/main" noGrp="1"/>
          </p:cNvSpPr>
          <p:nvPr/>
        </p:nvSpPr>
        <p:spPr>
          <a:xfrm xmlns:a="http://schemas.openxmlformats.org/drawingml/2006/main">
            <a:off x="552450" y="2381250"/>
            <a:ext cx="361950" cy="3619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32FA938-DED5-4F8D-AA80-335CC0830D84}"/>
              </a:ext>
            </a:extLst>
          </p:cNvPr>
          <p:cNvSpPr>
            <a:spLocks xmlns:a="http://schemas.openxmlformats.org/drawingml/2006/main" noGrp="1"/>
          </p:cNvSpPr>
          <p:nvPr/>
        </p:nvSpPr>
        <p:spPr>
          <a:xfrm xmlns:a="http://schemas.openxmlformats.org/drawingml/2006/main">
            <a:off x="552450" y="240030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Georgia"/>
                <a:ea typeface="Georgia"/>
                <a:cs typeface="Georgia"/>
              </a:defRPr>
            </a:pPr>
            <a:r>
              <a:rPr sz="1050" b="1">
                <a:solidFill>
                  <a:srgbClr val="FFFFFF"/>
                </a:solidFill>
                <a:latin typeface="Georgia"/>
                <a:ea typeface="Georgia"/>
                <a:cs typeface="Georgia"/>
              </a:rPr>
              <a:t>1</a:t>
            </a:r>
          </a:p>
        </p:txBody>
      </p:sp>
      <p:sp>
        <p:nvSpPr>
          <p:cNvPr id="8" name="">
            <a:extLst xmlns:a="http://schemas.openxmlformats.org/drawingml/2006/main">
              <a:ext uri="{FF2B5EF4-FFF2-40B4-BE49-F238E27FC236}">
                <a16:creationId xmlns:a16="http://schemas.microsoft.com/office/drawing/2014/main" id="{F0ABF695-76F0-4608-BCBB-2660C04B1E6B}"/>
              </a:ext>
            </a:extLst>
          </p:cNvPr>
          <p:cNvSpPr>
            <a:spLocks xmlns:a="http://schemas.openxmlformats.org/drawingml/2006/main" noGrp="1"/>
          </p:cNvSpPr>
          <p:nvPr/>
        </p:nvSpPr>
        <p:spPr>
          <a:xfrm xmlns:a="http://schemas.openxmlformats.org/drawingml/2006/main">
            <a:off x="1028700" y="2562225"/>
            <a:ext cx="2667000" cy="28575"/>
          </a:xfrm>
          <a:prstGeom xmlns:a="http://schemas.openxmlformats.org/drawingml/2006/main" prst="rect">
            <a:avLst/>
          </a:prstGeom>
          <a:solidFill xmlns:a="http://schemas.openxmlformats.org/drawingml/2006/main">
            <a:srgbClr val="4E7769"/>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89FBC8A-2BF7-4F33-9CDC-2DFEF938B78B}"/>
              </a:ext>
            </a:extLst>
          </p:cNvPr>
          <p:cNvSpPr>
            <a:spLocks xmlns:a="http://schemas.openxmlformats.org/drawingml/2006/main" noGrp="1"/>
          </p:cNvSpPr>
          <p:nvPr/>
        </p:nvSpPr>
        <p:spPr>
          <a:xfrm xmlns:a="http://schemas.openxmlformats.org/drawingml/2006/main">
            <a:off x="3667125" y="2505075"/>
            <a:ext cx="133350" cy="133350"/>
          </a:xfrm>
          <a:prstGeom xmlns:a="http://schemas.openxmlformats.org/drawingml/2006/main" prst="triangle">
            <a:avLst/>
          </a:prstGeom>
          <a:solidFill xmlns:a="http://schemas.openxmlformats.org/drawingml/2006/main">
            <a:srgbClr val="4E7769"/>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F78989F-304E-4F75-A8C3-AC81BF8529E8}"/>
              </a:ext>
            </a:extLst>
          </p:cNvPr>
          <p:cNvSpPr>
            <a:spLocks xmlns:a="http://schemas.openxmlformats.org/drawingml/2006/main" noGrp="1"/>
          </p:cNvSpPr>
          <p:nvPr/>
        </p:nvSpPr>
        <p:spPr>
          <a:xfrm xmlns:a="http://schemas.openxmlformats.org/drawingml/2006/main">
            <a:off x="552450" y="297180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È attivo</a:t>
            </a:r>
          </a:p>
        </p:txBody>
      </p:sp>
      <p:sp>
        <p:nvSpPr>
          <p:cNvPr id="11" name="">
            <a:extLst xmlns:a="http://schemas.openxmlformats.org/drawingml/2006/main">
              <a:ext uri="{FF2B5EF4-FFF2-40B4-BE49-F238E27FC236}">
                <a16:creationId xmlns:a16="http://schemas.microsoft.com/office/drawing/2014/main" id="{DBFA1569-A84F-4381-8FF4-49884B2A143A}"/>
              </a:ext>
            </a:extLst>
          </p:cNvPr>
          <p:cNvSpPr>
            <a:spLocks xmlns:a="http://schemas.openxmlformats.org/drawingml/2006/main" noGrp="1"/>
          </p:cNvSpPr>
          <p:nvPr/>
        </p:nvSpPr>
        <p:spPr>
          <a:xfrm xmlns:a="http://schemas.openxmlformats.org/drawingml/2006/main">
            <a:off x="552450" y="3371850"/>
            <a:ext cx="285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DE5DD"/>
                </a:solidFill>
                <a:latin typeface="Aptos"/>
                <a:ea typeface="Aptos"/>
                <a:cs typeface="Aptos"/>
              </a:defRPr>
            </a:pPr>
            <a:r>
              <a:rPr sz="788" b="0">
                <a:solidFill>
                  <a:srgbClr val="DDE5DD"/>
                </a:solidFill>
                <a:latin typeface="Aptos"/>
                <a:ea typeface="Aptos"/>
                <a:cs typeface="Aptos"/>
              </a:rPr>
              <a:t>non venduto, donato o rimosso</a:t>
            </a:r>
          </a:p>
        </p:txBody>
      </p:sp>
      <p:sp>
        <p:nvSpPr>
          <p:cNvPr id="12" name="">
            <a:extLst xmlns:a="http://schemas.openxmlformats.org/drawingml/2006/main">
              <a:ext uri="{FF2B5EF4-FFF2-40B4-BE49-F238E27FC236}">
                <a16:creationId xmlns:a16="http://schemas.microsoft.com/office/drawing/2014/main" id="{339D64F0-143F-4FD1-98C4-DE49BFF7DE67}"/>
              </a:ext>
            </a:extLst>
          </p:cNvPr>
          <p:cNvSpPr>
            <a:spLocks xmlns:a="http://schemas.openxmlformats.org/drawingml/2006/main" noGrp="1"/>
          </p:cNvSpPr>
          <p:nvPr/>
        </p:nvSpPr>
        <p:spPr>
          <a:xfrm xmlns:a="http://schemas.openxmlformats.org/drawingml/2006/main">
            <a:off x="3981450" y="2381250"/>
            <a:ext cx="361950" cy="3619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426F9615-8108-45AD-8C2E-B80FED756F5B}"/>
              </a:ext>
            </a:extLst>
          </p:cNvPr>
          <p:cNvSpPr>
            <a:spLocks xmlns:a="http://schemas.openxmlformats.org/drawingml/2006/main" noGrp="1"/>
          </p:cNvSpPr>
          <p:nvPr/>
        </p:nvSpPr>
        <p:spPr>
          <a:xfrm xmlns:a="http://schemas.openxmlformats.org/drawingml/2006/main">
            <a:off x="3981450" y="240030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Georgia"/>
                <a:ea typeface="Georgia"/>
                <a:cs typeface="Georgia"/>
              </a:defRPr>
            </a:pPr>
            <a:r>
              <a:rPr sz="1050" b="1">
                <a:solidFill>
                  <a:srgbClr val="FFFFFF"/>
                </a:solidFill>
                <a:latin typeface="Georgia"/>
                <a:ea typeface="Georgia"/>
                <a:cs typeface="Georgia"/>
              </a:rPr>
              <a:t>2</a:t>
            </a:r>
          </a:p>
        </p:txBody>
      </p:sp>
      <p:sp>
        <p:nvSpPr>
          <p:cNvPr id="14" name="">
            <a:extLst xmlns:a="http://schemas.openxmlformats.org/drawingml/2006/main">
              <a:ext uri="{FF2B5EF4-FFF2-40B4-BE49-F238E27FC236}">
                <a16:creationId xmlns:a16="http://schemas.microsoft.com/office/drawing/2014/main" id="{91A1A32F-9B28-4A03-8965-452D92583F0D}"/>
              </a:ext>
            </a:extLst>
          </p:cNvPr>
          <p:cNvSpPr>
            <a:spLocks xmlns:a="http://schemas.openxmlformats.org/drawingml/2006/main" noGrp="1"/>
          </p:cNvSpPr>
          <p:nvPr/>
        </p:nvSpPr>
        <p:spPr>
          <a:xfrm xmlns:a="http://schemas.openxmlformats.org/drawingml/2006/main">
            <a:off x="4457700" y="2562225"/>
            <a:ext cx="2667000" cy="28575"/>
          </a:xfrm>
          <a:prstGeom xmlns:a="http://schemas.openxmlformats.org/drawingml/2006/main" prst="rect">
            <a:avLst/>
          </a:prstGeom>
          <a:solidFill xmlns:a="http://schemas.openxmlformats.org/drawingml/2006/main">
            <a:srgbClr val="4E7769"/>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E281CF9-E681-4FA0-B9EB-BF10416E681E}"/>
              </a:ext>
            </a:extLst>
          </p:cNvPr>
          <p:cNvSpPr>
            <a:spLocks xmlns:a="http://schemas.openxmlformats.org/drawingml/2006/main" noGrp="1"/>
          </p:cNvSpPr>
          <p:nvPr/>
        </p:nvSpPr>
        <p:spPr>
          <a:xfrm xmlns:a="http://schemas.openxmlformats.org/drawingml/2006/main">
            <a:off x="7096125" y="2505075"/>
            <a:ext cx="133350" cy="133350"/>
          </a:xfrm>
          <a:prstGeom xmlns:a="http://schemas.openxmlformats.org/drawingml/2006/main" prst="triangle">
            <a:avLst/>
          </a:prstGeom>
          <a:solidFill xmlns:a="http://schemas.openxmlformats.org/drawingml/2006/main">
            <a:srgbClr val="4E77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9E2FCBA-DFF0-47AA-B615-ABC9D114154B}"/>
              </a:ext>
            </a:extLst>
          </p:cNvPr>
          <p:cNvSpPr>
            <a:spLocks xmlns:a="http://schemas.openxmlformats.org/drawingml/2006/main" noGrp="1"/>
          </p:cNvSpPr>
          <p:nvPr/>
        </p:nvSpPr>
        <p:spPr>
          <a:xfrm xmlns:a="http://schemas.openxmlformats.org/drawingml/2006/main">
            <a:off x="3981450" y="297180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Ha 0 utilizzi</a:t>
            </a:r>
          </a:p>
        </p:txBody>
      </p:sp>
      <p:sp>
        <p:nvSpPr>
          <p:cNvPr id="17" name="">
            <a:extLst xmlns:a="http://schemas.openxmlformats.org/drawingml/2006/main">
              <a:ext uri="{FF2B5EF4-FFF2-40B4-BE49-F238E27FC236}">
                <a16:creationId xmlns:a16="http://schemas.microsoft.com/office/drawing/2014/main" id="{BF323B8E-EEC3-4D7C-B57B-584CF16828AE}"/>
              </a:ext>
            </a:extLst>
          </p:cNvPr>
          <p:cNvSpPr>
            <a:spLocks xmlns:a="http://schemas.openxmlformats.org/drawingml/2006/main" noGrp="1"/>
          </p:cNvSpPr>
          <p:nvPr/>
        </p:nvSpPr>
        <p:spPr>
          <a:xfrm xmlns:a="http://schemas.openxmlformats.org/drawingml/2006/main">
            <a:off x="3981450" y="3371850"/>
            <a:ext cx="285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DE5DD"/>
                </a:solidFill>
                <a:latin typeface="Aptos"/>
                <a:ea typeface="Aptos"/>
                <a:cs typeface="Aptos"/>
              </a:defRPr>
            </a:pPr>
            <a:r>
              <a:rPr sz="788" b="0">
                <a:solidFill>
                  <a:srgbClr val="DDE5DD"/>
                </a:solidFill>
                <a:latin typeface="Aptos"/>
                <a:ea typeface="Aptos"/>
                <a:cs typeface="Aptos"/>
              </a:rPr>
              <a:t>mai registrato come indossato</a:t>
            </a:r>
          </a:p>
        </p:txBody>
      </p:sp>
      <p:sp>
        <p:nvSpPr>
          <p:cNvPr id="18" name="">
            <a:extLst xmlns:a="http://schemas.openxmlformats.org/drawingml/2006/main">
              <a:ext uri="{FF2B5EF4-FFF2-40B4-BE49-F238E27FC236}">
                <a16:creationId xmlns:a16="http://schemas.microsoft.com/office/drawing/2014/main" id="{DD7B7E52-4D13-45D9-BBD4-B1E5747AF274}"/>
              </a:ext>
            </a:extLst>
          </p:cNvPr>
          <p:cNvSpPr>
            <a:spLocks xmlns:a="http://schemas.openxmlformats.org/drawingml/2006/main" noGrp="1"/>
          </p:cNvSpPr>
          <p:nvPr/>
        </p:nvSpPr>
        <p:spPr>
          <a:xfrm xmlns:a="http://schemas.openxmlformats.org/drawingml/2006/main">
            <a:off x="7410450" y="2381250"/>
            <a:ext cx="361950" cy="36195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573C1E7-8814-4044-81C7-55B686D582F4}"/>
              </a:ext>
            </a:extLst>
          </p:cNvPr>
          <p:cNvSpPr>
            <a:spLocks xmlns:a="http://schemas.openxmlformats.org/drawingml/2006/main" noGrp="1"/>
          </p:cNvSpPr>
          <p:nvPr/>
        </p:nvSpPr>
        <p:spPr>
          <a:xfrm xmlns:a="http://schemas.openxmlformats.org/drawingml/2006/main">
            <a:off x="7410450" y="240030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23C31"/>
                </a:solidFill>
                <a:latin typeface="Georgia"/>
                <a:ea typeface="Georgia"/>
                <a:cs typeface="Georgia"/>
              </a:defRPr>
            </a:pPr>
            <a:r>
              <a:rPr sz="1050" b="1">
                <a:solidFill>
                  <a:srgbClr val="123C31"/>
                </a:solidFill>
                <a:latin typeface="Georgia"/>
                <a:ea typeface="Georgia"/>
                <a:cs typeface="Georgia"/>
              </a:rPr>
              <a:t>3</a:t>
            </a:r>
          </a:p>
        </p:txBody>
      </p:sp>
      <p:sp>
        <p:nvSpPr>
          <p:cNvPr id="20" name="">
            <a:extLst xmlns:a="http://schemas.openxmlformats.org/drawingml/2006/main">
              <a:ext uri="{FF2B5EF4-FFF2-40B4-BE49-F238E27FC236}">
                <a16:creationId xmlns:a16="http://schemas.microsoft.com/office/drawing/2014/main" id="{A3C682C2-C531-4F62-A6EA-3E1E87716481}"/>
              </a:ext>
            </a:extLst>
          </p:cNvPr>
          <p:cNvSpPr>
            <a:spLocks xmlns:a="http://schemas.openxmlformats.org/drawingml/2006/main" noGrp="1"/>
          </p:cNvSpPr>
          <p:nvPr/>
        </p:nvSpPr>
        <p:spPr>
          <a:xfrm xmlns:a="http://schemas.openxmlformats.org/drawingml/2006/main">
            <a:off x="7410450" y="297180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È posseduto da 30+ giorni</a:t>
            </a:r>
          </a:p>
        </p:txBody>
      </p:sp>
      <p:sp>
        <p:nvSpPr>
          <p:cNvPr id="21" name="">
            <a:extLst xmlns:a="http://schemas.openxmlformats.org/drawingml/2006/main">
              <a:ext uri="{FF2B5EF4-FFF2-40B4-BE49-F238E27FC236}">
                <a16:creationId xmlns:a16="http://schemas.microsoft.com/office/drawing/2014/main" id="{9BAB2A23-704F-4304-A999-77F59021FC4D}"/>
              </a:ext>
            </a:extLst>
          </p:cNvPr>
          <p:cNvSpPr>
            <a:spLocks xmlns:a="http://schemas.openxmlformats.org/drawingml/2006/main" noGrp="1"/>
          </p:cNvSpPr>
          <p:nvPr/>
        </p:nvSpPr>
        <p:spPr>
          <a:xfrm xmlns:a="http://schemas.openxmlformats.org/drawingml/2006/main">
            <a:off x="7410450" y="3371850"/>
            <a:ext cx="285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DE5DD"/>
                </a:solidFill>
                <a:latin typeface="Aptos"/>
                <a:ea typeface="Aptos"/>
                <a:cs typeface="Aptos"/>
              </a:defRPr>
            </a:pPr>
            <a:r>
              <a:rPr sz="788" b="0">
                <a:solidFill>
                  <a:srgbClr val="DDE5DD"/>
                </a:solidFill>
                <a:latin typeface="Aptos"/>
                <a:ea typeface="Aptos"/>
                <a:cs typeface="Aptos"/>
              </a:rPr>
              <a:t>data di acquisto o inserimento</a:t>
            </a:r>
          </a:p>
        </p:txBody>
      </p:sp>
      <p:sp>
        <p:nvSpPr>
          <p:cNvPr id="22" name="">
            <a:extLst xmlns:a="http://schemas.openxmlformats.org/drawingml/2006/main">
              <a:ext uri="{FF2B5EF4-FFF2-40B4-BE49-F238E27FC236}">
                <a16:creationId xmlns:a16="http://schemas.microsoft.com/office/drawing/2014/main" id="{AB61BABD-826C-4F66-A8AE-1B9F6A174152}"/>
              </a:ext>
            </a:extLst>
          </p:cNvPr>
          <p:cNvSpPr>
            <a:spLocks xmlns:a="http://schemas.openxmlformats.org/drawingml/2006/main" noGrp="1"/>
          </p:cNvSpPr>
          <p:nvPr/>
        </p:nvSpPr>
        <p:spPr>
          <a:xfrm xmlns:a="http://schemas.openxmlformats.org/drawingml/2006/main">
            <a:off x="10267950" y="2286000"/>
            <a:ext cx="1371600" cy="1085850"/>
          </a:xfrm>
          <a:prstGeom xmlns:a="http://schemas.openxmlformats.org/drawingml/2006/main" prst="roundRect">
            <a:avLst>
              <a:gd name="adj" fmla="val 7018"/>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5B7F85E-0582-4835-B51B-8DFAD92E0ABE}"/>
              </a:ext>
            </a:extLst>
          </p:cNvPr>
          <p:cNvSpPr>
            <a:spLocks xmlns:a="http://schemas.openxmlformats.org/drawingml/2006/main" noGrp="1"/>
          </p:cNvSpPr>
          <p:nvPr/>
        </p:nvSpPr>
        <p:spPr>
          <a:xfrm xmlns:a="http://schemas.openxmlformats.org/drawingml/2006/main">
            <a:off x="10363200" y="2476500"/>
            <a:ext cx="11811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23C31"/>
                </a:solidFill>
                <a:latin typeface="Georgia"/>
                <a:ea typeface="Georgia"/>
                <a:cs typeface="Georgia"/>
              </a:defRPr>
            </a:pPr>
            <a:r>
              <a:rPr sz="1500" b="1">
                <a:solidFill>
                  <a:srgbClr val="123C31"/>
                </a:solidFill>
                <a:latin typeface="Georgia"/>
                <a:ea typeface="Georgia"/>
                <a:cs typeface="Georgia"/>
              </a:rPr>
              <a:t>CAPO</a:t>
            </a:r>
          </a:p>
          <a:p xmlns:a="http://schemas.openxmlformats.org/drawingml/2006/main">
            <a:pPr algn="ctr">
              <a:defRPr sz="1500" b="1">
                <a:solidFill>
                  <a:srgbClr val="123C31"/>
                </a:solidFill>
                <a:latin typeface="Georgia"/>
                <a:ea typeface="Georgia"/>
                <a:cs typeface="Georgia"/>
              </a:defRPr>
            </a:pPr>
            <a:r>
              <a:rPr sz="1500" b="1">
                <a:solidFill>
                  <a:srgbClr val="123C31"/>
                </a:solidFill>
                <a:latin typeface="Georgia"/>
                <a:ea typeface="Georgia"/>
                <a:cs typeface="Georgia"/>
              </a:rPr>
              <a:t>FANTASMA</a:t>
            </a:r>
          </a:p>
        </p:txBody>
      </p:sp>
      <p:sp>
        <p:nvSpPr>
          <p:cNvPr id="24" name="">
            <a:extLst xmlns:a="http://schemas.openxmlformats.org/drawingml/2006/main">
              <a:ext uri="{FF2B5EF4-FFF2-40B4-BE49-F238E27FC236}">
                <a16:creationId xmlns:a16="http://schemas.microsoft.com/office/drawing/2014/main" id="{9CE73BE2-213F-4DCE-9978-76F743C9D9DE}"/>
              </a:ext>
            </a:extLst>
          </p:cNvPr>
          <p:cNvSpPr>
            <a:spLocks xmlns:a="http://schemas.openxmlformats.org/drawingml/2006/main" noGrp="1"/>
          </p:cNvSpPr>
          <p:nvPr/>
        </p:nvSpPr>
        <p:spPr>
          <a:xfrm xmlns:a="http://schemas.openxmlformats.org/drawingml/2006/main">
            <a:off x="552450" y="4171950"/>
            <a:ext cx="11087100" cy="9525"/>
          </a:xfrm>
          <a:prstGeom xmlns:a="http://schemas.openxmlformats.org/drawingml/2006/main" prst="rect">
            <a:avLst/>
          </a:prstGeom>
          <a:solidFill xmlns:a="http://schemas.openxmlformats.org/drawingml/2006/main">
            <a:srgbClr val="406A5C"/>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85A8B602-D22B-4C07-8263-E985C8C58394}"/>
              </a:ext>
            </a:extLst>
          </p:cNvPr>
          <p:cNvSpPr>
            <a:spLocks xmlns:a="http://schemas.openxmlformats.org/drawingml/2006/main" noGrp="1"/>
          </p:cNvSpPr>
          <p:nvPr/>
        </p:nvSpPr>
        <p:spPr>
          <a:xfrm xmlns:a="http://schemas.openxmlformats.org/drawingml/2006/main">
            <a:off x="552450" y="4552950"/>
            <a:ext cx="3143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94A"/>
                </a:solidFill>
                <a:latin typeface="Georgia"/>
                <a:ea typeface="Georgia"/>
                <a:cs typeface="Georgia"/>
              </a:defRPr>
            </a:pPr>
            <a:r>
              <a:rPr sz="1350" b="1">
                <a:solidFill>
                  <a:srgbClr val="B9D94A"/>
                </a:solidFill>
                <a:latin typeface="Georgia"/>
                <a:ea typeface="Georgia"/>
                <a:cs typeface="Georgia"/>
              </a:rPr>
              <a:t>Dashboard</a:t>
            </a:r>
          </a:p>
        </p:txBody>
      </p:sp>
      <p:sp>
        <p:nvSpPr>
          <p:cNvPr id="26" name="">
            <a:extLst xmlns:a="http://schemas.openxmlformats.org/drawingml/2006/main">
              <a:ext uri="{FF2B5EF4-FFF2-40B4-BE49-F238E27FC236}">
                <a16:creationId xmlns:a16="http://schemas.microsoft.com/office/drawing/2014/main" id="{D4B39344-4E50-43E2-A941-5B0079C7E79A}"/>
              </a:ext>
            </a:extLst>
          </p:cNvPr>
          <p:cNvSpPr>
            <a:spLocks xmlns:a="http://schemas.openxmlformats.org/drawingml/2006/main" noGrp="1"/>
          </p:cNvSpPr>
          <p:nvPr/>
        </p:nvSpPr>
        <p:spPr>
          <a:xfrm xmlns:a="http://schemas.openxmlformats.org/drawingml/2006/main">
            <a:off x="552450" y="495300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DE5DD"/>
                </a:solidFill>
                <a:latin typeface="Aptos"/>
                <a:ea typeface="Aptos"/>
                <a:cs typeface="Aptos"/>
              </a:defRPr>
            </a:pPr>
            <a:r>
              <a:rPr sz="825" b="0">
                <a:solidFill>
                  <a:srgbClr val="DDE5DD"/>
                </a:solidFill>
                <a:latin typeface="Aptos"/>
                <a:ea typeface="Aptos"/>
                <a:cs typeface="Aptos"/>
              </a:rPr>
              <a:t>metrica + lista da riscoprire</a:t>
            </a:r>
          </a:p>
        </p:txBody>
      </p:sp>
      <p:sp>
        <p:nvSpPr>
          <p:cNvPr id="27" name="">
            <a:extLst xmlns:a="http://schemas.openxmlformats.org/drawingml/2006/main">
              <a:ext uri="{FF2B5EF4-FFF2-40B4-BE49-F238E27FC236}">
                <a16:creationId xmlns:a16="http://schemas.microsoft.com/office/drawing/2014/main" id="{FF86A9B9-C1DA-4DB8-A353-8100F5C17D6B}"/>
              </a:ext>
            </a:extLst>
          </p:cNvPr>
          <p:cNvSpPr>
            <a:spLocks xmlns:a="http://schemas.openxmlformats.org/drawingml/2006/main" noGrp="1"/>
          </p:cNvSpPr>
          <p:nvPr/>
        </p:nvSpPr>
        <p:spPr>
          <a:xfrm xmlns:a="http://schemas.openxmlformats.org/drawingml/2006/main">
            <a:off x="4267200" y="4552950"/>
            <a:ext cx="3143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94A"/>
                </a:solidFill>
                <a:latin typeface="Georgia"/>
                <a:ea typeface="Georgia"/>
                <a:cs typeface="Georgia"/>
              </a:defRPr>
            </a:pPr>
            <a:r>
              <a:rPr sz="1350" b="1">
                <a:solidFill>
                  <a:srgbClr val="B9D94A"/>
                </a:solidFill>
                <a:latin typeface="Georgia"/>
                <a:ea typeface="Georgia"/>
                <a:cs typeface="Georgia"/>
              </a:rPr>
              <a:t>Dettaglio</a:t>
            </a:r>
          </a:p>
        </p:txBody>
      </p:sp>
      <p:sp>
        <p:nvSpPr>
          <p:cNvPr id="28" name="">
            <a:extLst xmlns:a="http://schemas.openxmlformats.org/drawingml/2006/main">
              <a:ext uri="{FF2B5EF4-FFF2-40B4-BE49-F238E27FC236}">
                <a16:creationId xmlns:a16="http://schemas.microsoft.com/office/drawing/2014/main" id="{09610FED-9DF8-495B-960F-8B696B50F80A}"/>
              </a:ext>
            </a:extLst>
          </p:cNvPr>
          <p:cNvSpPr>
            <a:spLocks xmlns:a="http://schemas.openxmlformats.org/drawingml/2006/main" noGrp="1"/>
          </p:cNvSpPr>
          <p:nvPr/>
        </p:nvSpPr>
        <p:spPr>
          <a:xfrm xmlns:a="http://schemas.openxmlformats.org/drawingml/2006/main">
            <a:off x="4267200" y="495300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DE5DD"/>
                </a:solidFill>
                <a:latin typeface="Aptos"/>
                <a:ea typeface="Aptos"/>
                <a:cs typeface="Aptos"/>
              </a:defRPr>
            </a:pPr>
            <a:r>
              <a:rPr sz="825" b="0">
                <a:solidFill>
                  <a:srgbClr val="DDE5DD"/>
                </a:solidFill>
                <a:latin typeface="Aptos"/>
                <a:ea typeface="Aptos"/>
                <a:cs typeface="Aptos"/>
              </a:rPr>
              <a:t>badge con soglia esplicita</a:t>
            </a:r>
          </a:p>
        </p:txBody>
      </p:sp>
      <p:sp>
        <p:nvSpPr>
          <p:cNvPr id="29" name="">
            <a:extLst xmlns:a="http://schemas.openxmlformats.org/drawingml/2006/main">
              <a:ext uri="{FF2B5EF4-FFF2-40B4-BE49-F238E27FC236}">
                <a16:creationId xmlns:a16="http://schemas.microsoft.com/office/drawing/2014/main" id="{BC5223CA-12B5-49B9-A50C-9ED6A0BA8996}"/>
              </a:ext>
            </a:extLst>
          </p:cNvPr>
          <p:cNvSpPr>
            <a:spLocks xmlns:a="http://schemas.openxmlformats.org/drawingml/2006/main" noGrp="1"/>
          </p:cNvSpPr>
          <p:nvPr/>
        </p:nvSpPr>
        <p:spPr>
          <a:xfrm xmlns:a="http://schemas.openxmlformats.org/drawingml/2006/main">
            <a:off x="7981950" y="4552950"/>
            <a:ext cx="3143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94A"/>
                </a:solidFill>
                <a:latin typeface="Georgia"/>
                <a:ea typeface="Georgia"/>
                <a:cs typeface="Georgia"/>
              </a:defRPr>
            </a:pPr>
            <a:r>
              <a:rPr sz="1350" b="1">
                <a:solidFill>
                  <a:srgbClr val="B9D94A"/>
                </a:solidFill>
                <a:latin typeface="Georgia"/>
                <a:ea typeface="Georgia"/>
                <a:cs typeface="Georgia"/>
              </a:rPr>
              <a:t>Outfit</a:t>
            </a:r>
          </a:p>
        </p:txBody>
      </p:sp>
      <p:sp>
        <p:nvSpPr>
          <p:cNvPr id="30" name="">
            <a:extLst xmlns:a="http://schemas.openxmlformats.org/drawingml/2006/main">
              <a:ext uri="{FF2B5EF4-FFF2-40B4-BE49-F238E27FC236}">
                <a16:creationId xmlns:a16="http://schemas.microsoft.com/office/drawing/2014/main" id="{95E2BB63-EFA9-4572-B6CB-3EFC6E7F5EFF}"/>
              </a:ext>
            </a:extLst>
          </p:cNvPr>
          <p:cNvSpPr>
            <a:spLocks xmlns:a="http://schemas.openxmlformats.org/drawingml/2006/main" noGrp="1"/>
          </p:cNvSpPr>
          <p:nvPr/>
        </p:nvSpPr>
        <p:spPr>
          <a:xfrm xmlns:a="http://schemas.openxmlformats.org/drawingml/2006/main">
            <a:off x="7981950" y="495300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DE5DD"/>
                </a:solidFill>
                <a:latin typeface="Aptos"/>
                <a:ea typeface="Aptos"/>
                <a:cs typeface="Aptos"/>
              </a:defRPr>
            </a:pPr>
            <a:r>
              <a:rPr sz="825" b="0">
                <a:solidFill>
                  <a:srgbClr val="DDE5DD"/>
                </a:solidFill>
                <a:latin typeface="Aptos"/>
                <a:ea typeface="Aptos"/>
                <a:cs typeface="Aptos"/>
              </a:rPr>
              <a:t>segnale anti-fantasma</a:t>
            </a:r>
          </a:p>
        </p:txBody>
      </p:sp>
      <p:sp>
        <p:nvSpPr>
          <p:cNvPr id="31" name="">
            <a:extLst xmlns:a="http://schemas.openxmlformats.org/drawingml/2006/main">
              <a:ext uri="{FF2B5EF4-FFF2-40B4-BE49-F238E27FC236}">
                <a16:creationId xmlns:a16="http://schemas.microsoft.com/office/drawing/2014/main" id="{076D956D-4A27-47DA-83E6-7AC33F67E270}"/>
              </a:ext>
            </a:extLst>
          </p:cNvPr>
          <p:cNvSpPr>
            <a:spLocks xmlns:a="http://schemas.openxmlformats.org/drawingml/2006/main" noGrp="1"/>
          </p:cNvSpPr>
          <p:nvPr/>
        </p:nvSpPr>
        <p:spPr>
          <a:xfrm xmlns:a="http://schemas.openxmlformats.org/drawingml/2006/main">
            <a:off x="552450" y="5695950"/>
            <a:ext cx="11087100" cy="323850"/>
          </a:xfrm>
          <a:prstGeom xmlns:a="http://schemas.openxmlformats.org/drawingml/2006/main" prst="roundRect">
            <a:avLst>
              <a:gd name="adj" fmla="val 23529"/>
            </a:avLst>
          </a:prstGeom>
          <a:solidFill xmlns:a="http://schemas.openxmlformats.org/drawingml/2006/main">
            <a:srgbClr val="1A4A3B"/>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65E66F84-96E3-49DB-85D6-CFD17935E354}"/>
              </a:ext>
            </a:extLst>
          </p:cNvPr>
          <p:cNvSpPr>
            <a:spLocks xmlns:a="http://schemas.openxmlformats.org/drawingml/2006/main" noGrp="1"/>
          </p:cNvSpPr>
          <p:nvPr/>
        </p:nvSpPr>
        <p:spPr>
          <a:xfrm xmlns:a="http://schemas.openxmlformats.org/drawingml/2006/main">
            <a:off x="552450" y="5743575"/>
            <a:ext cx="11087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DDE5DD"/>
                </a:solidFill>
                <a:latin typeface="Aptos"/>
                <a:ea typeface="Aptos"/>
                <a:cs typeface="Aptos"/>
              </a:defRPr>
            </a:pPr>
            <a:r>
              <a:rPr sz="750" b="0">
                <a:solidFill>
                  <a:srgbClr val="DDE5DD"/>
                </a:solidFill>
                <a:latin typeface="Aptos"/>
                <a:ea typeface="Aptos"/>
                <a:cs typeface="Aptos"/>
              </a:rPr>
              <a:t>Definizione: mai indossato dopo la soglia, non semplicemente usato poco.</a:t>
            </a:r>
          </a:p>
        </p:txBody>
      </p:sp>
      <p:sp>
        <p:nvSpPr>
          <p:cNvPr id="33" name="">
            <a:extLst xmlns:a="http://schemas.openxmlformats.org/drawingml/2006/main">
              <a:ext uri="{FF2B5EF4-FFF2-40B4-BE49-F238E27FC236}">
                <a16:creationId xmlns:a16="http://schemas.microsoft.com/office/drawing/2014/main" id="{615B607A-F9B3-4215-8FD1-26A8440D33C3}"/>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C4B20E78-E01D-4BFD-9CB5-03E44A252F9A}"/>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91AA9F"/>
                </a:solidFill>
                <a:latin typeface="Aptos"/>
                <a:ea typeface="Aptos"/>
                <a:cs typeface="Aptos"/>
              </a:defRPr>
            </a:pPr>
            <a:r>
              <a:rPr sz="563" b="0">
                <a:solidFill>
                  <a:srgbClr val="91AA9F"/>
                </a:solidFill>
                <a:latin typeface="Aptos"/>
                <a:ea typeface="Aptos"/>
                <a:cs typeface="Aptos"/>
              </a:rPr>
              <a:t>UI: Dashboard · dettaglio capo · outfit di oggi · soglia default 30 giorni</a:t>
            </a:r>
          </a:p>
        </p:txBody>
      </p:sp>
      <p:sp>
        <p:nvSpPr>
          <p:cNvPr id="35" name="">
            <a:extLst xmlns:a="http://schemas.openxmlformats.org/drawingml/2006/main">
              <a:ext uri="{FF2B5EF4-FFF2-40B4-BE49-F238E27FC236}">
                <a16:creationId xmlns:a16="http://schemas.microsoft.com/office/drawing/2014/main" id="{893CAD67-20D1-4562-979E-A63F423C7BC1}"/>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91AA9F"/>
                </a:solidFill>
                <a:latin typeface="Georgia"/>
                <a:ea typeface="Georgia"/>
                <a:cs typeface="Georgia"/>
              </a:defRPr>
            </a:pPr>
            <a:r>
              <a:rPr sz="750" b="1">
                <a:solidFill>
                  <a:srgbClr val="91AA9F"/>
                </a:solidFill>
                <a:latin typeface="Georgia"/>
                <a:ea typeface="Georgia"/>
                <a:cs typeface="Georgia"/>
              </a:rPr>
              <a:t>06</a:t>
            </a:r>
          </a:p>
        </p:txBody>
      </p:sp>
    </p:spTree>
    <p:extLst>
      <p:ext uri="{BB962C8B-B14F-4D97-AF65-F5344CB8AC3E}">
        <p14:creationId xmlns:p14="http://schemas.microsoft.com/office/powerpoint/2010/main" val="120216392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7DDF55A-A9A5-45BC-A30A-EDC32BBEBD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424D267-8D89-4C62-A690-02AFA23EFAE4}"/>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34AD3A7-2CDA-4438-A797-4B5F5E192F81}"/>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U S E R   S T O R Y   ·   C U R A</a:t>
            </a:r>
          </a:p>
        </p:txBody>
      </p:sp>
      <p:sp>
        <p:nvSpPr>
          <p:cNvPr id="4" name="claim-title">
            <a:extLst xmlns:a="http://schemas.openxmlformats.org/drawingml/2006/main">
              <a:ext uri="{FF2B5EF4-FFF2-40B4-BE49-F238E27FC236}">
                <a16:creationId xmlns:a16="http://schemas.microsoft.com/office/drawing/2014/main" id="{7DB226F4-C7F9-4D6E-A026-435B5C2C4D26}"/>
              </a:ext>
            </a:extLst>
          </p:cNvPr>
          <p:cNvSpPr>
            <a:spLocks xmlns:a="http://schemas.openxmlformats.org/drawingml/2006/main" noGrp="1"/>
          </p:cNvSpPr>
          <p:nvPr/>
        </p:nvSpPr>
        <p:spPr>
          <a:xfrm xmlns:a="http://schemas.openxmlformats.org/drawingml/2006/main">
            <a:off x="552450" y="742950"/>
            <a:ext cx="10572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11D"/>
                </a:solidFill>
                <a:latin typeface="Georgia"/>
                <a:ea typeface="Georgia"/>
                <a:cs typeface="Georgia"/>
              </a:defRPr>
            </a:pPr>
            <a:r>
              <a:rPr sz="2925" b="1">
                <a:solidFill>
                  <a:srgbClr val="17211D"/>
                </a:solidFill>
                <a:latin typeface="Georgia"/>
                <a:ea typeface="Georgia"/>
                <a:cs typeface="Georgia"/>
              </a:rPr>
              <a:t>Lo stato del capo diventa una decisione di cura, non un verdetto.</a:t>
            </a:r>
          </a:p>
        </p:txBody>
      </p:sp>
      <p:sp>
        <p:nvSpPr>
          <p:cNvPr id="5" name="">
            <a:extLst xmlns:a="http://schemas.openxmlformats.org/drawingml/2006/main">
              <a:ext uri="{FF2B5EF4-FFF2-40B4-BE49-F238E27FC236}">
                <a16:creationId xmlns:a16="http://schemas.microsoft.com/office/drawing/2014/main" id="{EFEF7B3D-15D5-4CE4-B907-BBB4E2520812}"/>
              </a:ext>
            </a:extLst>
          </p:cNvPr>
          <p:cNvSpPr>
            <a:spLocks xmlns:a="http://schemas.openxmlformats.org/drawingml/2006/main" noGrp="1"/>
          </p:cNvSpPr>
          <p:nvPr/>
        </p:nvSpPr>
        <p:spPr>
          <a:xfrm xmlns:a="http://schemas.openxmlformats.org/drawingml/2006/main">
            <a:off x="552450" y="2152650"/>
            <a:ext cx="2533650" cy="19240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75719F93-6B41-493D-9D11-CBCCBB390F9F}"/>
              </a:ext>
            </a:extLst>
          </p:cNvPr>
          <p:cNvSpPr>
            <a:spLocks xmlns:a="http://schemas.openxmlformats.org/drawingml/2006/main" noGrp="1"/>
          </p:cNvSpPr>
          <p:nvPr/>
        </p:nvSpPr>
        <p:spPr>
          <a:xfrm xmlns:a="http://schemas.openxmlformats.org/drawingml/2006/main">
            <a:off x="762000" y="2362200"/>
            <a:ext cx="323850" cy="3238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7EC3C6F-6E60-495D-AD5A-035F033D409C}"/>
              </a:ext>
            </a:extLst>
          </p:cNvPr>
          <p:cNvSpPr>
            <a:spLocks xmlns:a="http://schemas.openxmlformats.org/drawingml/2006/main" noGrp="1"/>
          </p:cNvSpPr>
          <p:nvPr/>
        </p:nvSpPr>
        <p:spPr>
          <a:xfrm xmlns:a="http://schemas.openxmlformats.org/drawingml/2006/main">
            <a:off x="762000" y="2400300"/>
            <a:ext cx="32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6B62E5F4-9C30-4FAD-A244-B1F7B3DD386E}"/>
              </a:ext>
            </a:extLst>
          </p:cNvPr>
          <p:cNvSpPr>
            <a:spLocks xmlns:a="http://schemas.openxmlformats.org/drawingml/2006/main" noGrp="1"/>
          </p:cNvSpPr>
          <p:nvPr/>
        </p:nvSpPr>
        <p:spPr>
          <a:xfrm xmlns:a="http://schemas.openxmlformats.org/drawingml/2006/main">
            <a:off x="1238250" y="2324100"/>
            <a:ext cx="1619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11D"/>
                </a:solidFill>
                <a:latin typeface="Georgia"/>
                <a:ea typeface="Georgia"/>
                <a:cs typeface="Georgia"/>
              </a:defRPr>
            </a:pPr>
            <a:r>
              <a:rPr sz="1200" b="1">
                <a:solidFill>
                  <a:srgbClr val="17211D"/>
                </a:solidFill>
                <a:latin typeface="Georgia"/>
                <a:ea typeface="Georgia"/>
                <a:cs typeface="Georgia"/>
              </a:rPr>
              <a:t>In buono stato</a:t>
            </a:r>
          </a:p>
        </p:txBody>
      </p:sp>
      <p:sp>
        <p:nvSpPr>
          <p:cNvPr id="9" name="">
            <a:extLst xmlns:a="http://schemas.openxmlformats.org/drawingml/2006/main">
              <a:ext uri="{FF2B5EF4-FFF2-40B4-BE49-F238E27FC236}">
                <a16:creationId xmlns:a16="http://schemas.microsoft.com/office/drawing/2014/main" id="{20E7ECBF-C6E9-4231-98DC-F5F68A2FDBDA}"/>
              </a:ext>
            </a:extLst>
          </p:cNvPr>
          <p:cNvSpPr>
            <a:spLocks xmlns:a="http://schemas.openxmlformats.org/drawingml/2006/main" noGrp="1"/>
          </p:cNvSpPr>
          <p:nvPr/>
        </p:nvSpPr>
        <p:spPr>
          <a:xfrm xmlns:a="http://schemas.openxmlformats.org/drawingml/2006/main">
            <a:off x="762000" y="31432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5736B"/>
                </a:solidFill>
                <a:latin typeface="Aptos"/>
                <a:ea typeface="Aptos"/>
                <a:cs typeface="Aptos"/>
              </a:defRPr>
            </a:pPr>
            <a:r>
              <a:rPr sz="825" b="0">
                <a:solidFill>
                  <a:srgbClr val="65736B"/>
                </a:solidFill>
                <a:latin typeface="Aptos"/>
                <a:ea typeface="Aptos"/>
                <a:cs typeface="Aptos"/>
              </a:rPr>
              <a:t>continua a usarlo</a:t>
            </a:r>
          </a:p>
        </p:txBody>
      </p:sp>
      <p:sp>
        <p:nvSpPr>
          <p:cNvPr id="10" name="">
            <a:extLst xmlns:a="http://schemas.openxmlformats.org/drawingml/2006/main">
              <a:ext uri="{FF2B5EF4-FFF2-40B4-BE49-F238E27FC236}">
                <a16:creationId xmlns:a16="http://schemas.microsoft.com/office/drawing/2014/main" id="{43A3C2DC-94BF-4ACC-B2E9-6CDAF2EAC695}"/>
              </a:ext>
            </a:extLst>
          </p:cNvPr>
          <p:cNvSpPr>
            <a:spLocks xmlns:a="http://schemas.openxmlformats.org/drawingml/2006/main" noGrp="1"/>
          </p:cNvSpPr>
          <p:nvPr/>
        </p:nvSpPr>
        <p:spPr>
          <a:xfrm xmlns:a="http://schemas.openxmlformats.org/drawingml/2006/main">
            <a:off x="3409950" y="2152650"/>
            <a:ext cx="2533650" cy="19240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B9C3BB"/>
            </a:solidFill>
            <a:prstDash val="solid"/>
          </a:ln>
        </p:spPr>
      </p:sp>
      <p:sp>
        <p:nvSpPr>
          <p:cNvPr id="11" name="">
            <a:extLst xmlns:a="http://schemas.openxmlformats.org/drawingml/2006/main">
              <a:ext uri="{FF2B5EF4-FFF2-40B4-BE49-F238E27FC236}">
                <a16:creationId xmlns:a16="http://schemas.microsoft.com/office/drawing/2014/main" id="{C57F0A08-4AE9-4C7C-903A-89BB324B8F03}"/>
              </a:ext>
            </a:extLst>
          </p:cNvPr>
          <p:cNvSpPr>
            <a:spLocks xmlns:a="http://schemas.openxmlformats.org/drawingml/2006/main" noGrp="1"/>
          </p:cNvSpPr>
          <p:nvPr/>
        </p:nvSpPr>
        <p:spPr>
          <a:xfrm xmlns:a="http://schemas.openxmlformats.org/drawingml/2006/main">
            <a:off x="3619500" y="2362200"/>
            <a:ext cx="323850" cy="3238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7745A94-88D6-4AE8-BEF8-CB7CCB7F6072}"/>
              </a:ext>
            </a:extLst>
          </p:cNvPr>
          <p:cNvSpPr>
            <a:spLocks xmlns:a="http://schemas.openxmlformats.org/drawingml/2006/main" noGrp="1"/>
          </p:cNvSpPr>
          <p:nvPr/>
        </p:nvSpPr>
        <p:spPr>
          <a:xfrm xmlns:a="http://schemas.openxmlformats.org/drawingml/2006/main">
            <a:off x="3619500" y="2400300"/>
            <a:ext cx="32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D99CE900-69D6-4C99-8227-92A1B7A62183}"/>
              </a:ext>
            </a:extLst>
          </p:cNvPr>
          <p:cNvSpPr>
            <a:spLocks xmlns:a="http://schemas.openxmlformats.org/drawingml/2006/main" noGrp="1"/>
          </p:cNvSpPr>
          <p:nvPr/>
        </p:nvSpPr>
        <p:spPr>
          <a:xfrm xmlns:a="http://schemas.openxmlformats.org/drawingml/2006/main">
            <a:off x="4095750" y="2324100"/>
            <a:ext cx="1619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11D"/>
                </a:solidFill>
                <a:latin typeface="Georgia"/>
                <a:ea typeface="Georgia"/>
                <a:cs typeface="Georgia"/>
              </a:defRPr>
            </a:pPr>
            <a:r>
              <a:rPr sz="1200" b="1">
                <a:solidFill>
                  <a:srgbClr val="17211D"/>
                </a:solidFill>
                <a:latin typeface="Georgia"/>
                <a:ea typeface="Georgia"/>
                <a:cs typeface="Georgia"/>
              </a:rPr>
              <a:t>Da curare</a:t>
            </a:r>
          </a:p>
        </p:txBody>
      </p:sp>
      <p:sp>
        <p:nvSpPr>
          <p:cNvPr id="14" name="">
            <a:extLst xmlns:a="http://schemas.openxmlformats.org/drawingml/2006/main">
              <a:ext uri="{FF2B5EF4-FFF2-40B4-BE49-F238E27FC236}">
                <a16:creationId xmlns:a16="http://schemas.microsoft.com/office/drawing/2014/main" id="{5A2C819A-4E7D-4A53-998D-BADE46D536EF}"/>
              </a:ext>
            </a:extLst>
          </p:cNvPr>
          <p:cNvSpPr>
            <a:spLocks xmlns:a="http://schemas.openxmlformats.org/drawingml/2006/main" noGrp="1"/>
          </p:cNvSpPr>
          <p:nvPr/>
        </p:nvSpPr>
        <p:spPr>
          <a:xfrm xmlns:a="http://schemas.openxmlformats.org/drawingml/2006/main">
            <a:off x="3619500" y="31432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5736B"/>
                </a:solidFill>
                <a:latin typeface="Aptos"/>
                <a:ea typeface="Aptos"/>
                <a:cs typeface="Aptos"/>
              </a:defRPr>
            </a:pPr>
            <a:r>
              <a:rPr sz="825" b="0">
                <a:solidFill>
                  <a:srgbClr val="65736B"/>
                </a:solidFill>
                <a:latin typeface="Aptos"/>
                <a:ea typeface="Aptos"/>
                <a:cs typeface="Aptos"/>
              </a:rPr>
              <a:t>ripara o mantieni</a:t>
            </a:r>
          </a:p>
        </p:txBody>
      </p:sp>
      <p:sp>
        <p:nvSpPr>
          <p:cNvPr id="15" name="">
            <a:extLst xmlns:a="http://schemas.openxmlformats.org/drawingml/2006/main">
              <a:ext uri="{FF2B5EF4-FFF2-40B4-BE49-F238E27FC236}">
                <a16:creationId xmlns:a16="http://schemas.microsoft.com/office/drawing/2014/main" id="{FB0FC69D-9D0C-4D82-907D-A0476BC30BB4}"/>
              </a:ext>
            </a:extLst>
          </p:cNvPr>
          <p:cNvSpPr>
            <a:spLocks xmlns:a="http://schemas.openxmlformats.org/drawingml/2006/main" noGrp="1"/>
          </p:cNvSpPr>
          <p:nvPr/>
        </p:nvSpPr>
        <p:spPr>
          <a:xfrm xmlns:a="http://schemas.openxmlformats.org/drawingml/2006/main">
            <a:off x="6267450" y="2152650"/>
            <a:ext cx="2533650" cy="19240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B9C3BB"/>
            </a:solidFill>
            <a:prstDash val="solid"/>
          </a:ln>
        </p:spPr>
      </p:sp>
      <p:sp>
        <p:nvSpPr>
          <p:cNvPr id="16" name="">
            <a:extLst xmlns:a="http://schemas.openxmlformats.org/drawingml/2006/main">
              <a:ext uri="{FF2B5EF4-FFF2-40B4-BE49-F238E27FC236}">
                <a16:creationId xmlns:a16="http://schemas.microsoft.com/office/drawing/2014/main" id="{88A90359-32FF-4FD0-93E7-B2524795220F}"/>
              </a:ext>
            </a:extLst>
          </p:cNvPr>
          <p:cNvSpPr>
            <a:spLocks xmlns:a="http://schemas.openxmlformats.org/drawingml/2006/main" noGrp="1"/>
          </p:cNvSpPr>
          <p:nvPr/>
        </p:nvSpPr>
        <p:spPr>
          <a:xfrm xmlns:a="http://schemas.openxmlformats.org/drawingml/2006/main">
            <a:off x="6477000" y="2362200"/>
            <a:ext cx="323850" cy="323850"/>
          </a:xfrm>
          <a:prstGeom xmlns:a="http://schemas.openxmlformats.org/drawingml/2006/main" prst="ellipse">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33AE4351-D3EC-445E-BCDC-D3799BCBAFAB}"/>
              </a:ext>
            </a:extLst>
          </p:cNvPr>
          <p:cNvSpPr>
            <a:spLocks xmlns:a="http://schemas.openxmlformats.org/drawingml/2006/main" noGrp="1"/>
          </p:cNvSpPr>
          <p:nvPr/>
        </p:nvSpPr>
        <p:spPr>
          <a:xfrm xmlns:a="http://schemas.openxmlformats.org/drawingml/2006/main">
            <a:off x="6477000" y="2400300"/>
            <a:ext cx="32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A7BF540E-2E80-466E-8D90-E5D37018A222}"/>
              </a:ext>
            </a:extLst>
          </p:cNvPr>
          <p:cNvSpPr>
            <a:spLocks xmlns:a="http://schemas.openxmlformats.org/drawingml/2006/main" noGrp="1"/>
          </p:cNvSpPr>
          <p:nvPr/>
        </p:nvSpPr>
        <p:spPr>
          <a:xfrm xmlns:a="http://schemas.openxmlformats.org/drawingml/2006/main">
            <a:off x="6953250" y="2324100"/>
            <a:ext cx="1619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11D"/>
                </a:solidFill>
                <a:latin typeface="Georgia"/>
                <a:ea typeface="Georgia"/>
                <a:cs typeface="Georgia"/>
              </a:defRPr>
            </a:pPr>
            <a:r>
              <a:rPr sz="1200" b="1">
                <a:solidFill>
                  <a:srgbClr val="17211D"/>
                </a:solidFill>
                <a:latin typeface="Georgia"/>
                <a:ea typeface="Georgia"/>
                <a:cs typeface="Georgia"/>
              </a:rPr>
              <a:t>Danneggiato</a:t>
            </a:r>
          </a:p>
        </p:txBody>
      </p:sp>
      <p:sp>
        <p:nvSpPr>
          <p:cNvPr id="19" name="">
            <a:extLst xmlns:a="http://schemas.openxmlformats.org/drawingml/2006/main">
              <a:ext uri="{FF2B5EF4-FFF2-40B4-BE49-F238E27FC236}">
                <a16:creationId xmlns:a16="http://schemas.microsoft.com/office/drawing/2014/main" id="{163D4174-6809-45A9-8E72-91DAE81ADE9A}"/>
              </a:ext>
            </a:extLst>
          </p:cNvPr>
          <p:cNvSpPr>
            <a:spLocks xmlns:a="http://schemas.openxmlformats.org/drawingml/2006/main" noGrp="1"/>
          </p:cNvSpPr>
          <p:nvPr/>
        </p:nvSpPr>
        <p:spPr>
          <a:xfrm xmlns:a="http://schemas.openxmlformats.org/drawingml/2006/main">
            <a:off x="6477000" y="31432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5736B"/>
                </a:solidFill>
                <a:latin typeface="Aptos"/>
                <a:ea typeface="Aptos"/>
                <a:cs typeface="Aptos"/>
              </a:defRPr>
            </a:pPr>
            <a:r>
              <a:rPr sz="825" b="0">
                <a:solidFill>
                  <a:srgbClr val="65736B"/>
                </a:solidFill>
                <a:latin typeface="Aptos"/>
                <a:ea typeface="Aptos"/>
                <a:cs typeface="Aptos"/>
              </a:rPr>
              <a:t>ripara, ricicla o seconda vita</a:t>
            </a:r>
          </a:p>
        </p:txBody>
      </p:sp>
      <p:sp>
        <p:nvSpPr>
          <p:cNvPr id="20" name="">
            <a:extLst xmlns:a="http://schemas.openxmlformats.org/drawingml/2006/main">
              <a:ext uri="{FF2B5EF4-FFF2-40B4-BE49-F238E27FC236}">
                <a16:creationId xmlns:a16="http://schemas.microsoft.com/office/drawing/2014/main" id="{31882C10-C827-4915-B2DF-261A641244A2}"/>
              </a:ext>
            </a:extLst>
          </p:cNvPr>
          <p:cNvSpPr>
            <a:spLocks xmlns:a="http://schemas.openxmlformats.org/drawingml/2006/main" noGrp="1"/>
          </p:cNvSpPr>
          <p:nvPr/>
        </p:nvSpPr>
        <p:spPr>
          <a:xfrm xmlns:a="http://schemas.openxmlformats.org/drawingml/2006/main">
            <a:off x="8858250" y="3105150"/>
            <a:ext cx="571500" cy="28575"/>
          </a:xfrm>
          <a:prstGeom xmlns:a="http://schemas.openxmlformats.org/drawingml/2006/main" prst="rect">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0012887-A79F-4974-B3CF-E3735F261CF1}"/>
              </a:ext>
            </a:extLst>
          </p:cNvPr>
          <p:cNvSpPr>
            <a:spLocks xmlns:a="http://schemas.openxmlformats.org/drawingml/2006/main" noGrp="1"/>
          </p:cNvSpPr>
          <p:nvPr/>
        </p:nvSpPr>
        <p:spPr>
          <a:xfrm xmlns:a="http://schemas.openxmlformats.org/drawingml/2006/main">
            <a:off x="9401175" y="3048000"/>
            <a:ext cx="133350" cy="133350"/>
          </a:xfrm>
          <a:prstGeom xmlns:a="http://schemas.openxmlformats.org/drawingml/2006/main" prst="triangl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9649656-9CCA-4822-93B4-EB4FB2EEE15C}"/>
              </a:ext>
            </a:extLst>
          </p:cNvPr>
          <p:cNvSpPr>
            <a:spLocks xmlns:a="http://schemas.openxmlformats.org/drawingml/2006/main" noGrp="1"/>
          </p:cNvSpPr>
          <p:nvPr/>
        </p:nvSpPr>
        <p:spPr>
          <a:xfrm xmlns:a="http://schemas.openxmlformats.org/drawingml/2006/main">
            <a:off x="9753600" y="2152650"/>
            <a:ext cx="1885950" cy="1924050"/>
          </a:xfrm>
          <a:prstGeom xmlns:a="http://schemas.openxmlformats.org/drawingml/2006/main" prst="roundRect">
            <a:avLst>
              <a:gd name="adj" fmla="val 4040"/>
            </a:avLst>
          </a:prstGeom>
          <a:solidFill xmlns:a="http://schemas.openxmlformats.org/drawingml/2006/main">
            <a:srgbClr val="123C31"/>
          </a:solidFill>
          <a:ln xmlns:a="http://schemas.openxmlformats.org/drawingml/2006/main" w="9525">
            <a:solidFill>
              <a:srgbClr val="123C31"/>
            </a:solidFill>
            <a:prstDash val="solid"/>
          </a:ln>
        </p:spPr>
      </p:sp>
      <p:sp>
        <p:nvSpPr>
          <p:cNvPr id="23" name="">
            <a:extLst xmlns:a="http://schemas.openxmlformats.org/drawingml/2006/main">
              <a:ext uri="{FF2B5EF4-FFF2-40B4-BE49-F238E27FC236}">
                <a16:creationId xmlns:a16="http://schemas.microsoft.com/office/drawing/2014/main" id="{89585DA0-258E-42A0-95AE-308D03AADAC3}"/>
              </a:ext>
            </a:extLst>
          </p:cNvPr>
          <p:cNvSpPr>
            <a:spLocks xmlns:a="http://schemas.openxmlformats.org/drawingml/2006/main" noGrp="1"/>
          </p:cNvSpPr>
          <p:nvPr/>
        </p:nvSpPr>
        <p:spPr>
          <a:xfrm xmlns:a="http://schemas.openxmlformats.org/drawingml/2006/main">
            <a:off x="10287000" y="2400300"/>
            <a:ext cx="8191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0">
                <a:solidFill>
                  <a:srgbClr val="B9D94A"/>
                </a:solidFill>
                <a:latin typeface="Aptos"/>
                <a:ea typeface="Aptos"/>
                <a:cs typeface="Aptos"/>
              </a:defRPr>
            </a:pPr>
            <a:r>
              <a:rPr sz="3150" b="0">
                <a:solidFill>
                  <a:srgbClr val="B9D94A"/>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CA2B726A-CF7D-4724-9509-F329D372C779}"/>
              </a:ext>
            </a:extLst>
          </p:cNvPr>
          <p:cNvSpPr>
            <a:spLocks xmlns:a="http://schemas.openxmlformats.org/drawingml/2006/main" noGrp="1"/>
          </p:cNvSpPr>
          <p:nvPr/>
        </p:nvSpPr>
        <p:spPr>
          <a:xfrm xmlns:a="http://schemas.openxmlformats.org/drawingml/2006/main">
            <a:off x="9925050" y="3143250"/>
            <a:ext cx="15430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Georgia"/>
                <a:ea typeface="Georgia"/>
                <a:cs typeface="Georgia"/>
              </a:defRPr>
            </a:pPr>
            <a:r>
              <a:rPr sz="1275" b="1">
                <a:solidFill>
                  <a:srgbClr val="FFFFFF"/>
                </a:solidFill>
                <a:latin typeface="Georgia"/>
                <a:ea typeface="Georgia"/>
                <a:cs typeface="Georgia"/>
              </a:rPr>
              <a:t>Marta verifica</a:t>
            </a:r>
          </a:p>
        </p:txBody>
      </p:sp>
      <p:sp>
        <p:nvSpPr>
          <p:cNvPr id="25" name="">
            <a:extLst xmlns:a="http://schemas.openxmlformats.org/drawingml/2006/main">
              <a:ext uri="{FF2B5EF4-FFF2-40B4-BE49-F238E27FC236}">
                <a16:creationId xmlns:a16="http://schemas.microsoft.com/office/drawing/2014/main" id="{93A89117-31AB-4D88-B9DF-E6254AF7FFC2}"/>
              </a:ext>
            </a:extLst>
          </p:cNvPr>
          <p:cNvSpPr>
            <a:spLocks xmlns:a="http://schemas.openxmlformats.org/drawingml/2006/main" noGrp="1"/>
          </p:cNvSpPr>
          <p:nvPr/>
        </p:nvSpPr>
        <p:spPr>
          <a:xfrm xmlns:a="http://schemas.openxmlformats.org/drawingml/2006/main">
            <a:off x="9925050" y="3524250"/>
            <a:ext cx="15430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DDE5DD"/>
                </a:solidFill>
                <a:latin typeface="Aptos"/>
                <a:ea typeface="Aptos"/>
                <a:cs typeface="Aptos"/>
              </a:defRPr>
            </a:pPr>
            <a:r>
              <a:rPr sz="713" b="0">
                <a:solidFill>
                  <a:srgbClr val="DDE5DD"/>
                </a:solidFill>
                <a:latin typeface="Aptos"/>
                <a:ea typeface="Aptos"/>
                <a:cs typeface="Aptos"/>
              </a:rPr>
              <a:t>può correggere lo stato</a:t>
            </a:r>
          </a:p>
        </p:txBody>
      </p:sp>
      <p:sp>
        <p:nvSpPr>
          <p:cNvPr id="26" name="">
            <a:extLst xmlns:a="http://schemas.openxmlformats.org/drawingml/2006/main">
              <a:ext uri="{FF2B5EF4-FFF2-40B4-BE49-F238E27FC236}">
                <a16:creationId xmlns:a16="http://schemas.microsoft.com/office/drawing/2014/main" id="{6F697629-C4C5-45AB-8B7C-BB6EF0134F93}"/>
              </a:ext>
            </a:extLst>
          </p:cNvPr>
          <p:cNvSpPr>
            <a:spLocks xmlns:a="http://schemas.openxmlformats.org/drawingml/2006/main" noGrp="1"/>
          </p:cNvSpPr>
          <p:nvPr/>
        </p:nvSpPr>
        <p:spPr>
          <a:xfrm xmlns:a="http://schemas.openxmlformats.org/drawingml/2006/main">
            <a:off x="552450" y="4686300"/>
            <a:ext cx="11087100" cy="876300"/>
          </a:xfrm>
          <a:prstGeom xmlns:a="http://schemas.openxmlformats.org/drawingml/2006/main" prst="roundRect">
            <a:avLst>
              <a:gd name="adj" fmla="val 8696"/>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DFF5059-B20E-465F-9273-7A2FA7E7AFB4}"/>
              </a:ext>
            </a:extLst>
          </p:cNvPr>
          <p:cNvSpPr>
            <a:spLocks xmlns:a="http://schemas.openxmlformats.org/drawingml/2006/main" noGrp="1"/>
          </p:cNvSpPr>
          <p:nvPr/>
        </p:nvSpPr>
        <p:spPr>
          <a:xfrm xmlns:a="http://schemas.openxmlformats.org/drawingml/2006/main">
            <a:off x="800100" y="48768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2F7D5B"/>
                </a:solidFill>
                <a:latin typeface="Aptos"/>
                <a:ea typeface="Aptos"/>
                <a:cs typeface="Aptos"/>
              </a:defRPr>
            </a:pPr>
            <a:r>
              <a:rPr sz="638" b="1">
                <a:solidFill>
                  <a:srgbClr val="2F7D5B"/>
                </a:solidFill>
                <a:latin typeface="Aptos"/>
                <a:ea typeface="Aptos"/>
                <a:cs typeface="Aptos"/>
              </a:rPr>
              <a:t>INPUT</a:t>
            </a:r>
          </a:p>
        </p:txBody>
      </p:sp>
      <p:sp>
        <p:nvSpPr>
          <p:cNvPr id="28" name="">
            <a:extLst xmlns:a="http://schemas.openxmlformats.org/drawingml/2006/main">
              <a:ext uri="{FF2B5EF4-FFF2-40B4-BE49-F238E27FC236}">
                <a16:creationId xmlns:a16="http://schemas.microsoft.com/office/drawing/2014/main" id="{659575E8-21E0-4F92-A283-F7FFBA621E62}"/>
              </a:ext>
            </a:extLst>
          </p:cNvPr>
          <p:cNvSpPr>
            <a:spLocks xmlns:a="http://schemas.openxmlformats.org/drawingml/2006/main" noGrp="1"/>
          </p:cNvSpPr>
          <p:nvPr/>
        </p:nvSpPr>
        <p:spPr>
          <a:xfrm xmlns:a="http://schemas.openxmlformats.org/drawingml/2006/main">
            <a:off x="800100" y="51435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11D"/>
                </a:solidFill>
                <a:latin typeface="Georgia"/>
                <a:ea typeface="Georgia"/>
                <a:cs typeface="Georgia"/>
              </a:defRPr>
            </a:pPr>
            <a:r>
              <a:rPr sz="938" b="1">
                <a:solidFill>
                  <a:srgbClr val="17211D"/>
                </a:solidFill>
                <a:latin typeface="Georgia"/>
                <a:ea typeface="Georgia"/>
                <a:cs typeface="Georgia"/>
              </a:rPr>
              <a:t>foto</a:t>
            </a:r>
          </a:p>
        </p:txBody>
      </p:sp>
      <p:sp>
        <p:nvSpPr>
          <p:cNvPr id="29" name="">
            <a:extLst xmlns:a="http://schemas.openxmlformats.org/drawingml/2006/main">
              <a:ext uri="{FF2B5EF4-FFF2-40B4-BE49-F238E27FC236}">
                <a16:creationId xmlns:a16="http://schemas.microsoft.com/office/drawing/2014/main" id="{CF249C88-653C-41F0-A022-4F8ECEC8BE1E}"/>
              </a:ext>
            </a:extLst>
          </p:cNvPr>
          <p:cNvSpPr>
            <a:spLocks xmlns:a="http://schemas.openxmlformats.org/drawingml/2006/main" noGrp="1"/>
          </p:cNvSpPr>
          <p:nvPr/>
        </p:nvSpPr>
        <p:spPr>
          <a:xfrm xmlns:a="http://schemas.openxmlformats.org/drawingml/2006/main">
            <a:off x="3505200" y="48768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D56E42"/>
                </a:solidFill>
                <a:latin typeface="Aptos"/>
                <a:ea typeface="Aptos"/>
                <a:cs typeface="Aptos"/>
              </a:defRPr>
            </a:pPr>
            <a:r>
              <a:rPr sz="638" b="1">
                <a:solidFill>
                  <a:srgbClr val="D56E42"/>
                </a:solidFill>
                <a:latin typeface="Aptos"/>
                <a:ea typeface="Aptos"/>
                <a:cs typeface="Aptos"/>
              </a:rPr>
              <a:t>MODELLO</a:t>
            </a:r>
          </a:p>
        </p:txBody>
      </p:sp>
      <p:sp>
        <p:nvSpPr>
          <p:cNvPr id="30" name="">
            <a:extLst xmlns:a="http://schemas.openxmlformats.org/drawingml/2006/main">
              <a:ext uri="{FF2B5EF4-FFF2-40B4-BE49-F238E27FC236}">
                <a16:creationId xmlns:a16="http://schemas.microsoft.com/office/drawing/2014/main" id="{F6D0E1B8-B524-41F5-86C3-2B1666299BE1}"/>
              </a:ext>
            </a:extLst>
          </p:cNvPr>
          <p:cNvSpPr>
            <a:spLocks xmlns:a="http://schemas.openxmlformats.org/drawingml/2006/main" noGrp="1"/>
          </p:cNvSpPr>
          <p:nvPr/>
        </p:nvSpPr>
        <p:spPr>
          <a:xfrm xmlns:a="http://schemas.openxmlformats.org/drawingml/2006/main">
            <a:off x="3505200" y="51435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11D"/>
                </a:solidFill>
                <a:latin typeface="Georgia"/>
                <a:ea typeface="Georgia"/>
                <a:cs typeface="Georgia"/>
              </a:defRPr>
            </a:pPr>
            <a:r>
              <a:rPr sz="938" b="1">
                <a:solidFill>
                  <a:srgbClr val="17211D"/>
                </a:solidFill>
                <a:latin typeface="Georgia"/>
                <a:ea typeface="Georgia"/>
                <a:cs typeface="Georgia"/>
              </a:rPr>
              <a:t>suggerisce lo stato</a:t>
            </a:r>
          </a:p>
        </p:txBody>
      </p:sp>
      <p:sp>
        <p:nvSpPr>
          <p:cNvPr id="31" name="">
            <a:extLst xmlns:a="http://schemas.openxmlformats.org/drawingml/2006/main">
              <a:ext uri="{FF2B5EF4-FFF2-40B4-BE49-F238E27FC236}">
                <a16:creationId xmlns:a16="http://schemas.microsoft.com/office/drawing/2014/main" id="{89B4CF95-E5CA-4B75-A0A1-82A4AB027376}"/>
              </a:ext>
            </a:extLst>
          </p:cNvPr>
          <p:cNvSpPr>
            <a:spLocks xmlns:a="http://schemas.openxmlformats.org/drawingml/2006/main" noGrp="1"/>
          </p:cNvSpPr>
          <p:nvPr/>
        </p:nvSpPr>
        <p:spPr>
          <a:xfrm xmlns:a="http://schemas.openxmlformats.org/drawingml/2006/main">
            <a:off x="6210300" y="48768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2F7D5B"/>
                </a:solidFill>
                <a:latin typeface="Aptos"/>
                <a:ea typeface="Aptos"/>
                <a:cs typeface="Aptos"/>
              </a:defRPr>
            </a:pPr>
            <a:r>
              <a:rPr sz="638" b="1">
                <a:solidFill>
                  <a:srgbClr val="2F7D5B"/>
                </a:solidFill>
                <a:latin typeface="Aptos"/>
                <a:ea typeface="Aptos"/>
                <a:cs typeface="Aptos"/>
              </a:rPr>
              <a:t>PERSONA</a:t>
            </a:r>
          </a:p>
        </p:txBody>
      </p:sp>
      <p:sp>
        <p:nvSpPr>
          <p:cNvPr id="32" name="">
            <a:extLst xmlns:a="http://schemas.openxmlformats.org/drawingml/2006/main">
              <a:ext uri="{FF2B5EF4-FFF2-40B4-BE49-F238E27FC236}">
                <a16:creationId xmlns:a16="http://schemas.microsoft.com/office/drawing/2014/main" id="{4961B4D1-306F-4D9E-AC6E-F1A793F11C8F}"/>
              </a:ext>
            </a:extLst>
          </p:cNvPr>
          <p:cNvSpPr>
            <a:spLocks xmlns:a="http://schemas.openxmlformats.org/drawingml/2006/main" noGrp="1"/>
          </p:cNvSpPr>
          <p:nvPr/>
        </p:nvSpPr>
        <p:spPr>
          <a:xfrm xmlns:a="http://schemas.openxmlformats.org/drawingml/2006/main">
            <a:off x="6210300" y="51435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11D"/>
                </a:solidFill>
                <a:latin typeface="Georgia"/>
                <a:ea typeface="Georgia"/>
                <a:cs typeface="Georgia"/>
              </a:defRPr>
            </a:pPr>
            <a:r>
              <a:rPr sz="938" b="1">
                <a:solidFill>
                  <a:srgbClr val="17211D"/>
                </a:solidFill>
                <a:latin typeface="Georgia"/>
                <a:ea typeface="Georgia"/>
                <a:cs typeface="Georgia"/>
              </a:rPr>
              <a:t>conferma o corregge</a:t>
            </a:r>
          </a:p>
        </p:txBody>
      </p:sp>
      <p:sp>
        <p:nvSpPr>
          <p:cNvPr id="33" name="">
            <a:extLst xmlns:a="http://schemas.openxmlformats.org/drawingml/2006/main">
              <a:ext uri="{FF2B5EF4-FFF2-40B4-BE49-F238E27FC236}">
                <a16:creationId xmlns:a16="http://schemas.microsoft.com/office/drawing/2014/main" id="{3BE731BD-3A28-4DF3-9EE2-C49127CE3B5D}"/>
              </a:ext>
            </a:extLst>
          </p:cNvPr>
          <p:cNvSpPr>
            <a:spLocks xmlns:a="http://schemas.openxmlformats.org/drawingml/2006/main" noGrp="1"/>
          </p:cNvSpPr>
          <p:nvPr/>
        </p:nvSpPr>
        <p:spPr>
          <a:xfrm xmlns:a="http://schemas.openxmlformats.org/drawingml/2006/main">
            <a:off x="8915400" y="48768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2F7D5B"/>
                </a:solidFill>
                <a:latin typeface="Aptos"/>
                <a:ea typeface="Aptos"/>
                <a:cs typeface="Aptos"/>
              </a:defRPr>
            </a:pPr>
            <a:r>
              <a:rPr sz="638" b="1">
                <a:solidFill>
                  <a:srgbClr val="2F7D5B"/>
                </a:solidFill>
                <a:latin typeface="Aptos"/>
                <a:ea typeface="Aptos"/>
                <a:cs typeface="Aptos"/>
              </a:rPr>
              <a:t>AZIONE</a:t>
            </a:r>
          </a:p>
        </p:txBody>
      </p:sp>
      <p:sp>
        <p:nvSpPr>
          <p:cNvPr id="34" name="">
            <a:extLst xmlns:a="http://schemas.openxmlformats.org/drawingml/2006/main">
              <a:ext uri="{FF2B5EF4-FFF2-40B4-BE49-F238E27FC236}">
                <a16:creationId xmlns:a16="http://schemas.microsoft.com/office/drawing/2014/main" id="{0E11ECDC-0654-4AAD-9D7A-D51BC7D377D4}"/>
              </a:ext>
            </a:extLst>
          </p:cNvPr>
          <p:cNvSpPr>
            <a:spLocks xmlns:a="http://schemas.openxmlformats.org/drawingml/2006/main" noGrp="1"/>
          </p:cNvSpPr>
          <p:nvPr/>
        </p:nvSpPr>
        <p:spPr>
          <a:xfrm xmlns:a="http://schemas.openxmlformats.org/drawingml/2006/main">
            <a:off x="8915400" y="51435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11D"/>
                </a:solidFill>
                <a:latin typeface="Georgia"/>
                <a:ea typeface="Georgia"/>
                <a:cs typeface="Georgia"/>
              </a:defRPr>
            </a:pPr>
            <a:r>
              <a:rPr sz="938" b="1">
                <a:solidFill>
                  <a:srgbClr val="17211D"/>
                </a:solidFill>
                <a:latin typeface="Georgia"/>
                <a:ea typeface="Georgia"/>
                <a:cs typeface="Georgia"/>
              </a:rPr>
              <a:t>continua · ripara · seconda vita</a:t>
            </a:r>
          </a:p>
        </p:txBody>
      </p:sp>
      <p:sp>
        <p:nvSpPr>
          <p:cNvPr id="35" name="">
            <a:extLst xmlns:a="http://schemas.openxmlformats.org/drawingml/2006/main">
              <a:ext uri="{FF2B5EF4-FFF2-40B4-BE49-F238E27FC236}">
                <a16:creationId xmlns:a16="http://schemas.microsoft.com/office/drawing/2014/main" id="{FEC90566-FD84-4A43-89BE-6E1F59BC1FB4}"/>
              </a:ext>
            </a:extLst>
          </p:cNvPr>
          <p:cNvSpPr>
            <a:spLocks xmlns:a="http://schemas.openxmlformats.org/drawingml/2006/main" noGrp="1"/>
          </p:cNvSpPr>
          <p:nvPr/>
        </p:nvSpPr>
        <p:spPr>
          <a:xfrm xmlns:a="http://schemas.openxmlformats.org/drawingml/2006/main">
            <a:off x="1428750" y="582930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65736B"/>
                </a:solidFill>
                <a:latin typeface="Aptos"/>
                <a:ea typeface="Aptos"/>
                <a:cs typeface="Aptos"/>
              </a:defRPr>
            </a:pPr>
            <a:r>
              <a:rPr sz="788" b="0">
                <a:solidFill>
                  <a:srgbClr val="65736B"/>
                </a:solidFill>
                <a:latin typeface="Aptos"/>
                <a:ea typeface="Aptos"/>
                <a:cs typeface="Aptos"/>
              </a:rPr>
              <a:t>Non è una certificazione professionale: riduce l’incertezza e lascia l’ultima parola alla persona.</a:t>
            </a:r>
          </a:p>
        </p:txBody>
      </p:sp>
      <p:sp>
        <p:nvSpPr>
          <p:cNvPr id="36" name="">
            <a:extLst xmlns:a="http://schemas.openxmlformats.org/drawingml/2006/main">
              <a:ext uri="{FF2B5EF4-FFF2-40B4-BE49-F238E27FC236}">
                <a16:creationId xmlns:a16="http://schemas.microsoft.com/office/drawing/2014/main" id="{9C502687-0A0F-426B-AAC4-2E6A02B57C80}"/>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66666946-918C-4946-A136-FC0D47A25A7A}"/>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Fashion-CLIP pre-addestrato + MLP nostra · fallback euristico se il modello non è disponibile</a:t>
            </a:r>
          </a:p>
        </p:txBody>
      </p:sp>
      <p:sp>
        <p:nvSpPr>
          <p:cNvPr id="38" name="">
            <a:extLst xmlns:a="http://schemas.openxmlformats.org/drawingml/2006/main">
              <a:ext uri="{FF2B5EF4-FFF2-40B4-BE49-F238E27FC236}">
                <a16:creationId xmlns:a16="http://schemas.microsoft.com/office/drawing/2014/main" id="{9908BB2D-677F-477C-AB24-08E8B5E618E1}"/>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07</a:t>
            </a:r>
          </a:p>
        </p:txBody>
      </p:sp>
    </p:spTree>
    <p:extLst>
      <p:ext uri="{BB962C8B-B14F-4D97-AF65-F5344CB8AC3E}">
        <p14:creationId xmlns:p14="http://schemas.microsoft.com/office/powerpoint/2010/main" val="169569462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EE8FB8DD-2EBB-411B-893D-F691C28982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8C62F03-5E10-456D-9939-359C135CB3AC}"/>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395E08D-4907-41A2-AE43-C2181AABD0F7}"/>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U S E R   S T O R Y   ·   D E C I D E</a:t>
            </a:r>
          </a:p>
        </p:txBody>
      </p:sp>
      <p:sp>
        <p:nvSpPr>
          <p:cNvPr id="4" name="claim-title">
            <a:extLst xmlns:a="http://schemas.openxmlformats.org/drawingml/2006/main">
              <a:ext uri="{FF2B5EF4-FFF2-40B4-BE49-F238E27FC236}">
                <a16:creationId xmlns:a16="http://schemas.microsoft.com/office/drawing/2014/main" id="{3AF2ECC5-6FEC-4DA4-8489-ECBE91220C7C}"/>
              </a:ext>
            </a:extLst>
          </p:cNvPr>
          <p:cNvSpPr>
            <a:spLocks xmlns:a="http://schemas.openxmlformats.org/drawingml/2006/main" noGrp="1"/>
          </p:cNvSpPr>
          <p:nvPr/>
        </p:nvSpPr>
        <p:spPr>
          <a:xfrm xmlns:a="http://schemas.openxmlformats.org/drawingml/2006/main">
            <a:off x="552450" y="742950"/>
            <a:ext cx="10001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75" b="1">
                <a:solidFill>
                  <a:srgbClr val="17211D"/>
                </a:solidFill>
                <a:latin typeface="Georgia"/>
                <a:ea typeface="Georgia"/>
                <a:cs typeface="Georgia"/>
              </a:defRPr>
            </a:pPr>
            <a:r>
              <a:rPr sz="3075" b="1">
                <a:solidFill>
                  <a:srgbClr val="17211D"/>
                </a:solidFill>
                <a:latin typeface="Georgia"/>
                <a:ea typeface="Georgia"/>
                <a:cs typeface="Georgia"/>
              </a:rPr>
              <a:t>Il gap può dire anche: “non serve comprare nulla”.</a:t>
            </a:r>
          </a:p>
        </p:txBody>
      </p:sp>
      <p:sp>
        <p:nvSpPr>
          <p:cNvPr id="5" name="">
            <a:extLst xmlns:a="http://schemas.openxmlformats.org/drawingml/2006/main">
              <a:ext uri="{FF2B5EF4-FFF2-40B4-BE49-F238E27FC236}">
                <a16:creationId xmlns:a16="http://schemas.microsoft.com/office/drawing/2014/main" id="{AEBC258A-4A2D-476D-B98A-A35F1EF4824A}"/>
              </a:ext>
            </a:extLst>
          </p:cNvPr>
          <p:cNvSpPr>
            <a:spLocks xmlns:a="http://schemas.openxmlformats.org/drawingml/2006/main" noGrp="1"/>
          </p:cNvSpPr>
          <p:nvPr/>
        </p:nvSpPr>
        <p:spPr>
          <a:xfrm xmlns:a="http://schemas.openxmlformats.org/drawingml/2006/main">
            <a:off x="552450" y="2019300"/>
            <a:ext cx="584835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BA81EE6B-32B0-4E16-AB35-768FB14C9C57}"/>
              </a:ext>
            </a:extLst>
          </p:cNvPr>
          <p:cNvSpPr>
            <a:spLocks xmlns:a="http://schemas.openxmlformats.org/drawingml/2006/main" noGrp="1"/>
          </p:cNvSpPr>
          <p:nvPr/>
        </p:nvSpPr>
        <p:spPr>
          <a:xfrm xmlns:a="http://schemas.openxmlformats.org/drawingml/2006/main">
            <a:off x="819150" y="224790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2F7D5B"/>
                </a:solidFill>
                <a:latin typeface="Aptos"/>
                <a:ea typeface="Aptos"/>
                <a:cs typeface="Aptos"/>
              </a:defRPr>
            </a:pPr>
            <a:r>
              <a:rPr sz="675" b="1">
                <a:solidFill>
                  <a:srgbClr val="2F7D5B"/>
                </a:solidFill>
                <a:latin typeface="Aptos"/>
                <a:ea typeface="Aptos"/>
                <a:cs typeface="Aptos"/>
              </a:rPr>
              <a:t>COPERTURA FUNZIONALE</a:t>
            </a:r>
          </a:p>
        </p:txBody>
      </p:sp>
      <p:sp>
        <p:nvSpPr>
          <p:cNvPr id="7" name="">
            <a:extLst xmlns:a="http://schemas.openxmlformats.org/drawingml/2006/main">
              <a:ext uri="{FF2B5EF4-FFF2-40B4-BE49-F238E27FC236}">
                <a16:creationId xmlns:a16="http://schemas.microsoft.com/office/drawing/2014/main" id="{2685045C-7968-4D68-8622-159E32D4A38F}"/>
              </a:ext>
            </a:extLst>
          </p:cNvPr>
          <p:cNvSpPr>
            <a:spLocks xmlns:a="http://schemas.openxmlformats.org/drawingml/2006/main" noGrp="1"/>
          </p:cNvSpPr>
          <p:nvPr/>
        </p:nvSpPr>
        <p:spPr>
          <a:xfrm xmlns:a="http://schemas.openxmlformats.org/drawingml/2006/main">
            <a:off x="819150" y="268605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Top</a:t>
            </a:r>
          </a:p>
        </p:txBody>
      </p:sp>
      <p:sp>
        <p:nvSpPr>
          <p:cNvPr id="8" name="">
            <a:extLst xmlns:a="http://schemas.openxmlformats.org/drawingml/2006/main">
              <a:ext uri="{FF2B5EF4-FFF2-40B4-BE49-F238E27FC236}">
                <a16:creationId xmlns:a16="http://schemas.microsoft.com/office/drawing/2014/main" id="{4D9609FC-F0B8-47D6-8308-862835E9156B}"/>
              </a:ext>
            </a:extLst>
          </p:cNvPr>
          <p:cNvSpPr>
            <a:spLocks xmlns:a="http://schemas.openxmlformats.org/drawingml/2006/main" noGrp="1"/>
          </p:cNvSpPr>
          <p:nvPr/>
        </p:nvSpPr>
        <p:spPr>
          <a:xfrm xmlns:a="http://schemas.openxmlformats.org/drawingml/2006/main">
            <a:off x="2324100" y="2733675"/>
            <a:ext cx="3143250" cy="114300"/>
          </a:xfrm>
          <a:prstGeom xmlns:a="http://schemas.openxmlformats.org/drawingml/2006/main" prst="roundRect">
            <a:avLst>
              <a:gd name="adj" fmla="val 50000"/>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8B046B5-0DA7-4E57-9D2B-942D47A9F82E}"/>
              </a:ext>
            </a:extLst>
          </p:cNvPr>
          <p:cNvSpPr>
            <a:spLocks xmlns:a="http://schemas.openxmlformats.org/drawingml/2006/main" noGrp="1"/>
          </p:cNvSpPr>
          <p:nvPr/>
        </p:nvSpPr>
        <p:spPr>
          <a:xfrm xmlns:a="http://schemas.openxmlformats.org/drawingml/2006/main">
            <a:off x="2324100" y="2733675"/>
            <a:ext cx="2766060" cy="114300"/>
          </a:xfrm>
          <a:prstGeom xmlns:a="http://schemas.openxmlformats.org/drawingml/2006/main" prst="roundRect">
            <a:avLst>
              <a:gd name="adj" fmla="val 50000"/>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940B7FF-82BE-4F12-8FFD-BAE90F5DDD10}"/>
              </a:ext>
            </a:extLst>
          </p:cNvPr>
          <p:cNvSpPr>
            <a:spLocks xmlns:a="http://schemas.openxmlformats.org/drawingml/2006/main" noGrp="1"/>
          </p:cNvSpPr>
          <p:nvPr/>
        </p:nvSpPr>
        <p:spPr>
          <a:xfrm xmlns:a="http://schemas.openxmlformats.org/drawingml/2006/main">
            <a:off x="5534025" y="2686050"/>
            <a:ext cx="428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17211D"/>
                </a:solidFill>
                <a:latin typeface="Aptos"/>
                <a:ea typeface="Aptos"/>
                <a:cs typeface="Aptos"/>
              </a:defRPr>
            </a:pPr>
            <a:r>
              <a:rPr sz="788" b="1">
                <a:solidFill>
                  <a:srgbClr val="17211D"/>
                </a:solidFill>
                <a:latin typeface="Aptos"/>
                <a:ea typeface="Aptos"/>
                <a:cs typeface="Aptos"/>
              </a:rPr>
              <a:t>88%</a:t>
            </a:r>
          </a:p>
        </p:txBody>
      </p:sp>
      <p:sp>
        <p:nvSpPr>
          <p:cNvPr id="11" name="">
            <a:extLst xmlns:a="http://schemas.openxmlformats.org/drawingml/2006/main">
              <a:ext uri="{FF2B5EF4-FFF2-40B4-BE49-F238E27FC236}">
                <a16:creationId xmlns:a16="http://schemas.microsoft.com/office/drawing/2014/main" id="{5FF74B4C-83E1-40F9-B44A-20737515EA59}"/>
              </a:ext>
            </a:extLst>
          </p:cNvPr>
          <p:cNvSpPr>
            <a:spLocks xmlns:a="http://schemas.openxmlformats.org/drawingml/2006/main" noGrp="1"/>
          </p:cNvSpPr>
          <p:nvPr/>
        </p:nvSpPr>
        <p:spPr>
          <a:xfrm xmlns:a="http://schemas.openxmlformats.org/drawingml/2006/main">
            <a:off x="819150" y="314325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Bottom</a:t>
            </a:r>
          </a:p>
        </p:txBody>
      </p:sp>
      <p:sp>
        <p:nvSpPr>
          <p:cNvPr id="12" name="">
            <a:extLst xmlns:a="http://schemas.openxmlformats.org/drawingml/2006/main">
              <a:ext uri="{FF2B5EF4-FFF2-40B4-BE49-F238E27FC236}">
                <a16:creationId xmlns:a16="http://schemas.microsoft.com/office/drawing/2014/main" id="{CBB2347F-1B47-496E-A1B7-CF5281E2170B}"/>
              </a:ext>
            </a:extLst>
          </p:cNvPr>
          <p:cNvSpPr>
            <a:spLocks xmlns:a="http://schemas.openxmlformats.org/drawingml/2006/main" noGrp="1"/>
          </p:cNvSpPr>
          <p:nvPr/>
        </p:nvSpPr>
        <p:spPr>
          <a:xfrm xmlns:a="http://schemas.openxmlformats.org/drawingml/2006/main">
            <a:off x="2324100" y="3190875"/>
            <a:ext cx="3143250" cy="114300"/>
          </a:xfrm>
          <a:prstGeom xmlns:a="http://schemas.openxmlformats.org/drawingml/2006/main" prst="roundRect">
            <a:avLst>
              <a:gd name="adj" fmla="val 50000"/>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FA302DB-7099-47F0-A8FB-429217AC3489}"/>
              </a:ext>
            </a:extLst>
          </p:cNvPr>
          <p:cNvSpPr>
            <a:spLocks xmlns:a="http://schemas.openxmlformats.org/drawingml/2006/main" noGrp="1"/>
          </p:cNvSpPr>
          <p:nvPr/>
        </p:nvSpPr>
        <p:spPr>
          <a:xfrm xmlns:a="http://schemas.openxmlformats.org/drawingml/2006/main">
            <a:off x="2324100" y="3190875"/>
            <a:ext cx="2577465" cy="114300"/>
          </a:xfrm>
          <a:prstGeom xmlns:a="http://schemas.openxmlformats.org/drawingml/2006/main" prst="roundRect">
            <a:avLst>
              <a:gd name="adj" fmla="val 50000"/>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650AAF3-8A61-4828-A92C-E2441C738EA8}"/>
              </a:ext>
            </a:extLst>
          </p:cNvPr>
          <p:cNvSpPr>
            <a:spLocks xmlns:a="http://schemas.openxmlformats.org/drawingml/2006/main" noGrp="1"/>
          </p:cNvSpPr>
          <p:nvPr/>
        </p:nvSpPr>
        <p:spPr>
          <a:xfrm xmlns:a="http://schemas.openxmlformats.org/drawingml/2006/main">
            <a:off x="5534025" y="3143250"/>
            <a:ext cx="428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17211D"/>
                </a:solidFill>
                <a:latin typeface="Aptos"/>
                <a:ea typeface="Aptos"/>
                <a:cs typeface="Aptos"/>
              </a:defRPr>
            </a:pPr>
            <a:r>
              <a:rPr sz="788" b="1">
                <a:solidFill>
                  <a:srgbClr val="17211D"/>
                </a:solidFill>
                <a:latin typeface="Aptos"/>
                <a:ea typeface="Aptos"/>
                <a:cs typeface="Aptos"/>
              </a:rPr>
              <a:t>82%</a:t>
            </a:r>
          </a:p>
        </p:txBody>
      </p:sp>
      <p:sp>
        <p:nvSpPr>
          <p:cNvPr id="15" name="">
            <a:extLst xmlns:a="http://schemas.openxmlformats.org/drawingml/2006/main">
              <a:ext uri="{FF2B5EF4-FFF2-40B4-BE49-F238E27FC236}">
                <a16:creationId xmlns:a16="http://schemas.microsoft.com/office/drawing/2014/main" id="{B07D9C3B-9881-4ED3-8487-9A0333AA3129}"/>
              </a:ext>
            </a:extLst>
          </p:cNvPr>
          <p:cNvSpPr>
            <a:spLocks xmlns:a="http://schemas.openxmlformats.org/drawingml/2006/main" noGrp="1"/>
          </p:cNvSpPr>
          <p:nvPr/>
        </p:nvSpPr>
        <p:spPr>
          <a:xfrm xmlns:a="http://schemas.openxmlformats.org/drawingml/2006/main">
            <a:off x="819150" y="360045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Capospalla</a:t>
            </a:r>
          </a:p>
        </p:txBody>
      </p:sp>
      <p:sp>
        <p:nvSpPr>
          <p:cNvPr id="16" name="">
            <a:extLst xmlns:a="http://schemas.openxmlformats.org/drawingml/2006/main">
              <a:ext uri="{FF2B5EF4-FFF2-40B4-BE49-F238E27FC236}">
                <a16:creationId xmlns:a16="http://schemas.microsoft.com/office/drawing/2014/main" id="{D0695EFC-2000-4169-9CDE-2A2C6ECCC45C}"/>
              </a:ext>
            </a:extLst>
          </p:cNvPr>
          <p:cNvSpPr>
            <a:spLocks xmlns:a="http://schemas.openxmlformats.org/drawingml/2006/main" noGrp="1"/>
          </p:cNvSpPr>
          <p:nvPr/>
        </p:nvSpPr>
        <p:spPr>
          <a:xfrm xmlns:a="http://schemas.openxmlformats.org/drawingml/2006/main">
            <a:off x="2324100" y="3648075"/>
            <a:ext cx="3143250" cy="114300"/>
          </a:xfrm>
          <a:prstGeom xmlns:a="http://schemas.openxmlformats.org/drawingml/2006/main" prst="roundRect">
            <a:avLst>
              <a:gd name="adj" fmla="val 50000"/>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906B84EF-9EA6-4726-B938-97BE6999C38B}"/>
              </a:ext>
            </a:extLst>
          </p:cNvPr>
          <p:cNvSpPr>
            <a:spLocks xmlns:a="http://schemas.openxmlformats.org/drawingml/2006/main" noGrp="1"/>
          </p:cNvSpPr>
          <p:nvPr/>
        </p:nvSpPr>
        <p:spPr>
          <a:xfrm xmlns:a="http://schemas.openxmlformats.org/drawingml/2006/main">
            <a:off x="2324100" y="3648075"/>
            <a:ext cx="2326005" cy="114300"/>
          </a:xfrm>
          <a:prstGeom xmlns:a="http://schemas.openxmlformats.org/drawingml/2006/main" prst="roundRect">
            <a:avLst>
              <a:gd name="adj" fmla="val 50000"/>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CE0D63D-614F-46E3-B4C6-F7EBA4E7D6F7}"/>
              </a:ext>
            </a:extLst>
          </p:cNvPr>
          <p:cNvSpPr>
            <a:spLocks xmlns:a="http://schemas.openxmlformats.org/drawingml/2006/main" noGrp="1"/>
          </p:cNvSpPr>
          <p:nvPr/>
        </p:nvSpPr>
        <p:spPr>
          <a:xfrm xmlns:a="http://schemas.openxmlformats.org/drawingml/2006/main">
            <a:off x="5534025" y="3600450"/>
            <a:ext cx="428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17211D"/>
                </a:solidFill>
                <a:latin typeface="Aptos"/>
                <a:ea typeface="Aptos"/>
                <a:cs typeface="Aptos"/>
              </a:defRPr>
            </a:pPr>
            <a:r>
              <a:rPr sz="788" b="1">
                <a:solidFill>
                  <a:srgbClr val="17211D"/>
                </a:solidFill>
                <a:latin typeface="Aptos"/>
                <a:ea typeface="Aptos"/>
                <a:cs typeface="Aptos"/>
              </a:rPr>
              <a:t>74%</a:t>
            </a:r>
          </a:p>
        </p:txBody>
      </p:sp>
      <p:sp>
        <p:nvSpPr>
          <p:cNvPr id="19" name="">
            <a:extLst xmlns:a="http://schemas.openxmlformats.org/drawingml/2006/main">
              <a:ext uri="{FF2B5EF4-FFF2-40B4-BE49-F238E27FC236}">
                <a16:creationId xmlns:a16="http://schemas.microsoft.com/office/drawing/2014/main" id="{80A76631-337A-4CA3-9D49-78D3898B695A}"/>
              </a:ext>
            </a:extLst>
          </p:cNvPr>
          <p:cNvSpPr>
            <a:spLocks xmlns:a="http://schemas.openxmlformats.org/drawingml/2006/main" noGrp="1"/>
          </p:cNvSpPr>
          <p:nvPr/>
        </p:nvSpPr>
        <p:spPr>
          <a:xfrm xmlns:a="http://schemas.openxmlformats.org/drawingml/2006/main">
            <a:off x="819150" y="405765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Scarpe</a:t>
            </a:r>
          </a:p>
        </p:txBody>
      </p:sp>
      <p:sp>
        <p:nvSpPr>
          <p:cNvPr id="20" name="">
            <a:extLst xmlns:a="http://schemas.openxmlformats.org/drawingml/2006/main">
              <a:ext uri="{FF2B5EF4-FFF2-40B4-BE49-F238E27FC236}">
                <a16:creationId xmlns:a16="http://schemas.microsoft.com/office/drawing/2014/main" id="{D584FD1E-69FC-484D-BE78-BEDADCE7557D}"/>
              </a:ext>
            </a:extLst>
          </p:cNvPr>
          <p:cNvSpPr>
            <a:spLocks xmlns:a="http://schemas.openxmlformats.org/drawingml/2006/main" noGrp="1"/>
          </p:cNvSpPr>
          <p:nvPr/>
        </p:nvSpPr>
        <p:spPr>
          <a:xfrm xmlns:a="http://schemas.openxmlformats.org/drawingml/2006/main">
            <a:off x="2324100" y="4105275"/>
            <a:ext cx="3143250" cy="114300"/>
          </a:xfrm>
          <a:prstGeom xmlns:a="http://schemas.openxmlformats.org/drawingml/2006/main" prst="roundRect">
            <a:avLst>
              <a:gd name="adj" fmla="val 50000"/>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8ED1E9C-0553-44AE-B784-CDF1674303A2}"/>
              </a:ext>
            </a:extLst>
          </p:cNvPr>
          <p:cNvSpPr>
            <a:spLocks xmlns:a="http://schemas.openxmlformats.org/drawingml/2006/main" noGrp="1"/>
          </p:cNvSpPr>
          <p:nvPr/>
        </p:nvSpPr>
        <p:spPr>
          <a:xfrm xmlns:a="http://schemas.openxmlformats.org/drawingml/2006/main">
            <a:off x="2324100" y="4105275"/>
            <a:ext cx="2483168" cy="114300"/>
          </a:xfrm>
          <a:prstGeom xmlns:a="http://schemas.openxmlformats.org/drawingml/2006/main" prst="roundRect">
            <a:avLst>
              <a:gd name="adj" fmla="val 50000"/>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1616C57-06EB-47EA-B3A5-A31D18BCCEB3}"/>
              </a:ext>
            </a:extLst>
          </p:cNvPr>
          <p:cNvSpPr>
            <a:spLocks xmlns:a="http://schemas.openxmlformats.org/drawingml/2006/main" noGrp="1"/>
          </p:cNvSpPr>
          <p:nvPr/>
        </p:nvSpPr>
        <p:spPr>
          <a:xfrm xmlns:a="http://schemas.openxmlformats.org/drawingml/2006/main">
            <a:off x="5534025" y="4057650"/>
            <a:ext cx="428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17211D"/>
                </a:solidFill>
                <a:latin typeface="Aptos"/>
                <a:ea typeface="Aptos"/>
                <a:cs typeface="Aptos"/>
              </a:defRPr>
            </a:pPr>
            <a:r>
              <a:rPr sz="788" b="1">
                <a:solidFill>
                  <a:srgbClr val="17211D"/>
                </a:solidFill>
                <a:latin typeface="Aptos"/>
                <a:ea typeface="Aptos"/>
                <a:cs typeface="Aptos"/>
              </a:rPr>
              <a:t>79%</a:t>
            </a:r>
          </a:p>
        </p:txBody>
      </p:sp>
      <p:sp>
        <p:nvSpPr>
          <p:cNvPr id="23" name="">
            <a:extLst xmlns:a="http://schemas.openxmlformats.org/drawingml/2006/main">
              <a:ext uri="{FF2B5EF4-FFF2-40B4-BE49-F238E27FC236}">
                <a16:creationId xmlns:a16="http://schemas.microsoft.com/office/drawing/2014/main" id="{1A0D8CEF-07A5-430F-8781-4AF6B00E80D5}"/>
              </a:ext>
            </a:extLst>
          </p:cNvPr>
          <p:cNvSpPr>
            <a:spLocks xmlns:a="http://schemas.openxmlformats.org/drawingml/2006/main" noGrp="1"/>
          </p:cNvSpPr>
          <p:nvPr/>
        </p:nvSpPr>
        <p:spPr>
          <a:xfrm xmlns:a="http://schemas.openxmlformats.org/drawingml/2006/main">
            <a:off x="819150" y="451485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Colore neutro</a:t>
            </a:r>
          </a:p>
        </p:txBody>
      </p:sp>
      <p:sp>
        <p:nvSpPr>
          <p:cNvPr id="24" name="">
            <a:extLst xmlns:a="http://schemas.openxmlformats.org/drawingml/2006/main">
              <a:ext uri="{FF2B5EF4-FFF2-40B4-BE49-F238E27FC236}">
                <a16:creationId xmlns:a16="http://schemas.microsoft.com/office/drawing/2014/main" id="{4055BB73-4158-48BC-854C-BDD42A1A8EEC}"/>
              </a:ext>
            </a:extLst>
          </p:cNvPr>
          <p:cNvSpPr>
            <a:spLocks xmlns:a="http://schemas.openxmlformats.org/drawingml/2006/main" noGrp="1"/>
          </p:cNvSpPr>
          <p:nvPr/>
        </p:nvSpPr>
        <p:spPr>
          <a:xfrm xmlns:a="http://schemas.openxmlformats.org/drawingml/2006/main">
            <a:off x="2324100" y="4562475"/>
            <a:ext cx="3143250" cy="114300"/>
          </a:xfrm>
          <a:prstGeom xmlns:a="http://schemas.openxmlformats.org/drawingml/2006/main" prst="roundRect">
            <a:avLst>
              <a:gd name="adj" fmla="val 50000"/>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76AB4A3-385D-4B1E-8C91-60D41C20D409}"/>
              </a:ext>
            </a:extLst>
          </p:cNvPr>
          <p:cNvSpPr>
            <a:spLocks xmlns:a="http://schemas.openxmlformats.org/drawingml/2006/main" noGrp="1"/>
          </p:cNvSpPr>
          <p:nvPr/>
        </p:nvSpPr>
        <p:spPr>
          <a:xfrm xmlns:a="http://schemas.openxmlformats.org/drawingml/2006/main">
            <a:off x="2324100" y="4562475"/>
            <a:ext cx="2074545" cy="114300"/>
          </a:xfrm>
          <a:prstGeom xmlns:a="http://schemas.openxmlformats.org/drawingml/2006/main" prst="roundRect">
            <a:avLst>
              <a:gd name="adj" fmla="val 50000"/>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B9FC021-5565-4D55-B552-F46E3F67324C}"/>
              </a:ext>
            </a:extLst>
          </p:cNvPr>
          <p:cNvSpPr>
            <a:spLocks xmlns:a="http://schemas.openxmlformats.org/drawingml/2006/main" noGrp="1"/>
          </p:cNvSpPr>
          <p:nvPr/>
        </p:nvSpPr>
        <p:spPr>
          <a:xfrm xmlns:a="http://schemas.openxmlformats.org/drawingml/2006/main">
            <a:off x="5534025" y="4514850"/>
            <a:ext cx="428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17211D"/>
                </a:solidFill>
                <a:latin typeface="Aptos"/>
                <a:ea typeface="Aptos"/>
                <a:cs typeface="Aptos"/>
              </a:defRPr>
            </a:pPr>
            <a:r>
              <a:rPr sz="788" b="1">
                <a:solidFill>
                  <a:srgbClr val="17211D"/>
                </a:solidFill>
                <a:latin typeface="Aptos"/>
                <a:ea typeface="Aptos"/>
                <a:cs typeface="Aptos"/>
              </a:rPr>
              <a:t>66%</a:t>
            </a:r>
          </a:p>
        </p:txBody>
      </p:sp>
      <p:sp>
        <p:nvSpPr>
          <p:cNvPr id="27" name="">
            <a:extLst xmlns:a="http://schemas.openxmlformats.org/drawingml/2006/main">
              <a:ext uri="{FF2B5EF4-FFF2-40B4-BE49-F238E27FC236}">
                <a16:creationId xmlns:a16="http://schemas.microsoft.com/office/drawing/2014/main" id="{D6C0AB2D-2200-4EB5-93EE-0DF8F8815475}"/>
              </a:ext>
            </a:extLst>
          </p:cNvPr>
          <p:cNvSpPr>
            <a:spLocks xmlns:a="http://schemas.openxmlformats.org/drawingml/2006/main" noGrp="1"/>
          </p:cNvSpPr>
          <p:nvPr/>
        </p:nvSpPr>
        <p:spPr>
          <a:xfrm xmlns:a="http://schemas.openxmlformats.org/drawingml/2006/main">
            <a:off x="6515100" y="3714750"/>
            <a:ext cx="628650" cy="28575"/>
          </a:xfrm>
          <a:prstGeom xmlns:a="http://schemas.openxmlformats.org/drawingml/2006/main" prst="rect">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E21C530-B0CE-4CE6-A9C7-B80F1A0C62F9}"/>
              </a:ext>
            </a:extLst>
          </p:cNvPr>
          <p:cNvSpPr>
            <a:spLocks xmlns:a="http://schemas.openxmlformats.org/drawingml/2006/main" noGrp="1"/>
          </p:cNvSpPr>
          <p:nvPr/>
        </p:nvSpPr>
        <p:spPr>
          <a:xfrm xmlns:a="http://schemas.openxmlformats.org/drawingml/2006/main">
            <a:off x="7115175" y="3657600"/>
            <a:ext cx="133350" cy="133350"/>
          </a:xfrm>
          <a:prstGeom xmlns:a="http://schemas.openxmlformats.org/drawingml/2006/main" prst="triangl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F1EF5C1-9DE1-4721-985B-E42B5E1E17F9}"/>
              </a:ext>
            </a:extLst>
          </p:cNvPr>
          <p:cNvSpPr>
            <a:spLocks xmlns:a="http://schemas.openxmlformats.org/drawingml/2006/main" noGrp="1"/>
          </p:cNvSpPr>
          <p:nvPr/>
        </p:nvSpPr>
        <p:spPr>
          <a:xfrm xmlns:a="http://schemas.openxmlformats.org/drawingml/2006/main">
            <a:off x="7486650" y="2019300"/>
            <a:ext cx="4152900" cy="3429000"/>
          </a:xfrm>
          <a:prstGeom xmlns:a="http://schemas.openxmlformats.org/drawingml/2006/main" prst="roundRect">
            <a:avLst>
              <a:gd name="adj" fmla="val 2222"/>
            </a:avLst>
          </a:prstGeom>
          <a:solidFill xmlns:a="http://schemas.openxmlformats.org/drawingml/2006/main">
            <a:srgbClr val="123C31"/>
          </a:solidFill>
          <a:ln xmlns:a="http://schemas.openxmlformats.org/drawingml/2006/main" w="9525">
            <a:solidFill>
              <a:srgbClr val="123C31"/>
            </a:solidFill>
            <a:prstDash val="solid"/>
          </a:ln>
        </p:spPr>
      </p:sp>
      <p:sp>
        <p:nvSpPr>
          <p:cNvPr id="30" name="">
            <a:extLst xmlns:a="http://schemas.openxmlformats.org/drawingml/2006/main">
              <a:ext uri="{FF2B5EF4-FFF2-40B4-BE49-F238E27FC236}">
                <a16:creationId xmlns:a16="http://schemas.microsoft.com/office/drawing/2014/main" id="{CEF0B977-0FF6-4980-A7CF-184D669A5D09}"/>
              </a:ext>
            </a:extLst>
          </p:cNvPr>
          <p:cNvSpPr>
            <a:spLocks xmlns:a="http://schemas.openxmlformats.org/drawingml/2006/main" noGrp="1"/>
          </p:cNvSpPr>
          <p:nvPr/>
        </p:nvSpPr>
        <p:spPr>
          <a:xfrm xmlns:a="http://schemas.openxmlformats.org/drawingml/2006/main">
            <a:off x="8839200" y="2571750"/>
            <a:ext cx="1409700" cy="140970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0D1578B5-498C-43FC-9135-427984092A76}"/>
              </a:ext>
            </a:extLst>
          </p:cNvPr>
          <p:cNvSpPr>
            <a:spLocks xmlns:a="http://schemas.openxmlformats.org/drawingml/2006/main" noGrp="1"/>
          </p:cNvSpPr>
          <p:nvPr/>
        </p:nvSpPr>
        <p:spPr>
          <a:xfrm xmlns:a="http://schemas.openxmlformats.org/drawingml/2006/main">
            <a:off x="8839200" y="2781300"/>
            <a:ext cx="14097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650" b="0">
                <a:solidFill>
                  <a:srgbClr val="123C31"/>
                </a:solidFill>
                <a:latin typeface="Aptos"/>
                <a:ea typeface="Aptos"/>
                <a:cs typeface="Aptos"/>
              </a:defRPr>
            </a:pPr>
            <a:r>
              <a:rPr sz="4650" b="0">
                <a:solidFill>
                  <a:srgbClr val="123C31"/>
                </a:solidFill>
                <a:latin typeface="Aptos"/>
                <a:ea typeface="Aptos"/>
                <a:cs typeface="Aptos"/>
              </a:rPr>
              <a:t>✓</a:t>
            </a:r>
          </a:p>
        </p:txBody>
      </p:sp>
      <p:sp>
        <p:nvSpPr>
          <p:cNvPr id="32" name="">
            <a:extLst xmlns:a="http://schemas.openxmlformats.org/drawingml/2006/main">
              <a:ext uri="{FF2B5EF4-FFF2-40B4-BE49-F238E27FC236}">
                <a16:creationId xmlns:a16="http://schemas.microsoft.com/office/drawing/2014/main" id="{11A0D163-ADCA-48CF-9498-FF24714847AD}"/>
              </a:ext>
            </a:extLst>
          </p:cNvPr>
          <p:cNvSpPr>
            <a:spLocks xmlns:a="http://schemas.openxmlformats.org/drawingml/2006/main" noGrp="1"/>
          </p:cNvSpPr>
          <p:nvPr/>
        </p:nvSpPr>
        <p:spPr>
          <a:xfrm xmlns:a="http://schemas.openxmlformats.org/drawingml/2006/main">
            <a:off x="7848600" y="4248150"/>
            <a:ext cx="3429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025" b="1">
                <a:solidFill>
                  <a:srgbClr val="FFFFFF"/>
                </a:solidFill>
                <a:latin typeface="Georgia"/>
                <a:ea typeface="Georgia"/>
                <a:cs typeface="Georgia"/>
              </a:defRPr>
            </a:pPr>
            <a:r>
              <a:rPr sz="2025" b="1">
                <a:solidFill>
                  <a:srgbClr val="FFFFFF"/>
                </a:solidFill>
                <a:latin typeface="Georgia"/>
                <a:ea typeface="Georgia"/>
                <a:cs typeface="Georgia"/>
              </a:rPr>
              <a:t>Nessun acquisto</a:t>
            </a:r>
          </a:p>
          <a:p xmlns:a="http://schemas.openxmlformats.org/drawingml/2006/main">
            <a:pPr algn="ctr">
              <a:defRPr sz="2025" b="1">
                <a:solidFill>
                  <a:srgbClr val="FFFFFF"/>
                </a:solidFill>
                <a:latin typeface="Georgia"/>
                <a:ea typeface="Georgia"/>
                <a:cs typeface="Georgia"/>
              </a:defRPr>
            </a:pPr>
            <a:r>
              <a:rPr sz="2025" b="1">
                <a:solidFill>
                  <a:srgbClr val="FFFFFF"/>
                </a:solidFill>
                <a:latin typeface="Georgia"/>
                <a:ea typeface="Georgia"/>
                <a:cs typeface="Georgia"/>
              </a:rPr>
              <a:t>necessario</a:t>
            </a:r>
          </a:p>
        </p:txBody>
      </p:sp>
      <p:sp>
        <p:nvSpPr>
          <p:cNvPr id="33" name="">
            <a:extLst xmlns:a="http://schemas.openxmlformats.org/drawingml/2006/main">
              <a:ext uri="{FF2B5EF4-FFF2-40B4-BE49-F238E27FC236}">
                <a16:creationId xmlns:a16="http://schemas.microsoft.com/office/drawing/2014/main" id="{CB67B1CD-90F7-45EA-9137-5C93E3A17053}"/>
              </a:ext>
            </a:extLst>
          </p:cNvPr>
          <p:cNvSpPr>
            <a:spLocks xmlns:a="http://schemas.openxmlformats.org/drawingml/2006/main" noGrp="1"/>
          </p:cNvSpPr>
          <p:nvPr/>
        </p:nvSpPr>
        <p:spPr>
          <a:xfrm xmlns:a="http://schemas.openxmlformats.org/drawingml/2006/main">
            <a:off x="1143000" y="5810250"/>
            <a:ext cx="990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5736B"/>
                </a:solidFill>
                <a:latin typeface="Aptos"/>
                <a:ea typeface="Aptos"/>
                <a:cs typeface="Aptos"/>
              </a:defRPr>
            </a:pPr>
            <a:r>
              <a:rPr sz="825" b="0">
                <a:solidFill>
                  <a:srgbClr val="65736B"/>
                </a:solidFill>
                <a:latin typeface="Aptos"/>
                <a:ea typeface="Aptos"/>
                <a:cs typeface="Aptos"/>
              </a:rPr>
              <a:t>La rete produce probabilità; il consiglio privilegia riuso, combinazioni e seconda mano.</a:t>
            </a:r>
          </a:p>
        </p:txBody>
      </p:sp>
      <p:sp>
        <p:nvSpPr>
          <p:cNvPr id="34" name="">
            <a:extLst xmlns:a="http://schemas.openxmlformats.org/drawingml/2006/main">
              <a:ext uri="{FF2B5EF4-FFF2-40B4-BE49-F238E27FC236}">
                <a16:creationId xmlns:a16="http://schemas.microsoft.com/office/drawing/2014/main" id="{524FEFC3-CBB9-47C3-837B-F9BE6DAFF1AD}"/>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1BD090BD-24FA-45BF-AF89-6E7264B72FF6}"/>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Gap multi-label: 14 segnali aggregati → 6 possibili bisogni</a:t>
            </a:r>
          </a:p>
        </p:txBody>
      </p:sp>
      <p:sp>
        <p:nvSpPr>
          <p:cNvPr id="36" name="">
            <a:extLst xmlns:a="http://schemas.openxmlformats.org/drawingml/2006/main">
              <a:ext uri="{FF2B5EF4-FFF2-40B4-BE49-F238E27FC236}">
                <a16:creationId xmlns:a16="http://schemas.microsoft.com/office/drawing/2014/main" id="{FFB07AF7-8EC0-4E79-AD20-547BA585BE7D}"/>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08</a:t>
            </a:r>
          </a:p>
        </p:txBody>
      </p:sp>
    </p:spTree>
    <p:extLst>
      <p:ext uri="{BB962C8B-B14F-4D97-AF65-F5344CB8AC3E}">
        <p14:creationId xmlns:p14="http://schemas.microsoft.com/office/powerpoint/2010/main" val="93033860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77AD864B-0566-458B-B7FB-68B2B02C79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FD068FD-83E2-40CA-9B88-7464CF06173E}"/>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067AC99-E248-4A12-A243-A544E488730E}"/>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DDE5DD"/>
                </a:solidFill>
                <a:latin typeface="Aptos"/>
                <a:ea typeface="Aptos"/>
                <a:cs typeface="Aptos"/>
              </a:defRPr>
            </a:pPr>
            <a:r>
              <a:rPr sz="638" b="1">
                <a:solidFill>
                  <a:srgbClr val="DDE5DD"/>
                </a:solidFill>
                <a:latin typeface="Aptos"/>
                <a:ea typeface="Aptos"/>
                <a:cs typeface="Aptos"/>
              </a:rPr>
              <a:t>U S E R   S T O R Y   ·   A L L U N G A   L A   V I T A</a:t>
            </a:r>
          </a:p>
        </p:txBody>
      </p:sp>
      <p:sp>
        <p:nvSpPr>
          <p:cNvPr id="4" name="claim-title">
            <a:extLst xmlns:a="http://schemas.openxmlformats.org/drawingml/2006/main">
              <a:ext uri="{FF2B5EF4-FFF2-40B4-BE49-F238E27FC236}">
                <a16:creationId xmlns:a16="http://schemas.microsoft.com/office/drawing/2014/main" id="{6BF52E24-9FA7-490F-B4DB-BE7E2AEA85D9}"/>
              </a:ext>
            </a:extLst>
          </p:cNvPr>
          <p:cNvSpPr>
            <a:spLocks xmlns:a="http://schemas.openxmlformats.org/drawingml/2006/main" noGrp="1"/>
          </p:cNvSpPr>
          <p:nvPr/>
        </p:nvSpPr>
        <p:spPr>
          <a:xfrm xmlns:a="http://schemas.openxmlformats.org/drawingml/2006/main">
            <a:off x="552450" y="742950"/>
            <a:ext cx="9906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75" b="1">
                <a:solidFill>
                  <a:srgbClr val="FFFFFF"/>
                </a:solidFill>
                <a:latin typeface="Georgia"/>
                <a:ea typeface="Georgia"/>
                <a:cs typeface="Georgia"/>
              </a:defRPr>
            </a:pPr>
            <a:r>
              <a:rPr sz="3075" b="1">
                <a:solidFill>
                  <a:srgbClr val="FFFFFF"/>
                </a:solidFill>
                <a:latin typeface="Georgia"/>
                <a:ea typeface="Georgia"/>
                <a:cs typeface="Georgia"/>
              </a:rPr>
              <a:t>Riparare o dare una seconda vita chiude il ciclo.</a:t>
            </a:r>
          </a:p>
        </p:txBody>
      </p:sp>
      <p:sp>
        <p:nvSpPr>
          <p:cNvPr id="5" name="">
            <a:extLst xmlns:a="http://schemas.openxmlformats.org/drawingml/2006/main">
              <a:ext uri="{FF2B5EF4-FFF2-40B4-BE49-F238E27FC236}">
                <a16:creationId xmlns:a16="http://schemas.microsoft.com/office/drawing/2014/main" id="{B3BAD782-E5C4-41E4-AF88-F08A3FA9FB51}"/>
              </a:ext>
            </a:extLst>
          </p:cNvPr>
          <p:cNvSpPr>
            <a:spLocks xmlns:a="http://schemas.openxmlformats.org/drawingml/2006/main" noGrp="1"/>
          </p:cNvSpPr>
          <p:nvPr/>
        </p:nvSpPr>
        <p:spPr>
          <a:xfrm xmlns:a="http://schemas.openxmlformats.org/drawingml/2006/main">
            <a:off x="552450" y="2038350"/>
            <a:ext cx="2724150" cy="1066800"/>
          </a:xfrm>
          <a:prstGeom xmlns:a="http://schemas.openxmlformats.org/drawingml/2006/main" prst="roundRect">
            <a:avLst>
              <a:gd name="adj" fmla="val 7143"/>
            </a:avLst>
          </a:prstGeom>
          <a:solidFill xmlns:a="http://schemas.openxmlformats.org/drawingml/2006/main">
            <a:srgbClr val="1B4C3D"/>
          </a:solidFill>
          <a:ln xmlns:a="http://schemas.openxmlformats.org/drawingml/2006/main" w="9525">
            <a:solidFill>
              <a:srgbClr val="3F685A"/>
            </a:solidFill>
            <a:prstDash val="solid"/>
          </a:ln>
        </p:spPr>
      </p:sp>
      <p:sp>
        <p:nvSpPr>
          <p:cNvPr id="6" name="">
            <a:extLst xmlns:a="http://schemas.openxmlformats.org/drawingml/2006/main">
              <a:ext uri="{FF2B5EF4-FFF2-40B4-BE49-F238E27FC236}">
                <a16:creationId xmlns:a16="http://schemas.microsoft.com/office/drawing/2014/main" id="{E8C53282-754C-4CCE-ACB0-C12497385C13}"/>
              </a:ext>
            </a:extLst>
          </p:cNvPr>
          <p:cNvSpPr>
            <a:spLocks xmlns:a="http://schemas.openxmlformats.org/drawingml/2006/main" noGrp="1"/>
          </p:cNvSpPr>
          <p:nvPr/>
        </p:nvSpPr>
        <p:spPr>
          <a:xfrm xmlns:a="http://schemas.openxmlformats.org/drawingml/2006/main">
            <a:off x="723900" y="2228850"/>
            <a:ext cx="285750" cy="285750"/>
          </a:xfrm>
          <a:prstGeom xmlns:a="http://schemas.openxmlformats.org/drawingml/2006/main" prst="ellipse">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77B6F52-59E8-4BBA-BEE1-DC2D59301750}"/>
              </a:ext>
            </a:extLst>
          </p:cNvPr>
          <p:cNvSpPr>
            <a:spLocks xmlns:a="http://schemas.openxmlformats.org/drawingml/2006/main" noGrp="1"/>
          </p:cNvSpPr>
          <p:nvPr/>
        </p:nvSpPr>
        <p:spPr>
          <a:xfrm xmlns:a="http://schemas.openxmlformats.org/drawingml/2006/main">
            <a:off x="723900" y="22669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CB9B29A-7813-46B5-B741-2A01AA18CFBD}"/>
              </a:ext>
            </a:extLst>
          </p:cNvPr>
          <p:cNvSpPr>
            <a:spLocks xmlns:a="http://schemas.openxmlformats.org/drawingml/2006/main" noGrp="1"/>
          </p:cNvSpPr>
          <p:nvPr/>
        </p:nvSpPr>
        <p:spPr>
          <a:xfrm xmlns:a="http://schemas.openxmlformats.org/drawingml/2006/main">
            <a:off x="1143000" y="2209800"/>
            <a:ext cx="1847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Georgia"/>
                <a:ea typeface="Georgia"/>
                <a:cs typeface="Georgia"/>
              </a:defRPr>
            </a:pPr>
            <a:r>
              <a:rPr sz="1125" b="1">
                <a:solidFill>
                  <a:srgbClr val="FFFFFF"/>
                </a:solidFill>
                <a:latin typeface="Georgia"/>
                <a:ea typeface="Georgia"/>
                <a:cs typeface="Georgia"/>
              </a:rPr>
              <a:t>Stato</a:t>
            </a:r>
          </a:p>
        </p:txBody>
      </p:sp>
      <p:sp>
        <p:nvSpPr>
          <p:cNvPr id="9" name="">
            <a:extLst xmlns:a="http://schemas.openxmlformats.org/drawingml/2006/main">
              <a:ext uri="{FF2B5EF4-FFF2-40B4-BE49-F238E27FC236}">
                <a16:creationId xmlns:a16="http://schemas.microsoft.com/office/drawing/2014/main" id="{CBEC2179-FCCB-45C3-9424-A861C50725C6}"/>
              </a:ext>
            </a:extLst>
          </p:cNvPr>
          <p:cNvSpPr>
            <a:spLocks xmlns:a="http://schemas.openxmlformats.org/drawingml/2006/main" noGrp="1"/>
          </p:cNvSpPr>
          <p:nvPr/>
        </p:nvSpPr>
        <p:spPr>
          <a:xfrm xmlns:a="http://schemas.openxmlformats.org/drawingml/2006/main">
            <a:off x="1143000" y="2533650"/>
            <a:ext cx="1847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DDE5DD"/>
                </a:solidFill>
                <a:latin typeface="Aptos"/>
                <a:ea typeface="Aptos"/>
                <a:cs typeface="Aptos"/>
              </a:defRPr>
            </a:pPr>
            <a:r>
              <a:rPr sz="675" b="0">
                <a:solidFill>
                  <a:srgbClr val="DDE5DD"/>
                </a:solidFill>
                <a:latin typeface="Aptos"/>
                <a:ea typeface="Aptos"/>
                <a:cs typeface="Aptos"/>
              </a:rPr>
              <a:t>buono · usurato · danneggiato</a:t>
            </a:r>
          </a:p>
        </p:txBody>
      </p:sp>
      <p:sp>
        <p:nvSpPr>
          <p:cNvPr id="10" name="">
            <a:extLst xmlns:a="http://schemas.openxmlformats.org/drawingml/2006/main">
              <a:ext uri="{FF2B5EF4-FFF2-40B4-BE49-F238E27FC236}">
                <a16:creationId xmlns:a16="http://schemas.microsoft.com/office/drawing/2014/main" id="{EBB6D9B0-A0B9-4788-BDF1-6D28C9F83CED}"/>
              </a:ext>
            </a:extLst>
          </p:cNvPr>
          <p:cNvSpPr>
            <a:spLocks xmlns:a="http://schemas.openxmlformats.org/drawingml/2006/main" noGrp="1"/>
          </p:cNvSpPr>
          <p:nvPr/>
        </p:nvSpPr>
        <p:spPr>
          <a:xfrm xmlns:a="http://schemas.openxmlformats.org/drawingml/2006/main">
            <a:off x="3676650" y="2038350"/>
            <a:ext cx="2724150" cy="1066800"/>
          </a:xfrm>
          <a:prstGeom xmlns:a="http://schemas.openxmlformats.org/drawingml/2006/main" prst="roundRect">
            <a:avLst>
              <a:gd name="adj" fmla="val 7143"/>
            </a:avLst>
          </a:prstGeom>
          <a:solidFill xmlns:a="http://schemas.openxmlformats.org/drawingml/2006/main">
            <a:srgbClr val="1B4C3D"/>
          </a:solidFill>
          <a:ln xmlns:a="http://schemas.openxmlformats.org/drawingml/2006/main" w="9525">
            <a:solidFill>
              <a:srgbClr val="3F685A"/>
            </a:solidFill>
            <a:prstDash val="solid"/>
          </a:ln>
        </p:spPr>
      </p:sp>
      <p:sp>
        <p:nvSpPr>
          <p:cNvPr id="11" name="">
            <a:extLst xmlns:a="http://schemas.openxmlformats.org/drawingml/2006/main">
              <a:ext uri="{FF2B5EF4-FFF2-40B4-BE49-F238E27FC236}">
                <a16:creationId xmlns:a16="http://schemas.microsoft.com/office/drawing/2014/main" id="{FA4C5284-BC8B-4EEE-9652-83B8E5D6627B}"/>
              </a:ext>
            </a:extLst>
          </p:cNvPr>
          <p:cNvSpPr>
            <a:spLocks xmlns:a="http://schemas.openxmlformats.org/drawingml/2006/main" noGrp="1"/>
          </p:cNvSpPr>
          <p:nvPr/>
        </p:nvSpPr>
        <p:spPr>
          <a:xfrm xmlns:a="http://schemas.openxmlformats.org/drawingml/2006/main">
            <a:off x="3848100" y="2228850"/>
            <a:ext cx="285750" cy="2857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ACF367D-B27B-4DC9-8FE5-EAFBD3B606B0}"/>
              </a:ext>
            </a:extLst>
          </p:cNvPr>
          <p:cNvSpPr>
            <a:spLocks xmlns:a="http://schemas.openxmlformats.org/drawingml/2006/main" noGrp="1"/>
          </p:cNvSpPr>
          <p:nvPr/>
        </p:nvSpPr>
        <p:spPr>
          <a:xfrm xmlns:a="http://schemas.openxmlformats.org/drawingml/2006/main">
            <a:off x="3848100" y="226695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FE32C0CD-F5D8-4347-8318-8488F24039E6}"/>
              </a:ext>
            </a:extLst>
          </p:cNvPr>
          <p:cNvSpPr>
            <a:spLocks xmlns:a="http://schemas.openxmlformats.org/drawingml/2006/main" noGrp="1"/>
          </p:cNvSpPr>
          <p:nvPr/>
        </p:nvSpPr>
        <p:spPr>
          <a:xfrm xmlns:a="http://schemas.openxmlformats.org/drawingml/2006/main">
            <a:off x="4267200" y="2209800"/>
            <a:ext cx="1847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Georgia"/>
                <a:ea typeface="Georgia"/>
                <a:cs typeface="Georgia"/>
              </a:defRPr>
            </a:pPr>
            <a:r>
              <a:rPr sz="1125" b="1">
                <a:solidFill>
                  <a:srgbClr val="FFFFFF"/>
                </a:solidFill>
                <a:latin typeface="Georgia"/>
                <a:ea typeface="Georgia"/>
                <a:cs typeface="Georgia"/>
              </a:rPr>
              <a:t>Decisione</a:t>
            </a:r>
          </a:p>
        </p:txBody>
      </p:sp>
      <p:sp>
        <p:nvSpPr>
          <p:cNvPr id="14" name="">
            <a:extLst xmlns:a="http://schemas.openxmlformats.org/drawingml/2006/main">
              <a:ext uri="{FF2B5EF4-FFF2-40B4-BE49-F238E27FC236}">
                <a16:creationId xmlns:a16="http://schemas.microsoft.com/office/drawing/2014/main" id="{219AEDE6-A7D4-402F-912C-DF4CB89711BC}"/>
              </a:ext>
            </a:extLst>
          </p:cNvPr>
          <p:cNvSpPr>
            <a:spLocks xmlns:a="http://schemas.openxmlformats.org/drawingml/2006/main" noGrp="1"/>
          </p:cNvSpPr>
          <p:nvPr/>
        </p:nvSpPr>
        <p:spPr>
          <a:xfrm xmlns:a="http://schemas.openxmlformats.org/drawingml/2006/main">
            <a:off x="4267200" y="2533650"/>
            <a:ext cx="1847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DDE5DD"/>
                </a:solidFill>
                <a:latin typeface="Aptos"/>
                <a:ea typeface="Aptos"/>
                <a:cs typeface="Aptos"/>
              </a:defRPr>
            </a:pPr>
            <a:r>
              <a:rPr sz="675" b="0">
                <a:solidFill>
                  <a:srgbClr val="DDE5DD"/>
                </a:solidFill>
                <a:latin typeface="Aptos"/>
                <a:ea typeface="Aptos"/>
                <a:cs typeface="Aptos"/>
              </a:rPr>
              <a:t>continua · ripara · seconda vita</a:t>
            </a:r>
          </a:p>
        </p:txBody>
      </p:sp>
      <p:sp>
        <p:nvSpPr>
          <p:cNvPr id="15" name="">
            <a:extLst xmlns:a="http://schemas.openxmlformats.org/drawingml/2006/main">
              <a:ext uri="{FF2B5EF4-FFF2-40B4-BE49-F238E27FC236}">
                <a16:creationId xmlns:a16="http://schemas.microsoft.com/office/drawing/2014/main" id="{F7FEE5B6-AB19-431A-AD76-E96EDE259411}"/>
              </a:ext>
            </a:extLst>
          </p:cNvPr>
          <p:cNvSpPr>
            <a:spLocks xmlns:a="http://schemas.openxmlformats.org/drawingml/2006/main" noGrp="1"/>
          </p:cNvSpPr>
          <p:nvPr/>
        </p:nvSpPr>
        <p:spPr>
          <a:xfrm xmlns:a="http://schemas.openxmlformats.org/drawingml/2006/main">
            <a:off x="552450" y="3467100"/>
            <a:ext cx="2724150" cy="1066800"/>
          </a:xfrm>
          <a:prstGeom xmlns:a="http://schemas.openxmlformats.org/drawingml/2006/main" prst="roundRect">
            <a:avLst>
              <a:gd name="adj" fmla="val 7143"/>
            </a:avLst>
          </a:prstGeom>
          <a:solidFill xmlns:a="http://schemas.openxmlformats.org/drawingml/2006/main">
            <a:srgbClr val="1B4C3D"/>
          </a:solidFill>
          <a:ln xmlns:a="http://schemas.openxmlformats.org/drawingml/2006/main" w="9525">
            <a:solidFill>
              <a:srgbClr val="3F685A"/>
            </a:solidFill>
            <a:prstDash val="solid"/>
          </a:ln>
        </p:spPr>
      </p:sp>
      <p:sp>
        <p:nvSpPr>
          <p:cNvPr id="16" name="">
            <a:extLst xmlns:a="http://schemas.openxmlformats.org/drawingml/2006/main">
              <a:ext uri="{FF2B5EF4-FFF2-40B4-BE49-F238E27FC236}">
                <a16:creationId xmlns:a16="http://schemas.microsoft.com/office/drawing/2014/main" id="{24409638-EE85-4426-8746-6AD73ABDE934}"/>
              </a:ext>
            </a:extLst>
          </p:cNvPr>
          <p:cNvSpPr>
            <a:spLocks xmlns:a="http://schemas.openxmlformats.org/drawingml/2006/main" noGrp="1"/>
          </p:cNvSpPr>
          <p:nvPr/>
        </p:nvSpPr>
        <p:spPr>
          <a:xfrm xmlns:a="http://schemas.openxmlformats.org/drawingml/2006/main">
            <a:off x="723900" y="3657600"/>
            <a:ext cx="285750" cy="28575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5AC5589-BCB7-48CC-923B-A7D9F826B99C}"/>
              </a:ext>
            </a:extLst>
          </p:cNvPr>
          <p:cNvSpPr>
            <a:spLocks xmlns:a="http://schemas.openxmlformats.org/drawingml/2006/main" noGrp="1"/>
          </p:cNvSpPr>
          <p:nvPr/>
        </p:nvSpPr>
        <p:spPr>
          <a:xfrm xmlns:a="http://schemas.openxmlformats.org/drawingml/2006/main">
            <a:off x="723900" y="369570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23C31"/>
                </a:solidFill>
                <a:latin typeface="Aptos"/>
                <a:ea typeface="Aptos"/>
                <a:cs typeface="Aptos"/>
              </a:defRPr>
            </a:pPr>
            <a:r>
              <a:rPr sz="750" b="1">
                <a:solidFill>
                  <a:srgbClr val="123C31"/>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11D5CEA2-D80E-41CF-B9C5-A0D6F75D398A}"/>
              </a:ext>
            </a:extLst>
          </p:cNvPr>
          <p:cNvSpPr>
            <a:spLocks xmlns:a="http://schemas.openxmlformats.org/drawingml/2006/main" noGrp="1"/>
          </p:cNvSpPr>
          <p:nvPr/>
        </p:nvSpPr>
        <p:spPr>
          <a:xfrm xmlns:a="http://schemas.openxmlformats.org/drawingml/2006/main">
            <a:off x="1143000" y="3638550"/>
            <a:ext cx="1847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Georgia"/>
                <a:ea typeface="Georgia"/>
                <a:cs typeface="Georgia"/>
              </a:defRPr>
            </a:pPr>
            <a:r>
              <a:rPr sz="1125" b="1">
                <a:solidFill>
                  <a:srgbClr val="FFFFFF"/>
                </a:solidFill>
                <a:latin typeface="Georgia"/>
                <a:ea typeface="Georgia"/>
                <a:cs typeface="Georgia"/>
              </a:rPr>
              <a:t>Azione</a:t>
            </a:r>
          </a:p>
        </p:txBody>
      </p:sp>
      <p:sp>
        <p:nvSpPr>
          <p:cNvPr id="19" name="">
            <a:extLst xmlns:a="http://schemas.openxmlformats.org/drawingml/2006/main">
              <a:ext uri="{FF2B5EF4-FFF2-40B4-BE49-F238E27FC236}">
                <a16:creationId xmlns:a16="http://schemas.microsoft.com/office/drawing/2014/main" id="{68BEAFD0-B0BE-4222-B9C6-8AC13BD34C3A}"/>
              </a:ext>
            </a:extLst>
          </p:cNvPr>
          <p:cNvSpPr>
            <a:spLocks xmlns:a="http://schemas.openxmlformats.org/drawingml/2006/main" noGrp="1"/>
          </p:cNvSpPr>
          <p:nvPr/>
        </p:nvSpPr>
        <p:spPr>
          <a:xfrm xmlns:a="http://schemas.openxmlformats.org/drawingml/2006/main">
            <a:off x="1143000" y="3962400"/>
            <a:ext cx="1847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DDE5DD"/>
                </a:solidFill>
                <a:latin typeface="Aptos"/>
                <a:ea typeface="Aptos"/>
                <a:cs typeface="Aptos"/>
              </a:defRPr>
            </a:pPr>
            <a:r>
              <a:rPr sz="675" b="0">
                <a:solidFill>
                  <a:srgbClr val="DDE5DD"/>
                </a:solidFill>
                <a:latin typeface="Aptos"/>
                <a:ea typeface="Aptos"/>
                <a:cs typeface="Aptos"/>
              </a:rPr>
              <a:t>usa · dona · vendi · ricicla</a:t>
            </a:r>
          </a:p>
        </p:txBody>
      </p:sp>
      <p:sp>
        <p:nvSpPr>
          <p:cNvPr id="20" name="">
            <a:extLst xmlns:a="http://schemas.openxmlformats.org/drawingml/2006/main">
              <a:ext uri="{FF2B5EF4-FFF2-40B4-BE49-F238E27FC236}">
                <a16:creationId xmlns:a16="http://schemas.microsoft.com/office/drawing/2014/main" id="{A1EDD957-4F7F-428B-B6B8-C4F8031A8936}"/>
              </a:ext>
            </a:extLst>
          </p:cNvPr>
          <p:cNvSpPr>
            <a:spLocks xmlns:a="http://schemas.openxmlformats.org/drawingml/2006/main" noGrp="1"/>
          </p:cNvSpPr>
          <p:nvPr/>
        </p:nvSpPr>
        <p:spPr>
          <a:xfrm xmlns:a="http://schemas.openxmlformats.org/drawingml/2006/main">
            <a:off x="3676650" y="3467100"/>
            <a:ext cx="2724150" cy="1066800"/>
          </a:xfrm>
          <a:prstGeom xmlns:a="http://schemas.openxmlformats.org/drawingml/2006/main" prst="roundRect">
            <a:avLst>
              <a:gd name="adj" fmla="val 7143"/>
            </a:avLst>
          </a:prstGeom>
          <a:solidFill xmlns:a="http://schemas.openxmlformats.org/drawingml/2006/main">
            <a:srgbClr val="1B4C3D"/>
          </a:solidFill>
          <a:ln xmlns:a="http://schemas.openxmlformats.org/drawingml/2006/main" w="9525">
            <a:solidFill>
              <a:srgbClr val="3F685A"/>
            </a:solidFill>
            <a:prstDash val="solid"/>
          </a:ln>
        </p:spPr>
      </p:sp>
      <p:sp>
        <p:nvSpPr>
          <p:cNvPr id="21" name="">
            <a:extLst xmlns:a="http://schemas.openxmlformats.org/drawingml/2006/main">
              <a:ext uri="{FF2B5EF4-FFF2-40B4-BE49-F238E27FC236}">
                <a16:creationId xmlns:a16="http://schemas.microsoft.com/office/drawing/2014/main" id="{AE9AB8A5-B1A1-47A6-B1D8-EAF3AEF61E06}"/>
              </a:ext>
            </a:extLst>
          </p:cNvPr>
          <p:cNvSpPr>
            <a:spLocks xmlns:a="http://schemas.openxmlformats.org/drawingml/2006/main" noGrp="1"/>
          </p:cNvSpPr>
          <p:nvPr/>
        </p:nvSpPr>
        <p:spPr>
          <a:xfrm xmlns:a="http://schemas.openxmlformats.org/drawingml/2006/main">
            <a:off x="3848100" y="3657600"/>
            <a:ext cx="285750" cy="285750"/>
          </a:xfrm>
          <a:prstGeom xmlns:a="http://schemas.openxmlformats.org/drawingml/2006/main" prst="ellipse">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C8BA0F61-DFCB-4BF0-9141-F0BADC93FB50}"/>
              </a:ext>
            </a:extLst>
          </p:cNvPr>
          <p:cNvSpPr>
            <a:spLocks xmlns:a="http://schemas.openxmlformats.org/drawingml/2006/main" noGrp="1"/>
          </p:cNvSpPr>
          <p:nvPr/>
        </p:nvSpPr>
        <p:spPr>
          <a:xfrm xmlns:a="http://schemas.openxmlformats.org/drawingml/2006/main">
            <a:off x="3848100" y="3695700"/>
            <a:ext cx="28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7F375A8A-5394-4CDD-A86A-D3AC0F674661}"/>
              </a:ext>
            </a:extLst>
          </p:cNvPr>
          <p:cNvSpPr>
            <a:spLocks xmlns:a="http://schemas.openxmlformats.org/drawingml/2006/main" noGrp="1"/>
          </p:cNvSpPr>
          <p:nvPr/>
        </p:nvSpPr>
        <p:spPr>
          <a:xfrm xmlns:a="http://schemas.openxmlformats.org/drawingml/2006/main">
            <a:off x="4267200" y="3638550"/>
            <a:ext cx="1847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Georgia"/>
                <a:ea typeface="Georgia"/>
                <a:cs typeface="Georgia"/>
              </a:defRPr>
            </a:pPr>
            <a:r>
              <a:rPr sz="1125" b="1">
                <a:solidFill>
                  <a:srgbClr val="FFFFFF"/>
                </a:solidFill>
                <a:latin typeface="Georgia"/>
                <a:ea typeface="Georgia"/>
                <a:cs typeface="Georgia"/>
              </a:rPr>
              <a:t>Storico</a:t>
            </a:r>
          </a:p>
        </p:txBody>
      </p:sp>
      <p:sp>
        <p:nvSpPr>
          <p:cNvPr id="24" name="">
            <a:extLst xmlns:a="http://schemas.openxmlformats.org/drawingml/2006/main">
              <a:ext uri="{FF2B5EF4-FFF2-40B4-BE49-F238E27FC236}">
                <a16:creationId xmlns:a16="http://schemas.microsoft.com/office/drawing/2014/main" id="{2F13FDB3-F68D-4432-BBEB-D1A320392939}"/>
              </a:ext>
            </a:extLst>
          </p:cNvPr>
          <p:cNvSpPr>
            <a:spLocks xmlns:a="http://schemas.openxmlformats.org/drawingml/2006/main" noGrp="1"/>
          </p:cNvSpPr>
          <p:nvPr/>
        </p:nvSpPr>
        <p:spPr>
          <a:xfrm xmlns:a="http://schemas.openxmlformats.org/drawingml/2006/main">
            <a:off x="4267200" y="3962400"/>
            <a:ext cx="1847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DDE5DD"/>
                </a:solidFill>
                <a:latin typeface="Aptos"/>
                <a:ea typeface="Aptos"/>
                <a:cs typeface="Aptos"/>
              </a:defRPr>
            </a:pPr>
            <a:r>
              <a:rPr sz="675" b="0">
                <a:solidFill>
                  <a:srgbClr val="DDE5DD"/>
                </a:solidFill>
                <a:latin typeface="Aptos"/>
                <a:ea typeface="Aptos"/>
                <a:cs typeface="Aptos"/>
              </a:rPr>
              <a:t>l’azione resta verificabile</a:t>
            </a:r>
          </a:p>
        </p:txBody>
      </p:sp>
      <p:sp>
        <p:nvSpPr>
          <p:cNvPr id="25" name="">
            <a:extLst xmlns:a="http://schemas.openxmlformats.org/drawingml/2006/main">
              <a:ext uri="{FF2B5EF4-FFF2-40B4-BE49-F238E27FC236}">
                <a16:creationId xmlns:a16="http://schemas.microsoft.com/office/drawing/2014/main" id="{327590EE-C33F-4E09-A431-5B8873796DDD}"/>
              </a:ext>
            </a:extLst>
          </p:cNvPr>
          <p:cNvSpPr>
            <a:spLocks xmlns:a="http://schemas.openxmlformats.org/drawingml/2006/main" noGrp="1"/>
          </p:cNvSpPr>
          <p:nvPr/>
        </p:nvSpPr>
        <p:spPr>
          <a:xfrm xmlns:a="http://schemas.openxmlformats.org/drawingml/2006/main">
            <a:off x="7334250" y="2038350"/>
            <a:ext cx="4305300" cy="3276600"/>
          </a:xfrm>
          <a:prstGeom xmlns:a="http://schemas.openxmlformats.org/drawingml/2006/main" prst="roundRect">
            <a:avLst>
              <a:gd name="adj" fmla="val 2326"/>
            </a:avLst>
          </a:prstGeom>
          <a:solidFill xmlns:a="http://schemas.openxmlformats.org/drawingml/2006/main">
            <a:srgbClr val="F4F0E7"/>
          </a:solidFill>
          <a:ln xmlns:a="http://schemas.openxmlformats.org/drawingml/2006/main" w="9525">
            <a:solidFill>
              <a:srgbClr val="F4F0E7"/>
            </a:solidFill>
            <a:prstDash val="solid"/>
          </a:ln>
        </p:spPr>
      </p:sp>
      <p:sp>
        <p:nvSpPr>
          <p:cNvPr id="26" name="">
            <a:extLst xmlns:a="http://schemas.openxmlformats.org/drawingml/2006/main">
              <a:ext uri="{FF2B5EF4-FFF2-40B4-BE49-F238E27FC236}">
                <a16:creationId xmlns:a16="http://schemas.microsoft.com/office/drawing/2014/main" id="{77261204-5090-45B1-8CF4-ADB9CB437165}"/>
              </a:ext>
            </a:extLst>
          </p:cNvPr>
          <p:cNvSpPr>
            <a:spLocks xmlns:a="http://schemas.openxmlformats.org/drawingml/2006/main" noGrp="1"/>
          </p:cNvSpPr>
          <p:nvPr/>
        </p:nvSpPr>
        <p:spPr>
          <a:xfrm xmlns:a="http://schemas.openxmlformats.org/drawingml/2006/main">
            <a:off x="7600950" y="2286000"/>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2F7D5B"/>
                </a:solidFill>
                <a:latin typeface="Aptos"/>
                <a:ea typeface="Aptos"/>
                <a:cs typeface="Aptos"/>
              </a:defRPr>
            </a:pPr>
            <a:r>
              <a:rPr sz="675" b="1">
                <a:solidFill>
                  <a:srgbClr val="2F7D5B"/>
                </a:solidFill>
                <a:latin typeface="Aptos"/>
                <a:ea typeface="Aptos"/>
                <a:cs typeface="Aptos"/>
              </a:rPr>
              <a:t>IMPATTO STIMATO</a:t>
            </a:r>
          </a:p>
        </p:txBody>
      </p:sp>
      <p:sp>
        <p:nvSpPr>
          <p:cNvPr id="27" name="">
            <a:extLst xmlns:a="http://schemas.openxmlformats.org/drawingml/2006/main">
              <a:ext uri="{FF2B5EF4-FFF2-40B4-BE49-F238E27FC236}">
                <a16:creationId xmlns:a16="http://schemas.microsoft.com/office/drawing/2014/main" id="{6F978C0F-774C-4A0C-9D61-748803107653}"/>
              </a:ext>
            </a:extLst>
          </p:cNvPr>
          <p:cNvSpPr>
            <a:spLocks xmlns:a="http://schemas.openxmlformats.org/drawingml/2006/main" noGrp="1"/>
          </p:cNvSpPr>
          <p:nvPr/>
        </p:nvSpPr>
        <p:spPr>
          <a:xfrm xmlns:a="http://schemas.openxmlformats.org/drawingml/2006/main">
            <a:off x="7620000" y="2876550"/>
            <a:ext cx="123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17211D"/>
                </a:solidFill>
                <a:latin typeface="Georgia"/>
                <a:ea typeface="Georgia"/>
                <a:cs typeface="Georgia"/>
              </a:defRPr>
            </a:pPr>
            <a:r>
              <a:rPr sz="1425" b="1">
                <a:solidFill>
                  <a:srgbClr val="17211D"/>
                </a:solidFill>
                <a:latin typeface="Georgia"/>
                <a:ea typeface="Georgia"/>
                <a:cs typeface="Georgia"/>
              </a:rPr>
              <a:t>media della</a:t>
            </a:r>
          </a:p>
          <a:p xmlns:a="http://schemas.openxmlformats.org/drawingml/2006/main">
            <a:pPr algn="ctr">
              <a:defRPr sz="1425" b="1">
                <a:solidFill>
                  <a:srgbClr val="17211D"/>
                </a:solidFill>
                <a:latin typeface="Georgia"/>
                <a:ea typeface="Georgia"/>
                <a:cs typeface="Georgia"/>
              </a:defRPr>
            </a:pPr>
            <a:r>
              <a:rPr sz="1425" b="1">
                <a:solidFill>
                  <a:srgbClr val="17211D"/>
                </a:solidFill>
                <a:latin typeface="Georgia"/>
                <a:ea typeface="Georgia"/>
                <a:cs typeface="Georgia"/>
              </a:rPr>
              <a:t>categoria</a:t>
            </a:r>
          </a:p>
        </p:txBody>
      </p:sp>
      <p:sp>
        <p:nvSpPr>
          <p:cNvPr id="28" name="">
            <a:extLst xmlns:a="http://schemas.openxmlformats.org/drawingml/2006/main">
              <a:ext uri="{FF2B5EF4-FFF2-40B4-BE49-F238E27FC236}">
                <a16:creationId xmlns:a16="http://schemas.microsoft.com/office/drawing/2014/main" id="{932BC472-9BCA-4AF5-B30F-BEB7FA0228B3}"/>
              </a:ext>
            </a:extLst>
          </p:cNvPr>
          <p:cNvSpPr>
            <a:spLocks xmlns:a="http://schemas.openxmlformats.org/drawingml/2006/main" noGrp="1"/>
          </p:cNvSpPr>
          <p:nvPr/>
        </p:nvSpPr>
        <p:spPr>
          <a:xfrm xmlns:a="http://schemas.openxmlformats.org/drawingml/2006/main">
            <a:off x="8991600" y="3028950"/>
            <a:ext cx="457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56E42"/>
                </a:solidFill>
                <a:latin typeface="Georgia"/>
                <a:ea typeface="Georgia"/>
                <a:cs typeface="Georgia"/>
              </a:defRPr>
            </a:pPr>
            <a:r>
              <a:rPr sz="2100" b="1">
                <a:solidFill>
                  <a:srgbClr val="D56E42"/>
                </a:solidFill>
                <a:latin typeface="Georgia"/>
                <a:ea typeface="Georgia"/>
                <a:cs typeface="Georgia"/>
              </a:rPr>
              <a:t>×</a:t>
            </a:r>
          </a:p>
        </p:txBody>
      </p:sp>
      <p:sp>
        <p:nvSpPr>
          <p:cNvPr id="29" name="">
            <a:extLst xmlns:a="http://schemas.openxmlformats.org/drawingml/2006/main">
              <a:ext uri="{FF2B5EF4-FFF2-40B4-BE49-F238E27FC236}">
                <a16:creationId xmlns:a16="http://schemas.microsoft.com/office/drawing/2014/main" id="{282305DE-2DCD-48D3-AF8B-C0D400653EC1}"/>
              </a:ext>
            </a:extLst>
          </p:cNvPr>
          <p:cNvSpPr>
            <a:spLocks xmlns:a="http://schemas.openxmlformats.org/drawingml/2006/main" noGrp="1"/>
          </p:cNvSpPr>
          <p:nvPr/>
        </p:nvSpPr>
        <p:spPr>
          <a:xfrm xmlns:a="http://schemas.openxmlformats.org/drawingml/2006/main">
            <a:off x="9582150" y="2876550"/>
            <a:ext cx="123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17211D"/>
                </a:solidFill>
                <a:latin typeface="Georgia"/>
                <a:ea typeface="Georgia"/>
                <a:cs typeface="Georgia"/>
              </a:defRPr>
            </a:pPr>
            <a:r>
              <a:rPr sz="1425" b="1">
                <a:solidFill>
                  <a:srgbClr val="17211D"/>
                </a:solidFill>
                <a:latin typeface="Georgia"/>
                <a:ea typeface="Georgia"/>
                <a:cs typeface="Georgia"/>
              </a:rPr>
              <a:t>fattore</a:t>
            </a:r>
          </a:p>
          <a:p xmlns:a="http://schemas.openxmlformats.org/drawingml/2006/main">
            <a:pPr algn="ctr">
              <a:defRPr sz="1425" b="1">
                <a:solidFill>
                  <a:srgbClr val="17211D"/>
                </a:solidFill>
                <a:latin typeface="Georgia"/>
                <a:ea typeface="Georgia"/>
                <a:cs typeface="Georgia"/>
              </a:defRPr>
            </a:pPr>
            <a:r>
              <a:rPr sz="1425" b="1">
                <a:solidFill>
                  <a:srgbClr val="17211D"/>
                </a:solidFill>
                <a:latin typeface="Georgia"/>
                <a:ea typeface="Georgia"/>
                <a:cs typeface="Georgia"/>
              </a:rPr>
              <a:t>dell’azione</a:t>
            </a:r>
          </a:p>
        </p:txBody>
      </p:sp>
      <p:sp>
        <p:nvSpPr>
          <p:cNvPr id="30" name="">
            <a:extLst xmlns:a="http://schemas.openxmlformats.org/drawingml/2006/main">
              <a:ext uri="{FF2B5EF4-FFF2-40B4-BE49-F238E27FC236}">
                <a16:creationId xmlns:a16="http://schemas.microsoft.com/office/drawing/2014/main" id="{26F53B7B-2266-4861-8C2C-00462548FD2E}"/>
              </a:ext>
            </a:extLst>
          </p:cNvPr>
          <p:cNvSpPr>
            <a:spLocks xmlns:a="http://schemas.openxmlformats.org/drawingml/2006/main" noGrp="1"/>
          </p:cNvSpPr>
          <p:nvPr/>
        </p:nvSpPr>
        <p:spPr>
          <a:xfrm xmlns:a="http://schemas.openxmlformats.org/drawingml/2006/main">
            <a:off x="10858500" y="3028950"/>
            <a:ext cx="4381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2F7D5B"/>
                </a:solidFill>
                <a:latin typeface="Georgia"/>
                <a:ea typeface="Georgia"/>
                <a:cs typeface="Georgia"/>
              </a:defRPr>
            </a:pPr>
            <a:r>
              <a:rPr sz="1875" b="1">
                <a:solidFill>
                  <a:srgbClr val="2F7D5B"/>
                </a:solidFill>
                <a:latin typeface="Georgia"/>
                <a:ea typeface="Georgia"/>
                <a:cs typeface="Georgia"/>
              </a:rPr>
              <a:t>=</a:t>
            </a:r>
          </a:p>
        </p:txBody>
      </p:sp>
      <p:sp>
        <p:nvSpPr>
          <p:cNvPr id="31" name="">
            <a:extLst xmlns:a="http://schemas.openxmlformats.org/drawingml/2006/main">
              <a:ext uri="{FF2B5EF4-FFF2-40B4-BE49-F238E27FC236}">
                <a16:creationId xmlns:a16="http://schemas.microsoft.com/office/drawing/2014/main" id="{8BFD56FD-1778-46E6-A0DA-B97C705D1540}"/>
              </a:ext>
            </a:extLst>
          </p:cNvPr>
          <p:cNvSpPr>
            <a:spLocks xmlns:a="http://schemas.openxmlformats.org/drawingml/2006/main" noGrp="1"/>
          </p:cNvSpPr>
          <p:nvPr/>
        </p:nvSpPr>
        <p:spPr>
          <a:xfrm xmlns:a="http://schemas.openxmlformats.org/drawingml/2006/main">
            <a:off x="8629650" y="3848100"/>
            <a:ext cx="1847850" cy="266700"/>
          </a:xfrm>
          <a:prstGeom xmlns:a="http://schemas.openxmlformats.org/drawingml/2006/main" prst="roundRect">
            <a:avLst>
              <a:gd name="adj" fmla="val 28571"/>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C3C5DEB5-AEFA-485C-AC0F-B787170B4858}"/>
              </a:ext>
            </a:extLst>
          </p:cNvPr>
          <p:cNvSpPr>
            <a:spLocks xmlns:a="http://schemas.openxmlformats.org/drawingml/2006/main" noGrp="1"/>
          </p:cNvSpPr>
          <p:nvPr/>
        </p:nvSpPr>
        <p:spPr>
          <a:xfrm xmlns:a="http://schemas.openxmlformats.org/drawingml/2006/main">
            <a:off x="8715375" y="3867150"/>
            <a:ext cx="1676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123C31"/>
                </a:solidFill>
                <a:latin typeface="Aptos"/>
                <a:ea typeface="Aptos"/>
                <a:cs typeface="Aptos"/>
              </a:defRPr>
            </a:pPr>
            <a:r>
              <a:rPr sz="675" b="1">
                <a:solidFill>
                  <a:srgbClr val="123C31"/>
                </a:solidFill>
                <a:latin typeface="Aptos"/>
                <a:ea typeface="Aptos"/>
                <a:cs typeface="Aptos"/>
              </a:rPr>
              <a:t>kg CO₂eq stimati</a:t>
            </a:r>
          </a:p>
        </p:txBody>
      </p:sp>
      <p:sp>
        <p:nvSpPr>
          <p:cNvPr id="33" name="">
            <a:extLst xmlns:a="http://schemas.openxmlformats.org/drawingml/2006/main">
              <a:ext uri="{FF2B5EF4-FFF2-40B4-BE49-F238E27FC236}">
                <a16:creationId xmlns:a16="http://schemas.microsoft.com/office/drawing/2014/main" id="{5A8176A2-6E9F-404E-A12A-1B6A2AA5C0C3}"/>
              </a:ext>
            </a:extLst>
          </p:cNvPr>
          <p:cNvSpPr>
            <a:spLocks xmlns:a="http://schemas.openxmlformats.org/drawingml/2006/main" noGrp="1"/>
          </p:cNvSpPr>
          <p:nvPr/>
        </p:nvSpPr>
        <p:spPr>
          <a:xfrm xmlns:a="http://schemas.openxmlformats.org/drawingml/2006/main">
            <a:off x="7600950" y="4381500"/>
            <a:ext cx="37719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BC7E21FA-8290-4023-9B48-1D4AA0339078}"/>
              </a:ext>
            </a:extLst>
          </p:cNvPr>
          <p:cNvSpPr>
            <a:spLocks xmlns:a="http://schemas.openxmlformats.org/drawingml/2006/main" noGrp="1"/>
          </p:cNvSpPr>
          <p:nvPr/>
        </p:nvSpPr>
        <p:spPr>
          <a:xfrm xmlns:a="http://schemas.openxmlformats.org/drawingml/2006/main">
            <a:off x="7600950" y="45720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D56E42"/>
                </a:solidFill>
                <a:latin typeface="Aptos"/>
                <a:ea typeface="Aptos"/>
                <a:cs typeface="Aptos"/>
              </a:defRPr>
            </a:pPr>
            <a:r>
              <a:rPr sz="675" b="1">
                <a:solidFill>
                  <a:srgbClr val="D56E42"/>
                </a:solidFill>
                <a:latin typeface="Aptos"/>
                <a:ea typeface="Aptos"/>
                <a:cs typeface="Aptos"/>
              </a:rPr>
              <a:t>Scenario comparativo</a:t>
            </a:r>
          </a:p>
        </p:txBody>
      </p:sp>
      <p:sp>
        <p:nvSpPr>
          <p:cNvPr id="35" name="">
            <a:extLst xmlns:a="http://schemas.openxmlformats.org/drawingml/2006/main">
              <a:ext uri="{FF2B5EF4-FFF2-40B4-BE49-F238E27FC236}">
                <a16:creationId xmlns:a16="http://schemas.microsoft.com/office/drawing/2014/main" id="{F2EC053C-9C52-40F8-A536-2D845BAEB593}"/>
              </a:ext>
            </a:extLst>
          </p:cNvPr>
          <p:cNvSpPr>
            <a:spLocks xmlns:a="http://schemas.openxmlformats.org/drawingml/2006/main" noGrp="1"/>
          </p:cNvSpPr>
          <p:nvPr/>
        </p:nvSpPr>
        <p:spPr>
          <a:xfrm xmlns:a="http://schemas.openxmlformats.org/drawingml/2006/main">
            <a:off x="7600950" y="48577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36B"/>
                </a:solidFill>
                <a:latin typeface="Aptos"/>
                <a:ea typeface="Aptos"/>
                <a:cs typeface="Aptos"/>
              </a:defRPr>
            </a:pPr>
            <a:r>
              <a:rPr sz="825" b="0">
                <a:solidFill>
                  <a:srgbClr val="65736B"/>
                </a:solidFill>
                <a:latin typeface="Aptos"/>
                <a:ea typeface="Aptos"/>
                <a:cs typeface="Aptos"/>
              </a:rPr>
              <a:t>Non è una misura fisica né una LCA completa.</a:t>
            </a:r>
          </a:p>
        </p:txBody>
      </p:sp>
      <p:sp>
        <p:nvSpPr>
          <p:cNvPr id="36" name="">
            <a:extLst xmlns:a="http://schemas.openxmlformats.org/drawingml/2006/main">
              <a:ext uri="{FF2B5EF4-FFF2-40B4-BE49-F238E27FC236}">
                <a16:creationId xmlns:a16="http://schemas.microsoft.com/office/drawing/2014/main" id="{4B69C748-2802-449A-A6EC-5859205C2CAD}"/>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27DFE4DD-3FD9-4DC1-A226-D044F594CBEB}"/>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91AA9F"/>
                </a:solidFill>
                <a:latin typeface="Aptos"/>
                <a:ea typeface="Aptos"/>
                <a:cs typeface="Aptos"/>
              </a:defRPr>
            </a:pPr>
            <a:r>
              <a:rPr sz="563" b="0">
                <a:solidFill>
                  <a:srgbClr val="91AA9F"/>
                </a:solidFill>
                <a:latin typeface="Aptos"/>
                <a:ea typeface="Aptos"/>
                <a:cs typeface="Aptos"/>
              </a:rPr>
              <a:t>Formula trasparente · beneficio subordinato all’ipotesi di acquisto evitato</a:t>
            </a:r>
          </a:p>
        </p:txBody>
      </p:sp>
      <p:sp>
        <p:nvSpPr>
          <p:cNvPr id="38" name="">
            <a:extLst xmlns:a="http://schemas.openxmlformats.org/drawingml/2006/main">
              <a:ext uri="{FF2B5EF4-FFF2-40B4-BE49-F238E27FC236}">
                <a16:creationId xmlns:a16="http://schemas.microsoft.com/office/drawing/2014/main" id="{59299CFD-6F37-481D-B235-96C302E469A7}"/>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91AA9F"/>
                </a:solidFill>
                <a:latin typeface="Georgia"/>
                <a:ea typeface="Georgia"/>
                <a:cs typeface="Georgia"/>
              </a:defRPr>
            </a:pPr>
            <a:r>
              <a:rPr sz="750" b="1">
                <a:solidFill>
                  <a:srgbClr val="91AA9F"/>
                </a:solidFill>
                <a:latin typeface="Georgia"/>
                <a:ea typeface="Georgia"/>
                <a:cs typeface="Georgia"/>
              </a:rPr>
              <a:t>09</a:t>
            </a:r>
          </a:p>
        </p:txBody>
      </p:sp>
    </p:spTree>
    <p:extLst>
      <p:ext uri="{BB962C8B-B14F-4D97-AF65-F5344CB8AC3E}">
        <p14:creationId xmlns:p14="http://schemas.microsoft.com/office/powerpoint/2010/main" val="185177611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3CD344CC-8DE4-4491-9008-3704728C48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06511C2-16BD-4E21-ABC2-55F44AA477D9}"/>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391B8DE-CE73-4221-A2E0-E94AB9F4D2DA}"/>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L A   S T O R I A   D I V E N T A   U N A   D E M O   V E R I F I C A B I L E</a:t>
            </a:r>
          </a:p>
        </p:txBody>
      </p:sp>
      <p:sp>
        <p:nvSpPr>
          <p:cNvPr id="4" name="claim-title">
            <a:extLst xmlns:a="http://schemas.openxmlformats.org/drawingml/2006/main">
              <a:ext uri="{FF2B5EF4-FFF2-40B4-BE49-F238E27FC236}">
                <a16:creationId xmlns:a16="http://schemas.microsoft.com/office/drawing/2014/main" id="{D590395F-C7BB-4586-BB91-92A5A3DB4024}"/>
              </a:ext>
            </a:extLst>
          </p:cNvPr>
          <p:cNvSpPr>
            <a:spLocks xmlns:a="http://schemas.openxmlformats.org/drawingml/2006/main" noGrp="1"/>
          </p:cNvSpPr>
          <p:nvPr/>
        </p:nvSpPr>
        <p:spPr>
          <a:xfrm xmlns:a="http://schemas.openxmlformats.org/drawingml/2006/main">
            <a:off x="552450" y="742950"/>
            <a:ext cx="10382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11D"/>
                </a:solidFill>
                <a:latin typeface="Georgia"/>
                <a:ea typeface="Georgia"/>
                <a:cs typeface="Georgia"/>
              </a:defRPr>
            </a:pPr>
            <a:r>
              <a:rPr sz="2925" b="1">
                <a:solidFill>
                  <a:srgbClr val="17211D"/>
                </a:solidFill>
                <a:latin typeface="Georgia"/>
                <a:ea typeface="Georgia"/>
                <a:cs typeface="Georgia"/>
              </a:rPr>
              <a:t>Marta vede il guardaroba come un sistema, non come una lista.</a:t>
            </a:r>
          </a:p>
        </p:txBody>
      </p:sp>
      <p:sp>
        <p:nvSpPr>
          <p:cNvPr id="5" name="">
            <a:extLst xmlns:a="http://schemas.openxmlformats.org/drawingml/2006/main">
              <a:ext uri="{FF2B5EF4-FFF2-40B4-BE49-F238E27FC236}">
                <a16:creationId xmlns:a16="http://schemas.microsoft.com/office/drawing/2014/main" id="{F6184C6E-5E97-4EA7-A7E3-0CB44FD236E7}"/>
              </a:ext>
            </a:extLst>
          </p:cNvPr>
          <p:cNvSpPr>
            <a:spLocks xmlns:a="http://schemas.openxmlformats.org/drawingml/2006/main" noGrp="1"/>
          </p:cNvSpPr>
          <p:nvPr/>
        </p:nvSpPr>
        <p:spPr>
          <a:xfrm xmlns:a="http://schemas.openxmlformats.org/drawingml/2006/main">
            <a:off x="552450" y="2114550"/>
            <a:ext cx="2381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B765531B-52B1-404A-A272-DADFBBEAF7AD}"/>
              </a:ext>
            </a:extLst>
          </p:cNvPr>
          <p:cNvSpPr>
            <a:spLocks xmlns:a="http://schemas.openxmlformats.org/drawingml/2006/main" noGrp="1"/>
          </p:cNvSpPr>
          <p:nvPr/>
        </p:nvSpPr>
        <p:spPr>
          <a:xfrm xmlns:a="http://schemas.openxmlformats.org/drawingml/2006/main">
            <a:off x="552450" y="2114550"/>
            <a:ext cx="2381250" cy="47625"/>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984B399-B594-4DF8-8ECF-2BC56560DA0E}"/>
              </a:ext>
            </a:extLst>
          </p:cNvPr>
          <p:cNvSpPr>
            <a:spLocks xmlns:a="http://schemas.openxmlformats.org/drawingml/2006/main" noGrp="1"/>
          </p:cNvSpPr>
          <p:nvPr/>
        </p:nvSpPr>
        <p:spPr>
          <a:xfrm xmlns:a="http://schemas.openxmlformats.org/drawingml/2006/main">
            <a:off x="723900" y="2286000"/>
            <a:ext cx="20383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23C31"/>
                </a:solidFill>
                <a:latin typeface="Georgia"/>
                <a:ea typeface="Georgia"/>
                <a:cs typeface="Georgia"/>
              </a:defRPr>
            </a:pPr>
            <a:r>
              <a:rPr sz="2700" b="1">
                <a:solidFill>
                  <a:srgbClr val="123C31"/>
                </a:solidFill>
                <a:latin typeface="Georgia"/>
                <a:ea typeface="Georgia"/>
                <a:cs typeface="Georgia"/>
              </a:rPr>
              <a:t>12</a:t>
            </a:r>
          </a:p>
        </p:txBody>
      </p:sp>
      <p:sp>
        <p:nvSpPr>
          <p:cNvPr id="8" name="">
            <a:extLst xmlns:a="http://schemas.openxmlformats.org/drawingml/2006/main">
              <a:ext uri="{FF2B5EF4-FFF2-40B4-BE49-F238E27FC236}">
                <a16:creationId xmlns:a16="http://schemas.microsoft.com/office/drawing/2014/main" id="{1BD9E2AA-200D-4E57-88E7-0AE8FD7738EF}"/>
              </a:ext>
            </a:extLst>
          </p:cNvPr>
          <p:cNvSpPr>
            <a:spLocks xmlns:a="http://schemas.openxmlformats.org/drawingml/2006/main" noGrp="1"/>
          </p:cNvSpPr>
          <p:nvPr/>
        </p:nvSpPr>
        <p:spPr>
          <a:xfrm xmlns:a="http://schemas.openxmlformats.org/drawingml/2006/main">
            <a:off x="723900" y="2857500"/>
            <a:ext cx="2038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65736B"/>
                </a:solidFill>
                <a:latin typeface="Aptos"/>
                <a:ea typeface="Aptos"/>
                <a:cs typeface="Aptos"/>
              </a:defRPr>
            </a:pPr>
            <a:r>
              <a:rPr sz="788" b="1">
                <a:solidFill>
                  <a:srgbClr val="65736B"/>
                </a:solidFill>
                <a:latin typeface="Aptos"/>
                <a:ea typeface="Aptos"/>
                <a:cs typeface="Aptos"/>
              </a:rPr>
              <a:t>capi attivi nel dataset demo</a:t>
            </a:r>
          </a:p>
        </p:txBody>
      </p:sp>
      <p:sp>
        <p:nvSpPr>
          <p:cNvPr id="9" name="">
            <a:extLst xmlns:a="http://schemas.openxmlformats.org/drawingml/2006/main">
              <a:ext uri="{FF2B5EF4-FFF2-40B4-BE49-F238E27FC236}">
                <a16:creationId xmlns:a16="http://schemas.microsoft.com/office/drawing/2014/main" id="{72A57026-7346-4591-A93E-80D01E5AD04A}"/>
              </a:ext>
            </a:extLst>
          </p:cNvPr>
          <p:cNvSpPr>
            <a:spLocks xmlns:a="http://schemas.openxmlformats.org/drawingml/2006/main" noGrp="1"/>
          </p:cNvSpPr>
          <p:nvPr/>
        </p:nvSpPr>
        <p:spPr>
          <a:xfrm xmlns:a="http://schemas.openxmlformats.org/drawingml/2006/main">
            <a:off x="3124200" y="2114550"/>
            <a:ext cx="2381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B9C3BB"/>
            </a:solidFill>
            <a:prstDash val="solid"/>
          </a:ln>
        </p:spPr>
      </p:sp>
      <p:sp>
        <p:nvSpPr>
          <p:cNvPr id="10" name="">
            <a:extLst xmlns:a="http://schemas.openxmlformats.org/drawingml/2006/main">
              <a:ext uri="{FF2B5EF4-FFF2-40B4-BE49-F238E27FC236}">
                <a16:creationId xmlns:a16="http://schemas.microsoft.com/office/drawing/2014/main" id="{C8E9A578-011A-4B7C-9FC7-4530DD9D9A86}"/>
              </a:ext>
            </a:extLst>
          </p:cNvPr>
          <p:cNvSpPr>
            <a:spLocks xmlns:a="http://schemas.openxmlformats.org/drawingml/2006/main" noGrp="1"/>
          </p:cNvSpPr>
          <p:nvPr/>
        </p:nvSpPr>
        <p:spPr>
          <a:xfrm xmlns:a="http://schemas.openxmlformats.org/drawingml/2006/main">
            <a:off x="3124200" y="2114550"/>
            <a:ext cx="2381250" cy="47625"/>
          </a:xfrm>
          <a:prstGeom xmlns:a="http://schemas.openxmlformats.org/drawingml/2006/main" prst="rect">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522CD64-F462-413B-9E77-A463AE1757FE}"/>
              </a:ext>
            </a:extLst>
          </p:cNvPr>
          <p:cNvSpPr>
            <a:spLocks xmlns:a="http://schemas.openxmlformats.org/drawingml/2006/main" noGrp="1"/>
          </p:cNvSpPr>
          <p:nvPr/>
        </p:nvSpPr>
        <p:spPr>
          <a:xfrm xmlns:a="http://schemas.openxmlformats.org/drawingml/2006/main">
            <a:off x="3295650" y="2286000"/>
            <a:ext cx="20383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D56E42"/>
                </a:solidFill>
                <a:latin typeface="Georgia"/>
                <a:ea typeface="Georgia"/>
                <a:cs typeface="Georgia"/>
              </a:defRPr>
            </a:pPr>
            <a:r>
              <a:rPr sz="2700" b="1">
                <a:solidFill>
                  <a:srgbClr val="D56E42"/>
                </a:solidFill>
                <a:latin typeface="Georgia"/>
                <a:ea typeface="Georgia"/>
                <a:cs typeface="Georgia"/>
              </a:rPr>
              <a:t>2</a:t>
            </a:r>
          </a:p>
        </p:txBody>
      </p:sp>
      <p:sp>
        <p:nvSpPr>
          <p:cNvPr id="12" name="">
            <a:extLst xmlns:a="http://schemas.openxmlformats.org/drawingml/2006/main">
              <a:ext uri="{FF2B5EF4-FFF2-40B4-BE49-F238E27FC236}">
                <a16:creationId xmlns:a16="http://schemas.microsoft.com/office/drawing/2014/main" id="{36ECB775-1434-4A8E-BEF0-0D5FB20E6A21}"/>
              </a:ext>
            </a:extLst>
          </p:cNvPr>
          <p:cNvSpPr>
            <a:spLocks xmlns:a="http://schemas.openxmlformats.org/drawingml/2006/main" noGrp="1"/>
          </p:cNvSpPr>
          <p:nvPr/>
        </p:nvSpPr>
        <p:spPr>
          <a:xfrm xmlns:a="http://schemas.openxmlformats.org/drawingml/2006/main">
            <a:off x="3295650" y="2857500"/>
            <a:ext cx="2038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65736B"/>
                </a:solidFill>
                <a:latin typeface="Aptos"/>
                <a:ea typeface="Aptos"/>
                <a:cs typeface="Aptos"/>
              </a:defRPr>
            </a:pPr>
            <a:r>
              <a:rPr sz="788" b="1">
                <a:solidFill>
                  <a:srgbClr val="65736B"/>
                </a:solidFill>
                <a:latin typeface="Aptos"/>
                <a:ea typeface="Aptos"/>
                <a:cs typeface="Aptos"/>
              </a:rPr>
              <a:t>ghost garments</a:t>
            </a:r>
          </a:p>
        </p:txBody>
      </p:sp>
      <p:sp>
        <p:nvSpPr>
          <p:cNvPr id="13" name="">
            <a:extLst xmlns:a="http://schemas.openxmlformats.org/drawingml/2006/main">
              <a:ext uri="{FF2B5EF4-FFF2-40B4-BE49-F238E27FC236}">
                <a16:creationId xmlns:a16="http://schemas.microsoft.com/office/drawing/2014/main" id="{81E44136-FCC4-48BB-B1B9-1375E6516135}"/>
              </a:ext>
            </a:extLst>
          </p:cNvPr>
          <p:cNvSpPr>
            <a:spLocks xmlns:a="http://schemas.openxmlformats.org/drawingml/2006/main" noGrp="1"/>
          </p:cNvSpPr>
          <p:nvPr/>
        </p:nvSpPr>
        <p:spPr>
          <a:xfrm xmlns:a="http://schemas.openxmlformats.org/drawingml/2006/main">
            <a:off x="5695950" y="2114550"/>
            <a:ext cx="2381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B9C3BB"/>
            </a:solidFill>
            <a:prstDash val="solid"/>
          </a:ln>
        </p:spPr>
      </p:sp>
      <p:sp>
        <p:nvSpPr>
          <p:cNvPr id="14" name="">
            <a:extLst xmlns:a="http://schemas.openxmlformats.org/drawingml/2006/main">
              <a:ext uri="{FF2B5EF4-FFF2-40B4-BE49-F238E27FC236}">
                <a16:creationId xmlns:a16="http://schemas.microsoft.com/office/drawing/2014/main" id="{D530BB08-0199-49FD-AC6E-0FE3F7D9C4F6}"/>
              </a:ext>
            </a:extLst>
          </p:cNvPr>
          <p:cNvSpPr>
            <a:spLocks xmlns:a="http://schemas.openxmlformats.org/drawingml/2006/main" noGrp="1"/>
          </p:cNvSpPr>
          <p:nvPr/>
        </p:nvSpPr>
        <p:spPr>
          <a:xfrm xmlns:a="http://schemas.openxmlformats.org/drawingml/2006/main">
            <a:off x="5695950" y="2114550"/>
            <a:ext cx="2381250" cy="47625"/>
          </a:xfrm>
          <a:prstGeom xmlns:a="http://schemas.openxmlformats.org/drawingml/2006/main" prst="rect">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06E3E8F-2AE0-404E-A3CD-5C3EF848B6E2}"/>
              </a:ext>
            </a:extLst>
          </p:cNvPr>
          <p:cNvSpPr>
            <a:spLocks xmlns:a="http://schemas.openxmlformats.org/drawingml/2006/main" noGrp="1"/>
          </p:cNvSpPr>
          <p:nvPr/>
        </p:nvSpPr>
        <p:spPr>
          <a:xfrm xmlns:a="http://schemas.openxmlformats.org/drawingml/2006/main">
            <a:off x="5867400" y="2286000"/>
            <a:ext cx="20383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466D86"/>
                </a:solidFill>
                <a:latin typeface="Georgia"/>
                <a:ea typeface="Georgia"/>
                <a:cs typeface="Georgia"/>
              </a:defRPr>
            </a:pPr>
            <a:r>
              <a:rPr sz="2700" b="1">
                <a:solidFill>
                  <a:srgbClr val="466D86"/>
                </a:solidFill>
                <a:latin typeface="Georgia"/>
                <a:ea typeface="Georgia"/>
                <a:cs typeface="Georgia"/>
              </a:rPr>
              <a:t>2</a:t>
            </a:r>
          </a:p>
        </p:txBody>
      </p:sp>
      <p:sp>
        <p:nvSpPr>
          <p:cNvPr id="16" name="">
            <a:extLst xmlns:a="http://schemas.openxmlformats.org/drawingml/2006/main">
              <a:ext uri="{FF2B5EF4-FFF2-40B4-BE49-F238E27FC236}">
                <a16:creationId xmlns:a16="http://schemas.microsoft.com/office/drawing/2014/main" id="{7715A16E-611D-410A-AF77-AA1EB2ECD7A0}"/>
              </a:ext>
            </a:extLst>
          </p:cNvPr>
          <p:cNvSpPr>
            <a:spLocks xmlns:a="http://schemas.openxmlformats.org/drawingml/2006/main" noGrp="1"/>
          </p:cNvSpPr>
          <p:nvPr/>
        </p:nvSpPr>
        <p:spPr>
          <a:xfrm xmlns:a="http://schemas.openxmlformats.org/drawingml/2006/main">
            <a:off x="5867400" y="2857500"/>
            <a:ext cx="2038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65736B"/>
                </a:solidFill>
                <a:latin typeface="Aptos"/>
                <a:ea typeface="Aptos"/>
                <a:cs typeface="Aptos"/>
              </a:defRPr>
            </a:pPr>
            <a:r>
              <a:rPr sz="788" b="1">
                <a:solidFill>
                  <a:srgbClr val="65736B"/>
                </a:solidFill>
                <a:latin typeface="Aptos"/>
                <a:ea typeface="Aptos"/>
                <a:cs typeface="Aptos"/>
              </a:rPr>
              <a:t>azioni circolari</a:t>
            </a:r>
          </a:p>
        </p:txBody>
      </p:sp>
      <p:sp>
        <p:nvSpPr>
          <p:cNvPr id="17" name="">
            <a:extLst xmlns:a="http://schemas.openxmlformats.org/drawingml/2006/main">
              <a:ext uri="{FF2B5EF4-FFF2-40B4-BE49-F238E27FC236}">
                <a16:creationId xmlns:a16="http://schemas.microsoft.com/office/drawing/2014/main" id="{FED809D1-C179-4AD6-ACD2-5C7A97919947}"/>
              </a:ext>
            </a:extLst>
          </p:cNvPr>
          <p:cNvSpPr>
            <a:spLocks xmlns:a="http://schemas.openxmlformats.org/drawingml/2006/main" noGrp="1"/>
          </p:cNvSpPr>
          <p:nvPr/>
        </p:nvSpPr>
        <p:spPr>
          <a:xfrm xmlns:a="http://schemas.openxmlformats.org/drawingml/2006/main">
            <a:off x="8267700" y="2114550"/>
            <a:ext cx="29527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B9C3BB"/>
            </a:solidFill>
            <a:prstDash val="solid"/>
          </a:ln>
        </p:spPr>
      </p:sp>
      <p:sp>
        <p:nvSpPr>
          <p:cNvPr id="18" name="">
            <a:extLst xmlns:a="http://schemas.openxmlformats.org/drawingml/2006/main">
              <a:ext uri="{FF2B5EF4-FFF2-40B4-BE49-F238E27FC236}">
                <a16:creationId xmlns:a16="http://schemas.microsoft.com/office/drawing/2014/main" id="{8D84614E-5F07-44A0-BDC4-69C807CA8CE5}"/>
              </a:ext>
            </a:extLst>
          </p:cNvPr>
          <p:cNvSpPr>
            <a:spLocks xmlns:a="http://schemas.openxmlformats.org/drawingml/2006/main" noGrp="1"/>
          </p:cNvSpPr>
          <p:nvPr/>
        </p:nvSpPr>
        <p:spPr>
          <a:xfrm xmlns:a="http://schemas.openxmlformats.org/drawingml/2006/main">
            <a:off x="8267700" y="2114550"/>
            <a:ext cx="2952750" cy="47625"/>
          </a:xfrm>
          <a:prstGeom xmlns:a="http://schemas.openxmlformats.org/drawingml/2006/main" prst="rect">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ADC3774-7236-4D0C-ABDB-40945CFBBC1F}"/>
              </a:ext>
            </a:extLst>
          </p:cNvPr>
          <p:cNvSpPr>
            <a:spLocks xmlns:a="http://schemas.openxmlformats.org/drawingml/2006/main" noGrp="1"/>
          </p:cNvSpPr>
          <p:nvPr/>
        </p:nvSpPr>
        <p:spPr>
          <a:xfrm xmlns:a="http://schemas.openxmlformats.org/drawingml/2006/main">
            <a:off x="8439150" y="2286000"/>
            <a:ext cx="26098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2F7D5B"/>
                </a:solidFill>
                <a:latin typeface="Georgia"/>
                <a:ea typeface="Georgia"/>
                <a:cs typeface="Georgia"/>
              </a:defRPr>
            </a:pPr>
            <a:r>
              <a:rPr sz="2700" b="1">
                <a:solidFill>
                  <a:srgbClr val="2F7D5B"/>
                </a:solidFill>
                <a:latin typeface="Georgia"/>
                <a:ea typeface="Georgia"/>
                <a:cs typeface="Georgia"/>
              </a:rPr>
              <a:t>57,5 kg</a:t>
            </a:r>
          </a:p>
        </p:txBody>
      </p:sp>
      <p:sp>
        <p:nvSpPr>
          <p:cNvPr id="20" name="">
            <a:extLst xmlns:a="http://schemas.openxmlformats.org/drawingml/2006/main">
              <a:ext uri="{FF2B5EF4-FFF2-40B4-BE49-F238E27FC236}">
                <a16:creationId xmlns:a16="http://schemas.microsoft.com/office/drawing/2014/main" id="{EAC03FAF-37B6-4907-96AC-584F1338B02D}"/>
              </a:ext>
            </a:extLst>
          </p:cNvPr>
          <p:cNvSpPr>
            <a:spLocks xmlns:a="http://schemas.openxmlformats.org/drawingml/2006/main" noGrp="1"/>
          </p:cNvSpPr>
          <p:nvPr/>
        </p:nvSpPr>
        <p:spPr>
          <a:xfrm xmlns:a="http://schemas.openxmlformats.org/drawingml/2006/main">
            <a:off x="8439150" y="2857500"/>
            <a:ext cx="2609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65736B"/>
                </a:solidFill>
                <a:latin typeface="Aptos"/>
                <a:ea typeface="Aptos"/>
                <a:cs typeface="Aptos"/>
              </a:defRPr>
            </a:pPr>
            <a:r>
              <a:rPr sz="788" b="1">
                <a:solidFill>
                  <a:srgbClr val="65736B"/>
                </a:solidFill>
                <a:latin typeface="Aptos"/>
                <a:ea typeface="Aptos"/>
                <a:cs typeface="Aptos"/>
              </a:rPr>
              <a:t>CO₂eq · stima di scenario</a:t>
            </a:r>
          </a:p>
        </p:txBody>
      </p:sp>
      <p:sp>
        <p:nvSpPr>
          <p:cNvPr id="21" name="">
            <a:extLst xmlns:a="http://schemas.openxmlformats.org/drawingml/2006/main">
              <a:ext uri="{FF2B5EF4-FFF2-40B4-BE49-F238E27FC236}">
                <a16:creationId xmlns:a16="http://schemas.microsoft.com/office/drawing/2014/main" id="{9FD50498-040A-4520-A6C2-D81A2D195110}"/>
              </a:ext>
            </a:extLst>
          </p:cNvPr>
          <p:cNvSpPr>
            <a:spLocks xmlns:a="http://schemas.openxmlformats.org/drawingml/2006/main" noGrp="1"/>
          </p:cNvSpPr>
          <p:nvPr/>
        </p:nvSpPr>
        <p:spPr>
          <a:xfrm xmlns:a="http://schemas.openxmlformats.org/drawingml/2006/main">
            <a:off x="1200150" y="4552950"/>
            <a:ext cx="952500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1A160BE-83C6-461A-A832-B67EEAAAFA84}"/>
              </a:ext>
            </a:extLst>
          </p:cNvPr>
          <p:cNvSpPr>
            <a:spLocks xmlns:a="http://schemas.openxmlformats.org/drawingml/2006/main" noGrp="1"/>
          </p:cNvSpPr>
          <p:nvPr/>
        </p:nvSpPr>
        <p:spPr>
          <a:xfrm xmlns:a="http://schemas.openxmlformats.org/drawingml/2006/main">
            <a:off x="1009650" y="4324350"/>
            <a:ext cx="457200" cy="457200"/>
          </a:xfrm>
          <a:prstGeom xmlns:a="http://schemas.openxmlformats.org/drawingml/2006/main" prst="ellipse">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1AB3ED0-90F5-4611-B94D-C62E076EB55D}"/>
              </a:ext>
            </a:extLst>
          </p:cNvPr>
          <p:cNvSpPr>
            <a:spLocks xmlns:a="http://schemas.openxmlformats.org/drawingml/2006/main" noGrp="1"/>
          </p:cNvSpPr>
          <p:nvPr/>
        </p:nvSpPr>
        <p:spPr>
          <a:xfrm xmlns:a="http://schemas.openxmlformats.org/drawingml/2006/main">
            <a:off x="1009650" y="4381500"/>
            <a:ext cx="457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24" name="">
            <a:extLst xmlns:a="http://schemas.openxmlformats.org/drawingml/2006/main">
              <a:ext uri="{FF2B5EF4-FFF2-40B4-BE49-F238E27FC236}">
                <a16:creationId xmlns:a16="http://schemas.microsoft.com/office/drawing/2014/main" id="{D0B48965-CD00-4EB7-9A87-986C5490B1ED}"/>
              </a:ext>
            </a:extLst>
          </p:cNvPr>
          <p:cNvSpPr>
            <a:spLocks xmlns:a="http://schemas.openxmlformats.org/drawingml/2006/main" noGrp="1"/>
          </p:cNvSpPr>
          <p:nvPr/>
        </p:nvSpPr>
        <p:spPr>
          <a:xfrm xmlns:a="http://schemas.openxmlformats.org/drawingml/2006/main">
            <a:off x="742950" y="4972050"/>
            <a:ext cx="990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17211D"/>
                </a:solidFill>
                <a:latin typeface="Georgia"/>
                <a:ea typeface="Georgia"/>
                <a:cs typeface="Georgia"/>
              </a:defRPr>
            </a:pPr>
            <a:r>
              <a:rPr sz="900" b="1">
                <a:solidFill>
                  <a:srgbClr val="17211D"/>
                </a:solidFill>
                <a:latin typeface="Georgia"/>
                <a:ea typeface="Georgia"/>
                <a:cs typeface="Georgia"/>
              </a:rPr>
              <a:t>Foto</a:t>
            </a:r>
          </a:p>
        </p:txBody>
      </p:sp>
      <p:sp>
        <p:nvSpPr>
          <p:cNvPr id="25" name="">
            <a:extLst xmlns:a="http://schemas.openxmlformats.org/drawingml/2006/main">
              <a:ext uri="{FF2B5EF4-FFF2-40B4-BE49-F238E27FC236}">
                <a16:creationId xmlns:a16="http://schemas.microsoft.com/office/drawing/2014/main" id="{E6B76D57-2B83-4B0B-B9D9-BB84142CD74F}"/>
              </a:ext>
            </a:extLst>
          </p:cNvPr>
          <p:cNvSpPr>
            <a:spLocks xmlns:a="http://schemas.openxmlformats.org/drawingml/2006/main" noGrp="1"/>
          </p:cNvSpPr>
          <p:nvPr/>
        </p:nvSpPr>
        <p:spPr>
          <a:xfrm xmlns:a="http://schemas.openxmlformats.org/drawingml/2006/main">
            <a:off x="3371850" y="4324350"/>
            <a:ext cx="457200" cy="4572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8FB8E39-CE82-43F5-B805-A41F0C88E967}"/>
              </a:ext>
            </a:extLst>
          </p:cNvPr>
          <p:cNvSpPr>
            <a:spLocks xmlns:a="http://schemas.openxmlformats.org/drawingml/2006/main" noGrp="1"/>
          </p:cNvSpPr>
          <p:nvPr/>
        </p:nvSpPr>
        <p:spPr>
          <a:xfrm xmlns:a="http://schemas.openxmlformats.org/drawingml/2006/main">
            <a:off x="3371850" y="4381500"/>
            <a:ext cx="457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27" name="">
            <a:extLst xmlns:a="http://schemas.openxmlformats.org/drawingml/2006/main">
              <a:ext uri="{FF2B5EF4-FFF2-40B4-BE49-F238E27FC236}">
                <a16:creationId xmlns:a16="http://schemas.microsoft.com/office/drawing/2014/main" id="{2F31E1A5-9A51-4996-BAEB-676B508D8F57}"/>
              </a:ext>
            </a:extLst>
          </p:cNvPr>
          <p:cNvSpPr>
            <a:spLocks xmlns:a="http://schemas.openxmlformats.org/drawingml/2006/main" noGrp="1"/>
          </p:cNvSpPr>
          <p:nvPr/>
        </p:nvSpPr>
        <p:spPr>
          <a:xfrm xmlns:a="http://schemas.openxmlformats.org/drawingml/2006/main">
            <a:off x="3105150" y="4972050"/>
            <a:ext cx="990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17211D"/>
                </a:solidFill>
                <a:latin typeface="Georgia"/>
                <a:ea typeface="Georgia"/>
                <a:cs typeface="Georgia"/>
              </a:defRPr>
            </a:pPr>
            <a:r>
              <a:rPr sz="900" b="1">
                <a:solidFill>
                  <a:srgbClr val="17211D"/>
                </a:solidFill>
                <a:latin typeface="Georgia"/>
                <a:ea typeface="Georgia"/>
                <a:cs typeface="Georgia"/>
              </a:rPr>
              <a:t>Usa</a:t>
            </a:r>
          </a:p>
        </p:txBody>
      </p:sp>
      <p:sp>
        <p:nvSpPr>
          <p:cNvPr id="28" name="">
            <a:extLst xmlns:a="http://schemas.openxmlformats.org/drawingml/2006/main">
              <a:ext uri="{FF2B5EF4-FFF2-40B4-BE49-F238E27FC236}">
                <a16:creationId xmlns:a16="http://schemas.microsoft.com/office/drawing/2014/main" id="{0F746A1E-A202-4BD8-8735-4FFF25E147A7}"/>
              </a:ext>
            </a:extLst>
          </p:cNvPr>
          <p:cNvSpPr>
            <a:spLocks xmlns:a="http://schemas.openxmlformats.org/drawingml/2006/main" noGrp="1"/>
          </p:cNvSpPr>
          <p:nvPr/>
        </p:nvSpPr>
        <p:spPr>
          <a:xfrm xmlns:a="http://schemas.openxmlformats.org/drawingml/2006/main">
            <a:off x="5734050" y="4324350"/>
            <a:ext cx="457200" cy="45720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BF82C65-E5AB-4507-8DFA-F8459FCD00E3}"/>
              </a:ext>
            </a:extLst>
          </p:cNvPr>
          <p:cNvSpPr>
            <a:spLocks xmlns:a="http://schemas.openxmlformats.org/drawingml/2006/main" noGrp="1"/>
          </p:cNvSpPr>
          <p:nvPr/>
        </p:nvSpPr>
        <p:spPr>
          <a:xfrm xmlns:a="http://schemas.openxmlformats.org/drawingml/2006/main">
            <a:off x="5734050" y="4381500"/>
            <a:ext cx="457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30" name="">
            <a:extLst xmlns:a="http://schemas.openxmlformats.org/drawingml/2006/main">
              <a:ext uri="{FF2B5EF4-FFF2-40B4-BE49-F238E27FC236}">
                <a16:creationId xmlns:a16="http://schemas.microsoft.com/office/drawing/2014/main" id="{8E4DC0F4-C869-4EA9-A4C7-F5D7F60BF122}"/>
              </a:ext>
            </a:extLst>
          </p:cNvPr>
          <p:cNvSpPr>
            <a:spLocks xmlns:a="http://schemas.openxmlformats.org/drawingml/2006/main" noGrp="1"/>
          </p:cNvSpPr>
          <p:nvPr/>
        </p:nvSpPr>
        <p:spPr>
          <a:xfrm xmlns:a="http://schemas.openxmlformats.org/drawingml/2006/main">
            <a:off x="5467350" y="4972050"/>
            <a:ext cx="990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17211D"/>
                </a:solidFill>
                <a:latin typeface="Georgia"/>
                <a:ea typeface="Georgia"/>
                <a:cs typeface="Georgia"/>
              </a:defRPr>
            </a:pPr>
            <a:r>
              <a:rPr sz="900" b="1">
                <a:solidFill>
                  <a:srgbClr val="17211D"/>
                </a:solidFill>
                <a:latin typeface="Georgia"/>
                <a:ea typeface="Georgia"/>
                <a:cs typeface="Georgia"/>
              </a:rPr>
              <a:t>Riscopri</a:t>
            </a:r>
          </a:p>
        </p:txBody>
      </p:sp>
      <p:sp>
        <p:nvSpPr>
          <p:cNvPr id="31" name="">
            <a:extLst xmlns:a="http://schemas.openxmlformats.org/drawingml/2006/main">
              <a:ext uri="{FF2B5EF4-FFF2-40B4-BE49-F238E27FC236}">
                <a16:creationId xmlns:a16="http://schemas.microsoft.com/office/drawing/2014/main" id="{EA504BE3-0698-4940-898D-24133B27E028}"/>
              </a:ext>
            </a:extLst>
          </p:cNvPr>
          <p:cNvSpPr>
            <a:spLocks xmlns:a="http://schemas.openxmlformats.org/drawingml/2006/main" noGrp="1"/>
          </p:cNvSpPr>
          <p:nvPr/>
        </p:nvSpPr>
        <p:spPr>
          <a:xfrm xmlns:a="http://schemas.openxmlformats.org/drawingml/2006/main">
            <a:off x="8096250" y="4324350"/>
            <a:ext cx="457200" cy="457200"/>
          </a:xfrm>
          <a:prstGeom xmlns:a="http://schemas.openxmlformats.org/drawingml/2006/main" prst="ellipse">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08254181-A3E8-4C47-B5E5-7C90EDB1703B}"/>
              </a:ext>
            </a:extLst>
          </p:cNvPr>
          <p:cNvSpPr>
            <a:spLocks xmlns:a="http://schemas.openxmlformats.org/drawingml/2006/main" noGrp="1"/>
          </p:cNvSpPr>
          <p:nvPr/>
        </p:nvSpPr>
        <p:spPr>
          <a:xfrm xmlns:a="http://schemas.openxmlformats.org/drawingml/2006/main">
            <a:off x="8096250" y="4381500"/>
            <a:ext cx="457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4</a:t>
            </a:r>
          </a:p>
        </p:txBody>
      </p:sp>
      <p:sp>
        <p:nvSpPr>
          <p:cNvPr id="33" name="">
            <a:extLst xmlns:a="http://schemas.openxmlformats.org/drawingml/2006/main">
              <a:ext uri="{FF2B5EF4-FFF2-40B4-BE49-F238E27FC236}">
                <a16:creationId xmlns:a16="http://schemas.microsoft.com/office/drawing/2014/main" id="{25542658-98DC-4A4E-805B-8F230AA93D27}"/>
              </a:ext>
            </a:extLst>
          </p:cNvPr>
          <p:cNvSpPr>
            <a:spLocks xmlns:a="http://schemas.openxmlformats.org/drawingml/2006/main" noGrp="1"/>
          </p:cNvSpPr>
          <p:nvPr/>
        </p:nvSpPr>
        <p:spPr>
          <a:xfrm xmlns:a="http://schemas.openxmlformats.org/drawingml/2006/main">
            <a:off x="7829550" y="4972050"/>
            <a:ext cx="990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17211D"/>
                </a:solidFill>
                <a:latin typeface="Georgia"/>
                <a:ea typeface="Georgia"/>
                <a:cs typeface="Georgia"/>
              </a:defRPr>
            </a:pPr>
            <a:r>
              <a:rPr sz="900" b="1">
                <a:solidFill>
                  <a:srgbClr val="17211D"/>
                </a:solidFill>
                <a:latin typeface="Georgia"/>
                <a:ea typeface="Georgia"/>
                <a:cs typeface="Georgia"/>
              </a:rPr>
              <a:t>Cura</a:t>
            </a:r>
          </a:p>
        </p:txBody>
      </p:sp>
      <p:sp>
        <p:nvSpPr>
          <p:cNvPr id="34" name="">
            <a:extLst xmlns:a="http://schemas.openxmlformats.org/drawingml/2006/main">
              <a:ext uri="{FF2B5EF4-FFF2-40B4-BE49-F238E27FC236}">
                <a16:creationId xmlns:a16="http://schemas.microsoft.com/office/drawing/2014/main" id="{E37D8535-5191-4E27-95E8-ABDD8D876261}"/>
              </a:ext>
            </a:extLst>
          </p:cNvPr>
          <p:cNvSpPr>
            <a:spLocks xmlns:a="http://schemas.openxmlformats.org/drawingml/2006/main" noGrp="1"/>
          </p:cNvSpPr>
          <p:nvPr/>
        </p:nvSpPr>
        <p:spPr>
          <a:xfrm xmlns:a="http://schemas.openxmlformats.org/drawingml/2006/main">
            <a:off x="10458450" y="4324350"/>
            <a:ext cx="457200" cy="45720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C0377F1-2BFE-4C58-BE06-1269AC3C10F9}"/>
              </a:ext>
            </a:extLst>
          </p:cNvPr>
          <p:cNvSpPr>
            <a:spLocks xmlns:a="http://schemas.openxmlformats.org/drawingml/2006/main" noGrp="1"/>
          </p:cNvSpPr>
          <p:nvPr/>
        </p:nvSpPr>
        <p:spPr>
          <a:xfrm xmlns:a="http://schemas.openxmlformats.org/drawingml/2006/main">
            <a:off x="10458450" y="4381500"/>
            <a:ext cx="457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123C31"/>
                </a:solidFill>
                <a:latin typeface="Aptos"/>
                <a:ea typeface="Aptos"/>
                <a:cs typeface="Aptos"/>
              </a:defRPr>
            </a:pPr>
            <a:r>
              <a:rPr sz="1125" b="1">
                <a:solidFill>
                  <a:srgbClr val="123C31"/>
                </a:solidFill>
                <a:latin typeface="Aptos"/>
                <a:ea typeface="Aptos"/>
                <a:cs typeface="Aptos"/>
              </a:rPr>
              <a:t>5</a:t>
            </a:r>
          </a:p>
        </p:txBody>
      </p:sp>
      <p:sp>
        <p:nvSpPr>
          <p:cNvPr id="36" name="">
            <a:extLst xmlns:a="http://schemas.openxmlformats.org/drawingml/2006/main">
              <a:ext uri="{FF2B5EF4-FFF2-40B4-BE49-F238E27FC236}">
                <a16:creationId xmlns:a16="http://schemas.microsoft.com/office/drawing/2014/main" id="{938769B7-5FB4-424B-ABF6-6D477BE8EB70}"/>
              </a:ext>
            </a:extLst>
          </p:cNvPr>
          <p:cNvSpPr>
            <a:spLocks xmlns:a="http://schemas.openxmlformats.org/drawingml/2006/main" noGrp="1"/>
          </p:cNvSpPr>
          <p:nvPr/>
        </p:nvSpPr>
        <p:spPr>
          <a:xfrm xmlns:a="http://schemas.openxmlformats.org/drawingml/2006/main">
            <a:off x="10191750" y="4972050"/>
            <a:ext cx="990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17211D"/>
                </a:solidFill>
                <a:latin typeface="Georgia"/>
                <a:ea typeface="Georgia"/>
                <a:cs typeface="Georgia"/>
              </a:defRPr>
            </a:pPr>
            <a:r>
              <a:rPr sz="900" b="1">
                <a:solidFill>
                  <a:srgbClr val="17211D"/>
                </a:solidFill>
                <a:latin typeface="Georgia"/>
                <a:ea typeface="Georgia"/>
                <a:cs typeface="Georgia"/>
              </a:rPr>
              <a:t>Decidi</a:t>
            </a:r>
          </a:p>
        </p:txBody>
      </p:sp>
      <p:sp>
        <p:nvSpPr>
          <p:cNvPr id="37" name="">
            <a:extLst xmlns:a="http://schemas.openxmlformats.org/drawingml/2006/main">
              <a:ext uri="{FF2B5EF4-FFF2-40B4-BE49-F238E27FC236}">
                <a16:creationId xmlns:a16="http://schemas.microsoft.com/office/drawing/2014/main" id="{1C769E2F-93E8-4B6A-A511-18BFED412688}"/>
              </a:ext>
            </a:extLst>
          </p:cNvPr>
          <p:cNvSpPr>
            <a:spLocks xmlns:a="http://schemas.openxmlformats.org/drawingml/2006/main" noGrp="1"/>
          </p:cNvSpPr>
          <p:nvPr/>
        </p:nvSpPr>
        <p:spPr>
          <a:xfrm xmlns:a="http://schemas.openxmlformats.org/drawingml/2006/main">
            <a:off x="552450" y="5638800"/>
            <a:ext cx="11087100" cy="361950"/>
          </a:xfrm>
          <a:prstGeom xmlns:a="http://schemas.openxmlformats.org/drawingml/2006/main" prst="roundRect">
            <a:avLst>
              <a:gd name="adj" fmla="val 21053"/>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0E7DBA37-0F6E-4205-A7A2-B62C1AD70122}"/>
              </a:ext>
            </a:extLst>
          </p:cNvPr>
          <p:cNvSpPr>
            <a:spLocks xmlns:a="http://schemas.openxmlformats.org/drawingml/2006/main" noGrp="1"/>
          </p:cNvSpPr>
          <p:nvPr/>
        </p:nvSpPr>
        <p:spPr>
          <a:xfrm xmlns:a="http://schemas.openxmlformats.org/drawingml/2006/main">
            <a:off x="552450" y="5705475"/>
            <a:ext cx="11087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I numeri rendono la demo ripetibile: non sono uno studio utenti né impatto ambientale misurato.</a:t>
            </a:r>
          </a:p>
        </p:txBody>
      </p:sp>
      <p:sp>
        <p:nvSpPr>
          <p:cNvPr id="39" name="">
            <a:extLst xmlns:a="http://schemas.openxmlformats.org/drawingml/2006/main">
              <a:ext uri="{FF2B5EF4-FFF2-40B4-BE49-F238E27FC236}">
                <a16:creationId xmlns:a16="http://schemas.microsoft.com/office/drawing/2014/main" id="{BD49501E-8FCB-41DB-9908-D4FC4CAE0A94}"/>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B62E2384-D162-4227-B230-F5D735540E29}"/>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Snapshot demo locale · il registro degli utilizzi si aggiorna durante la dimostrazione</a:t>
            </a:r>
          </a:p>
        </p:txBody>
      </p:sp>
      <p:sp>
        <p:nvSpPr>
          <p:cNvPr id="41" name="">
            <a:extLst xmlns:a="http://schemas.openxmlformats.org/drawingml/2006/main">
              <a:ext uri="{FF2B5EF4-FFF2-40B4-BE49-F238E27FC236}">
                <a16:creationId xmlns:a16="http://schemas.microsoft.com/office/drawing/2014/main" id="{609192F7-D38D-477C-B37A-3E21B5791460}"/>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10</a:t>
            </a:r>
          </a:p>
        </p:txBody>
      </p:sp>
    </p:spTree>
    <p:extLst>
      <p:ext uri="{BB962C8B-B14F-4D97-AF65-F5344CB8AC3E}">
        <p14:creationId xmlns:p14="http://schemas.microsoft.com/office/powerpoint/2010/main" val="144953321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0F1E797F-BE7A-4E14-819B-1AAEE8433C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A471E10-8D35-4BB7-ABF0-97D1480D339F}"/>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40F4624-197F-4F01-8F51-AF3E85D4FB2D}"/>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DDE5DD"/>
                </a:solidFill>
                <a:latin typeface="Aptos"/>
                <a:ea typeface="Aptos"/>
                <a:cs typeface="Aptos"/>
              </a:defRPr>
            </a:pPr>
            <a:r>
              <a:rPr sz="638" b="1">
                <a:solidFill>
                  <a:srgbClr val="DDE5DD"/>
                </a:solidFill>
                <a:latin typeface="Aptos"/>
                <a:ea typeface="Aptos"/>
                <a:cs typeface="Aptos"/>
              </a:rPr>
              <a:t>P A S S A G G I O   A L L A   W E B   A P P</a:t>
            </a:r>
          </a:p>
        </p:txBody>
      </p:sp>
      <p:sp>
        <p:nvSpPr>
          <p:cNvPr id="4" name="">
            <a:extLst xmlns:a="http://schemas.openxmlformats.org/drawingml/2006/main">
              <a:ext uri="{FF2B5EF4-FFF2-40B4-BE49-F238E27FC236}">
                <a16:creationId xmlns:a16="http://schemas.microsoft.com/office/drawing/2014/main" id="{E8546567-67A2-42ED-9565-B09B5C159EB3}"/>
              </a:ext>
            </a:extLst>
          </p:cNvPr>
          <p:cNvSpPr>
            <a:spLocks xmlns:a="http://schemas.openxmlformats.org/drawingml/2006/main" noGrp="1"/>
          </p:cNvSpPr>
          <p:nvPr/>
        </p:nvSpPr>
        <p:spPr>
          <a:xfrm xmlns:a="http://schemas.openxmlformats.org/drawingml/2006/main">
            <a:off x="552450" y="1333500"/>
            <a:ext cx="2571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0" b="1">
                <a:solidFill>
                  <a:srgbClr val="B9D94A"/>
                </a:solidFill>
                <a:latin typeface="Georgia"/>
                <a:ea typeface="Georgia"/>
                <a:cs typeface="Georgia"/>
              </a:defRPr>
            </a:pPr>
            <a:r>
              <a:rPr sz="6150" b="1">
                <a:solidFill>
                  <a:srgbClr val="B9D94A"/>
                </a:solidFill>
                <a:latin typeface="Georgia"/>
                <a:ea typeface="Georgia"/>
                <a:cs typeface="Georgia"/>
              </a:rPr>
              <a:t>LIVE</a:t>
            </a:r>
          </a:p>
        </p:txBody>
      </p:sp>
      <p:sp>
        <p:nvSpPr>
          <p:cNvPr id="5" name="">
            <a:extLst xmlns:a="http://schemas.openxmlformats.org/drawingml/2006/main">
              <a:ext uri="{FF2B5EF4-FFF2-40B4-BE49-F238E27FC236}">
                <a16:creationId xmlns:a16="http://schemas.microsoft.com/office/drawing/2014/main" id="{418A7431-1859-4074-83A5-D16FF740C87C}"/>
              </a:ext>
            </a:extLst>
          </p:cNvPr>
          <p:cNvSpPr>
            <a:spLocks xmlns:a="http://schemas.openxmlformats.org/drawingml/2006/main" noGrp="1"/>
          </p:cNvSpPr>
          <p:nvPr/>
        </p:nvSpPr>
        <p:spPr>
          <a:xfrm xmlns:a="http://schemas.openxmlformats.org/drawingml/2006/main">
            <a:off x="552450" y="2381250"/>
            <a:ext cx="4953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0" b="1">
                <a:solidFill>
                  <a:srgbClr val="FFFFFF"/>
                </a:solidFill>
                <a:latin typeface="Georgia"/>
                <a:ea typeface="Georgia"/>
                <a:cs typeface="Georgia"/>
              </a:defRPr>
            </a:pPr>
            <a:r>
              <a:rPr sz="7050" b="1">
                <a:solidFill>
                  <a:srgbClr val="FFFFFF"/>
                </a:solidFill>
                <a:latin typeface="Georgia"/>
                <a:ea typeface="Georgia"/>
                <a:cs typeface="Georgia"/>
              </a:rPr>
              <a:t>DEMO</a:t>
            </a:r>
          </a:p>
        </p:txBody>
      </p:sp>
      <p:sp>
        <p:nvSpPr>
          <p:cNvPr id="6" name="">
            <a:extLst xmlns:a="http://schemas.openxmlformats.org/drawingml/2006/main">
              <a:ext uri="{FF2B5EF4-FFF2-40B4-BE49-F238E27FC236}">
                <a16:creationId xmlns:a16="http://schemas.microsoft.com/office/drawing/2014/main" id="{14CF7CD0-35C1-4D3A-8B00-714204E5A54B}"/>
              </a:ext>
            </a:extLst>
          </p:cNvPr>
          <p:cNvSpPr>
            <a:spLocks xmlns:a="http://schemas.openxmlformats.org/drawingml/2006/main" noGrp="1"/>
          </p:cNvSpPr>
          <p:nvPr/>
        </p:nvSpPr>
        <p:spPr>
          <a:xfrm xmlns:a="http://schemas.openxmlformats.org/drawingml/2006/main">
            <a:off x="552450" y="3848100"/>
            <a:ext cx="47625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DDE5DD"/>
                </a:solidFill>
                <a:latin typeface="Georgia"/>
                <a:ea typeface="Georgia"/>
                <a:cs typeface="Georgia"/>
              </a:defRPr>
            </a:pPr>
            <a:r>
              <a:rPr sz="1800" b="1">
                <a:solidFill>
                  <a:srgbClr val="DDE5DD"/>
                </a:solidFill>
                <a:latin typeface="Georgia"/>
                <a:ea typeface="Georgia"/>
                <a:cs typeface="Georgia"/>
              </a:rPr>
              <a:t>Un solo capo, cinque prove.</a:t>
            </a:r>
          </a:p>
        </p:txBody>
      </p:sp>
      <p:sp>
        <p:nvSpPr>
          <p:cNvPr id="7" name="">
            <a:extLst xmlns:a="http://schemas.openxmlformats.org/drawingml/2006/main">
              <a:ext uri="{FF2B5EF4-FFF2-40B4-BE49-F238E27FC236}">
                <a16:creationId xmlns:a16="http://schemas.microsoft.com/office/drawing/2014/main" id="{FD68D1F0-89E2-443A-9F57-8AF30F0CDDFC}"/>
              </a:ext>
            </a:extLst>
          </p:cNvPr>
          <p:cNvSpPr>
            <a:spLocks xmlns:a="http://schemas.openxmlformats.org/drawingml/2006/main" noGrp="1"/>
          </p:cNvSpPr>
          <p:nvPr/>
        </p:nvSpPr>
        <p:spPr>
          <a:xfrm xmlns:a="http://schemas.openxmlformats.org/drawingml/2006/main">
            <a:off x="6953250" y="1619250"/>
            <a:ext cx="323850" cy="3238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5A2873C-6968-436C-93A6-5A25A8078456}"/>
              </a:ext>
            </a:extLst>
          </p:cNvPr>
          <p:cNvSpPr>
            <a:spLocks xmlns:a="http://schemas.openxmlformats.org/drawingml/2006/main" noGrp="1"/>
          </p:cNvSpPr>
          <p:nvPr/>
        </p:nvSpPr>
        <p:spPr>
          <a:xfrm xmlns:a="http://schemas.openxmlformats.org/drawingml/2006/main">
            <a:off x="6953250" y="16573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85F3300C-DD03-4B59-94FA-F4B2C15CA471}"/>
              </a:ext>
            </a:extLst>
          </p:cNvPr>
          <p:cNvSpPr>
            <a:spLocks xmlns:a="http://schemas.openxmlformats.org/drawingml/2006/main" noGrp="1"/>
          </p:cNvSpPr>
          <p:nvPr/>
        </p:nvSpPr>
        <p:spPr>
          <a:xfrm xmlns:a="http://schemas.openxmlformats.org/drawingml/2006/main">
            <a:off x="7467600" y="160020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catalogazione</a:t>
            </a:r>
          </a:p>
        </p:txBody>
      </p:sp>
      <p:sp>
        <p:nvSpPr>
          <p:cNvPr id="10" name="">
            <a:extLst xmlns:a="http://schemas.openxmlformats.org/drawingml/2006/main">
              <a:ext uri="{FF2B5EF4-FFF2-40B4-BE49-F238E27FC236}">
                <a16:creationId xmlns:a16="http://schemas.microsoft.com/office/drawing/2014/main" id="{34A7CED7-B28D-480B-8769-28645079CDEB}"/>
              </a:ext>
            </a:extLst>
          </p:cNvPr>
          <p:cNvSpPr>
            <a:spLocks xmlns:a="http://schemas.openxmlformats.org/drawingml/2006/main" noGrp="1"/>
          </p:cNvSpPr>
          <p:nvPr/>
        </p:nvSpPr>
        <p:spPr>
          <a:xfrm xmlns:a="http://schemas.openxmlformats.org/drawingml/2006/main">
            <a:off x="6953250" y="2400300"/>
            <a:ext cx="323850" cy="3238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F88BB44-FF37-49FE-AD42-8A71FCED0FDF}"/>
              </a:ext>
            </a:extLst>
          </p:cNvPr>
          <p:cNvSpPr>
            <a:spLocks xmlns:a="http://schemas.openxmlformats.org/drawingml/2006/main" noGrp="1"/>
          </p:cNvSpPr>
          <p:nvPr/>
        </p:nvSpPr>
        <p:spPr>
          <a:xfrm xmlns:a="http://schemas.openxmlformats.org/drawingml/2006/main">
            <a:off x="6953250" y="243840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48A17610-C341-42D1-94D6-D1CF2A9B3837}"/>
              </a:ext>
            </a:extLst>
          </p:cNvPr>
          <p:cNvSpPr>
            <a:spLocks xmlns:a="http://schemas.openxmlformats.org/drawingml/2006/main" noGrp="1"/>
          </p:cNvSpPr>
          <p:nvPr/>
        </p:nvSpPr>
        <p:spPr>
          <a:xfrm xmlns:a="http://schemas.openxmlformats.org/drawingml/2006/main">
            <a:off x="7467600" y="238125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wear log</a:t>
            </a:r>
          </a:p>
        </p:txBody>
      </p:sp>
      <p:sp>
        <p:nvSpPr>
          <p:cNvPr id="13" name="">
            <a:extLst xmlns:a="http://schemas.openxmlformats.org/drawingml/2006/main">
              <a:ext uri="{FF2B5EF4-FFF2-40B4-BE49-F238E27FC236}">
                <a16:creationId xmlns:a16="http://schemas.microsoft.com/office/drawing/2014/main" id="{7CCCF4A7-A5D9-4DD0-B65D-2A1323497B2B}"/>
              </a:ext>
            </a:extLst>
          </p:cNvPr>
          <p:cNvSpPr>
            <a:spLocks xmlns:a="http://schemas.openxmlformats.org/drawingml/2006/main" noGrp="1"/>
          </p:cNvSpPr>
          <p:nvPr/>
        </p:nvSpPr>
        <p:spPr>
          <a:xfrm xmlns:a="http://schemas.openxmlformats.org/drawingml/2006/main">
            <a:off x="6953250" y="3181350"/>
            <a:ext cx="323850" cy="3238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5D863EC-3CA4-4F62-8F1D-746BB59944CA}"/>
              </a:ext>
            </a:extLst>
          </p:cNvPr>
          <p:cNvSpPr>
            <a:spLocks xmlns:a="http://schemas.openxmlformats.org/drawingml/2006/main" noGrp="1"/>
          </p:cNvSpPr>
          <p:nvPr/>
        </p:nvSpPr>
        <p:spPr>
          <a:xfrm xmlns:a="http://schemas.openxmlformats.org/drawingml/2006/main">
            <a:off x="6953250" y="32194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83968347-F05F-48B7-B76A-566B081B9B40}"/>
              </a:ext>
            </a:extLst>
          </p:cNvPr>
          <p:cNvSpPr>
            <a:spLocks xmlns:a="http://schemas.openxmlformats.org/drawingml/2006/main" noGrp="1"/>
          </p:cNvSpPr>
          <p:nvPr/>
        </p:nvSpPr>
        <p:spPr>
          <a:xfrm xmlns:a="http://schemas.openxmlformats.org/drawingml/2006/main">
            <a:off x="7467600" y="316230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ghost</a:t>
            </a:r>
          </a:p>
        </p:txBody>
      </p:sp>
      <p:sp>
        <p:nvSpPr>
          <p:cNvPr id="16" name="">
            <a:extLst xmlns:a="http://schemas.openxmlformats.org/drawingml/2006/main">
              <a:ext uri="{FF2B5EF4-FFF2-40B4-BE49-F238E27FC236}">
                <a16:creationId xmlns:a16="http://schemas.microsoft.com/office/drawing/2014/main" id="{F5538739-1C09-4455-827D-A2F005588BCA}"/>
              </a:ext>
            </a:extLst>
          </p:cNvPr>
          <p:cNvSpPr>
            <a:spLocks xmlns:a="http://schemas.openxmlformats.org/drawingml/2006/main" noGrp="1"/>
          </p:cNvSpPr>
          <p:nvPr/>
        </p:nvSpPr>
        <p:spPr>
          <a:xfrm xmlns:a="http://schemas.openxmlformats.org/drawingml/2006/main">
            <a:off x="6953250" y="3962400"/>
            <a:ext cx="323850" cy="3238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5464324-E4EB-40CF-A394-F746FFB36634}"/>
              </a:ext>
            </a:extLst>
          </p:cNvPr>
          <p:cNvSpPr>
            <a:spLocks xmlns:a="http://schemas.openxmlformats.org/drawingml/2006/main" noGrp="1"/>
          </p:cNvSpPr>
          <p:nvPr/>
        </p:nvSpPr>
        <p:spPr>
          <a:xfrm xmlns:a="http://schemas.openxmlformats.org/drawingml/2006/main">
            <a:off x="6953250" y="400050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97C860C0-BBF3-4CFC-A399-71EC030DB83A}"/>
              </a:ext>
            </a:extLst>
          </p:cNvPr>
          <p:cNvSpPr>
            <a:spLocks xmlns:a="http://schemas.openxmlformats.org/drawingml/2006/main" noGrp="1"/>
          </p:cNvSpPr>
          <p:nvPr/>
        </p:nvSpPr>
        <p:spPr>
          <a:xfrm xmlns:a="http://schemas.openxmlformats.org/drawingml/2006/main">
            <a:off x="7467600" y="394335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stato + gap</a:t>
            </a:r>
          </a:p>
        </p:txBody>
      </p:sp>
      <p:sp>
        <p:nvSpPr>
          <p:cNvPr id="19" name="">
            <a:extLst xmlns:a="http://schemas.openxmlformats.org/drawingml/2006/main">
              <a:ext uri="{FF2B5EF4-FFF2-40B4-BE49-F238E27FC236}">
                <a16:creationId xmlns:a16="http://schemas.microsoft.com/office/drawing/2014/main" id="{E6F8200F-B9C7-4825-9EFA-2B70D8162260}"/>
              </a:ext>
            </a:extLst>
          </p:cNvPr>
          <p:cNvSpPr>
            <a:spLocks xmlns:a="http://schemas.openxmlformats.org/drawingml/2006/main" noGrp="1"/>
          </p:cNvSpPr>
          <p:nvPr/>
        </p:nvSpPr>
        <p:spPr>
          <a:xfrm xmlns:a="http://schemas.openxmlformats.org/drawingml/2006/main">
            <a:off x="6953250" y="4743450"/>
            <a:ext cx="323850" cy="32385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1E52AE5-1544-48A1-93EA-C585A71CBCC0}"/>
              </a:ext>
            </a:extLst>
          </p:cNvPr>
          <p:cNvSpPr>
            <a:spLocks xmlns:a="http://schemas.openxmlformats.org/drawingml/2006/main" noGrp="1"/>
          </p:cNvSpPr>
          <p:nvPr/>
        </p:nvSpPr>
        <p:spPr>
          <a:xfrm xmlns:a="http://schemas.openxmlformats.org/drawingml/2006/main">
            <a:off x="6953250" y="47815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123C31"/>
                </a:solidFill>
                <a:latin typeface="Aptos"/>
                <a:ea typeface="Aptos"/>
                <a:cs typeface="Aptos"/>
              </a:defRPr>
            </a:pPr>
            <a:r>
              <a:rPr sz="825" b="1">
                <a:solidFill>
                  <a:srgbClr val="123C31"/>
                </a:solidFill>
                <a:latin typeface="Aptos"/>
                <a:ea typeface="Aptos"/>
                <a:cs typeface="Aptos"/>
              </a:rPr>
              <a:t>5</a:t>
            </a:r>
          </a:p>
        </p:txBody>
      </p:sp>
      <p:sp>
        <p:nvSpPr>
          <p:cNvPr id="21" name="">
            <a:extLst xmlns:a="http://schemas.openxmlformats.org/drawingml/2006/main">
              <a:ext uri="{FF2B5EF4-FFF2-40B4-BE49-F238E27FC236}">
                <a16:creationId xmlns:a16="http://schemas.microsoft.com/office/drawing/2014/main" id="{EFA85B50-58A5-488A-B53B-E44E539F1F8B}"/>
              </a:ext>
            </a:extLst>
          </p:cNvPr>
          <p:cNvSpPr>
            <a:spLocks xmlns:a="http://schemas.openxmlformats.org/drawingml/2006/main" noGrp="1"/>
          </p:cNvSpPr>
          <p:nvPr/>
        </p:nvSpPr>
        <p:spPr>
          <a:xfrm xmlns:a="http://schemas.openxmlformats.org/drawingml/2006/main">
            <a:off x="7467600" y="472440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Georgia"/>
                <a:ea typeface="Georgia"/>
                <a:cs typeface="Georgia"/>
              </a:defRPr>
            </a:pPr>
            <a:r>
              <a:rPr sz="1425" b="1">
                <a:solidFill>
                  <a:srgbClr val="FFFFFF"/>
                </a:solidFill>
                <a:latin typeface="Georgia"/>
                <a:ea typeface="Georgia"/>
                <a:cs typeface="Georgia"/>
              </a:rPr>
              <a:t>azione circolare</a:t>
            </a:r>
          </a:p>
        </p:txBody>
      </p:sp>
      <p:sp>
        <p:nvSpPr>
          <p:cNvPr id="22" name="">
            <a:extLst xmlns:a="http://schemas.openxmlformats.org/drawingml/2006/main">
              <a:ext uri="{FF2B5EF4-FFF2-40B4-BE49-F238E27FC236}">
                <a16:creationId xmlns:a16="http://schemas.microsoft.com/office/drawing/2014/main" id="{04F7C0E9-8899-49D9-BCB4-6E1545217D8D}"/>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3E68B628-F56A-4743-B24A-A962E50A9C03}"/>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91AA9F"/>
                </a:solidFill>
                <a:latin typeface="Aptos"/>
                <a:ea typeface="Aptos"/>
                <a:cs typeface="Aptos"/>
              </a:defRPr>
            </a:pPr>
            <a:r>
              <a:rPr sz="563" b="0">
                <a:solidFill>
                  <a:srgbClr val="91AA9F"/>
                </a:solidFill>
                <a:latin typeface="Aptos"/>
                <a:ea typeface="Aptos"/>
                <a:cs typeface="Aptos"/>
              </a:rPr>
              <a:t>Demo suggerita: 3–4 minuti · per ogni schermata spiegare input → output → beneficio → limite</a:t>
            </a:r>
          </a:p>
        </p:txBody>
      </p:sp>
      <p:sp>
        <p:nvSpPr>
          <p:cNvPr id="24" name="">
            <a:extLst xmlns:a="http://schemas.openxmlformats.org/drawingml/2006/main">
              <a:ext uri="{FF2B5EF4-FFF2-40B4-BE49-F238E27FC236}">
                <a16:creationId xmlns:a16="http://schemas.microsoft.com/office/drawing/2014/main" id="{676A3D69-8320-4527-84A5-D374B27D2BF9}"/>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91AA9F"/>
                </a:solidFill>
                <a:latin typeface="Georgia"/>
                <a:ea typeface="Georgia"/>
                <a:cs typeface="Georgia"/>
              </a:defRPr>
            </a:pPr>
            <a:r>
              <a:rPr sz="750" b="1">
                <a:solidFill>
                  <a:srgbClr val="91AA9F"/>
                </a:solidFill>
                <a:latin typeface="Georgia"/>
                <a:ea typeface="Georgia"/>
                <a:cs typeface="Georgia"/>
              </a:rPr>
              <a:t>11</a:t>
            </a:r>
          </a:p>
        </p:txBody>
      </p:sp>
    </p:spTree>
    <p:extLst>
      <p:ext uri="{BB962C8B-B14F-4D97-AF65-F5344CB8AC3E}">
        <p14:creationId xmlns:p14="http://schemas.microsoft.com/office/powerpoint/2010/main" val="143905660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2F1638C3-8099-459E-93BF-BF2C15589E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8E18181-B2C6-4DE0-8D02-47311CC5A186}"/>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C2A847A-E70D-49EA-8784-5DFC3ECC8523}"/>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S C E L T E   T E C N I C H E   ·   L A   M A P P A</a:t>
            </a:r>
          </a:p>
        </p:txBody>
      </p:sp>
      <p:sp>
        <p:nvSpPr>
          <p:cNvPr id="4" name="claim-title">
            <a:extLst xmlns:a="http://schemas.openxmlformats.org/drawingml/2006/main">
              <a:ext uri="{FF2B5EF4-FFF2-40B4-BE49-F238E27FC236}">
                <a16:creationId xmlns:a16="http://schemas.microsoft.com/office/drawing/2014/main" id="{AE847759-2F09-4749-9DB9-FFDF1A8F24B4}"/>
              </a:ext>
            </a:extLst>
          </p:cNvPr>
          <p:cNvSpPr>
            <a:spLocks xmlns:a="http://schemas.openxmlformats.org/drawingml/2006/main" noGrp="1"/>
          </p:cNvSpPr>
          <p:nvPr/>
        </p:nvSpPr>
        <p:spPr>
          <a:xfrm xmlns:a="http://schemas.openxmlformats.org/drawingml/2006/main">
            <a:off x="552450" y="742950"/>
            <a:ext cx="10287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11D"/>
                </a:solidFill>
                <a:latin typeface="Georgia"/>
                <a:ea typeface="Georgia"/>
                <a:cs typeface="Georgia"/>
              </a:defRPr>
            </a:pPr>
            <a:r>
              <a:rPr sz="3000" b="1">
                <a:solidFill>
                  <a:srgbClr val="17211D"/>
                </a:solidFill>
                <a:latin typeface="Georgia"/>
                <a:ea typeface="Georgia"/>
                <a:cs typeface="Georgia"/>
              </a:rPr>
              <a:t>Non tutta l’intelligenza del progetto è la stessa cosa.</a:t>
            </a:r>
          </a:p>
        </p:txBody>
      </p:sp>
      <p:sp>
        <p:nvSpPr>
          <p:cNvPr id="5" name="">
            <a:extLst xmlns:a="http://schemas.openxmlformats.org/drawingml/2006/main">
              <a:ext uri="{FF2B5EF4-FFF2-40B4-BE49-F238E27FC236}">
                <a16:creationId xmlns:a16="http://schemas.microsoft.com/office/drawing/2014/main" id="{DE5C4968-F49D-49D5-A418-0887B8C025F6}"/>
              </a:ext>
            </a:extLst>
          </p:cNvPr>
          <p:cNvSpPr>
            <a:spLocks xmlns:a="http://schemas.openxmlformats.org/drawingml/2006/main" noGrp="1"/>
          </p:cNvSpPr>
          <p:nvPr/>
        </p:nvSpPr>
        <p:spPr>
          <a:xfrm xmlns:a="http://schemas.openxmlformats.org/drawingml/2006/main">
            <a:off x="552450" y="1981200"/>
            <a:ext cx="110871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71CB7EE5-0691-44D4-9B0C-FA78AE1D6D59}"/>
              </a:ext>
            </a:extLst>
          </p:cNvPr>
          <p:cNvSpPr>
            <a:spLocks xmlns:a="http://schemas.openxmlformats.org/drawingml/2006/main" noGrp="1"/>
          </p:cNvSpPr>
          <p:nvPr/>
        </p:nvSpPr>
        <p:spPr>
          <a:xfrm xmlns:a="http://schemas.openxmlformats.org/drawingml/2006/main">
            <a:off x="742950" y="2152650"/>
            <a:ext cx="323850" cy="323850"/>
          </a:xfrm>
          <a:prstGeom xmlns:a="http://schemas.openxmlformats.org/drawingml/2006/main" prst="ellipse">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4A73A09-DF6B-4375-B32C-6E744C33ECCB}"/>
              </a:ext>
            </a:extLst>
          </p:cNvPr>
          <p:cNvSpPr>
            <a:spLocks xmlns:a="http://schemas.openxmlformats.org/drawingml/2006/main" noGrp="1"/>
          </p:cNvSpPr>
          <p:nvPr/>
        </p:nvSpPr>
        <p:spPr>
          <a:xfrm xmlns:a="http://schemas.openxmlformats.org/drawingml/2006/main">
            <a:off x="742950" y="21907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663357B0-A8E4-4FF5-8896-30BD4DE66C3B}"/>
              </a:ext>
            </a:extLst>
          </p:cNvPr>
          <p:cNvSpPr>
            <a:spLocks xmlns:a="http://schemas.openxmlformats.org/drawingml/2006/main" noGrp="1"/>
          </p:cNvSpPr>
          <p:nvPr/>
        </p:nvSpPr>
        <p:spPr>
          <a:xfrm xmlns:a="http://schemas.openxmlformats.org/drawingml/2006/main">
            <a:off x="1257300" y="21145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66D86"/>
                </a:solidFill>
                <a:latin typeface="Aptos"/>
                <a:ea typeface="Aptos"/>
                <a:cs typeface="Aptos"/>
              </a:defRPr>
            </a:pPr>
            <a:r>
              <a:rPr sz="750" b="1">
                <a:solidFill>
                  <a:srgbClr val="466D86"/>
                </a:solidFill>
                <a:latin typeface="Aptos"/>
                <a:ea typeface="Aptos"/>
                <a:cs typeface="Aptos"/>
              </a:rPr>
              <a:t>PRE-ADDESTRATO</a:t>
            </a:r>
          </a:p>
        </p:txBody>
      </p:sp>
      <p:sp>
        <p:nvSpPr>
          <p:cNvPr id="9" name="">
            <a:extLst xmlns:a="http://schemas.openxmlformats.org/drawingml/2006/main">
              <a:ext uri="{FF2B5EF4-FFF2-40B4-BE49-F238E27FC236}">
                <a16:creationId xmlns:a16="http://schemas.microsoft.com/office/drawing/2014/main" id="{40635594-963B-41D2-8656-ABD2B8A7AE40}"/>
              </a:ext>
            </a:extLst>
          </p:cNvPr>
          <p:cNvSpPr>
            <a:spLocks xmlns:a="http://schemas.openxmlformats.org/drawingml/2006/main" noGrp="1"/>
          </p:cNvSpPr>
          <p:nvPr/>
        </p:nvSpPr>
        <p:spPr>
          <a:xfrm xmlns:a="http://schemas.openxmlformats.org/drawingml/2006/main">
            <a:off x="3543300" y="209550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Fashion-CLIP legge le immagini</a:t>
            </a:r>
          </a:p>
        </p:txBody>
      </p:sp>
      <p:sp>
        <p:nvSpPr>
          <p:cNvPr id="10" name="">
            <a:extLst xmlns:a="http://schemas.openxmlformats.org/drawingml/2006/main">
              <a:ext uri="{FF2B5EF4-FFF2-40B4-BE49-F238E27FC236}">
                <a16:creationId xmlns:a16="http://schemas.microsoft.com/office/drawing/2014/main" id="{7F8607C7-626B-4B36-876B-72607164E7B6}"/>
              </a:ext>
            </a:extLst>
          </p:cNvPr>
          <p:cNvSpPr>
            <a:spLocks xmlns:a="http://schemas.openxmlformats.org/drawingml/2006/main" noGrp="1"/>
          </p:cNvSpPr>
          <p:nvPr/>
        </p:nvSpPr>
        <p:spPr>
          <a:xfrm xmlns:a="http://schemas.openxmlformats.org/drawingml/2006/main">
            <a:off x="9315450" y="2171700"/>
            <a:ext cx="2038350" cy="266700"/>
          </a:xfrm>
          <a:prstGeom xmlns:a="http://schemas.openxmlformats.org/drawingml/2006/main" prst="roundRect">
            <a:avLst>
              <a:gd name="adj" fmla="val 28571"/>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310A1C9-67F7-4BD9-B6C9-7729D8A0B39A}"/>
              </a:ext>
            </a:extLst>
          </p:cNvPr>
          <p:cNvSpPr>
            <a:spLocks xmlns:a="http://schemas.openxmlformats.org/drawingml/2006/main" noGrp="1"/>
          </p:cNvSpPr>
          <p:nvPr/>
        </p:nvSpPr>
        <p:spPr>
          <a:xfrm xmlns:a="http://schemas.openxmlformats.org/drawingml/2006/main">
            <a:off x="9401175" y="219075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NON ADDESTRATO DA NOI</a:t>
            </a:r>
          </a:p>
        </p:txBody>
      </p:sp>
      <p:sp>
        <p:nvSpPr>
          <p:cNvPr id="12" name="">
            <a:extLst xmlns:a="http://schemas.openxmlformats.org/drawingml/2006/main">
              <a:ext uri="{FF2B5EF4-FFF2-40B4-BE49-F238E27FC236}">
                <a16:creationId xmlns:a16="http://schemas.microsoft.com/office/drawing/2014/main" id="{19325574-E58D-4A02-9363-2180FA92E513}"/>
              </a:ext>
            </a:extLst>
          </p:cNvPr>
          <p:cNvSpPr>
            <a:spLocks xmlns:a="http://schemas.openxmlformats.org/drawingml/2006/main" noGrp="1"/>
          </p:cNvSpPr>
          <p:nvPr/>
        </p:nvSpPr>
        <p:spPr>
          <a:xfrm xmlns:a="http://schemas.openxmlformats.org/drawingml/2006/main">
            <a:off x="552450" y="2857500"/>
            <a:ext cx="110871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9C3BB"/>
            </a:solidFill>
            <a:prstDash val="solid"/>
          </a:ln>
        </p:spPr>
      </p:sp>
      <p:sp>
        <p:nvSpPr>
          <p:cNvPr id="13" name="">
            <a:extLst xmlns:a="http://schemas.openxmlformats.org/drawingml/2006/main">
              <a:ext uri="{FF2B5EF4-FFF2-40B4-BE49-F238E27FC236}">
                <a16:creationId xmlns:a16="http://schemas.microsoft.com/office/drawing/2014/main" id="{463657C2-F7F1-40E2-88DB-F26607FAEEA5}"/>
              </a:ext>
            </a:extLst>
          </p:cNvPr>
          <p:cNvSpPr>
            <a:spLocks xmlns:a="http://schemas.openxmlformats.org/drawingml/2006/main" noGrp="1"/>
          </p:cNvSpPr>
          <p:nvPr/>
        </p:nvSpPr>
        <p:spPr>
          <a:xfrm xmlns:a="http://schemas.openxmlformats.org/drawingml/2006/main">
            <a:off x="742950" y="3028950"/>
            <a:ext cx="323850" cy="3238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C1AC665-7237-482C-83E4-BA4F7116F5C2}"/>
              </a:ext>
            </a:extLst>
          </p:cNvPr>
          <p:cNvSpPr>
            <a:spLocks xmlns:a="http://schemas.openxmlformats.org/drawingml/2006/main" noGrp="1"/>
          </p:cNvSpPr>
          <p:nvPr/>
        </p:nvSpPr>
        <p:spPr>
          <a:xfrm xmlns:a="http://schemas.openxmlformats.org/drawingml/2006/main">
            <a:off x="742950" y="30670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5E545E32-A884-414E-8A2A-4364BAA67840}"/>
              </a:ext>
            </a:extLst>
          </p:cNvPr>
          <p:cNvSpPr>
            <a:spLocks xmlns:a="http://schemas.openxmlformats.org/drawingml/2006/main" noGrp="1"/>
          </p:cNvSpPr>
          <p:nvPr/>
        </p:nvSpPr>
        <p:spPr>
          <a:xfrm xmlns:a="http://schemas.openxmlformats.org/drawingml/2006/main">
            <a:off x="1257300" y="29908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56E42"/>
                </a:solidFill>
                <a:latin typeface="Aptos"/>
                <a:ea typeface="Aptos"/>
                <a:cs typeface="Aptos"/>
              </a:defRPr>
            </a:pPr>
            <a:r>
              <a:rPr sz="750" b="1">
                <a:solidFill>
                  <a:srgbClr val="D56E42"/>
                </a:solidFill>
                <a:latin typeface="Aptos"/>
                <a:ea typeface="Aptos"/>
                <a:cs typeface="Aptos"/>
              </a:rPr>
              <a:t>ADDESTRATO DA NOI</a:t>
            </a:r>
          </a:p>
        </p:txBody>
      </p:sp>
      <p:sp>
        <p:nvSpPr>
          <p:cNvPr id="16" name="">
            <a:extLst xmlns:a="http://schemas.openxmlformats.org/drawingml/2006/main">
              <a:ext uri="{FF2B5EF4-FFF2-40B4-BE49-F238E27FC236}">
                <a16:creationId xmlns:a16="http://schemas.microsoft.com/office/drawing/2014/main" id="{57F5A9C2-D668-4FB1-8338-4A76B5B61782}"/>
              </a:ext>
            </a:extLst>
          </p:cNvPr>
          <p:cNvSpPr>
            <a:spLocks xmlns:a="http://schemas.openxmlformats.org/drawingml/2006/main" noGrp="1"/>
          </p:cNvSpPr>
          <p:nvPr/>
        </p:nvSpPr>
        <p:spPr>
          <a:xfrm xmlns:a="http://schemas.openxmlformats.org/drawingml/2006/main">
            <a:off x="3543300" y="297180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stato del capo + gap del guardaroba</a:t>
            </a:r>
          </a:p>
        </p:txBody>
      </p:sp>
      <p:sp>
        <p:nvSpPr>
          <p:cNvPr id="17" name="">
            <a:extLst xmlns:a="http://schemas.openxmlformats.org/drawingml/2006/main">
              <a:ext uri="{FF2B5EF4-FFF2-40B4-BE49-F238E27FC236}">
                <a16:creationId xmlns:a16="http://schemas.microsoft.com/office/drawing/2014/main" id="{0EDA7125-9289-4BF4-BB1E-30ACBD9C25DA}"/>
              </a:ext>
            </a:extLst>
          </p:cNvPr>
          <p:cNvSpPr>
            <a:spLocks xmlns:a="http://schemas.openxmlformats.org/drawingml/2006/main" noGrp="1"/>
          </p:cNvSpPr>
          <p:nvPr/>
        </p:nvSpPr>
        <p:spPr>
          <a:xfrm xmlns:a="http://schemas.openxmlformats.org/drawingml/2006/main">
            <a:off x="9315450" y="3048000"/>
            <a:ext cx="2038350" cy="266700"/>
          </a:xfrm>
          <a:prstGeom xmlns:a="http://schemas.openxmlformats.org/drawingml/2006/main" prst="roundRect">
            <a:avLst>
              <a:gd name="adj" fmla="val 28571"/>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F551C50-F930-4662-969F-BBF83F584A7D}"/>
              </a:ext>
            </a:extLst>
          </p:cNvPr>
          <p:cNvSpPr>
            <a:spLocks xmlns:a="http://schemas.openxmlformats.org/drawingml/2006/main" noGrp="1"/>
          </p:cNvSpPr>
          <p:nvPr/>
        </p:nvSpPr>
        <p:spPr>
          <a:xfrm xmlns:a="http://schemas.openxmlformats.org/drawingml/2006/main">
            <a:off x="9401175" y="306705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DUE RETI NEURALI</a:t>
            </a:r>
          </a:p>
        </p:txBody>
      </p:sp>
      <p:sp>
        <p:nvSpPr>
          <p:cNvPr id="19" name="">
            <a:extLst xmlns:a="http://schemas.openxmlformats.org/drawingml/2006/main">
              <a:ext uri="{FF2B5EF4-FFF2-40B4-BE49-F238E27FC236}">
                <a16:creationId xmlns:a16="http://schemas.microsoft.com/office/drawing/2014/main" id="{F0CA9F43-D97C-482F-BB64-735397E96956}"/>
              </a:ext>
            </a:extLst>
          </p:cNvPr>
          <p:cNvSpPr>
            <a:spLocks xmlns:a="http://schemas.openxmlformats.org/drawingml/2006/main" noGrp="1"/>
          </p:cNvSpPr>
          <p:nvPr/>
        </p:nvSpPr>
        <p:spPr>
          <a:xfrm xmlns:a="http://schemas.openxmlformats.org/drawingml/2006/main">
            <a:off x="552450" y="3733800"/>
            <a:ext cx="110871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9C3BB"/>
            </a:solidFill>
            <a:prstDash val="solid"/>
          </a:ln>
        </p:spPr>
      </p:sp>
      <p:sp>
        <p:nvSpPr>
          <p:cNvPr id="20" name="">
            <a:extLst xmlns:a="http://schemas.openxmlformats.org/drawingml/2006/main">
              <a:ext uri="{FF2B5EF4-FFF2-40B4-BE49-F238E27FC236}">
                <a16:creationId xmlns:a16="http://schemas.microsoft.com/office/drawing/2014/main" id="{A1AE5278-4467-41FF-AE01-43FCDBC63704}"/>
              </a:ext>
            </a:extLst>
          </p:cNvPr>
          <p:cNvSpPr>
            <a:spLocks xmlns:a="http://schemas.openxmlformats.org/drawingml/2006/main" noGrp="1"/>
          </p:cNvSpPr>
          <p:nvPr/>
        </p:nvSpPr>
        <p:spPr>
          <a:xfrm xmlns:a="http://schemas.openxmlformats.org/drawingml/2006/main">
            <a:off x="742950" y="3905250"/>
            <a:ext cx="323850" cy="3238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32950AA-D082-4503-A285-91D8098CC1CC}"/>
              </a:ext>
            </a:extLst>
          </p:cNvPr>
          <p:cNvSpPr>
            <a:spLocks xmlns:a="http://schemas.openxmlformats.org/drawingml/2006/main" noGrp="1"/>
          </p:cNvSpPr>
          <p:nvPr/>
        </p:nvSpPr>
        <p:spPr>
          <a:xfrm xmlns:a="http://schemas.openxmlformats.org/drawingml/2006/main">
            <a:off x="742950" y="39433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29A86D1D-AA0A-4A87-8203-7A91A329B002}"/>
              </a:ext>
            </a:extLst>
          </p:cNvPr>
          <p:cNvSpPr>
            <a:spLocks xmlns:a="http://schemas.openxmlformats.org/drawingml/2006/main" noGrp="1"/>
          </p:cNvSpPr>
          <p:nvPr/>
        </p:nvSpPr>
        <p:spPr>
          <a:xfrm xmlns:a="http://schemas.openxmlformats.org/drawingml/2006/main">
            <a:off x="1257300" y="38671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2F7D5B"/>
                </a:solidFill>
                <a:latin typeface="Aptos"/>
                <a:ea typeface="Aptos"/>
                <a:cs typeface="Aptos"/>
              </a:defRPr>
            </a:pPr>
            <a:r>
              <a:rPr sz="750" b="1">
                <a:solidFill>
                  <a:srgbClr val="2F7D5B"/>
                </a:solidFill>
                <a:latin typeface="Aptos"/>
                <a:ea typeface="Aptos"/>
                <a:cs typeface="Aptos"/>
              </a:rPr>
              <a:t>REGOLE TRASPARENTI</a:t>
            </a:r>
          </a:p>
        </p:txBody>
      </p:sp>
      <p:sp>
        <p:nvSpPr>
          <p:cNvPr id="23" name="">
            <a:extLst xmlns:a="http://schemas.openxmlformats.org/drawingml/2006/main">
              <a:ext uri="{FF2B5EF4-FFF2-40B4-BE49-F238E27FC236}">
                <a16:creationId xmlns:a16="http://schemas.microsoft.com/office/drawing/2014/main" id="{FC10C2FD-99DD-4D4B-A85A-E0AE5B8B614D}"/>
              </a:ext>
            </a:extLst>
          </p:cNvPr>
          <p:cNvSpPr>
            <a:spLocks xmlns:a="http://schemas.openxmlformats.org/drawingml/2006/main" noGrp="1"/>
          </p:cNvSpPr>
          <p:nvPr/>
        </p:nvSpPr>
        <p:spPr>
          <a:xfrm xmlns:a="http://schemas.openxmlformats.org/drawingml/2006/main">
            <a:off x="3543300" y="384810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ghost · outfit · cost-per-wear · impatto</a:t>
            </a:r>
          </a:p>
        </p:txBody>
      </p:sp>
      <p:sp>
        <p:nvSpPr>
          <p:cNvPr id="24" name="">
            <a:extLst xmlns:a="http://schemas.openxmlformats.org/drawingml/2006/main">
              <a:ext uri="{FF2B5EF4-FFF2-40B4-BE49-F238E27FC236}">
                <a16:creationId xmlns:a16="http://schemas.microsoft.com/office/drawing/2014/main" id="{51F8363D-C6DB-4C46-9AC3-5D5A3A4093BC}"/>
              </a:ext>
            </a:extLst>
          </p:cNvPr>
          <p:cNvSpPr>
            <a:spLocks xmlns:a="http://schemas.openxmlformats.org/drawingml/2006/main" noGrp="1"/>
          </p:cNvSpPr>
          <p:nvPr/>
        </p:nvSpPr>
        <p:spPr>
          <a:xfrm xmlns:a="http://schemas.openxmlformats.org/drawingml/2006/main">
            <a:off x="9315450" y="3924300"/>
            <a:ext cx="2038350" cy="266700"/>
          </a:xfrm>
          <a:prstGeom xmlns:a="http://schemas.openxmlformats.org/drawingml/2006/main" prst="roundRect">
            <a:avLst>
              <a:gd name="adj" fmla="val 28571"/>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40C50171-18B3-4D48-AD93-0E57B1609355}"/>
              </a:ext>
            </a:extLst>
          </p:cNvPr>
          <p:cNvSpPr>
            <a:spLocks xmlns:a="http://schemas.openxmlformats.org/drawingml/2006/main" noGrp="1"/>
          </p:cNvSpPr>
          <p:nvPr/>
        </p:nvSpPr>
        <p:spPr>
          <a:xfrm xmlns:a="http://schemas.openxmlformats.org/drawingml/2006/main">
            <a:off x="9401175" y="394335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DETERMINISTICHE</a:t>
            </a:r>
          </a:p>
        </p:txBody>
      </p:sp>
      <p:sp>
        <p:nvSpPr>
          <p:cNvPr id="26" name="">
            <a:extLst xmlns:a="http://schemas.openxmlformats.org/drawingml/2006/main">
              <a:ext uri="{FF2B5EF4-FFF2-40B4-BE49-F238E27FC236}">
                <a16:creationId xmlns:a16="http://schemas.microsoft.com/office/drawing/2014/main" id="{8F17CBBC-98C7-4E4C-B9CE-DDD2E97E9739}"/>
              </a:ext>
            </a:extLst>
          </p:cNvPr>
          <p:cNvSpPr>
            <a:spLocks xmlns:a="http://schemas.openxmlformats.org/drawingml/2006/main" noGrp="1"/>
          </p:cNvSpPr>
          <p:nvPr/>
        </p:nvSpPr>
        <p:spPr>
          <a:xfrm xmlns:a="http://schemas.openxmlformats.org/drawingml/2006/main">
            <a:off x="552450" y="4610100"/>
            <a:ext cx="11087100" cy="666750"/>
          </a:xfrm>
          <a:prstGeom xmlns:a="http://schemas.openxmlformats.org/drawingml/2006/main" prst="roundRect">
            <a:avLst>
              <a:gd name="adj" fmla="val 11429"/>
            </a:avLst>
          </a:prstGeom>
          <a:solidFill xmlns:a="http://schemas.openxmlformats.org/drawingml/2006/main">
            <a:srgbClr val="E5EDC1"/>
          </a:solidFill>
          <a:ln xmlns:a="http://schemas.openxmlformats.org/drawingml/2006/main" w="9525">
            <a:solidFill>
              <a:srgbClr val="B9D94A"/>
            </a:solidFill>
            <a:prstDash val="solid"/>
          </a:ln>
        </p:spPr>
      </p:sp>
      <p:sp>
        <p:nvSpPr>
          <p:cNvPr id="27" name="">
            <a:extLst xmlns:a="http://schemas.openxmlformats.org/drawingml/2006/main">
              <a:ext uri="{FF2B5EF4-FFF2-40B4-BE49-F238E27FC236}">
                <a16:creationId xmlns:a16="http://schemas.microsoft.com/office/drawing/2014/main" id="{14BFAD59-6B19-40B0-84F3-3E2DB6D14072}"/>
              </a:ext>
            </a:extLst>
          </p:cNvPr>
          <p:cNvSpPr>
            <a:spLocks xmlns:a="http://schemas.openxmlformats.org/drawingml/2006/main" noGrp="1"/>
          </p:cNvSpPr>
          <p:nvPr/>
        </p:nvSpPr>
        <p:spPr>
          <a:xfrm xmlns:a="http://schemas.openxmlformats.org/drawingml/2006/main">
            <a:off x="742950" y="4781550"/>
            <a:ext cx="323850" cy="32385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A9F3D7B-FCA9-4C4A-9F92-3DBB730C3EF5}"/>
              </a:ext>
            </a:extLst>
          </p:cNvPr>
          <p:cNvSpPr>
            <a:spLocks xmlns:a="http://schemas.openxmlformats.org/drawingml/2006/main" noGrp="1"/>
          </p:cNvSpPr>
          <p:nvPr/>
        </p:nvSpPr>
        <p:spPr>
          <a:xfrm xmlns:a="http://schemas.openxmlformats.org/drawingml/2006/main">
            <a:off x="742950" y="48196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123C31"/>
                </a:solidFill>
                <a:latin typeface="Aptos"/>
                <a:ea typeface="Aptos"/>
                <a:cs typeface="Aptos"/>
              </a:defRPr>
            </a:pPr>
            <a:r>
              <a:rPr sz="825" b="1">
                <a:solidFill>
                  <a:srgbClr val="123C31"/>
                </a:solidFill>
                <a:latin typeface="Aptos"/>
                <a:ea typeface="Aptos"/>
                <a:cs typeface="Aptos"/>
              </a:rPr>
              <a:t>4</a:t>
            </a:r>
          </a:p>
        </p:txBody>
      </p:sp>
      <p:sp>
        <p:nvSpPr>
          <p:cNvPr id="29" name="">
            <a:extLst xmlns:a="http://schemas.openxmlformats.org/drawingml/2006/main">
              <a:ext uri="{FF2B5EF4-FFF2-40B4-BE49-F238E27FC236}">
                <a16:creationId xmlns:a16="http://schemas.microsoft.com/office/drawing/2014/main" id="{BC42520E-088D-4FD7-AE87-0E8147777BA1}"/>
              </a:ext>
            </a:extLst>
          </p:cNvPr>
          <p:cNvSpPr>
            <a:spLocks xmlns:a="http://schemas.openxmlformats.org/drawingml/2006/main" noGrp="1"/>
          </p:cNvSpPr>
          <p:nvPr/>
        </p:nvSpPr>
        <p:spPr>
          <a:xfrm xmlns:a="http://schemas.openxmlformats.org/drawingml/2006/main">
            <a:off x="1257300" y="47434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23C31"/>
                </a:solidFill>
                <a:latin typeface="Aptos"/>
                <a:ea typeface="Aptos"/>
                <a:cs typeface="Aptos"/>
              </a:defRPr>
            </a:pPr>
            <a:r>
              <a:rPr sz="750" b="1">
                <a:solidFill>
                  <a:srgbClr val="123C31"/>
                </a:solidFill>
                <a:latin typeface="Aptos"/>
                <a:ea typeface="Aptos"/>
                <a:cs typeface="Aptos"/>
              </a:rPr>
              <a:t>AI GENERATIVA</a:t>
            </a:r>
          </a:p>
        </p:txBody>
      </p:sp>
      <p:sp>
        <p:nvSpPr>
          <p:cNvPr id="30" name="">
            <a:extLst xmlns:a="http://schemas.openxmlformats.org/drawingml/2006/main">
              <a:ext uri="{FF2B5EF4-FFF2-40B4-BE49-F238E27FC236}">
                <a16:creationId xmlns:a16="http://schemas.microsoft.com/office/drawing/2014/main" id="{E1DF76A7-3BCC-44DF-B023-91D4A5D684D5}"/>
              </a:ext>
            </a:extLst>
          </p:cNvPr>
          <p:cNvSpPr>
            <a:spLocks xmlns:a="http://schemas.openxmlformats.org/drawingml/2006/main" noGrp="1"/>
          </p:cNvSpPr>
          <p:nvPr/>
        </p:nvSpPr>
        <p:spPr>
          <a:xfrm xmlns:a="http://schemas.openxmlformats.org/drawingml/2006/main">
            <a:off x="3543300" y="472440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ideazione, codice, test, documenti, slide e concept del logo</a:t>
            </a:r>
          </a:p>
        </p:txBody>
      </p:sp>
      <p:sp>
        <p:nvSpPr>
          <p:cNvPr id="31" name="">
            <a:extLst xmlns:a="http://schemas.openxmlformats.org/drawingml/2006/main">
              <a:ext uri="{FF2B5EF4-FFF2-40B4-BE49-F238E27FC236}">
                <a16:creationId xmlns:a16="http://schemas.microsoft.com/office/drawing/2014/main" id="{F2A2170E-3C2B-48AD-8406-1D261A2B089D}"/>
              </a:ext>
            </a:extLst>
          </p:cNvPr>
          <p:cNvSpPr>
            <a:spLocks xmlns:a="http://schemas.openxmlformats.org/drawingml/2006/main" noGrp="1"/>
          </p:cNvSpPr>
          <p:nvPr/>
        </p:nvSpPr>
        <p:spPr>
          <a:xfrm xmlns:a="http://schemas.openxmlformats.org/drawingml/2006/main">
            <a:off x="9315450" y="4800600"/>
            <a:ext cx="2038350" cy="266700"/>
          </a:xfrm>
          <a:prstGeom xmlns:a="http://schemas.openxmlformats.org/drawingml/2006/main" prst="roundRect">
            <a:avLst>
              <a:gd name="adj" fmla="val 28571"/>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37A291E8-0B57-40A0-B248-F089EBDD47F9}"/>
              </a:ext>
            </a:extLst>
          </p:cNvPr>
          <p:cNvSpPr>
            <a:spLocks xmlns:a="http://schemas.openxmlformats.org/drawingml/2006/main" noGrp="1"/>
          </p:cNvSpPr>
          <p:nvPr/>
        </p:nvSpPr>
        <p:spPr>
          <a:xfrm xmlns:a="http://schemas.openxmlformats.org/drawingml/2006/main">
            <a:off x="9401175" y="481965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123C31"/>
                </a:solidFill>
                <a:latin typeface="Aptos"/>
                <a:ea typeface="Aptos"/>
                <a:cs typeface="Aptos"/>
              </a:defRPr>
            </a:pPr>
            <a:r>
              <a:rPr sz="675" b="1">
                <a:solidFill>
                  <a:srgbClr val="123C31"/>
                </a:solidFill>
                <a:latin typeface="Aptos"/>
                <a:ea typeface="Aptos"/>
                <a:cs typeface="Aptos"/>
              </a:rPr>
              <a:t>CON VERIFICA UMANA</a:t>
            </a:r>
          </a:p>
        </p:txBody>
      </p:sp>
      <p:sp>
        <p:nvSpPr>
          <p:cNvPr id="33" name="">
            <a:extLst xmlns:a="http://schemas.openxmlformats.org/drawingml/2006/main">
              <a:ext uri="{FF2B5EF4-FFF2-40B4-BE49-F238E27FC236}">
                <a16:creationId xmlns:a16="http://schemas.microsoft.com/office/drawing/2014/main" id="{26AF7F8E-6622-4811-90C5-40BDA0F86A21}"/>
              </a:ext>
            </a:extLst>
          </p:cNvPr>
          <p:cNvSpPr>
            <a:spLocks xmlns:a="http://schemas.openxmlformats.org/drawingml/2006/main" noGrp="1"/>
          </p:cNvSpPr>
          <p:nvPr/>
        </p:nvSpPr>
        <p:spPr>
          <a:xfrm xmlns:a="http://schemas.openxmlformats.org/drawingml/2006/main">
            <a:off x="1619250" y="5848350"/>
            <a:ext cx="895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65736B"/>
                </a:solidFill>
                <a:latin typeface="Aptos"/>
                <a:ea typeface="Aptos"/>
                <a:cs typeface="Aptos"/>
              </a:defRPr>
            </a:pPr>
            <a:r>
              <a:rPr sz="788" b="0">
                <a:solidFill>
                  <a:srgbClr val="65736B"/>
                </a:solidFill>
                <a:latin typeface="Aptos"/>
                <a:ea typeface="Aptos"/>
                <a:cs typeface="Aptos"/>
              </a:rPr>
              <a:t>Nel prodotto, LLM e virtual try-on restano opzionali: se assenti, il core funziona.</a:t>
            </a:r>
          </a:p>
        </p:txBody>
      </p:sp>
      <p:sp>
        <p:nvSpPr>
          <p:cNvPr id="34" name="">
            <a:extLst xmlns:a="http://schemas.openxmlformats.org/drawingml/2006/main">
              <a:ext uri="{FF2B5EF4-FFF2-40B4-BE49-F238E27FC236}">
                <a16:creationId xmlns:a16="http://schemas.microsoft.com/office/drawing/2014/main" id="{E9F937D9-E3F9-4560-9A71-9A1AD6B60CAC}"/>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1207D211-1644-4747-B118-9E8D9F76B56E}"/>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Separazione verificata nel repository · AI generativa usata anche per creare il progetto e il logo</a:t>
            </a:r>
          </a:p>
        </p:txBody>
      </p:sp>
      <p:sp>
        <p:nvSpPr>
          <p:cNvPr id="36" name="">
            <a:extLst xmlns:a="http://schemas.openxmlformats.org/drawingml/2006/main">
              <a:ext uri="{FF2B5EF4-FFF2-40B4-BE49-F238E27FC236}">
                <a16:creationId xmlns:a16="http://schemas.microsoft.com/office/drawing/2014/main" id="{19F63205-728F-4039-A38B-018E7FD12B42}"/>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12</a:t>
            </a:r>
          </a:p>
        </p:txBody>
      </p:sp>
    </p:spTree>
    <p:extLst>
      <p:ext uri="{BB962C8B-B14F-4D97-AF65-F5344CB8AC3E}">
        <p14:creationId xmlns:p14="http://schemas.microsoft.com/office/powerpoint/2010/main" val="31656784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B0CAB18-DB7D-43F2-A6F1-CE10CB7AFF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172D667-706A-40D8-BA09-9F0DFD8DE39A}"/>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34F8617-0384-4D30-933E-643E2E31BAFA}"/>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M A C H I N E   L E A R N I N G   ·   C O S A   A B B I A M O   A D D E S T R A T O</a:t>
            </a:r>
          </a:p>
        </p:txBody>
      </p:sp>
      <p:sp>
        <p:nvSpPr>
          <p:cNvPr id="4" name="claim-title">
            <a:extLst xmlns:a="http://schemas.openxmlformats.org/drawingml/2006/main">
              <a:ext uri="{FF2B5EF4-FFF2-40B4-BE49-F238E27FC236}">
                <a16:creationId xmlns:a16="http://schemas.microsoft.com/office/drawing/2014/main" id="{AA12B5D6-D17C-4D76-8D18-00D977CE6EAB}"/>
              </a:ext>
            </a:extLst>
          </p:cNvPr>
          <p:cNvSpPr>
            <a:spLocks xmlns:a="http://schemas.openxmlformats.org/drawingml/2006/main" noGrp="1"/>
          </p:cNvSpPr>
          <p:nvPr/>
        </p:nvSpPr>
        <p:spPr>
          <a:xfrm xmlns:a="http://schemas.openxmlformats.org/drawingml/2006/main">
            <a:off x="552450" y="742950"/>
            <a:ext cx="10096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11D"/>
                </a:solidFill>
                <a:latin typeface="Georgia"/>
                <a:ea typeface="Georgia"/>
                <a:cs typeface="Georgia"/>
              </a:defRPr>
            </a:pPr>
            <a:r>
              <a:rPr sz="3000" b="1">
                <a:solidFill>
                  <a:srgbClr val="17211D"/>
                </a:solidFill>
                <a:latin typeface="Georgia"/>
                <a:ea typeface="Georgia"/>
                <a:cs typeface="Georgia"/>
              </a:rPr>
              <a:t>Due piccole reti neurali rispondono a due domande diverse.</a:t>
            </a:r>
          </a:p>
        </p:txBody>
      </p:sp>
      <p:sp>
        <p:nvSpPr>
          <p:cNvPr id="5" name="">
            <a:extLst xmlns:a="http://schemas.openxmlformats.org/drawingml/2006/main">
              <a:ext uri="{FF2B5EF4-FFF2-40B4-BE49-F238E27FC236}">
                <a16:creationId xmlns:a16="http://schemas.microsoft.com/office/drawing/2014/main" id="{7EBA3B71-FA73-4A5C-8D58-36F8E5D499DB}"/>
              </a:ext>
            </a:extLst>
          </p:cNvPr>
          <p:cNvSpPr>
            <a:spLocks xmlns:a="http://schemas.openxmlformats.org/drawingml/2006/main" noGrp="1"/>
          </p:cNvSpPr>
          <p:nvPr/>
        </p:nvSpPr>
        <p:spPr>
          <a:xfrm xmlns:a="http://schemas.openxmlformats.org/drawingml/2006/main">
            <a:off x="552450" y="2038350"/>
            <a:ext cx="5295900" cy="32766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7B837592-7C9D-4B6C-86EC-A90DE1D30088}"/>
              </a:ext>
            </a:extLst>
          </p:cNvPr>
          <p:cNvSpPr>
            <a:spLocks xmlns:a="http://schemas.openxmlformats.org/drawingml/2006/main" noGrp="1"/>
          </p:cNvSpPr>
          <p:nvPr/>
        </p:nvSpPr>
        <p:spPr>
          <a:xfrm xmlns:a="http://schemas.openxmlformats.org/drawingml/2006/main">
            <a:off x="781050" y="2266950"/>
            <a:ext cx="1524000" cy="266700"/>
          </a:xfrm>
          <a:prstGeom xmlns:a="http://schemas.openxmlformats.org/drawingml/2006/main" prst="roundRect">
            <a:avLst>
              <a:gd name="adj" fmla="val 28571"/>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397C393-B860-4700-B4DA-267A911D5FDB}"/>
              </a:ext>
            </a:extLst>
          </p:cNvPr>
          <p:cNvSpPr>
            <a:spLocks xmlns:a="http://schemas.openxmlformats.org/drawingml/2006/main" noGrp="1"/>
          </p:cNvSpPr>
          <p:nvPr/>
        </p:nvSpPr>
        <p:spPr>
          <a:xfrm xmlns:a="http://schemas.openxmlformats.org/drawingml/2006/main">
            <a:off x="866775" y="228600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MODELLO STATO</a:t>
            </a:r>
          </a:p>
        </p:txBody>
      </p:sp>
      <p:sp>
        <p:nvSpPr>
          <p:cNvPr id="8" name="">
            <a:extLst xmlns:a="http://schemas.openxmlformats.org/drawingml/2006/main">
              <a:ext uri="{FF2B5EF4-FFF2-40B4-BE49-F238E27FC236}">
                <a16:creationId xmlns:a16="http://schemas.microsoft.com/office/drawing/2014/main" id="{252E6B8B-D229-4AC3-B805-F3A9796C7368}"/>
              </a:ext>
            </a:extLst>
          </p:cNvPr>
          <p:cNvSpPr>
            <a:spLocks xmlns:a="http://schemas.openxmlformats.org/drawingml/2006/main" noGrp="1"/>
          </p:cNvSpPr>
          <p:nvPr/>
        </p:nvSpPr>
        <p:spPr>
          <a:xfrm xmlns:a="http://schemas.openxmlformats.org/drawingml/2006/main">
            <a:off x="781050" y="2724150"/>
            <a:ext cx="438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11D"/>
                </a:solidFill>
                <a:latin typeface="Georgia"/>
                <a:ea typeface="Georgia"/>
                <a:cs typeface="Georgia"/>
              </a:defRPr>
            </a:pPr>
            <a:r>
              <a:rPr sz="1500" b="1">
                <a:solidFill>
                  <a:srgbClr val="17211D"/>
                </a:solidFill>
                <a:latin typeface="Georgia"/>
                <a:ea typeface="Georgia"/>
                <a:cs typeface="Georgia"/>
              </a:rPr>
              <a:t>Com’è messo questo capo?</a:t>
            </a:r>
          </a:p>
        </p:txBody>
      </p:sp>
      <p:sp>
        <p:nvSpPr>
          <p:cNvPr id="9" name="">
            <a:extLst xmlns:a="http://schemas.openxmlformats.org/drawingml/2006/main">
              <a:ext uri="{FF2B5EF4-FFF2-40B4-BE49-F238E27FC236}">
                <a16:creationId xmlns:a16="http://schemas.microsoft.com/office/drawing/2014/main" id="{BD6E10FF-4755-4938-99A1-51829CC4643F}"/>
              </a:ext>
            </a:extLst>
          </p:cNvPr>
          <p:cNvSpPr>
            <a:spLocks xmlns:a="http://schemas.openxmlformats.org/drawingml/2006/main" noGrp="1"/>
          </p:cNvSpPr>
          <p:nvPr/>
        </p:nvSpPr>
        <p:spPr>
          <a:xfrm xmlns:a="http://schemas.openxmlformats.org/drawingml/2006/main">
            <a:off x="781050" y="3390900"/>
            <a:ext cx="990600" cy="590550"/>
          </a:xfrm>
          <a:prstGeom xmlns:a="http://schemas.openxmlformats.org/drawingml/2006/main" prst="roundRect">
            <a:avLst>
              <a:gd name="adj" fmla="val 12903"/>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8E1EF75-E479-47DE-8A2F-69062C7AE5C3}"/>
              </a:ext>
            </a:extLst>
          </p:cNvPr>
          <p:cNvSpPr>
            <a:spLocks xmlns:a="http://schemas.openxmlformats.org/drawingml/2006/main" noGrp="1"/>
          </p:cNvSpPr>
          <p:nvPr/>
        </p:nvSpPr>
        <p:spPr>
          <a:xfrm xmlns:a="http://schemas.openxmlformats.org/drawingml/2006/main">
            <a:off x="838200" y="3486150"/>
            <a:ext cx="8763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11D"/>
                </a:solidFill>
                <a:latin typeface="Aptos"/>
                <a:ea typeface="Aptos"/>
                <a:cs typeface="Aptos"/>
              </a:defRPr>
            </a:pPr>
            <a:r>
              <a:rPr sz="713" b="1">
                <a:solidFill>
                  <a:srgbClr val="17211D"/>
                </a:solidFill>
                <a:latin typeface="Aptos"/>
                <a:ea typeface="Aptos"/>
                <a:cs typeface="Aptos"/>
              </a:rPr>
              <a:t>Foto</a:t>
            </a:r>
          </a:p>
        </p:txBody>
      </p:sp>
      <p:sp>
        <p:nvSpPr>
          <p:cNvPr id="11" name="">
            <a:extLst xmlns:a="http://schemas.openxmlformats.org/drawingml/2006/main">
              <a:ext uri="{FF2B5EF4-FFF2-40B4-BE49-F238E27FC236}">
                <a16:creationId xmlns:a16="http://schemas.microsoft.com/office/drawing/2014/main" id="{79A13561-E5EB-4DA0-969E-B2BA00A693B9}"/>
              </a:ext>
            </a:extLst>
          </p:cNvPr>
          <p:cNvSpPr>
            <a:spLocks xmlns:a="http://schemas.openxmlformats.org/drawingml/2006/main" noGrp="1"/>
          </p:cNvSpPr>
          <p:nvPr/>
        </p:nvSpPr>
        <p:spPr>
          <a:xfrm xmlns:a="http://schemas.openxmlformats.org/drawingml/2006/main">
            <a:off x="1771650" y="3686175"/>
            <a:ext cx="1905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4D50D9A-BF9E-460B-8571-ACB113F16D07}"/>
              </a:ext>
            </a:extLst>
          </p:cNvPr>
          <p:cNvSpPr>
            <a:spLocks xmlns:a="http://schemas.openxmlformats.org/drawingml/2006/main" noGrp="1"/>
          </p:cNvSpPr>
          <p:nvPr/>
        </p:nvSpPr>
        <p:spPr>
          <a:xfrm xmlns:a="http://schemas.openxmlformats.org/drawingml/2006/main">
            <a:off x="1762125" y="36290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82185CC-5FE0-4378-B498-6809634EE8D2}"/>
              </a:ext>
            </a:extLst>
          </p:cNvPr>
          <p:cNvSpPr>
            <a:spLocks xmlns:a="http://schemas.openxmlformats.org/drawingml/2006/main" noGrp="1"/>
          </p:cNvSpPr>
          <p:nvPr/>
        </p:nvSpPr>
        <p:spPr>
          <a:xfrm xmlns:a="http://schemas.openxmlformats.org/drawingml/2006/main">
            <a:off x="1962150" y="3390900"/>
            <a:ext cx="990600" cy="590550"/>
          </a:xfrm>
          <a:prstGeom xmlns:a="http://schemas.openxmlformats.org/drawingml/2006/main" prst="roundRect">
            <a:avLst>
              <a:gd name="adj" fmla="val 12903"/>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1A08085-29E4-4630-A941-15C12E275E9C}"/>
              </a:ext>
            </a:extLst>
          </p:cNvPr>
          <p:cNvSpPr>
            <a:spLocks xmlns:a="http://schemas.openxmlformats.org/drawingml/2006/main" noGrp="1"/>
          </p:cNvSpPr>
          <p:nvPr/>
        </p:nvSpPr>
        <p:spPr>
          <a:xfrm xmlns:a="http://schemas.openxmlformats.org/drawingml/2006/main">
            <a:off x="2019300" y="3486150"/>
            <a:ext cx="8763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11D"/>
                </a:solidFill>
                <a:latin typeface="Aptos"/>
                <a:ea typeface="Aptos"/>
                <a:cs typeface="Aptos"/>
              </a:defRPr>
            </a:pPr>
            <a:r>
              <a:rPr sz="713" b="1">
                <a:solidFill>
                  <a:srgbClr val="17211D"/>
                </a:solidFill>
                <a:latin typeface="Aptos"/>
                <a:ea typeface="Aptos"/>
                <a:cs typeface="Aptos"/>
              </a:rPr>
              <a:t>Fashion-CLIP</a:t>
            </a:r>
          </a:p>
          <a:p xmlns:a="http://schemas.openxmlformats.org/drawingml/2006/main">
            <a:pPr algn="ctr">
              <a:defRPr sz="713" b="1">
                <a:solidFill>
                  <a:srgbClr val="17211D"/>
                </a:solidFill>
                <a:latin typeface="Aptos"/>
                <a:ea typeface="Aptos"/>
                <a:cs typeface="Aptos"/>
              </a:defRPr>
            </a:pPr>
            <a:r>
              <a:rPr sz="713" b="1">
                <a:solidFill>
                  <a:srgbClr val="17211D"/>
                </a:solidFill>
                <a:latin typeface="Aptos"/>
                <a:ea typeface="Aptos"/>
                <a:cs typeface="Aptos"/>
              </a:rPr>
              <a:t>congelato</a:t>
            </a:r>
          </a:p>
        </p:txBody>
      </p:sp>
      <p:sp>
        <p:nvSpPr>
          <p:cNvPr id="15" name="">
            <a:extLst xmlns:a="http://schemas.openxmlformats.org/drawingml/2006/main">
              <a:ext uri="{FF2B5EF4-FFF2-40B4-BE49-F238E27FC236}">
                <a16:creationId xmlns:a16="http://schemas.microsoft.com/office/drawing/2014/main" id="{FF0D2920-3FA3-41AD-8E49-EFCB30EDB2D3}"/>
              </a:ext>
            </a:extLst>
          </p:cNvPr>
          <p:cNvSpPr>
            <a:spLocks xmlns:a="http://schemas.openxmlformats.org/drawingml/2006/main" noGrp="1"/>
          </p:cNvSpPr>
          <p:nvPr/>
        </p:nvSpPr>
        <p:spPr>
          <a:xfrm xmlns:a="http://schemas.openxmlformats.org/drawingml/2006/main">
            <a:off x="2952750" y="3686175"/>
            <a:ext cx="1905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6EDCBA8-D80C-42BA-A60A-A388D390E57A}"/>
              </a:ext>
            </a:extLst>
          </p:cNvPr>
          <p:cNvSpPr>
            <a:spLocks xmlns:a="http://schemas.openxmlformats.org/drawingml/2006/main" noGrp="1"/>
          </p:cNvSpPr>
          <p:nvPr/>
        </p:nvSpPr>
        <p:spPr>
          <a:xfrm xmlns:a="http://schemas.openxmlformats.org/drawingml/2006/main">
            <a:off x="2943225" y="36290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91E2D89-0230-4923-A4AE-FFC470ED10CB}"/>
              </a:ext>
            </a:extLst>
          </p:cNvPr>
          <p:cNvSpPr>
            <a:spLocks xmlns:a="http://schemas.openxmlformats.org/drawingml/2006/main" noGrp="1"/>
          </p:cNvSpPr>
          <p:nvPr/>
        </p:nvSpPr>
        <p:spPr>
          <a:xfrm xmlns:a="http://schemas.openxmlformats.org/drawingml/2006/main">
            <a:off x="3143250" y="3390900"/>
            <a:ext cx="990600" cy="590550"/>
          </a:xfrm>
          <a:prstGeom xmlns:a="http://schemas.openxmlformats.org/drawingml/2006/main" prst="roundRect">
            <a:avLst>
              <a:gd name="adj" fmla="val 12903"/>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062B1E2-8BBC-4738-97F8-3FEECAF534D5}"/>
              </a:ext>
            </a:extLst>
          </p:cNvPr>
          <p:cNvSpPr>
            <a:spLocks xmlns:a="http://schemas.openxmlformats.org/drawingml/2006/main" noGrp="1"/>
          </p:cNvSpPr>
          <p:nvPr/>
        </p:nvSpPr>
        <p:spPr>
          <a:xfrm xmlns:a="http://schemas.openxmlformats.org/drawingml/2006/main">
            <a:off x="3200400" y="3486150"/>
            <a:ext cx="8763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FFFFFF"/>
                </a:solidFill>
                <a:latin typeface="Aptos"/>
                <a:ea typeface="Aptos"/>
                <a:cs typeface="Aptos"/>
              </a:defRPr>
            </a:pPr>
            <a:r>
              <a:rPr sz="713" b="1">
                <a:solidFill>
                  <a:srgbClr val="FFFFFF"/>
                </a:solidFill>
                <a:latin typeface="Aptos"/>
                <a:ea typeface="Aptos"/>
                <a:cs typeface="Aptos"/>
              </a:rPr>
              <a:t>MLP nostra</a:t>
            </a:r>
          </a:p>
        </p:txBody>
      </p:sp>
      <p:sp>
        <p:nvSpPr>
          <p:cNvPr id="19" name="">
            <a:extLst xmlns:a="http://schemas.openxmlformats.org/drawingml/2006/main">
              <a:ext uri="{FF2B5EF4-FFF2-40B4-BE49-F238E27FC236}">
                <a16:creationId xmlns:a16="http://schemas.microsoft.com/office/drawing/2014/main" id="{8343953D-BB1F-4F52-92FE-0103ABA1AE4A}"/>
              </a:ext>
            </a:extLst>
          </p:cNvPr>
          <p:cNvSpPr>
            <a:spLocks xmlns:a="http://schemas.openxmlformats.org/drawingml/2006/main" noGrp="1"/>
          </p:cNvSpPr>
          <p:nvPr/>
        </p:nvSpPr>
        <p:spPr>
          <a:xfrm xmlns:a="http://schemas.openxmlformats.org/drawingml/2006/main">
            <a:off x="4133850" y="3686175"/>
            <a:ext cx="1905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B5CF6DF-0D24-4B32-B90B-E3FDEFDD443A}"/>
              </a:ext>
            </a:extLst>
          </p:cNvPr>
          <p:cNvSpPr>
            <a:spLocks xmlns:a="http://schemas.openxmlformats.org/drawingml/2006/main" noGrp="1"/>
          </p:cNvSpPr>
          <p:nvPr/>
        </p:nvSpPr>
        <p:spPr>
          <a:xfrm xmlns:a="http://schemas.openxmlformats.org/drawingml/2006/main">
            <a:off x="4124325" y="36290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4551664-FCAF-416B-A5AB-F88BE8232712}"/>
              </a:ext>
            </a:extLst>
          </p:cNvPr>
          <p:cNvSpPr>
            <a:spLocks xmlns:a="http://schemas.openxmlformats.org/drawingml/2006/main" noGrp="1"/>
          </p:cNvSpPr>
          <p:nvPr/>
        </p:nvSpPr>
        <p:spPr>
          <a:xfrm xmlns:a="http://schemas.openxmlformats.org/drawingml/2006/main">
            <a:off x="4324350" y="3390900"/>
            <a:ext cx="990600" cy="590550"/>
          </a:xfrm>
          <a:prstGeom xmlns:a="http://schemas.openxmlformats.org/drawingml/2006/main" prst="roundRect">
            <a:avLst>
              <a:gd name="adj" fmla="val 12903"/>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7EBCB2E7-6E30-4A8B-BED6-E8E4A06E5732}"/>
              </a:ext>
            </a:extLst>
          </p:cNvPr>
          <p:cNvSpPr>
            <a:spLocks xmlns:a="http://schemas.openxmlformats.org/drawingml/2006/main" noGrp="1"/>
          </p:cNvSpPr>
          <p:nvPr/>
        </p:nvSpPr>
        <p:spPr>
          <a:xfrm xmlns:a="http://schemas.openxmlformats.org/drawingml/2006/main">
            <a:off x="4381500" y="3486150"/>
            <a:ext cx="8763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11D"/>
                </a:solidFill>
                <a:latin typeface="Aptos"/>
                <a:ea typeface="Aptos"/>
                <a:cs typeface="Aptos"/>
              </a:defRPr>
            </a:pPr>
            <a:r>
              <a:rPr sz="713" b="1">
                <a:solidFill>
                  <a:srgbClr val="17211D"/>
                </a:solidFill>
                <a:latin typeface="Aptos"/>
                <a:ea typeface="Aptos"/>
                <a:cs typeface="Aptos"/>
              </a:rPr>
              <a:t>3 stati</a:t>
            </a:r>
          </a:p>
        </p:txBody>
      </p:sp>
      <p:sp>
        <p:nvSpPr>
          <p:cNvPr id="23" name="">
            <a:extLst xmlns:a="http://schemas.openxmlformats.org/drawingml/2006/main">
              <a:ext uri="{FF2B5EF4-FFF2-40B4-BE49-F238E27FC236}">
                <a16:creationId xmlns:a16="http://schemas.microsoft.com/office/drawing/2014/main" id="{90B0C50F-1B2F-429D-AE4A-136A1C6DAC5A}"/>
              </a:ext>
            </a:extLst>
          </p:cNvPr>
          <p:cNvSpPr>
            <a:spLocks xmlns:a="http://schemas.openxmlformats.org/drawingml/2006/main" noGrp="1"/>
          </p:cNvSpPr>
          <p:nvPr/>
        </p:nvSpPr>
        <p:spPr>
          <a:xfrm xmlns:a="http://schemas.openxmlformats.org/drawingml/2006/main">
            <a:off x="781050" y="4305300"/>
            <a:ext cx="1333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466D86"/>
                </a:solidFill>
                <a:latin typeface="Georgia"/>
                <a:ea typeface="Georgia"/>
                <a:cs typeface="Georgia"/>
              </a:defRPr>
            </a:pPr>
            <a:r>
              <a:rPr sz="2250" b="1">
                <a:solidFill>
                  <a:srgbClr val="466D86"/>
                </a:solidFill>
                <a:latin typeface="Georgia"/>
                <a:ea typeface="Georgia"/>
                <a:cs typeface="Georgia"/>
              </a:rPr>
              <a:t>≈ 94%</a:t>
            </a:r>
          </a:p>
        </p:txBody>
      </p:sp>
      <p:sp>
        <p:nvSpPr>
          <p:cNvPr id="24" name="">
            <a:extLst xmlns:a="http://schemas.openxmlformats.org/drawingml/2006/main">
              <a:ext uri="{FF2B5EF4-FFF2-40B4-BE49-F238E27FC236}">
                <a16:creationId xmlns:a16="http://schemas.microsoft.com/office/drawing/2014/main" id="{78600CFC-C845-49C7-8E0F-87445151E722}"/>
              </a:ext>
            </a:extLst>
          </p:cNvPr>
          <p:cNvSpPr>
            <a:spLocks xmlns:a="http://schemas.openxmlformats.org/drawingml/2006/main" noGrp="1"/>
          </p:cNvSpPr>
          <p:nvPr/>
        </p:nvSpPr>
        <p:spPr>
          <a:xfrm xmlns:a="http://schemas.openxmlformats.org/drawingml/2006/main">
            <a:off x="2133600" y="44005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5736B"/>
                </a:solidFill>
                <a:latin typeface="Aptos"/>
                <a:ea typeface="Aptos"/>
                <a:cs typeface="Aptos"/>
              </a:defRPr>
            </a:pPr>
            <a:r>
              <a:rPr sz="750" b="0">
                <a:solidFill>
                  <a:srgbClr val="65736B"/>
                </a:solidFill>
                <a:latin typeface="Aptos"/>
                <a:ea typeface="Aptos"/>
                <a:cs typeface="Aptos"/>
              </a:rPr>
              <a:t>accuracy su holdout locale</a:t>
            </a:r>
          </a:p>
        </p:txBody>
      </p:sp>
      <p:sp>
        <p:nvSpPr>
          <p:cNvPr id="25" name="">
            <a:extLst xmlns:a="http://schemas.openxmlformats.org/drawingml/2006/main">
              <a:ext uri="{FF2B5EF4-FFF2-40B4-BE49-F238E27FC236}">
                <a16:creationId xmlns:a16="http://schemas.microsoft.com/office/drawing/2014/main" id="{D959DA89-7890-40A3-8B03-493F715E5239}"/>
              </a:ext>
            </a:extLst>
          </p:cNvPr>
          <p:cNvSpPr>
            <a:spLocks xmlns:a="http://schemas.openxmlformats.org/drawingml/2006/main" noGrp="1"/>
          </p:cNvSpPr>
          <p:nvPr/>
        </p:nvSpPr>
        <p:spPr>
          <a:xfrm xmlns:a="http://schemas.openxmlformats.org/drawingml/2006/main">
            <a:off x="6038850" y="2038350"/>
            <a:ext cx="5600700" cy="32766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B9C3BB"/>
            </a:solidFill>
            <a:prstDash val="solid"/>
          </a:ln>
        </p:spPr>
      </p:sp>
      <p:sp>
        <p:nvSpPr>
          <p:cNvPr id="26" name="">
            <a:extLst xmlns:a="http://schemas.openxmlformats.org/drawingml/2006/main">
              <a:ext uri="{FF2B5EF4-FFF2-40B4-BE49-F238E27FC236}">
                <a16:creationId xmlns:a16="http://schemas.microsoft.com/office/drawing/2014/main" id="{93539584-0E5C-4781-8F22-0C82E779E725}"/>
              </a:ext>
            </a:extLst>
          </p:cNvPr>
          <p:cNvSpPr>
            <a:spLocks xmlns:a="http://schemas.openxmlformats.org/drawingml/2006/main" noGrp="1"/>
          </p:cNvSpPr>
          <p:nvPr/>
        </p:nvSpPr>
        <p:spPr>
          <a:xfrm xmlns:a="http://schemas.openxmlformats.org/drawingml/2006/main">
            <a:off x="6267450" y="2266950"/>
            <a:ext cx="1524000" cy="266700"/>
          </a:xfrm>
          <a:prstGeom xmlns:a="http://schemas.openxmlformats.org/drawingml/2006/main" prst="roundRect">
            <a:avLst>
              <a:gd name="adj" fmla="val 28571"/>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2F2BB39C-B3CB-43C6-BD14-4D62943B8C60}"/>
              </a:ext>
            </a:extLst>
          </p:cNvPr>
          <p:cNvSpPr>
            <a:spLocks xmlns:a="http://schemas.openxmlformats.org/drawingml/2006/main" noGrp="1"/>
          </p:cNvSpPr>
          <p:nvPr/>
        </p:nvSpPr>
        <p:spPr>
          <a:xfrm xmlns:a="http://schemas.openxmlformats.org/drawingml/2006/main">
            <a:off x="6353175" y="228600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MODELLO GAP</a:t>
            </a:r>
          </a:p>
        </p:txBody>
      </p:sp>
      <p:sp>
        <p:nvSpPr>
          <p:cNvPr id="28" name="">
            <a:extLst xmlns:a="http://schemas.openxmlformats.org/drawingml/2006/main">
              <a:ext uri="{FF2B5EF4-FFF2-40B4-BE49-F238E27FC236}">
                <a16:creationId xmlns:a16="http://schemas.microsoft.com/office/drawing/2014/main" id="{132E642C-770C-4588-9416-1EFC5DE944CB}"/>
              </a:ext>
            </a:extLst>
          </p:cNvPr>
          <p:cNvSpPr>
            <a:spLocks xmlns:a="http://schemas.openxmlformats.org/drawingml/2006/main" noGrp="1"/>
          </p:cNvSpPr>
          <p:nvPr/>
        </p:nvSpPr>
        <p:spPr>
          <a:xfrm xmlns:a="http://schemas.openxmlformats.org/drawingml/2006/main">
            <a:off x="6267450" y="272415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11D"/>
                </a:solidFill>
                <a:latin typeface="Georgia"/>
                <a:ea typeface="Georgia"/>
                <a:cs typeface="Georgia"/>
              </a:defRPr>
            </a:pPr>
            <a:r>
              <a:rPr sz="1500" b="1">
                <a:solidFill>
                  <a:srgbClr val="17211D"/>
                </a:solidFill>
                <a:latin typeface="Georgia"/>
                <a:ea typeface="Georgia"/>
                <a:cs typeface="Georgia"/>
              </a:rPr>
              <a:t>Cosa manca davvero al guardaroba?</a:t>
            </a:r>
          </a:p>
        </p:txBody>
      </p:sp>
      <p:sp>
        <p:nvSpPr>
          <p:cNvPr id="29" name="">
            <a:extLst xmlns:a="http://schemas.openxmlformats.org/drawingml/2006/main">
              <a:ext uri="{FF2B5EF4-FFF2-40B4-BE49-F238E27FC236}">
                <a16:creationId xmlns:a16="http://schemas.microsoft.com/office/drawing/2014/main" id="{87893E7C-5C2F-4A41-B312-11F5BF7B07E4}"/>
              </a:ext>
            </a:extLst>
          </p:cNvPr>
          <p:cNvSpPr>
            <a:spLocks xmlns:a="http://schemas.openxmlformats.org/drawingml/2006/main" noGrp="1"/>
          </p:cNvSpPr>
          <p:nvPr/>
        </p:nvSpPr>
        <p:spPr>
          <a:xfrm xmlns:a="http://schemas.openxmlformats.org/drawingml/2006/main">
            <a:off x="6267450" y="3390900"/>
            <a:ext cx="1028700" cy="590550"/>
          </a:xfrm>
          <a:prstGeom xmlns:a="http://schemas.openxmlformats.org/drawingml/2006/main" prst="roundRect">
            <a:avLst>
              <a:gd name="adj" fmla="val 12903"/>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5DFDECE3-AE3A-4FC8-A3A3-EF1592282772}"/>
              </a:ext>
            </a:extLst>
          </p:cNvPr>
          <p:cNvSpPr>
            <a:spLocks xmlns:a="http://schemas.openxmlformats.org/drawingml/2006/main" noGrp="1"/>
          </p:cNvSpPr>
          <p:nvPr/>
        </p:nvSpPr>
        <p:spPr>
          <a:xfrm xmlns:a="http://schemas.openxmlformats.org/drawingml/2006/main">
            <a:off x="6324600" y="3486150"/>
            <a:ext cx="914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11D"/>
                </a:solidFill>
                <a:latin typeface="Aptos"/>
                <a:ea typeface="Aptos"/>
                <a:cs typeface="Aptos"/>
              </a:defRPr>
            </a:pPr>
            <a:r>
              <a:rPr sz="713" b="1">
                <a:solidFill>
                  <a:srgbClr val="17211D"/>
                </a:solidFill>
                <a:latin typeface="Aptos"/>
                <a:ea typeface="Aptos"/>
                <a:cs typeface="Aptos"/>
              </a:rPr>
              <a:t>14 segnali</a:t>
            </a:r>
          </a:p>
        </p:txBody>
      </p:sp>
      <p:sp>
        <p:nvSpPr>
          <p:cNvPr id="31" name="">
            <a:extLst xmlns:a="http://schemas.openxmlformats.org/drawingml/2006/main">
              <a:ext uri="{FF2B5EF4-FFF2-40B4-BE49-F238E27FC236}">
                <a16:creationId xmlns:a16="http://schemas.microsoft.com/office/drawing/2014/main" id="{FAE83E80-0B62-4A57-85E6-BC914ED28A71}"/>
              </a:ext>
            </a:extLst>
          </p:cNvPr>
          <p:cNvSpPr>
            <a:spLocks xmlns:a="http://schemas.openxmlformats.org/drawingml/2006/main" noGrp="1"/>
          </p:cNvSpPr>
          <p:nvPr/>
        </p:nvSpPr>
        <p:spPr>
          <a:xfrm xmlns:a="http://schemas.openxmlformats.org/drawingml/2006/main">
            <a:off x="7296150" y="3686175"/>
            <a:ext cx="3810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4E2B46B3-7726-47CE-B9C8-B2827C51AE68}"/>
              </a:ext>
            </a:extLst>
          </p:cNvPr>
          <p:cNvSpPr>
            <a:spLocks xmlns:a="http://schemas.openxmlformats.org/drawingml/2006/main" noGrp="1"/>
          </p:cNvSpPr>
          <p:nvPr/>
        </p:nvSpPr>
        <p:spPr>
          <a:xfrm xmlns:a="http://schemas.openxmlformats.org/drawingml/2006/main">
            <a:off x="7305675" y="36290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165800D8-8F0C-422C-BCB3-156AEA37A8FA}"/>
              </a:ext>
            </a:extLst>
          </p:cNvPr>
          <p:cNvSpPr>
            <a:spLocks xmlns:a="http://schemas.openxmlformats.org/drawingml/2006/main" noGrp="1"/>
          </p:cNvSpPr>
          <p:nvPr/>
        </p:nvSpPr>
        <p:spPr>
          <a:xfrm xmlns:a="http://schemas.openxmlformats.org/drawingml/2006/main">
            <a:off x="7505700" y="3390900"/>
            <a:ext cx="1028700" cy="590550"/>
          </a:xfrm>
          <a:prstGeom xmlns:a="http://schemas.openxmlformats.org/drawingml/2006/main" prst="roundRect">
            <a:avLst>
              <a:gd name="adj" fmla="val 12903"/>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E66C5284-7B7F-4207-8464-93EDFA317DD8}"/>
              </a:ext>
            </a:extLst>
          </p:cNvPr>
          <p:cNvSpPr>
            <a:spLocks xmlns:a="http://schemas.openxmlformats.org/drawingml/2006/main" noGrp="1"/>
          </p:cNvSpPr>
          <p:nvPr/>
        </p:nvSpPr>
        <p:spPr>
          <a:xfrm xmlns:a="http://schemas.openxmlformats.org/drawingml/2006/main">
            <a:off x="7562850" y="3486150"/>
            <a:ext cx="914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FFFFFF"/>
                </a:solidFill>
                <a:latin typeface="Aptos"/>
                <a:ea typeface="Aptos"/>
                <a:cs typeface="Aptos"/>
              </a:defRPr>
            </a:pPr>
            <a:r>
              <a:rPr sz="713" b="1">
                <a:solidFill>
                  <a:srgbClr val="FFFFFF"/>
                </a:solidFill>
                <a:latin typeface="Aptos"/>
                <a:ea typeface="Aptos"/>
                <a:cs typeface="Aptos"/>
              </a:rPr>
              <a:t>MLP nostra</a:t>
            </a:r>
          </a:p>
        </p:txBody>
      </p:sp>
      <p:sp>
        <p:nvSpPr>
          <p:cNvPr id="35" name="">
            <a:extLst xmlns:a="http://schemas.openxmlformats.org/drawingml/2006/main">
              <a:ext uri="{FF2B5EF4-FFF2-40B4-BE49-F238E27FC236}">
                <a16:creationId xmlns:a16="http://schemas.microsoft.com/office/drawing/2014/main" id="{D2A52B9C-246D-496F-85D2-A6EC3DD3EBB0}"/>
              </a:ext>
            </a:extLst>
          </p:cNvPr>
          <p:cNvSpPr>
            <a:spLocks xmlns:a="http://schemas.openxmlformats.org/drawingml/2006/main" noGrp="1"/>
          </p:cNvSpPr>
          <p:nvPr/>
        </p:nvSpPr>
        <p:spPr>
          <a:xfrm xmlns:a="http://schemas.openxmlformats.org/drawingml/2006/main">
            <a:off x="8534400" y="3686175"/>
            <a:ext cx="3810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66A6CA8-1C7C-4BA7-BED6-B3D365CFBBD7}"/>
              </a:ext>
            </a:extLst>
          </p:cNvPr>
          <p:cNvSpPr>
            <a:spLocks xmlns:a="http://schemas.openxmlformats.org/drawingml/2006/main" noGrp="1"/>
          </p:cNvSpPr>
          <p:nvPr/>
        </p:nvSpPr>
        <p:spPr>
          <a:xfrm xmlns:a="http://schemas.openxmlformats.org/drawingml/2006/main">
            <a:off x="8543925" y="36290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E3E5D214-D1BE-4475-9E83-CC71F4B7DCDF}"/>
              </a:ext>
            </a:extLst>
          </p:cNvPr>
          <p:cNvSpPr>
            <a:spLocks xmlns:a="http://schemas.openxmlformats.org/drawingml/2006/main" noGrp="1"/>
          </p:cNvSpPr>
          <p:nvPr/>
        </p:nvSpPr>
        <p:spPr>
          <a:xfrm xmlns:a="http://schemas.openxmlformats.org/drawingml/2006/main">
            <a:off x="8743950" y="3390900"/>
            <a:ext cx="1028700" cy="590550"/>
          </a:xfrm>
          <a:prstGeom xmlns:a="http://schemas.openxmlformats.org/drawingml/2006/main" prst="roundRect">
            <a:avLst>
              <a:gd name="adj" fmla="val 12903"/>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655D589-5EBA-4517-BB8A-7C921958D965}"/>
              </a:ext>
            </a:extLst>
          </p:cNvPr>
          <p:cNvSpPr>
            <a:spLocks xmlns:a="http://schemas.openxmlformats.org/drawingml/2006/main" noGrp="1"/>
          </p:cNvSpPr>
          <p:nvPr/>
        </p:nvSpPr>
        <p:spPr>
          <a:xfrm xmlns:a="http://schemas.openxmlformats.org/drawingml/2006/main">
            <a:off x="8801100" y="3486150"/>
            <a:ext cx="914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11D"/>
                </a:solidFill>
                <a:latin typeface="Aptos"/>
                <a:ea typeface="Aptos"/>
                <a:cs typeface="Aptos"/>
              </a:defRPr>
            </a:pPr>
            <a:r>
              <a:rPr sz="713" b="1">
                <a:solidFill>
                  <a:srgbClr val="17211D"/>
                </a:solidFill>
                <a:latin typeface="Aptos"/>
                <a:ea typeface="Aptos"/>
                <a:cs typeface="Aptos"/>
              </a:rPr>
              <a:t>6 gap</a:t>
            </a:r>
          </a:p>
        </p:txBody>
      </p:sp>
      <p:sp>
        <p:nvSpPr>
          <p:cNvPr id="39" name="">
            <a:extLst xmlns:a="http://schemas.openxmlformats.org/drawingml/2006/main">
              <a:ext uri="{FF2B5EF4-FFF2-40B4-BE49-F238E27FC236}">
                <a16:creationId xmlns:a16="http://schemas.microsoft.com/office/drawing/2014/main" id="{43210EA2-DD28-436A-862A-C686C05F797D}"/>
              </a:ext>
            </a:extLst>
          </p:cNvPr>
          <p:cNvSpPr>
            <a:spLocks xmlns:a="http://schemas.openxmlformats.org/drawingml/2006/main" noGrp="1"/>
          </p:cNvSpPr>
          <p:nvPr/>
        </p:nvSpPr>
        <p:spPr>
          <a:xfrm xmlns:a="http://schemas.openxmlformats.org/drawingml/2006/main">
            <a:off x="9772650" y="3686175"/>
            <a:ext cx="3810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3112DFCC-95DD-41F6-BB1A-26ED572F2F14}"/>
              </a:ext>
            </a:extLst>
          </p:cNvPr>
          <p:cNvSpPr>
            <a:spLocks xmlns:a="http://schemas.openxmlformats.org/drawingml/2006/main" noGrp="1"/>
          </p:cNvSpPr>
          <p:nvPr/>
        </p:nvSpPr>
        <p:spPr>
          <a:xfrm xmlns:a="http://schemas.openxmlformats.org/drawingml/2006/main">
            <a:off x="9782175" y="36290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B6CD00B5-7183-4E16-B4B3-0939BA1C2418}"/>
              </a:ext>
            </a:extLst>
          </p:cNvPr>
          <p:cNvSpPr>
            <a:spLocks xmlns:a="http://schemas.openxmlformats.org/drawingml/2006/main" noGrp="1"/>
          </p:cNvSpPr>
          <p:nvPr/>
        </p:nvSpPr>
        <p:spPr>
          <a:xfrm xmlns:a="http://schemas.openxmlformats.org/drawingml/2006/main">
            <a:off x="9982200" y="3390900"/>
            <a:ext cx="1028700" cy="590550"/>
          </a:xfrm>
          <a:prstGeom xmlns:a="http://schemas.openxmlformats.org/drawingml/2006/main" prst="roundRect">
            <a:avLst>
              <a:gd name="adj" fmla="val 12903"/>
            </a:avLst>
          </a:prstGeom>
          <a:solidFill xmlns:a="http://schemas.openxmlformats.org/drawingml/2006/main">
            <a:srgbClr val="DDE5DD"/>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7784456-697E-468E-B32F-3898EBBF5C88}"/>
              </a:ext>
            </a:extLst>
          </p:cNvPr>
          <p:cNvSpPr>
            <a:spLocks xmlns:a="http://schemas.openxmlformats.org/drawingml/2006/main" noGrp="1"/>
          </p:cNvSpPr>
          <p:nvPr/>
        </p:nvSpPr>
        <p:spPr>
          <a:xfrm xmlns:a="http://schemas.openxmlformats.org/drawingml/2006/main">
            <a:off x="10039350" y="3486150"/>
            <a:ext cx="914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11D"/>
                </a:solidFill>
                <a:latin typeface="Aptos"/>
                <a:ea typeface="Aptos"/>
                <a:cs typeface="Aptos"/>
              </a:defRPr>
            </a:pPr>
            <a:r>
              <a:rPr sz="713" b="1">
                <a:solidFill>
                  <a:srgbClr val="17211D"/>
                </a:solidFill>
                <a:latin typeface="Aptos"/>
                <a:ea typeface="Aptos"/>
                <a:cs typeface="Aptos"/>
              </a:rPr>
              <a:t>consiglio</a:t>
            </a:r>
          </a:p>
        </p:txBody>
      </p:sp>
      <p:sp>
        <p:nvSpPr>
          <p:cNvPr id="43" name="">
            <a:extLst xmlns:a="http://schemas.openxmlformats.org/drawingml/2006/main">
              <a:ext uri="{FF2B5EF4-FFF2-40B4-BE49-F238E27FC236}">
                <a16:creationId xmlns:a16="http://schemas.microsoft.com/office/drawing/2014/main" id="{6A92A818-43DE-4D68-9862-A6D830A90B62}"/>
              </a:ext>
            </a:extLst>
          </p:cNvPr>
          <p:cNvSpPr>
            <a:spLocks xmlns:a="http://schemas.openxmlformats.org/drawingml/2006/main" noGrp="1"/>
          </p:cNvSpPr>
          <p:nvPr/>
        </p:nvSpPr>
        <p:spPr>
          <a:xfrm xmlns:a="http://schemas.openxmlformats.org/drawingml/2006/main">
            <a:off x="6267450" y="4305300"/>
            <a:ext cx="1333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D56E42"/>
                </a:solidFill>
                <a:latin typeface="Georgia"/>
                <a:ea typeface="Georgia"/>
                <a:cs typeface="Georgia"/>
              </a:defRPr>
            </a:pPr>
            <a:r>
              <a:rPr sz="2250" b="1">
                <a:solidFill>
                  <a:srgbClr val="D56E42"/>
                </a:solidFill>
                <a:latin typeface="Georgia"/>
                <a:ea typeface="Georgia"/>
                <a:cs typeface="Georgia"/>
              </a:rPr>
              <a:t>0,943</a:t>
            </a:r>
          </a:p>
        </p:txBody>
      </p:sp>
      <p:sp>
        <p:nvSpPr>
          <p:cNvPr id="44" name="">
            <a:extLst xmlns:a="http://schemas.openxmlformats.org/drawingml/2006/main">
              <a:ext uri="{FF2B5EF4-FFF2-40B4-BE49-F238E27FC236}">
                <a16:creationId xmlns:a16="http://schemas.microsoft.com/office/drawing/2014/main" id="{CFF990DC-6B64-4EB9-A487-22A01CFE7336}"/>
              </a:ext>
            </a:extLst>
          </p:cNvPr>
          <p:cNvSpPr>
            <a:spLocks xmlns:a="http://schemas.openxmlformats.org/drawingml/2006/main" noGrp="1"/>
          </p:cNvSpPr>
          <p:nvPr/>
        </p:nvSpPr>
        <p:spPr>
          <a:xfrm xmlns:a="http://schemas.openxmlformats.org/drawingml/2006/main">
            <a:off x="7620000" y="4400550"/>
            <a:ext cx="2571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5736B"/>
                </a:solidFill>
                <a:latin typeface="Aptos"/>
                <a:ea typeface="Aptos"/>
                <a:cs typeface="Aptos"/>
              </a:defRPr>
            </a:pPr>
            <a:r>
              <a:rPr sz="750" b="0">
                <a:solidFill>
                  <a:srgbClr val="65736B"/>
                </a:solidFill>
                <a:latin typeface="Aptos"/>
                <a:ea typeface="Aptos"/>
                <a:cs typeface="Aptos"/>
              </a:rPr>
              <a:t>micro-F1 su dati simulati</a:t>
            </a:r>
          </a:p>
        </p:txBody>
      </p:sp>
      <p:sp>
        <p:nvSpPr>
          <p:cNvPr id="45" name="">
            <a:extLst xmlns:a="http://schemas.openxmlformats.org/drawingml/2006/main">
              <a:ext uri="{FF2B5EF4-FFF2-40B4-BE49-F238E27FC236}">
                <a16:creationId xmlns:a16="http://schemas.microsoft.com/office/drawing/2014/main" id="{C1A860B6-D6D3-4DFE-B824-74FA4EE26A59}"/>
              </a:ext>
            </a:extLst>
          </p:cNvPr>
          <p:cNvSpPr>
            <a:spLocks xmlns:a="http://schemas.openxmlformats.org/drawingml/2006/main" noGrp="1"/>
          </p:cNvSpPr>
          <p:nvPr/>
        </p:nvSpPr>
        <p:spPr>
          <a:xfrm xmlns:a="http://schemas.openxmlformats.org/drawingml/2006/main">
            <a:off x="552450" y="5467350"/>
            <a:ext cx="11087100" cy="571500"/>
          </a:xfrm>
          <a:prstGeom xmlns:a="http://schemas.openxmlformats.org/drawingml/2006/main" prst="roundRect">
            <a:avLst>
              <a:gd name="adj" fmla="val 13333"/>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D6250BF9-B1EF-4F35-9B7F-70A66083FA46}"/>
              </a:ext>
            </a:extLst>
          </p:cNvPr>
          <p:cNvSpPr>
            <a:spLocks xmlns:a="http://schemas.openxmlformats.org/drawingml/2006/main" noGrp="1"/>
          </p:cNvSpPr>
          <p:nvPr/>
        </p:nvSpPr>
        <p:spPr>
          <a:xfrm xmlns:a="http://schemas.openxmlformats.org/drawingml/2006/main">
            <a:off x="781050" y="56197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FFFF"/>
                </a:solidFill>
                <a:latin typeface="Georgia"/>
                <a:ea typeface="Georgia"/>
                <a:cs typeface="Georgia"/>
              </a:defRPr>
            </a:pPr>
            <a:r>
              <a:rPr sz="900" b="1">
                <a:solidFill>
                  <a:srgbClr val="FFFFFF"/>
                </a:solidFill>
                <a:latin typeface="Georgia"/>
                <a:ea typeface="Georgia"/>
                <a:cs typeface="Georgia"/>
              </a:rPr>
              <a:t>5 notebook autonomi per l’esame</a:t>
            </a:r>
          </a:p>
        </p:txBody>
      </p:sp>
      <p:sp>
        <p:nvSpPr>
          <p:cNvPr id="47" name="">
            <a:extLst xmlns:a="http://schemas.openxmlformats.org/drawingml/2006/main">
              <a:ext uri="{FF2B5EF4-FFF2-40B4-BE49-F238E27FC236}">
                <a16:creationId xmlns:a16="http://schemas.microsoft.com/office/drawing/2014/main" id="{2D9ED7CB-42E3-42D8-977A-B563784E50D3}"/>
              </a:ext>
            </a:extLst>
          </p:cNvPr>
          <p:cNvSpPr>
            <a:spLocks xmlns:a="http://schemas.openxmlformats.org/drawingml/2006/main" noGrp="1"/>
          </p:cNvSpPr>
          <p:nvPr/>
        </p:nvSpPr>
        <p:spPr>
          <a:xfrm xmlns:a="http://schemas.openxmlformats.org/drawingml/2006/main">
            <a:off x="6858000" y="5619750"/>
            <a:ext cx="1524000" cy="266700"/>
          </a:xfrm>
          <a:prstGeom xmlns:a="http://schemas.openxmlformats.org/drawingml/2006/main" prst="roundRect">
            <a:avLst>
              <a:gd name="adj" fmla="val 28571"/>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0A0259CC-5357-4E4A-A49E-F04B417B3DD5}"/>
              </a:ext>
            </a:extLst>
          </p:cNvPr>
          <p:cNvSpPr>
            <a:spLocks xmlns:a="http://schemas.openxmlformats.org/drawingml/2006/main" noGrp="1"/>
          </p:cNvSpPr>
          <p:nvPr/>
        </p:nvSpPr>
        <p:spPr>
          <a:xfrm xmlns:a="http://schemas.openxmlformats.org/drawingml/2006/main">
            <a:off x="6943725" y="5638800"/>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123C31"/>
                </a:solidFill>
                <a:latin typeface="Aptos"/>
                <a:ea typeface="Aptos"/>
                <a:cs typeface="Aptos"/>
              </a:defRPr>
            </a:pPr>
            <a:r>
              <a:rPr sz="675" b="1">
                <a:solidFill>
                  <a:srgbClr val="123C31"/>
                </a:solidFill>
                <a:latin typeface="Aptos"/>
                <a:ea typeface="Aptos"/>
                <a:cs typeface="Aptos"/>
              </a:rPr>
              <a:t>2 RUNTIME</a:t>
            </a:r>
          </a:p>
        </p:txBody>
      </p:sp>
      <p:sp>
        <p:nvSpPr>
          <p:cNvPr id="49" name="">
            <a:extLst xmlns:a="http://schemas.openxmlformats.org/drawingml/2006/main">
              <a:ext uri="{FF2B5EF4-FFF2-40B4-BE49-F238E27FC236}">
                <a16:creationId xmlns:a16="http://schemas.microsoft.com/office/drawing/2014/main" id="{EB368F06-32C5-4EB7-9F1F-DA90C897612C}"/>
              </a:ext>
            </a:extLst>
          </p:cNvPr>
          <p:cNvSpPr>
            <a:spLocks xmlns:a="http://schemas.openxmlformats.org/drawingml/2006/main" noGrp="1"/>
          </p:cNvSpPr>
          <p:nvPr/>
        </p:nvSpPr>
        <p:spPr>
          <a:xfrm xmlns:a="http://schemas.openxmlformats.org/drawingml/2006/main">
            <a:off x="8553450" y="5619750"/>
            <a:ext cx="2819400" cy="266700"/>
          </a:xfrm>
          <a:prstGeom xmlns:a="http://schemas.openxmlformats.org/drawingml/2006/main" prst="roundRect">
            <a:avLst>
              <a:gd name="adj" fmla="val 28571"/>
            </a:avLst>
          </a:prstGeom>
          <a:solidFill xmlns:a="http://schemas.openxmlformats.org/drawingml/2006/main">
            <a:srgbClr val="1D5946"/>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8CFD27F1-BF5F-4D09-A55F-96E102B880AC}"/>
              </a:ext>
            </a:extLst>
          </p:cNvPr>
          <p:cNvSpPr>
            <a:spLocks xmlns:a="http://schemas.openxmlformats.org/drawingml/2006/main" noGrp="1"/>
          </p:cNvSpPr>
          <p:nvPr/>
        </p:nvSpPr>
        <p:spPr>
          <a:xfrm xmlns:a="http://schemas.openxmlformats.org/drawingml/2006/main">
            <a:off x="8639175" y="5638800"/>
            <a:ext cx="2647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3 ESPERIMENTI ACCADEMICI</a:t>
            </a:r>
          </a:p>
        </p:txBody>
      </p:sp>
      <p:sp>
        <p:nvSpPr>
          <p:cNvPr id="51" name="">
            <a:extLst xmlns:a="http://schemas.openxmlformats.org/drawingml/2006/main">
              <a:ext uri="{FF2B5EF4-FFF2-40B4-BE49-F238E27FC236}">
                <a16:creationId xmlns:a16="http://schemas.microsoft.com/office/drawing/2014/main" id="{DD2ABC37-9623-426A-8212-3ABA14AEBD64}"/>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E3100493-DF0F-48FC-83A3-40F491EE53EA}"/>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Limiti: stato senza validazione esterna · gap con label da regole simulate</a:t>
            </a:r>
          </a:p>
        </p:txBody>
      </p:sp>
      <p:sp>
        <p:nvSpPr>
          <p:cNvPr id="53" name="">
            <a:extLst xmlns:a="http://schemas.openxmlformats.org/drawingml/2006/main">
              <a:ext uri="{FF2B5EF4-FFF2-40B4-BE49-F238E27FC236}">
                <a16:creationId xmlns:a16="http://schemas.microsoft.com/office/drawing/2014/main" id="{A365327B-B357-45F4-A96B-D51EA10D6273}"/>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13</a:t>
            </a:r>
          </a:p>
        </p:txBody>
      </p:sp>
    </p:spTree>
    <p:extLst>
      <p:ext uri="{BB962C8B-B14F-4D97-AF65-F5344CB8AC3E}">
        <p14:creationId xmlns:p14="http://schemas.microsoft.com/office/powerpoint/2010/main" val="28769962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7B4C4639-663C-4BB0-BA2E-78BDD087F7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BF18333-D22D-4109-838A-38D6109BA313}"/>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197FCE8-7ACF-4166-AB0F-F5F1BFCFB390}"/>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W O R K F L O W   G E N E R A T I V O   ·   P R O M P T   E   A L L U C I N A Z I O N I</a:t>
            </a:r>
          </a:p>
        </p:txBody>
      </p:sp>
      <p:sp>
        <p:nvSpPr>
          <p:cNvPr id="4" name="claim-title">
            <a:extLst xmlns:a="http://schemas.openxmlformats.org/drawingml/2006/main">
              <a:ext uri="{FF2B5EF4-FFF2-40B4-BE49-F238E27FC236}">
                <a16:creationId xmlns:a16="http://schemas.microsoft.com/office/drawing/2014/main" id="{C36E099A-C7B7-4E43-B8C6-57B95E882A6A}"/>
              </a:ext>
            </a:extLst>
          </p:cNvPr>
          <p:cNvSpPr>
            <a:spLocks xmlns:a="http://schemas.openxmlformats.org/drawingml/2006/main" noGrp="1"/>
          </p:cNvSpPr>
          <p:nvPr/>
        </p:nvSpPr>
        <p:spPr>
          <a:xfrm xmlns:a="http://schemas.openxmlformats.org/drawingml/2006/main">
            <a:off x="552450" y="742950"/>
            <a:ext cx="10001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11D"/>
                </a:solidFill>
                <a:latin typeface="Georgia"/>
                <a:ea typeface="Georgia"/>
                <a:cs typeface="Georgia"/>
              </a:defRPr>
            </a:pPr>
            <a:r>
              <a:rPr sz="2925" b="1">
                <a:solidFill>
                  <a:srgbClr val="17211D"/>
                </a:solidFill>
                <a:latin typeface="Georgia"/>
                <a:ea typeface="Georgia"/>
                <a:cs typeface="Georgia"/>
              </a:rPr>
              <a:t>Un prompt utile non chiude il lavoro: apre un ciclo di verifica.</a:t>
            </a:r>
          </a:p>
        </p:txBody>
      </p:sp>
      <p:sp>
        <p:nvSpPr>
          <p:cNvPr id="5" name="">
            <a:extLst xmlns:a="http://schemas.openxmlformats.org/drawingml/2006/main">
              <a:ext uri="{FF2B5EF4-FFF2-40B4-BE49-F238E27FC236}">
                <a16:creationId xmlns:a16="http://schemas.microsoft.com/office/drawing/2014/main" id="{5E4EEBC1-A9B7-4C72-9396-BE12DE2D234F}"/>
              </a:ext>
            </a:extLst>
          </p:cNvPr>
          <p:cNvSpPr>
            <a:spLocks xmlns:a="http://schemas.openxmlformats.org/drawingml/2006/main" noGrp="1"/>
          </p:cNvSpPr>
          <p:nvPr/>
        </p:nvSpPr>
        <p:spPr>
          <a:xfrm xmlns:a="http://schemas.openxmlformats.org/drawingml/2006/main">
            <a:off x="552450" y="2247900"/>
            <a:ext cx="361950" cy="361950"/>
          </a:xfrm>
          <a:prstGeom xmlns:a="http://schemas.openxmlformats.org/drawingml/2006/main" prst="ellipse">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42524F1-709A-4D27-ACF0-EB54C10F539D}"/>
              </a:ext>
            </a:extLst>
          </p:cNvPr>
          <p:cNvSpPr>
            <a:spLocks xmlns:a="http://schemas.openxmlformats.org/drawingml/2006/main" noGrp="1"/>
          </p:cNvSpPr>
          <p:nvPr/>
        </p:nvSpPr>
        <p:spPr>
          <a:xfrm xmlns:a="http://schemas.openxmlformats.org/drawingml/2006/main">
            <a:off x="552450" y="226695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Georgia"/>
                <a:ea typeface="Georgia"/>
                <a:cs typeface="Georgia"/>
              </a:defRPr>
            </a:pPr>
            <a:r>
              <a:rPr sz="1050" b="1">
                <a:solidFill>
                  <a:srgbClr val="FFFFFF"/>
                </a:solidFill>
                <a:latin typeface="Georgia"/>
                <a:ea typeface="Georgia"/>
                <a:cs typeface="Georgia"/>
              </a:rPr>
              <a:t>1</a:t>
            </a:r>
          </a:p>
        </p:txBody>
      </p:sp>
      <p:sp>
        <p:nvSpPr>
          <p:cNvPr id="7" name="">
            <a:extLst xmlns:a="http://schemas.openxmlformats.org/drawingml/2006/main">
              <a:ext uri="{FF2B5EF4-FFF2-40B4-BE49-F238E27FC236}">
                <a16:creationId xmlns:a16="http://schemas.microsoft.com/office/drawing/2014/main" id="{5BE64390-856A-4916-B075-3EF15EE2F394}"/>
              </a:ext>
            </a:extLst>
          </p:cNvPr>
          <p:cNvSpPr>
            <a:spLocks xmlns:a="http://schemas.openxmlformats.org/drawingml/2006/main" noGrp="1"/>
          </p:cNvSpPr>
          <p:nvPr/>
        </p:nvSpPr>
        <p:spPr>
          <a:xfrm xmlns:a="http://schemas.openxmlformats.org/drawingml/2006/main">
            <a:off x="1009650" y="2428875"/>
            <a:ext cx="135255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BE0B042-BDE6-44FA-A6D0-8DDD48456330}"/>
              </a:ext>
            </a:extLst>
          </p:cNvPr>
          <p:cNvSpPr>
            <a:spLocks xmlns:a="http://schemas.openxmlformats.org/drawingml/2006/main" noGrp="1"/>
          </p:cNvSpPr>
          <p:nvPr/>
        </p:nvSpPr>
        <p:spPr>
          <a:xfrm xmlns:a="http://schemas.openxmlformats.org/drawingml/2006/main">
            <a:off x="2333625" y="23717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D1071ED-4110-4752-8C1A-B3FEFACE9076}"/>
              </a:ext>
            </a:extLst>
          </p:cNvPr>
          <p:cNvSpPr>
            <a:spLocks xmlns:a="http://schemas.openxmlformats.org/drawingml/2006/main" noGrp="1"/>
          </p:cNvSpPr>
          <p:nvPr/>
        </p:nvSpPr>
        <p:spPr>
          <a:xfrm xmlns:a="http://schemas.openxmlformats.org/drawingml/2006/main">
            <a:off x="457200" y="280035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5736B"/>
                </a:solidFill>
                <a:latin typeface="Aptos"/>
                <a:ea typeface="Aptos"/>
                <a:cs typeface="Aptos"/>
              </a:defRPr>
            </a:pPr>
            <a:r>
              <a:rPr sz="675" b="1">
                <a:solidFill>
                  <a:srgbClr val="65736B"/>
                </a:solidFill>
                <a:latin typeface="Aptos"/>
                <a:ea typeface="Aptos"/>
                <a:cs typeface="Aptos"/>
              </a:rPr>
              <a:t>PROMPT</a:t>
            </a:r>
          </a:p>
        </p:txBody>
      </p:sp>
      <p:sp>
        <p:nvSpPr>
          <p:cNvPr id="10" name="">
            <a:extLst xmlns:a="http://schemas.openxmlformats.org/drawingml/2006/main">
              <a:ext uri="{FF2B5EF4-FFF2-40B4-BE49-F238E27FC236}">
                <a16:creationId xmlns:a16="http://schemas.microsoft.com/office/drawing/2014/main" id="{D735180A-167B-453A-AECE-698ED1D0DE06}"/>
              </a:ext>
            </a:extLst>
          </p:cNvPr>
          <p:cNvSpPr>
            <a:spLocks xmlns:a="http://schemas.openxmlformats.org/drawingml/2006/main" noGrp="1"/>
          </p:cNvSpPr>
          <p:nvPr/>
        </p:nvSpPr>
        <p:spPr>
          <a:xfrm xmlns:a="http://schemas.openxmlformats.org/drawingml/2006/main">
            <a:off x="457200" y="3105150"/>
            <a:ext cx="1771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11D"/>
                </a:solidFill>
                <a:latin typeface="Georgia"/>
                <a:ea typeface="Georgia"/>
                <a:cs typeface="Georgia"/>
              </a:defRPr>
            </a:pPr>
            <a:r>
              <a:rPr sz="900" b="1">
                <a:solidFill>
                  <a:srgbClr val="17211D"/>
                </a:solidFill>
                <a:latin typeface="Georgia"/>
                <a:ea typeface="Georgia"/>
                <a:cs typeface="Georgia"/>
              </a:rPr>
              <a:t>contesto + obiettivo + vincoli</a:t>
            </a:r>
          </a:p>
        </p:txBody>
      </p:sp>
      <p:sp>
        <p:nvSpPr>
          <p:cNvPr id="11" name="">
            <a:extLst xmlns:a="http://schemas.openxmlformats.org/drawingml/2006/main">
              <a:ext uri="{FF2B5EF4-FFF2-40B4-BE49-F238E27FC236}">
                <a16:creationId xmlns:a16="http://schemas.microsoft.com/office/drawing/2014/main" id="{990FC395-3168-42F1-AA19-A5DD523CF277}"/>
              </a:ext>
            </a:extLst>
          </p:cNvPr>
          <p:cNvSpPr>
            <a:spLocks xmlns:a="http://schemas.openxmlformats.org/drawingml/2006/main" noGrp="1"/>
          </p:cNvSpPr>
          <p:nvPr/>
        </p:nvSpPr>
        <p:spPr>
          <a:xfrm xmlns:a="http://schemas.openxmlformats.org/drawingml/2006/main">
            <a:off x="2647950" y="2247900"/>
            <a:ext cx="361950" cy="361950"/>
          </a:xfrm>
          <a:prstGeom xmlns:a="http://schemas.openxmlformats.org/drawingml/2006/main" prst="ellipse">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7CA6075-BB51-4423-A215-7E2643DE37B7}"/>
              </a:ext>
            </a:extLst>
          </p:cNvPr>
          <p:cNvSpPr>
            <a:spLocks xmlns:a="http://schemas.openxmlformats.org/drawingml/2006/main" noGrp="1"/>
          </p:cNvSpPr>
          <p:nvPr/>
        </p:nvSpPr>
        <p:spPr>
          <a:xfrm xmlns:a="http://schemas.openxmlformats.org/drawingml/2006/main">
            <a:off x="2647950" y="226695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Georgia"/>
                <a:ea typeface="Georgia"/>
                <a:cs typeface="Georgia"/>
              </a:defRPr>
            </a:pPr>
            <a:r>
              <a:rPr sz="1050" b="1">
                <a:solidFill>
                  <a:srgbClr val="FFFFFF"/>
                </a:solidFill>
                <a:latin typeface="Georgia"/>
                <a:ea typeface="Georgia"/>
                <a:cs typeface="Georgia"/>
              </a:rPr>
              <a:t>2</a:t>
            </a:r>
          </a:p>
        </p:txBody>
      </p:sp>
      <p:sp>
        <p:nvSpPr>
          <p:cNvPr id="13" name="">
            <a:extLst xmlns:a="http://schemas.openxmlformats.org/drawingml/2006/main">
              <a:ext uri="{FF2B5EF4-FFF2-40B4-BE49-F238E27FC236}">
                <a16:creationId xmlns:a16="http://schemas.microsoft.com/office/drawing/2014/main" id="{65EEB2CF-6AB1-4E60-B5E4-99215B17697E}"/>
              </a:ext>
            </a:extLst>
          </p:cNvPr>
          <p:cNvSpPr>
            <a:spLocks xmlns:a="http://schemas.openxmlformats.org/drawingml/2006/main" noGrp="1"/>
          </p:cNvSpPr>
          <p:nvPr/>
        </p:nvSpPr>
        <p:spPr>
          <a:xfrm xmlns:a="http://schemas.openxmlformats.org/drawingml/2006/main">
            <a:off x="3105150" y="2428875"/>
            <a:ext cx="135255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B92D3DB-AAA3-44BA-9EDF-2C6C1920AE8D}"/>
              </a:ext>
            </a:extLst>
          </p:cNvPr>
          <p:cNvSpPr>
            <a:spLocks xmlns:a="http://schemas.openxmlformats.org/drawingml/2006/main" noGrp="1"/>
          </p:cNvSpPr>
          <p:nvPr/>
        </p:nvSpPr>
        <p:spPr>
          <a:xfrm xmlns:a="http://schemas.openxmlformats.org/drawingml/2006/main">
            <a:off x="4429125" y="23717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B4B5B1D-2B71-42AB-8306-F04024AF234F}"/>
              </a:ext>
            </a:extLst>
          </p:cNvPr>
          <p:cNvSpPr>
            <a:spLocks xmlns:a="http://schemas.openxmlformats.org/drawingml/2006/main" noGrp="1"/>
          </p:cNvSpPr>
          <p:nvPr/>
        </p:nvSpPr>
        <p:spPr>
          <a:xfrm xmlns:a="http://schemas.openxmlformats.org/drawingml/2006/main">
            <a:off x="2552700" y="280035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5736B"/>
                </a:solidFill>
                <a:latin typeface="Aptos"/>
                <a:ea typeface="Aptos"/>
                <a:cs typeface="Aptos"/>
              </a:defRPr>
            </a:pPr>
            <a:r>
              <a:rPr sz="675" b="1">
                <a:solidFill>
                  <a:srgbClr val="65736B"/>
                </a:solidFill>
                <a:latin typeface="Aptos"/>
                <a:ea typeface="Aptos"/>
                <a:cs typeface="Aptos"/>
              </a:rPr>
              <a:t>BOZZA</a:t>
            </a:r>
          </a:p>
        </p:txBody>
      </p:sp>
      <p:sp>
        <p:nvSpPr>
          <p:cNvPr id="16" name="">
            <a:extLst xmlns:a="http://schemas.openxmlformats.org/drawingml/2006/main">
              <a:ext uri="{FF2B5EF4-FFF2-40B4-BE49-F238E27FC236}">
                <a16:creationId xmlns:a16="http://schemas.microsoft.com/office/drawing/2014/main" id="{98346BD5-C7E7-4607-86AE-BE9B1F851AC6}"/>
              </a:ext>
            </a:extLst>
          </p:cNvPr>
          <p:cNvSpPr>
            <a:spLocks xmlns:a="http://schemas.openxmlformats.org/drawingml/2006/main" noGrp="1"/>
          </p:cNvSpPr>
          <p:nvPr/>
        </p:nvSpPr>
        <p:spPr>
          <a:xfrm xmlns:a="http://schemas.openxmlformats.org/drawingml/2006/main">
            <a:off x="2552700" y="3105150"/>
            <a:ext cx="1771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11D"/>
                </a:solidFill>
                <a:latin typeface="Georgia"/>
                <a:ea typeface="Georgia"/>
                <a:cs typeface="Georgia"/>
              </a:defRPr>
            </a:pPr>
            <a:r>
              <a:rPr sz="900" b="1">
                <a:solidFill>
                  <a:srgbClr val="17211D"/>
                </a:solidFill>
                <a:latin typeface="Georgia"/>
                <a:ea typeface="Georgia"/>
                <a:cs typeface="Georgia"/>
              </a:rPr>
              <a:t>codice, testo o concept</a:t>
            </a:r>
          </a:p>
        </p:txBody>
      </p:sp>
      <p:sp>
        <p:nvSpPr>
          <p:cNvPr id="17" name="">
            <a:extLst xmlns:a="http://schemas.openxmlformats.org/drawingml/2006/main">
              <a:ext uri="{FF2B5EF4-FFF2-40B4-BE49-F238E27FC236}">
                <a16:creationId xmlns:a16="http://schemas.microsoft.com/office/drawing/2014/main" id="{02F4B211-F83A-454C-8B24-5FF017CC4583}"/>
              </a:ext>
            </a:extLst>
          </p:cNvPr>
          <p:cNvSpPr>
            <a:spLocks xmlns:a="http://schemas.openxmlformats.org/drawingml/2006/main" noGrp="1"/>
          </p:cNvSpPr>
          <p:nvPr/>
        </p:nvSpPr>
        <p:spPr>
          <a:xfrm xmlns:a="http://schemas.openxmlformats.org/drawingml/2006/main">
            <a:off x="4743450" y="2247900"/>
            <a:ext cx="361950" cy="361950"/>
          </a:xfrm>
          <a:prstGeom xmlns:a="http://schemas.openxmlformats.org/drawingml/2006/main" prst="ellipse">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4A40916-0AEB-474E-9EB2-B9DF678B9086}"/>
              </a:ext>
            </a:extLst>
          </p:cNvPr>
          <p:cNvSpPr>
            <a:spLocks xmlns:a="http://schemas.openxmlformats.org/drawingml/2006/main" noGrp="1"/>
          </p:cNvSpPr>
          <p:nvPr/>
        </p:nvSpPr>
        <p:spPr>
          <a:xfrm xmlns:a="http://schemas.openxmlformats.org/drawingml/2006/main">
            <a:off x="4743450" y="226695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Georgia"/>
                <a:ea typeface="Georgia"/>
                <a:cs typeface="Georgia"/>
              </a:defRPr>
            </a:pPr>
            <a:r>
              <a:rPr sz="1050" b="1">
                <a:solidFill>
                  <a:srgbClr val="FFFFFF"/>
                </a:solidFill>
                <a:latin typeface="Georgia"/>
                <a:ea typeface="Georgia"/>
                <a:cs typeface="Georgia"/>
              </a:rPr>
              <a:t>3</a:t>
            </a:r>
          </a:p>
        </p:txBody>
      </p:sp>
      <p:sp>
        <p:nvSpPr>
          <p:cNvPr id="19" name="">
            <a:extLst xmlns:a="http://schemas.openxmlformats.org/drawingml/2006/main">
              <a:ext uri="{FF2B5EF4-FFF2-40B4-BE49-F238E27FC236}">
                <a16:creationId xmlns:a16="http://schemas.microsoft.com/office/drawing/2014/main" id="{631C4AD0-651D-431C-BF90-377756CE4619}"/>
              </a:ext>
            </a:extLst>
          </p:cNvPr>
          <p:cNvSpPr>
            <a:spLocks xmlns:a="http://schemas.openxmlformats.org/drawingml/2006/main" noGrp="1"/>
          </p:cNvSpPr>
          <p:nvPr/>
        </p:nvSpPr>
        <p:spPr>
          <a:xfrm xmlns:a="http://schemas.openxmlformats.org/drawingml/2006/main">
            <a:off x="5200650" y="2428875"/>
            <a:ext cx="135255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85BD49F-3FD8-494A-AAA3-3FF1493D78C6}"/>
              </a:ext>
            </a:extLst>
          </p:cNvPr>
          <p:cNvSpPr>
            <a:spLocks xmlns:a="http://schemas.openxmlformats.org/drawingml/2006/main" noGrp="1"/>
          </p:cNvSpPr>
          <p:nvPr/>
        </p:nvSpPr>
        <p:spPr>
          <a:xfrm xmlns:a="http://schemas.openxmlformats.org/drawingml/2006/main">
            <a:off x="6524625" y="23717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136CD26-E50D-42BC-A13B-F6CEDFD98392}"/>
              </a:ext>
            </a:extLst>
          </p:cNvPr>
          <p:cNvSpPr>
            <a:spLocks xmlns:a="http://schemas.openxmlformats.org/drawingml/2006/main" noGrp="1"/>
          </p:cNvSpPr>
          <p:nvPr/>
        </p:nvSpPr>
        <p:spPr>
          <a:xfrm xmlns:a="http://schemas.openxmlformats.org/drawingml/2006/main">
            <a:off x="4648200" y="280035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5736B"/>
                </a:solidFill>
                <a:latin typeface="Aptos"/>
                <a:ea typeface="Aptos"/>
                <a:cs typeface="Aptos"/>
              </a:defRPr>
            </a:pPr>
            <a:r>
              <a:rPr sz="675" b="1">
                <a:solidFill>
                  <a:srgbClr val="65736B"/>
                </a:solidFill>
                <a:latin typeface="Aptos"/>
                <a:ea typeface="Aptos"/>
                <a:cs typeface="Aptos"/>
              </a:rPr>
              <a:t>CONFRONTO</a:t>
            </a:r>
          </a:p>
        </p:txBody>
      </p:sp>
      <p:sp>
        <p:nvSpPr>
          <p:cNvPr id="22" name="">
            <a:extLst xmlns:a="http://schemas.openxmlformats.org/drawingml/2006/main">
              <a:ext uri="{FF2B5EF4-FFF2-40B4-BE49-F238E27FC236}">
                <a16:creationId xmlns:a16="http://schemas.microsoft.com/office/drawing/2014/main" id="{A81AC9EE-D0AC-4EBA-A1F4-D090BC555598}"/>
              </a:ext>
            </a:extLst>
          </p:cNvPr>
          <p:cNvSpPr>
            <a:spLocks xmlns:a="http://schemas.openxmlformats.org/drawingml/2006/main" noGrp="1"/>
          </p:cNvSpPr>
          <p:nvPr/>
        </p:nvSpPr>
        <p:spPr>
          <a:xfrm xmlns:a="http://schemas.openxmlformats.org/drawingml/2006/main">
            <a:off x="4648200" y="3105150"/>
            <a:ext cx="1771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11D"/>
                </a:solidFill>
                <a:latin typeface="Georgia"/>
                <a:ea typeface="Georgia"/>
                <a:cs typeface="Georgia"/>
              </a:defRPr>
            </a:pPr>
            <a:r>
              <a:rPr sz="900" b="1">
                <a:solidFill>
                  <a:srgbClr val="17211D"/>
                </a:solidFill>
                <a:latin typeface="Georgia"/>
                <a:ea typeface="Georgia"/>
                <a:cs typeface="Georgia"/>
              </a:rPr>
              <a:t>alternative e trade-off</a:t>
            </a:r>
          </a:p>
        </p:txBody>
      </p:sp>
      <p:sp>
        <p:nvSpPr>
          <p:cNvPr id="23" name="">
            <a:extLst xmlns:a="http://schemas.openxmlformats.org/drawingml/2006/main">
              <a:ext uri="{FF2B5EF4-FFF2-40B4-BE49-F238E27FC236}">
                <a16:creationId xmlns:a16="http://schemas.microsoft.com/office/drawing/2014/main" id="{5FF8C145-66EA-458A-8013-107DAF3E7631}"/>
              </a:ext>
            </a:extLst>
          </p:cNvPr>
          <p:cNvSpPr>
            <a:spLocks xmlns:a="http://schemas.openxmlformats.org/drawingml/2006/main" noGrp="1"/>
          </p:cNvSpPr>
          <p:nvPr/>
        </p:nvSpPr>
        <p:spPr>
          <a:xfrm xmlns:a="http://schemas.openxmlformats.org/drawingml/2006/main">
            <a:off x="6838950" y="2247900"/>
            <a:ext cx="361950" cy="361950"/>
          </a:xfrm>
          <a:prstGeom xmlns:a="http://schemas.openxmlformats.org/drawingml/2006/main" prst="ellipse">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1066797-B754-4C11-A854-C3F4014F66F6}"/>
              </a:ext>
            </a:extLst>
          </p:cNvPr>
          <p:cNvSpPr>
            <a:spLocks xmlns:a="http://schemas.openxmlformats.org/drawingml/2006/main" noGrp="1"/>
          </p:cNvSpPr>
          <p:nvPr/>
        </p:nvSpPr>
        <p:spPr>
          <a:xfrm xmlns:a="http://schemas.openxmlformats.org/drawingml/2006/main">
            <a:off x="6838950" y="226695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Georgia"/>
                <a:ea typeface="Georgia"/>
                <a:cs typeface="Georgia"/>
              </a:defRPr>
            </a:pPr>
            <a:r>
              <a:rPr sz="1050" b="1">
                <a:solidFill>
                  <a:srgbClr val="FFFFFF"/>
                </a:solidFill>
                <a:latin typeface="Georgia"/>
                <a:ea typeface="Georgia"/>
                <a:cs typeface="Georgia"/>
              </a:rPr>
              <a:t>4</a:t>
            </a:r>
          </a:p>
        </p:txBody>
      </p:sp>
      <p:sp>
        <p:nvSpPr>
          <p:cNvPr id="25" name="">
            <a:extLst xmlns:a="http://schemas.openxmlformats.org/drawingml/2006/main">
              <a:ext uri="{FF2B5EF4-FFF2-40B4-BE49-F238E27FC236}">
                <a16:creationId xmlns:a16="http://schemas.microsoft.com/office/drawing/2014/main" id="{19B11AB8-AE43-4F98-B79E-95A9F626E1F8}"/>
              </a:ext>
            </a:extLst>
          </p:cNvPr>
          <p:cNvSpPr>
            <a:spLocks xmlns:a="http://schemas.openxmlformats.org/drawingml/2006/main" noGrp="1"/>
          </p:cNvSpPr>
          <p:nvPr/>
        </p:nvSpPr>
        <p:spPr>
          <a:xfrm xmlns:a="http://schemas.openxmlformats.org/drawingml/2006/main">
            <a:off x="7296150" y="2428875"/>
            <a:ext cx="1352550" cy="2857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287B148-1718-4FEB-BBF9-23B12AABE256}"/>
              </a:ext>
            </a:extLst>
          </p:cNvPr>
          <p:cNvSpPr>
            <a:spLocks xmlns:a="http://schemas.openxmlformats.org/drawingml/2006/main" noGrp="1"/>
          </p:cNvSpPr>
          <p:nvPr/>
        </p:nvSpPr>
        <p:spPr>
          <a:xfrm xmlns:a="http://schemas.openxmlformats.org/drawingml/2006/main">
            <a:off x="8620125" y="2371725"/>
            <a:ext cx="133350" cy="133350"/>
          </a:xfrm>
          <a:prstGeom xmlns:a="http://schemas.openxmlformats.org/drawingml/2006/main" prst="triangle">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F6282C5-B50F-489F-BB76-74B1A9FEC066}"/>
              </a:ext>
            </a:extLst>
          </p:cNvPr>
          <p:cNvSpPr>
            <a:spLocks xmlns:a="http://schemas.openxmlformats.org/drawingml/2006/main" noGrp="1"/>
          </p:cNvSpPr>
          <p:nvPr/>
        </p:nvSpPr>
        <p:spPr>
          <a:xfrm xmlns:a="http://schemas.openxmlformats.org/drawingml/2006/main">
            <a:off x="6743700" y="280035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5736B"/>
                </a:solidFill>
                <a:latin typeface="Aptos"/>
                <a:ea typeface="Aptos"/>
                <a:cs typeface="Aptos"/>
              </a:defRPr>
            </a:pPr>
            <a:r>
              <a:rPr sz="675" b="1">
                <a:solidFill>
                  <a:srgbClr val="65736B"/>
                </a:solidFill>
                <a:latin typeface="Aptos"/>
                <a:ea typeface="Aptos"/>
                <a:cs typeface="Aptos"/>
              </a:rPr>
              <a:t>VERIFICA</a:t>
            </a:r>
          </a:p>
        </p:txBody>
      </p:sp>
      <p:sp>
        <p:nvSpPr>
          <p:cNvPr id="28" name="">
            <a:extLst xmlns:a="http://schemas.openxmlformats.org/drawingml/2006/main">
              <a:ext uri="{FF2B5EF4-FFF2-40B4-BE49-F238E27FC236}">
                <a16:creationId xmlns:a16="http://schemas.microsoft.com/office/drawing/2014/main" id="{D316DFC0-4116-45B1-86C1-C3ACCD9627F1}"/>
              </a:ext>
            </a:extLst>
          </p:cNvPr>
          <p:cNvSpPr>
            <a:spLocks xmlns:a="http://schemas.openxmlformats.org/drawingml/2006/main" noGrp="1"/>
          </p:cNvSpPr>
          <p:nvPr/>
        </p:nvSpPr>
        <p:spPr>
          <a:xfrm xmlns:a="http://schemas.openxmlformats.org/drawingml/2006/main">
            <a:off x="6743700" y="3105150"/>
            <a:ext cx="1771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11D"/>
                </a:solidFill>
                <a:latin typeface="Georgia"/>
                <a:ea typeface="Georgia"/>
                <a:cs typeface="Georgia"/>
              </a:defRPr>
            </a:pPr>
            <a:r>
              <a:rPr sz="900" b="1">
                <a:solidFill>
                  <a:srgbClr val="17211D"/>
                </a:solidFill>
                <a:latin typeface="Georgia"/>
                <a:ea typeface="Georgia"/>
                <a:cs typeface="Georgia"/>
              </a:rPr>
              <a:t>repository, test, metriche</a:t>
            </a:r>
          </a:p>
        </p:txBody>
      </p:sp>
      <p:sp>
        <p:nvSpPr>
          <p:cNvPr id="29" name="">
            <a:extLst xmlns:a="http://schemas.openxmlformats.org/drawingml/2006/main">
              <a:ext uri="{FF2B5EF4-FFF2-40B4-BE49-F238E27FC236}">
                <a16:creationId xmlns:a16="http://schemas.microsoft.com/office/drawing/2014/main" id="{214470A2-BBB3-43E8-AC17-03AD8B5A1456}"/>
              </a:ext>
            </a:extLst>
          </p:cNvPr>
          <p:cNvSpPr>
            <a:spLocks xmlns:a="http://schemas.openxmlformats.org/drawingml/2006/main" noGrp="1"/>
          </p:cNvSpPr>
          <p:nvPr/>
        </p:nvSpPr>
        <p:spPr>
          <a:xfrm xmlns:a="http://schemas.openxmlformats.org/drawingml/2006/main">
            <a:off x="8934450" y="2247900"/>
            <a:ext cx="361950" cy="36195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4DD9FCAD-963D-43E5-883A-03A16064AB59}"/>
              </a:ext>
            </a:extLst>
          </p:cNvPr>
          <p:cNvSpPr>
            <a:spLocks xmlns:a="http://schemas.openxmlformats.org/drawingml/2006/main" noGrp="1"/>
          </p:cNvSpPr>
          <p:nvPr/>
        </p:nvSpPr>
        <p:spPr>
          <a:xfrm xmlns:a="http://schemas.openxmlformats.org/drawingml/2006/main">
            <a:off x="8934450" y="2266950"/>
            <a:ext cx="361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23C31"/>
                </a:solidFill>
                <a:latin typeface="Georgia"/>
                <a:ea typeface="Georgia"/>
                <a:cs typeface="Georgia"/>
              </a:defRPr>
            </a:pPr>
            <a:r>
              <a:rPr sz="1050" b="1">
                <a:solidFill>
                  <a:srgbClr val="123C31"/>
                </a:solidFill>
                <a:latin typeface="Georgia"/>
                <a:ea typeface="Georgia"/>
                <a:cs typeface="Georgia"/>
              </a:rPr>
              <a:t>5</a:t>
            </a:r>
          </a:p>
        </p:txBody>
      </p:sp>
      <p:sp>
        <p:nvSpPr>
          <p:cNvPr id="31" name="">
            <a:extLst xmlns:a="http://schemas.openxmlformats.org/drawingml/2006/main">
              <a:ext uri="{FF2B5EF4-FFF2-40B4-BE49-F238E27FC236}">
                <a16:creationId xmlns:a16="http://schemas.microsoft.com/office/drawing/2014/main" id="{09870C11-DB73-48FA-A821-05AC114A56B8}"/>
              </a:ext>
            </a:extLst>
          </p:cNvPr>
          <p:cNvSpPr>
            <a:spLocks xmlns:a="http://schemas.openxmlformats.org/drawingml/2006/main" noGrp="1"/>
          </p:cNvSpPr>
          <p:nvPr/>
        </p:nvSpPr>
        <p:spPr>
          <a:xfrm xmlns:a="http://schemas.openxmlformats.org/drawingml/2006/main">
            <a:off x="8839200" y="280035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2F7D5B"/>
                </a:solidFill>
                <a:latin typeface="Aptos"/>
                <a:ea typeface="Aptos"/>
                <a:cs typeface="Aptos"/>
              </a:defRPr>
            </a:pPr>
            <a:r>
              <a:rPr sz="675" b="1">
                <a:solidFill>
                  <a:srgbClr val="2F7D5B"/>
                </a:solidFill>
                <a:latin typeface="Aptos"/>
                <a:ea typeface="Aptos"/>
                <a:cs typeface="Aptos"/>
              </a:rPr>
              <a:t>CORREZIONE</a:t>
            </a:r>
          </a:p>
        </p:txBody>
      </p:sp>
      <p:sp>
        <p:nvSpPr>
          <p:cNvPr id="32" name="">
            <a:extLst xmlns:a="http://schemas.openxmlformats.org/drawingml/2006/main">
              <a:ext uri="{FF2B5EF4-FFF2-40B4-BE49-F238E27FC236}">
                <a16:creationId xmlns:a16="http://schemas.microsoft.com/office/drawing/2014/main" id="{8504C792-4F4E-42A0-91A8-5A8D864719B3}"/>
              </a:ext>
            </a:extLst>
          </p:cNvPr>
          <p:cNvSpPr>
            <a:spLocks xmlns:a="http://schemas.openxmlformats.org/drawingml/2006/main" noGrp="1"/>
          </p:cNvSpPr>
          <p:nvPr/>
        </p:nvSpPr>
        <p:spPr>
          <a:xfrm xmlns:a="http://schemas.openxmlformats.org/drawingml/2006/main">
            <a:off x="8839200" y="3105150"/>
            <a:ext cx="1771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11D"/>
                </a:solidFill>
                <a:latin typeface="Georgia"/>
                <a:ea typeface="Georgia"/>
                <a:cs typeface="Georgia"/>
              </a:defRPr>
            </a:pPr>
            <a:r>
              <a:rPr sz="900" b="1">
                <a:solidFill>
                  <a:srgbClr val="17211D"/>
                </a:solidFill>
                <a:latin typeface="Georgia"/>
                <a:ea typeface="Georgia"/>
                <a:cs typeface="Georgia"/>
              </a:rPr>
              <a:t>output finale tracciabile</a:t>
            </a:r>
          </a:p>
        </p:txBody>
      </p:sp>
      <p:sp>
        <p:nvSpPr>
          <p:cNvPr id="33" name="">
            <a:extLst xmlns:a="http://schemas.openxmlformats.org/drawingml/2006/main">
              <a:ext uri="{FF2B5EF4-FFF2-40B4-BE49-F238E27FC236}">
                <a16:creationId xmlns:a16="http://schemas.microsoft.com/office/drawing/2014/main" id="{51C876D4-BDDB-40CF-9529-976BB356962E}"/>
              </a:ext>
            </a:extLst>
          </p:cNvPr>
          <p:cNvSpPr>
            <a:spLocks xmlns:a="http://schemas.openxmlformats.org/drawingml/2006/main" noGrp="1"/>
          </p:cNvSpPr>
          <p:nvPr/>
        </p:nvSpPr>
        <p:spPr>
          <a:xfrm xmlns:a="http://schemas.openxmlformats.org/drawingml/2006/main">
            <a:off x="552450" y="4000500"/>
            <a:ext cx="723900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B9C3BB"/>
            </a:solidFill>
            <a:prstDash val="solid"/>
          </a:ln>
        </p:spPr>
      </p:sp>
      <p:sp>
        <p:nvSpPr>
          <p:cNvPr id="34" name="">
            <a:extLst xmlns:a="http://schemas.openxmlformats.org/drawingml/2006/main">
              <a:ext uri="{FF2B5EF4-FFF2-40B4-BE49-F238E27FC236}">
                <a16:creationId xmlns:a16="http://schemas.microsoft.com/office/drawing/2014/main" id="{85FF2D8F-502B-4F14-8E3C-FBB754E1F179}"/>
              </a:ext>
            </a:extLst>
          </p:cNvPr>
          <p:cNvSpPr>
            <a:spLocks xmlns:a="http://schemas.openxmlformats.org/drawingml/2006/main" noGrp="1"/>
          </p:cNvSpPr>
          <p:nvPr/>
        </p:nvSpPr>
        <p:spPr>
          <a:xfrm xmlns:a="http://schemas.openxmlformats.org/drawingml/2006/main">
            <a:off x="800100" y="42291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D56E42"/>
                </a:solidFill>
                <a:latin typeface="Aptos"/>
                <a:ea typeface="Aptos"/>
                <a:cs typeface="Aptos"/>
              </a:defRPr>
            </a:pPr>
            <a:r>
              <a:rPr sz="675" b="1">
                <a:solidFill>
                  <a:srgbClr val="D56E42"/>
                </a:solidFill>
                <a:latin typeface="Aptos"/>
                <a:ea typeface="Aptos"/>
                <a:cs typeface="Aptos"/>
              </a:rPr>
              <a:t>ALLUCINAZIONI CHE ABBIAMO BLOCCATO</a:t>
            </a:r>
          </a:p>
        </p:txBody>
      </p:sp>
      <p:sp>
        <p:nvSpPr>
          <p:cNvPr id="35" name="">
            <a:extLst xmlns:a="http://schemas.openxmlformats.org/drawingml/2006/main">
              <a:ext uri="{FF2B5EF4-FFF2-40B4-BE49-F238E27FC236}">
                <a16:creationId xmlns:a16="http://schemas.microsoft.com/office/drawing/2014/main" id="{BBF72AD6-269C-4FD8-8461-AAACA8AF3BF9}"/>
              </a:ext>
            </a:extLst>
          </p:cNvPr>
          <p:cNvSpPr>
            <a:spLocks xmlns:a="http://schemas.openxmlformats.org/drawingml/2006/main" noGrp="1"/>
          </p:cNvSpPr>
          <p:nvPr/>
        </p:nvSpPr>
        <p:spPr>
          <a:xfrm xmlns:a="http://schemas.openxmlformats.org/drawingml/2006/main">
            <a:off x="800100" y="45910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4 stati inventati</a:t>
            </a:r>
          </a:p>
        </p:txBody>
      </p:sp>
      <p:sp>
        <p:nvSpPr>
          <p:cNvPr id="36" name="">
            <a:extLst xmlns:a="http://schemas.openxmlformats.org/drawingml/2006/main">
              <a:ext uri="{FF2B5EF4-FFF2-40B4-BE49-F238E27FC236}">
                <a16:creationId xmlns:a16="http://schemas.microsoft.com/office/drawing/2014/main" id="{D37CA3C4-625B-43DB-96EB-D19A7984334B}"/>
              </a:ext>
            </a:extLst>
          </p:cNvPr>
          <p:cNvSpPr>
            <a:spLocks xmlns:a="http://schemas.openxmlformats.org/drawingml/2006/main" noGrp="1"/>
          </p:cNvSpPr>
          <p:nvPr/>
        </p:nvSpPr>
        <p:spPr>
          <a:xfrm xmlns:a="http://schemas.openxmlformats.org/drawingml/2006/main">
            <a:off x="3028950" y="45910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 3 classi reali</a:t>
            </a:r>
          </a:p>
        </p:txBody>
      </p:sp>
      <p:sp>
        <p:nvSpPr>
          <p:cNvPr id="37" name="">
            <a:extLst xmlns:a="http://schemas.openxmlformats.org/drawingml/2006/main">
              <a:ext uri="{FF2B5EF4-FFF2-40B4-BE49-F238E27FC236}">
                <a16:creationId xmlns:a16="http://schemas.microsoft.com/office/drawing/2014/main" id="{4F578BCE-DA3D-4144-8582-7926C9BB1A12}"/>
              </a:ext>
            </a:extLst>
          </p:cNvPr>
          <p:cNvSpPr>
            <a:spLocks xmlns:a="http://schemas.openxmlformats.org/drawingml/2006/main" noGrp="1"/>
          </p:cNvSpPr>
          <p:nvPr/>
        </p:nvSpPr>
        <p:spPr>
          <a:xfrm xmlns:a="http://schemas.openxmlformats.org/drawingml/2006/main">
            <a:off x="800100" y="49149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VLM nella UI</a:t>
            </a:r>
          </a:p>
        </p:txBody>
      </p:sp>
      <p:sp>
        <p:nvSpPr>
          <p:cNvPr id="38" name="">
            <a:extLst xmlns:a="http://schemas.openxmlformats.org/drawingml/2006/main">
              <a:ext uri="{FF2B5EF4-FFF2-40B4-BE49-F238E27FC236}">
                <a16:creationId xmlns:a16="http://schemas.microsoft.com/office/drawing/2014/main" id="{F195A633-28C5-4ED4-BA37-A0CC3D51A666}"/>
              </a:ext>
            </a:extLst>
          </p:cNvPr>
          <p:cNvSpPr>
            <a:spLocks xmlns:a="http://schemas.openxmlformats.org/drawingml/2006/main" noGrp="1"/>
          </p:cNvSpPr>
          <p:nvPr/>
        </p:nvSpPr>
        <p:spPr>
          <a:xfrm xmlns:a="http://schemas.openxmlformats.org/drawingml/2006/main">
            <a:off x="3028950" y="491490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 rimosso: non esiste nel runtime</a:t>
            </a:r>
          </a:p>
        </p:txBody>
      </p:sp>
      <p:sp>
        <p:nvSpPr>
          <p:cNvPr id="39" name="">
            <a:extLst xmlns:a="http://schemas.openxmlformats.org/drawingml/2006/main">
              <a:ext uri="{FF2B5EF4-FFF2-40B4-BE49-F238E27FC236}">
                <a16:creationId xmlns:a16="http://schemas.microsoft.com/office/drawing/2014/main" id="{A4A811F5-682B-4F6B-B6C7-795025518A54}"/>
              </a:ext>
            </a:extLst>
          </p:cNvPr>
          <p:cNvSpPr>
            <a:spLocks xmlns:a="http://schemas.openxmlformats.org/drawingml/2006/main" noGrp="1"/>
          </p:cNvSpPr>
          <p:nvPr/>
        </p:nvSpPr>
        <p:spPr>
          <a:xfrm xmlns:a="http://schemas.openxmlformats.org/drawingml/2006/main">
            <a:off x="800100" y="52387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5736B"/>
                </a:solidFill>
                <a:latin typeface="Aptos"/>
                <a:ea typeface="Aptos"/>
                <a:cs typeface="Aptos"/>
              </a:defRPr>
            </a:pPr>
            <a:r>
              <a:rPr sz="788" b="0">
                <a:solidFill>
                  <a:srgbClr val="65736B"/>
                </a:solidFill>
                <a:latin typeface="Aptos"/>
                <a:ea typeface="Aptos"/>
                <a:cs typeface="Aptos"/>
              </a:rPr>
              <a:t>CO₂ come dato certo</a:t>
            </a:r>
          </a:p>
        </p:txBody>
      </p:sp>
      <p:sp>
        <p:nvSpPr>
          <p:cNvPr id="40" name="">
            <a:extLst xmlns:a="http://schemas.openxmlformats.org/drawingml/2006/main">
              <a:ext uri="{FF2B5EF4-FFF2-40B4-BE49-F238E27FC236}">
                <a16:creationId xmlns:a16="http://schemas.microsoft.com/office/drawing/2014/main" id="{3A89DEE5-54CD-46B0-9980-EC67431772E0}"/>
              </a:ext>
            </a:extLst>
          </p:cNvPr>
          <p:cNvSpPr>
            <a:spLocks xmlns:a="http://schemas.openxmlformats.org/drawingml/2006/main" noGrp="1"/>
          </p:cNvSpPr>
          <p:nvPr/>
        </p:nvSpPr>
        <p:spPr>
          <a:xfrm xmlns:a="http://schemas.openxmlformats.org/drawingml/2006/main">
            <a:off x="3028950" y="52387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 rinominata stima di scenario</a:t>
            </a:r>
          </a:p>
        </p:txBody>
      </p:sp>
      <p:sp>
        <p:nvSpPr>
          <p:cNvPr id="41" name="">
            <a:extLst xmlns:a="http://schemas.openxmlformats.org/drawingml/2006/main">
              <a:ext uri="{FF2B5EF4-FFF2-40B4-BE49-F238E27FC236}">
                <a16:creationId xmlns:a16="http://schemas.microsoft.com/office/drawing/2014/main" id="{FEBECB46-A7F8-4FE0-A841-00A73C97F307}"/>
              </a:ext>
            </a:extLst>
          </p:cNvPr>
          <p:cNvSpPr>
            <a:spLocks xmlns:a="http://schemas.openxmlformats.org/drawingml/2006/main" noGrp="1"/>
          </p:cNvSpPr>
          <p:nvPr/>
        </p:nvSpPr>
        <p:spPr>
          <a:xfrm xmlns:a="http://schemas.openxmlformats.org/drawingml/2006/main">
            <a:off x="8039100" y="4000500"/>
            <a:ext cx="3600450" cy="1676400"/>
          </a:xfrm>
          <a:prstGeom xmlns:a="http://schemas.openxmlformats.org/drawingml/2006/main" prst="roundRect">
            <a:avLst>
              <a:gd name="adj" fmla="val 4545"/>
            </a:avLst>
          </a:prstGeom>
          <a:solidFill xmlns:a="http://schemas.openxmlformats.org/drawingml/2006/main">
            <a:srgbClr val="123C31"/>
          </a:solidFill>
          <a:ln xmlns:a="http://schemas.openxmlformats.org/drawingml/2006/main" w="9525">
            <a:solidFill>
              <a:srgbClr val="123C31"/>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0e083c3fe904975"/>
          <a:stretch xmlns:a="http://schemas.openxmlformats.org/drawingml/2006/main"/>
        </p:blipFill>
        <p:spPr>
          <a:xfrm xmlns:a="http://schemas.openxmlformats.org/drawingml/2006/main">
            <a:off x="8324850" y="4267200"/>
            <a:ext cx="781050" cy="7810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7C541C2D-A13D-47B3-AD0D-621A80581195}"/>
              </a:ext>
            </a:extLst>
          </p:cNvPr>
          <p:cNvSpPr>
            <a:spLocks xmlns:a="http://schemas.openxmlformats.org/drawingml/2006/main" noGrp="1"/>
          </p:cNvSpPr>
          <p:nvPr/>
        </p:nvSpPr>
        <p:spPr>
          <a:xfrm xmlns:a="http://schemas.openxmlformats.org/drawingml/2006/main">
            <a:off x="9334500" y="42481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B9D94A"/>
                </a:solidFill>
                <a:latin typeface="Aptos"/>
                <a:ea typeface="Aptos"/>
                <a:cs typeface="Aptos"/>
              </a:defRPr>
            </a:pPr>
            <a:r>
              <a:rPr sz="675" b="1">
                <a:solidFill>
                  <a:srgbClr val="B9D94A"/>
                </a:solidFill>
                <a:latin typeface="Aptos"/>
                <a:ea typeface="Aptos"/>
                <a:cs typeface="Aptos"/>
              </a:rPr>
              <a:t>CASO LOGO</a:t>
            </a:r>
          </a:p>
        </p:txBody>
      </p:sp>
      <p:sp>
        <p:nvSpPr>
          <p:cNvPr id="44" name="">
            <a:extLst xmlns:a="http://schemas.openxmlformats.org/drawingml/2006/main">
              <a:ext uri="{FF2B5EF4-FFF2-40B4-BE49-F238E27FC236}">
                <a16:creationId xmlns:a16="http://schemas.microsoft.com/office/drawing/2014/main" id="{B60894BF-A333-4B1E-874F-87B7608D25FA}"/>
              </a:ext>
            </a:extLst>
          </p:cNvPr>
          <p:cNvSpPr>
            <a:spLocks xmlns:a="http://schemas.openxmlformats.org/drawingml/2006/main" noGrp="1"/>
          </p:cNvSpPr>
          <p:nvPr/>
        </p:nvSpPr>
        <p:spPr>
          <a:xfrm xmlns:a="http://schemas.openxmlformats.org/drawingml/2006/main">
            <a:off x="9334500" y="4552950"/>
            <a:ext cx="1905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Georgia"/>
                <a:ea typeface="Georgia"/>
                <a:cs typeface="Georgia"/>
              </a:defRPr>
            </a:pPr>
            <a:r>
              <a:rPr sz="1050" b="1">
                <a:solidFill>
                  <a:srgbClr val="FFFFFF"/>
                </a:solidFill>
                <a:latin typeface="Georgia"/>
                <a:ea typeface="Georgia"/>
                <a:cs typeface="Georgia"/>
              </a:rPr>
              <a:t>concept generato con AI</a:t>
            </a:r>
          </a:p>
        </p:txBody>
      </p:sp>
      <p:sp>
        <p:nvSpPr>
          <p:cNvPr id="45" name="">
            <a:extLst xmlns:a="http://schemas.openxmlformats.org/drawingml/2006/main">
              <a:ext uri="{FF2B5EF4-FFF2-40B4-BE49-F238E27FC236}">
                <a16:creationId xmlns:a16="http://schemas.microsoft.com/office/drawing/2014/main" id="{F0F331B9-6A00-4DF2-9D16-E5FD883C8CF8}"/>
              </a:ext>
            </a:extLst>
          </p:cNvPr>
          <p:cNvSpPr>
            <a:spLocks xmlns:a="http://schemas.openxmlformats.org/drawingml/2006/main" noGrp="1"/>
          </p:cNvSpPr>
          <p:nvPr/>
        </p:nvSpPr>
        <p:spPr>
          <a:xfrm xmlns:a="http://schemas.openxmlformats.org/drawingml/2006/main">
            <a:off x="9334500" y="4876800"/>
            <a:ext cx="1905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DE5DD"/>
                </a:solidFill>
                <a:latin typeface="Aptos"/>
                <a:ea typeface="Aptos"/>
                <a:cs typeface="Aptos"/>
              </a:defRPr>
            </a:pPr>
            <a:r>
              <a:rPr sz="750" b="0">
                <a:solidFill>
                  <a:srgbClr val="DDE5DD"/>
                </a:solidFill>
                <a:latin typeface="Aptos"/>
                <a:ea typeface="Aptos"/>
                <a:cs typeface="Aptos"/>
              </a:rPr>
              <a:t>poi implementato e verificato</a:t>
            </a:r>
          </a:p>
          <a:p xmlns:a="http://schemas.openxmlformats.org/drawingml/2006/main">
            <a:pPr algn="l">
              <a:defRPr sz="750" b="0">
                <a:solidFill>
                  <a:srgbClr val="DDE5DD"/>
                </a:solidFill>
                <a:latin typeface="Aptos"/>
                <a:ea typeface="Aptos"/>
                <a:cs typeface="Aptos"/>
              </a:defRPr>
            </a:pPr>
            <a:r>
              <a:rPr sz="750" b="0">
                <a:solidFill>
                  <a:srgbClr val="DDE5DD"/>
                </a:solidFill>
                <a:latin typeface="Aptos"/>
                <a:ea typeface="Aptos"/>
                <a:cs typeface="Aptos"/>
              </a:rPr>
              <a:t>come SVG editabile</a:t>
            </a:r>
          </a:p>
        </p:txBody>
      </p:sp>
      <p:sp>
        <p:nvSpPr>
          <p:cNvPr id="46" name="">
            <a:extLst xmlns:a="http://schemas.openxmlformats.org/drawingml/2006/main">
              <a:ext uri="{FF2B5EF4-FFF2-40B4-BE49-F238E27FC236}">
                <a16:creationId xmlns:a16="http://schemas.microsoft.com/office/drawing/2014/main" id="{23CA320D-E25E-46A9-BD19-9DDFAC347BAB}"/>
              </a:ext>
            </a:extLst>
          </p:cNvPr>
          <p:cNvSpPr>
            <a:spLocks xmlns:a="http://schemas.openxmlformats.org/drawingml/2006/main" noGrp="1"/>
          </p:cNvSpPr>
          <p:nvPr/>
        </p:nvSpPr>
        <p:spPr>
          <a:xfrm xmlns:a="http://schemas.openxmlformats.org/drawingml/2006/main">
            <a:off x="552450" y="5924550"/>
            <a:ext cx="4857750" cy="266700"/>
          </a:xfrm>
          <a:prstGeom xmlns:a="http://schemas.openxmlformats.org/drawingml/2006/main" prst="roundRect">
            <a:avLst>
              <a:gd name="adj" fmla="val 28571"/>
            </a:avLst>
          </a:prstGeom>
          <a:solidFill xmlns:a="http://schemas.openxmlformats.org/drawingml/2006/main">
            <a:srgbClr val="EAE5DA"/>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9D006303-46C4-4250-9C70-F8EE0492E8C5}"/>
              </a:ext>
            </a:extLst>
          </p:cNvPr>
          <p:cNvSpPr>
            <a:spLocks xmlns:a="http://schemas.openxmlformats.org/drawingml/2006/main" noGrp="1"/>
          </p:cNvSpPr>
          <p:nvPr/>
        </p:nvSpPr>
        <p:spPr>
          <a:xfrm xmlns:a="http://schemas.openxmlformats.org/drawingml/2006/main">
            <a:off x="638175" y="5943600"/>
            <a:ext cx="468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123C31"/>
                </a:solidFill>
                <a:latin typeface="Aptos"/>
                <a:ea typeface="Aptos"/>
                <a:cs typeface="Aptos"/>
              </a:defRPr>
            </a:pPr>
            <a:r>
              <a:rPr sz="675" b="1">
                <a:solidFill>
                  <a:srgbClr val="123C31"/>
                </a:solidFill>
                <a:latin typeface="Aptos"/>
                <a:ea typeface="Aptos"/>
                <a:cs typeface="Aptos"/>
              </a:rPr>
              <a:t>PROMPT COMPLETI: docs/prompt-register-progetto.md</a:t>
            </a:r>
          </a:p>
        </p:txBody>
      </p:sp>
      <p:sp>
        <p:nvSpPr>
          <p:cNvPr id="48" name="">
            <a:extLst xmlns:a="http://schemas.openxmlformats.org/drawingml/2006/main">
              <a:ext uri="{FF2B5EF4-FFF2-40B4-BE49-F238E27FC236}">
                <a16:creationId xmlns:a16="http://schemas.microsoft.com/office/drawing/2014/main" id="{BB4F0151-AD16-4F83-A282-B0FAFF226D59}"/>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79AA3D84-19B8-4C1F-B7A9-AE5C3602D977}"/>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Registro consolidato e riproducibile · non un log verbatim automatico delle chat</a:t>
            </a:r>
          </a:p>
        </p:txBody>
      </p:sp>
      <p:sp>
        <p:nvSpPr>
          <p:cNvPr id="50" name="">
            <a:extLst xmlns:a="http://schemas.openxmlformats.org/drawingml/2006/main">
              <a:ext uri="{FF2B5EF4-FFF2-40B4-BE49-F238E27FC236}">
                <a16:creationId xmlns:a16="http://schemas.microsoft.com/office/drawing/2014/main" id="{00FD9EF8-BD0B-4303-B29E-7FC2081228AA}"/>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14</a:t>
            </a:r>
          </a:p>
        </p:txBody>
      </p:sp>
    </p:spTree>
    <p:extLst>
      <p:ext uri="{BB962C8B-B14F-4D97-AF65-F5344CB8AC3E}">
        <p14:creationId xmlns:p14="http://schemas.microsoft.com/office/powerpoint/2010/main" val="21437187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739E218D-C6BA-4146-9329-CCFEABA506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0FB39D2-178E-409C-B948-BF2A2A341CD7}"/>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1E7D7B1-A986-4454-9B08-A6733BC4A0CE}"/>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DDE5DD"/>
                </a:solidFill>
                <a:latin typeface="Aptos"/>
                <a:ea typeface="Aptos"/>
                <a:cs typeface="Aptos"/>
              </a:defRPr>
            </a:pPr>
            <a:r>
              <a:rPr sz="638" b="1">
                <a:solidFill>
                  <a:srgbClr val="DDE5DD"/>
                </a:solidFill>
                <a:latin typeface="Aptos"/>
                <a:ea typeface="Aptos"/>
                <a:cs typeface="Aptos"/>
              </a:rPr>
              <a:t>P A S S A G G I O   A I   M O D E L L I</a:t>
            </a:r>
          </a:p>
        </p:txBody>
      </p:sp>
      <p:sp>
        <p:nvSpPr>
          <p:cNvPr id="4" name="">
            <a:extLst xmlns:a="http://schemas.openxmlformats.org/drawingml/2006/main">
              <a:ext uri="{FF2B5EF4-FFF2-40B4-BE49-F238E27FC236}">
                <a16:creationId xmlns:a16="http://schemas.microsoft.com/office/drawing/2014/main" id="{CEC502D5-C286-444D-A5B8-3C029F0F56C2}"/>
              </a:ext>
            </a:extLst>
          </p:cNvPr>
          <p:cNvSpPr>
            <a:spLocks xmlns:a="http://schemas.openxmlformats.org/drawingml/2006/main" noGrp="1"/>
          </p:cNvSpPr>
          <p:nvPr/>
        </p:nvSpPr>
        <p:spPr>
          <a:xfrm xmlns:a="http://schemas.openxmlformats.org/drawingml/2006/main">
            <a:off x="552450" y="1333500"/>
            <a:ext cx="2571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0" b="1">
                <a:solidFill>
                  <a:srgbClr val="B9D94A"/>
                </a:solidFill>
                <a:latin typeface="Georgia"/>
                <a:ea typeface="Georgia"/>
                <a:cs typeface="Georgia"/>
              </a:defRPr>
            </a:pPr>
            <a:r>
              <a:rPr sz="6150" b="1">
                <a:solidFill>
                  <a:srgbClr val="B9D94A"/>
                </a:solidFill>
                <a:latin typeface="Georgia"/>
                <a:ea typeface="Georgia"/>
                <a:cs typeface="Georgia"/>
              </a:rPr>
              <a:t>LIVE</a:t>
            </a:r>
          </a:p>
        </p:txBody>
      </p:sp>
      <p:sp>
        <p:nvSpPr>
          <p:cNvPr id="5" name="">
            <a:extLst xmlns:a="http://schemas.openxmlformats.org/drawingml/2006/main">
              <a:ext uri="{FF2B5EF4-FFF2-40B4-BE49-F238E27FC236}">
                <a16:creationId xmlns:a16="http://schemas.microsoft.com/office/drawing/2014/main" id="{AFAF606E-2448-4818-887C-BCB80CF4C64E}"/>
              </a:ext>
            </a:extLst>
          </p:cNvPr>
          <p:cNvSpPr>
            <a:spLocks xmlns:a="http://schemas.openxmlformats.org/drawingml/2006/main" noGrp="1"/>
          </p:cNvSpPr>
          <p:nvPr/>
        </p:nvSpPr>
        <p:spPr>
          <a:xfrm xmlns:a="http://schemas.openxmlformats.org/drawingml/2006/main">
            <a:off x="552450" y="2381250"/>
            <a:ext cx="5905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0" b="1">
                <a:solidFill>
                  <a:srgbClr val="FFFFFF"/>
                </a:solidFill>
                <a:latin typeface="Georgia"/>
                <a:ea typeface="Georgia"/>
                <a:cs typeface="Georgia"/>
              </a:defRPr>
            </a:pPr>
            <a:r>
              <a:rPr sz="6600" b="1">
                <a:solidFill>
                  <a:srgbClr val="FFFFFF"/>
                </a:solidFill>
                <a:latin typeface="Georgia"/>
                <a:ea typeface="Georgia"/>
                <a:cs typeface="Georgia"/>
              </a:rPr>
              <a:t>ML DEMO</a:t>
            </a:r>
          </a:p>
        </p:txBody>
      </p:sp>
      <p:sp>
        <p:nvSpPr>
          <p:cNvPr id="6" name="">
            <a:extLst xmlns:a="http://schemas.openxmlformats.org/drawingml/2006/main">
              <a:ext uri="{FF2B5EF4-FFF2-40B4-BE49-F238E27FC236}">
                <a16:creationId xmlns:a16="http://schemas.microsoft.com/office/drawing/2014/main" id="{4FF0354C-E26B-49E7-A5C2-C8AB1905B58F}"/>
              </a:ext>
            </a:extLst>
          </p:cNvPr>
          <p:cNvSpPr>
            <a:spLocks xmlns:a="http://schemas.openxmlformats.org/drawingml/2006/main" noGrp="1"/>
          </p:cNvSpPr>
          <p:nvPr/>
        </p:nvSpPr>
        <p:spPr>
          <a:xfrm xmlns:a="http://schemas.openxmlformats.org/drawingml/2006/main">
            <a:off x="552450" y="3905250"/>
            <a:ext cx="5334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DDE5DD"/>
                </a:solidFill>
                <a:latin typeface="Georgia"/>
                <a:ea typeface="Georgia"/>
                <a:cs typeface="Georgia"/>
              </a:defRPr>
            </a:pPr>
            <a:r>
              <a:rPr sz="1800" b="1">
                <a:solidFill>
                  <a:srgbClr val="DDE5DD"/>
                </a:solidFill>
                <a:latin typeface="Georgia"/>
                <a:ea typeface="Georgia"/>
                <a:cs typeface="Georgia"/>
              </a:rPr>
              <a:t>Mostrare il processo, non “la magia”.</a:t>
            </a:r>
          </a:p>
        </p:txBody>
      </p:sp>
      <p:sp>
        <p:nvSpPr>
          <p:cNvPr id="7" name="">
            <a:extLst xmlns:a="http://schemas.openxmlformats.org/drawingml/2006/main">
              <a:ext uri="{FF2B5EF4-FFF2-40B4-BE49-F238E27FC236}">
                <a16:creationId xmlns:a16="http://schemas.microsoft.com/office/drawing/2014/main" id="{56D82CC1-4971-49F7-98B9-2E17D1388120}"/>
              </a:ext>
            </a:extLst>
          </p:cNvPr>
          <p:cNvSpPr>
            <a:spLocks xmlns:a="http://schemas.openxmlformats.org/drawingml/2006/main" noGrp="1"/>
          </p:cNvSpPr>
          <p:nvPr/>
        </p:nvSpPr>
        <p:spPr>
          <a:xfrm xmlns:a="http://schemas.openxmlformats.org/drawingml/2006/main">
            <a:off x="7239000" y="15811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F7D5B"/>
                </a:solidFill>
                <a:latin typeface="Georgia"/>
                <a:ea typeface="Georgia"/>
                <a:cs typeface="Georgia"/>
              </a:defRPr>
            </a:pPr>
            <a:r>
              <a:rPr sz="900" b="1">
                <a:solidFill>
                  <a:srgbClr val="2F7D5B"/>
                </a:solidFill>
                <a:latin typeface="Georgia"/>
                <a:ea typeface="Georgia"/>
                <a:cs typeface="Georgia"/>
              </a:rPr>
              <a:t>01</a:t>
            </a:r>
          </a:p>
        </p:txBody>
      </p:sp>
      <p:sp>
        <p:nvSpPr>
          <p:cNvPr id="8" name="">
            <a:extLst xmlns:a="http://schemas.openxmlformats.org/drawingml/2006/main">
              <a:ext uri="{FF2B5EF4-FFF2-40B4-BE49-F238E27FC236}">
                <a16:creationId xmlns:a16="http://schemas.microsoft.com/office/drawing/2014/main" id="{A8282B0B-AD08-46E2-899B-0D0A7F568E88}"/>
              </a:ext>
            </a:extLst>
          </p:cNvPr>
          <p:cNvSpPr>
            <a:spLocks xmlns:a="http://schemas.openxmlformats.org/drawingml/2006/main" noGrp="1"/>
          </p:cNvSpPr>
          <p:nvPr/>
        </p:nvSpPr>
        <p:spPr>
          <a:xfrm xmlns:a="http://schemas.openxmlformats.org/drawingml/2006/main">
            <a:off x="7886700" y="15430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E5DD"/>
                </a:solidFill>
                <a:latin typeface="Aptos"/>
                <a:ea typeface="Aptos"/>
                <a:cs typeface="Aptos"/>
              </a:defRPr>
            </a:pPr>
            <a:r>
              <a:rPr sz="750" b="1">
                <a:solidFill>
                  <a:srgbClr val="DDE5DD"/>
                </a:solidFill>
                <a:latin typeface="Aptos"/>
                <a:ea typeface="Aptos"/>
                <a:cs typeface="Aptos"/>
              </a:rPr>
              <a:t>INPUT</a:t>
            </a:r>
          </a:p>
        </p:txBody>
      </p:sp>
      <p:sp>
        <p:nvSpPr>
          <p:cNvPr id="9" name="">
            <a:extLst xmlns:a="http://schemas.openxmlformats.org/drawingml/2006/main">
              <a:ext uri="{FF2B5EF4-FFF2-40B4-BE49-F238E27FC236}">
                <a16:creationId xmlns:a16="http://schemas.microsoft.com/office/drawing/2014/main" id="{975EF43D-AD04-44D6-A029-C799162307C7}"/>
              </a:ext>
            </a:extLst>
          </p:cNvPr>
          <p:cNvSpPr>
            <a:spLocks xmlns:a="http://schemas.openxmlformats.org/drawingml/2006/main" noGrp="1"/>
          </p:cNvSpPr>
          <p:nvPr/>
        </p:nvSpPr>
        <p:spPr>
          <a:xfrm xmlns:a="http://schemas.openxmlformats.org/drawingml/2006/main">
            <a:off x="7886700" y="18478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foto / 14 segnali</a:t>
            </a:r>
          </a:p>
        </p:txBody>
      </p:sp>
      <p:sp>
        <p:nvSpPr>
          <p:cNvPr id="10" name="">
            <a:extLst xmlns:a="http://schemas.openxmlformats.org/drawingml/2006/main">
              <a:ext uri="{FF2B5EF4-FFF2-40B4-BE49-F238E27FC236}">
                <a16:creationId xmlns:a16="http://schemas.microsoft.com/office/drawing/2014/main" id="{B116C40B-7AAA-4E71-8F22-E601083DBC40}"/>
              </a:ext>
            </a:extLst>
          </p:cNvPr>
          <p:cNvSpPr>
            <a:spLocks xmlns:a="http://schemas.openxmlformats.org/drawingml/2006/main" noGrp="1"/>
          </p:cNvSpPr>
          <p:nvPr/>
        </p:nvSpPr>
        <p:spPr>
          <a:xfrm xmlns:a="http://schemas.openxmlformats.org/drawingml/2006/main">
            <a:off x="7239000" y="25336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F7D5B"/>
                </a:solidFill>
                <a:latin typeface="Georgia"/>
                <a:ea typeface="Georgia"/>
                <a:cs typeface="Georgia"/>
              </a:defRPr>
            </a:pPr>
            <a:r>
              <a:rPr sz="900" b="1">
                <a:solidFill>
                  <a:srgbClr val="2F7D5B"/>
                </a:solidFill>
                <a:latin typeface="Georgia"/>
                <a:ea typeface="Georgia"/>
                <a:cs typeface="Georgia"/>
              </a:rPr>
              <a:t>02</a:t>
            </a:r>
          </a:p>
        </p:txBody>
      </p:sp>
      <p:sp>
        <p:nvSpPr>
          <p:cNvPr id="11" name="">
            <a:extLst xmlns:a="http://schemas.openxmlformats.org/drawingml/2006/main">
              <a:ext uri="{FF2B5EF4-FFF2-40B4-BE49-F238E27FC236}">
                <a16:creationId xmlns:a16="http://schemas.microsoft.com/office/drawing/2014/main" id="{FBE8682E-3A1E-42C4-B843-3E3B72E390BC}"/>
              </a:ext>
            </a:extLst>
          </p:cNvPr>
          <p:cNvSpPr>
            <a:spLocks xmlns:a="http://schemas.openxmlformats.org/drawingml/2006/main" noGrp="1"/>
          </p:cNvSpPr>
          <p:nvPr/>
        </p:nvSpPr>
        <p:spPr>
          <a:xfrm xmlns:a="http://schemas.openxmlformats.org/drawingml/2006/main">
            <a:off x="7886700" y="24955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E5DD"/>
                </a:solidFill>
                <a:latin typeface="Aptos"/>
                <a:ea typeface="Aptos"/>
                <a:cs typeface="Aptos"/>
              </a:defRPr>
            </a:pPr>
            <a:r>
              <a:rPr sz="750" b="1">
                <a:solidFill>
                  <a:srgbClr val="DDE5DD"/>
                </a:solidFill>
                <a:latin typeface="Aptos"/>
                <a:ea typeface="Aptos"/>
                <a:cs typeface="Aptos"/>
              </a:rPr>
              <a:t>INFERENZA</a:t>
            </a:r>
          </a:p>
        </p:txBody>
      </p:sp>
      <p:sp>
        <p:nvSpPr>
          <p:cNvPr id="12" name="">
            <a:extLst xmlns:a="http://schemas.openxmlformats.org/drawingml/2006/main">
              <a:ext uri="{FF2B5EF4-FFF2-40B4-BE49-F238E27FC236}">
                <a16:creationId xmlns:a16="http://schemas.microsoft.com/office/drawing/2014/main" id="{F3B64936-D161-4DEA-A213-6677E10D5059}"/>
              </a:ext>
            </a:extLst>
          </p:cNvPr>
          <p:cNvSpPr>
            <a:spLocks xmlns:a="http://schemas.openxmlformats.org/drawingml/2006/main" noGrp="1"/>
          </p:cNvSpPr>
          <p:nvPr/>
        </p:nvSpPr>
        <p:spPr>
          <a:xfrm xmlns:a="http://schemas.openxmlformats.org/drawingml/2006/main">
            <a:off x="7886700" y="28003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checkpoint locale</a:t>
            </a:r>
          </a:p>
        </p:txBody>
      </p:sp>
      <p:sp>
        <p:nvSpPr>
          <p:cNvPr id="13" name="">
            <a:extLst xmlns:a="http://schemas.openxmlformats.org/drawingml/2006/main">
              <a:ext uri="{FF2B5EF4-FFF2-40B4-BE49-F238E27FC236}">
                <a16:creationId xmlns:a16="http://schemas.microsoft.com/office/drawing/2014/main" id="{929A254A-C1F2-4AA9-9DA6-27F8DC0BE22A}"/>
              </a:ext>
            </a:extLst>
          </p:cNvPr>
          <p:cNvSpPr>
            <a:spLocks xmlns:a="http://schemas.openxmlformats.org/drawingml/2006/main" noGrp="1"/>
          </p:cNvSpPr>
          <p:nvPr/>
        </p:nvSpPr>
        <p:spPr>
          <a:xfrm xmlns:a="http://schemas.openxmlformats.org/drawingml/2006/main">
            <a:off x="7239000" y="34861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F7D5B"/>
                </a:solidFill>
                <a:latin typeface="Georgia"/>
                <a:ea typeface="Georgia"/>
                <a:cs typeface="Georgia"/>
              </a:defRPr>
            </a:pPr>
            <a:r>
              <a:rPr sz="900" b="1">
                <a:solidFill>
                  <a:srgbClr val="2F7D5B"/>
                </a:solidFill>
                <a:latin typeface="Georgia"/>
                <a:ea typeface="Georgia"/>
                <a:cs typeface="Georgia"/>
              </a:rPr>
              <a:t>03</a:t>
            </a:r>
          </a:p>
        </p:txBody>
      </p:sp>
      <p:sp>
        <p:nvSpPr>
          <p:cNvPr id="14" name="">
            <a:extLst xmlns:a="http://schemas.openxmlformats.org/drawingml/2006/main">
              <a:ext uri="{FF2B5EF4-FFF2-40B4-BE49-F238E27FC236}">
                <a16:creationId xmlns:a16="http://schemas.microsoft.com/office/drawing/2014/main" id="{81DCD970-74A6-4A98-8178-95A201C07BF1}"/>
              </a:ext>
            </a:extLst>
          </p:cNvPr>
          <p:cNvSpPr>
            <a:spLocks xmlns:a="http://schemas.openxmlformats.org/drawingml/2006/main" noGrp="1"/>
          </p:cNvSpPr>
          <p:nvPr/>
        </p:nvSpPr>
        <p:spPr>
          <a:xfrm xmlns:a="http://schemas.openxmlformats.org/drawingml/2006/main">
            <a:off x="7886700" y="34480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E5DD"/>
                </a:solidFill>
                <a:latin typeface="Aptos"/>
                <a:ea typeface="Aptos"/>
                <a:cs typeface="Aptos"/>
              </a:defRPr>
            </a:pPr>
            <a:r>
              <a:rPr sz="750" b="1">
                <a:solidFill>
                  <a:srgbClr val="DDE5DD"/>
                </a:solidFill>
                <a:latin typeface="Aptos"/>
                <a:ea typeface="Aptos"/>
                <a:cs typeface="Aptos"/>
              </a:rPr>
              <a:t>OUTPUT</a:t>
            </a:r>
          </a:p>
        </p:txBody>
      </p:sp>
      <p:sp>
        <p:nvSpPr>
          <p:cNvPr id="15" name="">
            <a:extLst xmlns:a="http://schemas.openxmlformats.org/drawingml/2006/main">
              <a:ext uri="{FF2B5EF4-FFF2-40B4-BE49-F238E27FC236}">
                <a16:creationId xmlns:a16="http://schemas.microsoft.com/office/drawing/2014/main" id="{B03426CD-89BE-43F0-9F1D-366E501ADE06}"/>
              </a:ext>
            </a:extLst>
          </p:cNvPr>
          <p:cNvSpPr>
            <a:spLocks xmlns:a="http://schemas.openxmlformats.org/drawingml/2006/main" noGrp="1"/>
          </p:cNvSpPr>
          <p:nvPr/>
        </p:nvSpPr>
        <p:spPr>
          <a:xfrm xmlns:a="http://schemas.openxmlformats.org/drawingml/2006/main">
            <a:off x="7886700" y="37528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3 stati / 6 gap</a:t>
            </a:r>
          </a:p>
        </p:txBody>
      </p:sp>
      <p:sp>
        <p:nvSpPr>
          <p:cNvPr id="16" name="">
            <a:extLst xmlns:a="http://schemas.openxmlformats.org/drawingml/2006/main">
              <a:ext uri="{FF2B5EF4-FFF2-40B4-BE49-F238E27FC236}">
                <a16:creationId xmlns:a16="http://schemas.microsoft.com/office/drawing/2014/main" id="{E57F4315-C84A-446C-8F05-F423203BC3D2}"/>
              </a:ext>
            </a:extLst>
          </p:cNvPr>
          <p:cNvSpPr>
            <a:spLocks xmlns:a="http://schemas.openxmlformats.org/drawingml/2006/main" noGrp="1"/>
          </p:cNvSpPr>
          <p:nvPr/>
        </p:nvSpPr>
        <p:spPr>
          <a:xfrm xmlns:a="http://schemas.openxmlformats.org/drawingml/2006/main">
            <a:off x="7239000" y="4438650"/>
            <a:ext cx="457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9D94A"/>
                </a:solidFill>
                <a:latin typeface="Georgia"/>
                <a:ea typeface="Georgia"/>
                <a:cs typeface="Georgia"/>
              </a:defRPr>
            </a:pPr>
            <a:r>
              <a:rPr sz="900" b="1">
                <a:solidFill>
                  <a:srgbClr val="B9D94A"/>
                </a:solidFill>
                <a:latin typeface="Georgia"/>
                <a:ea typeface="Georgia"/>
                <a:cs typeface="Georgia"/>
              </a:rPr>
              <a:t>04</a:t>
            </a:r>
          </a:p>
        </p:txBody>
      </p:sp>
      <p:sp>
        <p:nvSpPr>
          <p:cNvPr id="17" name="">
            <a:extLst xmlns:a="http://schemas.openxmlformats.org/drawingml/2006/main">
              <a:ext uri="{FF2B5EF4-FFF2-40B4-BE49-F238E27FC236}">
                <a16:creationId xmlns:a16="http://schemas.microsoft.com/office/drawing/2014/main" id="{320D1345-C113-4C09-9D95-68907433334A}"/>
              </a:ext>
            </a:extLst>
          </p:cNvPr>
          <p:cNvSpPr>
            <a:spLocks xmlns:a="http://schemas.openxmlformats.org/drawingml/2006/main" noGrp="1"/>
          </p:cNvSpPr>
          <p:nvPr/>
        </p:nvSpPr>
        <p:spPr>
          <a:xfrm xmlns:a="http://schemas.openxmlformats.org/drawingml/2006/main">
            <a:off x="7886700" y="44005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D94A"/>
                </a:solidFill>
                <a:latin typeface="Aptos"/>
                <a:ea typeface="Aptos"/>
                <a:cs typeface="Aptos"/>
              </a:defRPr>
            </a:pPr>
            <a:r>
              <a:rPr sz="750" b="1">
                <a:solidFill>
                  <a:srgbClr val="B9D94A"/>
                </a:solidFill>
                <a:latin typeface="Aptos"/>
                <a:ea typeface="Aptos"/>
                <a:cs typeface="Aptos"/>
              </a:rPr>
              <a:t>LIMITE</a:t>
            </a:r>
          </a:p>
        </p:txBody>
      </p:sp>
      <p:sp>
        <p:nvSpPr>
          <p:cNvPr id="18" name="">
            <a:extLst xmlns:a="http://schemas.openxmlformats.org/drawingml/2006/main">
              <a:ext uri="{FF2B5EF4-FFF2-40B4-BE49-F238E27FC236}">
                <a16:creationId xmlns:a16="http://schemas.microsoft.com/office/drawing/2014/main" id="{0CDAD95C-9999-41FD-BF7C-D46A19001B84}"/>
              </a:ext>
            </a:extLst>
          </p:cNvPr>
          <p:cNvSpPr>
            <a:spLocks xmlns:a="http://schemas.openxmlformats.org/drawingml/2006/main" noGrp="1"/>
          </p:cNvSpPr>
          <p:nvPr/>
        </p:nvSpPr>
        <p:spPr>
          <a:xfrm xmlns:a="http://schemas.openxmlformats.org/drawingml/2006/main">
            <a:off x="7886700" y="47053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holdout locale / simulato</a:t>
            </a:r>
          </a:p>
        </p:txBody>
      </p:sp>
      <p:sp>
        <p:nvSpPr>
          <p:cNvPr id="19" name="">
            <a:extLst xmlns:a="http://schemas.openxmlformats.org/drawingml/2006/main">
              <a:ext uri="{FF2B5EF4-FFF2-40B4-BE49-F238E27FC236}">
                <a16:creationId xmlns:a16="http://schemas.microsoft.com/office/drawing/2014/main" id="{0147FB47-C565-4E48-BE9B-A2D2DD561825}"/>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CA955DFE-1588-429C-8E81-048F5073F53A}"/>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91AA9F"/>
                </a:solidFill>
                <a:latin typeface="Aptos"/>
                <a:ea typeface="Aptos"/>
                <a:cs typeface="Aptos"/>
              </a:defRPr>
            </a:pPr>
            <a:r>
              <a:rPr sz="563" b="0">
                <a:solidFill>
                  <a:srgbClr val="91AA9F"/>
                </a:solidFill>
                <a:latin typeface="Aptos"/>
                <a:ea typeface="Aptos"/>
                <a:cs typeface="Aptos"/>
              </a:rPr>
              <a:t>Notebook consigliati: 01_condition_state_mlp.ipynb · 02_wardrobe_gap_mlp.ipynb</a:t>
            </a:r>
          </a:p>
        </p:txBody>
      </p:sp>
      <p:sp>
        <p:nvSpPr>
          <p:cNvPr id="21" name="">
            <a:extLst xmlns:a="http://schemas.openxmlformats.org/drawingml/2006/main">
              <a:ext uri="{FF2B5EF4-FFF2-40B4-BE49-F238E27FC236}">
                <a16:creationId xmlns:a16="http://schemas.microsoft.com/office/drawing/2014/main" id="{3617A2FA-35FC-4392-9E38-95669A2E64BC}"/>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91AA9F"/>
                </a:solidFill>
                <a:latin typeface="Georgia"/>
                <a:ea typeface="Georgia"/>
                <a:cs typeface="Georgia"/>
              </a:defRPr>
            </a:pPr>
            <a:r>
              <a:rPr sz="750" b="1">
                <a:solidFill>
                  <a:srgbClr val="91AA9F"/>
                </a:solidFill>
                <a:latin typeface="Georgia"/>
                <a:ea typeface="Georgia"/>
                <a:cs typeface="Georgia"/>
              </a:rPr>
              <a:t>15</a:t>
            </a:r>
          </a:p>
        </p:txBody>
      </p:sp>
    </p:spTree>
    <p:extLst>
      <p:ext uri="{BB962C8B-B14F-4D97-AF65-F5344CB8AC3E}">
        <p14:creationId xmlns:p14="http://schemas.microsoft.com/office/powerpoint/2010/main" val="25580675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C6E212E8-F464-4348-8B20-D85295ED89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4BE0C4A-0556-49E4-8576-956109B466E8}"/>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6D3E251-10F1-4847-8E7C-C5D2B899C8DC}"/>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DDE5DD"/>
                </a:solidFill>
                <a:latin typeface="Aptos"/>
                <a:ea typeface="Aptos"/>
                <a:cs typeface="Aptos"/>
              </a:defRPr>
            </a:pPr>
            <a:r>
              <a:rPr sz="638" b="1">
                <a:solidFill>
                  <a:srgbClr val="DDE5DD"/>
                </a:solidFill>
                <a:latin typeface="Aptos"/>
                <a:ea typeface="Aptos"/>
                <a:cs typeface="Aptos"/>
              </a:rPr>
              <a:t>A R C H I T E T T U R A   E   F A T T I B I L I T À</a:t>
            </a:r>
          </a:p>
        </p:txBody>
      </p:sp>
      <p:sp>
        <p:nvSpPr>
          <p:cNvPr id="4" name="claim-title">
            <a:extLst xmlns:a="http://schemas.openxmlformats.org/drawingml/2006/main">
              <a:ext uri="{FF2B5EF4-FFF2-40B4-BE49-F238E27FC236}">
                <a16:creationId xmlns:a16="http://schemas.microsoft.com/office/drawing/2014/main" id="{C46602B7-3BD8-471A-8C33-77D466950C17}"/>
              </a:ext>
            </a:extLst>
          </p:cNvPr>
          <p:cNvSpPr>
            <a:spLocks xmlns:a="http://schemas.openxmlformats.org/drawingml/2006/main" noGrp="1"/>
          </p:cNvSpPr>
          <p:nvPr/>
        </p:nvSpPr>
        <p:spPr>
          <a:xfrm xmlns:a="http://schemas.openxmlformats.org/drawingml/2006/main">
            <a:off x="552450" y="742950"/>
            <a:ext cx="10668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FFFFF"/>
                </a:solidFill>
                <a:latin typeface="Georgia"/>
                <a:ea typeface="Georgia"/>
                <a:cs typeface="Georgia"/>
              </a:defRPr>
            </a:pPr>
            <a:r>
              <a:rPr sz="2775" b="1">
                <a:solidFill>
                  <a:srgbClr val="FFFFFF"/>
                </a:solidFill>
                <a:latin typeface="Georgia"/>
                <a:ea typeface="Georgia"/>
                <a:cs typeface="Georgia"/>
              </a:rPr>
              <a:t>Il prototipo è fattibile oggi; la scalabilità procede per sostituzioni controllate.</a:t>
            </a:r>
          </a:p>
        </p:txBody>
      </p:sp>
      <p:sp>
        <p:nvSpPr>
          <p:cNvPr id="5" name="">
            <a:extLst xmlns:a="http://schemas.openxmlformats.org/drawingml/2006/main">
              <a:ext uri="{FF2B5EF4-FFF2-40B4-BE49-F238E27FC236}">
                <a16:creationId xmlns:a16="http://schemas.microsoft.com/office/drawing/2014/main" id="{347F3C8D-9A7E-4792-8AE4-EC81F8ACF5FC}"/>
              </a:ext>
            </a:extLst>
          </p:cNvPr>
          <p:cNvSpPr>
            <a:spLocks xmlns:a="http://schemas.openxmlformats.org/drawingml/2006/main" noGrp="1"/>
          </p:cNvSpPr>
          <p:nvPr/>
        </p:nvSpPr>
        <p:spPr>
          <a:xfrm xmlns:a="http://schemas.openxmlformats.org/drawingml/2006/main">
            <a:off x="552450" y="1962150"/>
            <a:ext cx="2381250" cy="1104900"/>
          </a:xfrm>
          <a:prstGeom xmlns:a="http://schemas.openxmlformats.org/drawingml/2006/main" prst="roundRect">
            <a:avLst>
              <a:gd name="adj" fmla="val 6897"/>
            </a:avLst>
          </a:prstGeom>
          <a:solidFill xmlns:a="http://schemas.openxmlformats.org/drawingml/2006/main">
            <a:srgbClr val="1B4C3D"/>
          </a:solidFill>
          <a:ln xmlns:a="http://schemas.openxmlformats.org/drawingml/2006/main" w="9525">
            <a:solidFill>
              <a:srgbClr val="3F685A"/>
            </a:solidFill>
            <a:prstDash val="solid"/>
          </a:ln>
        </p:spPr>
      </p:sp>
      <p:sp>
        <p:nvSpPr>
          <p:cNvPr id="6" name="">
            <a:extLst xmlns:a="http://schemas.openxmlformats.org/drawingml/2006/main">
              <a:ext uri="{FF2B5EF4-FFF2-40B4-BE49-F238E27FC236}">
                <a16:creationId xmlns:a16="http://schemas.microsoft.com/office/drawing/2014/main" id="{209EE9BB-A771-483A-8FA4-693A911AC5BB}"/>
              </a:ext>
            </a:extLst>
          </p:cNvPr>
          <p:cNvSpPr>
            <a:spLocks xmlns:a="http://schemas.openxmlformats.org/drawingml/2006/main" noGrp="1"/>
          </p:cNvSpPr>
          <p:nvPr/>
        </p:nvSpPr>
        <p:spPr>
          <a:xfrm xmlns:a="http://schemas.openxmlformats.org/drawingml/2006/main">
            <a:off x="723900" y="2190750"/>
            <a:ext cx="323850" cy="323850"/>
          </a:xfrm>
          <a:prstGeom xmlns:a="http://schemas.openxmlformats.org/drawingml/2006/main" prst="ellipse">
            <a:avLst/>
          </a:prstGeom>
          <a:solidFill xmlns:a="http://schemas.openxmlformats.org/drawingml/2006/main">
            <a:srgbClr val="466D86"/>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C579460-DF87-4CC4-ABA6-2A83B8CDE2E7}"/>
              </a:ext>
            </a:extLst>
          </p:cNvPr>
          <p:cNvSpPr>
            <a:spLocks xmlns:a="http://schemas.openxmlformats.org/drawingml/2006/main" noGrp="1"/>
          </p:cNvSpPr>
          <p:nvPr/>
        </p:nvSpPr>
        <p:spPr>
          <a:xfrm xmlns:a="http://schemas.openxmlformats.org/drawingml/2006/main">
            <a:off x="723900" y="22288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71316955-487E-4497-8E31-BB56ECF12A34}"/>
              </a:ext>
            </a:extLst>
          </p:cNvPr>
          <p:cNvSpPr>
            <a:spLocks xmlns:a="http://schemas.openxmlformats.org/drawingml/2006/main" noGrp="1"/>
          </p:cNvSpPr>
          <p:nvPr/>
        </p:nvSpPr>
        <p:spPr>
          <a:xfrm xmlns:a="http://schemas.openxmlformats.org/drawingml/2006/main">
            <a:off x="1181100" y="2133600"/>
            <a:ext cx="15049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React</a:t>
            </a:r>
          </a:p>
        </p:txBody>
      </p:sp>
      <p:sp>
        <p:nvSpPr>
          <p:cNvPr id="9" name="">
            <a:extLst xmlns:a="http://schemas.openxmlformats.org/drawingml/2006/main">
              <a:ext uri="{FF2B5EF4-FFF2-40B4-BE49-F238E27FC236}">
                <a16:creationId xmlns:a16="http://schemas.microsoft.com/office/drawing/2014/main" id="{355FD71A-B097-428A-8F5A-A81B9A0E0705}"/>
              </a:ext>
            </a:extLst>
          </p:cNvPr>
          <p:cNvSpPr>
            <a:spLocks xmlns:a="http://schemas.openxmlformats.org/drawingml/2006/main" noGrp="1"/>
          </p:cNvSpPr>
          <p:nvPr/>
        </p:nvSpPr>
        <p:spPr>
          <a:xfrm xmlns:a="http://schemas.openxmlformats.org/drawingml/2006/main">
            <a:off x="781050" y="2609850"/>
            <a:ext cx="1924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DDE5DD"/>
                </a:solidFill>
                <a:latin typeface="Aptos"/>
                <a:ea typeface="Aptos"/>
                <a:cs typeface="Aptos"/>
              </a:defRPr>
            </a:pPr>
            <a:r>
              <a:rPr sz="713" b="0">
                <a:solidFill>
                  <a:srgbClr val="DDE5DD"/>
                </a:solidFill>
                <a:latin typeface="Aptos"/>
                <a:ea typeface="Aptos"/>
                <a:cs typeface="Aptos"/>
              </a:rPr>
              <a:t>interfaccia responsive</a:t>
            </a:r>
          </a:p>
        </p:txBody>
      </p:sp>
      <p:sp>
        <p:nvSpPr>
          <p:cNvPr id="10" name="">
            <a:extLst xmlns:a="http://schemas.openxmlformats.org/drawingml/2006/main">
              <a:ext uri="{FF2B5EF4-FFF2-40B4-BE49-F238E27FC236}">
                <a16:creationId xmlns:a16="http://schemas.microsoft.com/office/drawing/2014/main" id="{F5E74BA6-1750-490F-A36D-4EA87BE13875}"/>
              </a:ext>
            </a:extLst>
          </p:cNvPr>
          <p:cNvSpPr>
            <a:spLocks xmlns:a="http://schemas.openxmlformats.org/drawingml/2006/main" noGrp="1"/>
          </p:cNvSpPr>
          <p:nvPr/>
        </p:nvSpPr>
        <p:spPr>
          <a:xfrm xmlns:a="http://schemas.openxmlformats.org/drawingml/2006/main">
            <a:off x="2933700" y="2514600"/>
            <a:ext cx="209550" cy="28575"/>
          </a:xfrm>
          <a:prstGeom xmlns:a="http://schemas.openxmlformats.org/drawingml/2006/main" prst="rect">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1013654-90FD-47AE-A1F3-094AFC86E1D7}"/>
              </a:ext>
            </a:extLst>
          </p:cNvPr>
          <p:cNvSpPr>
            <a:spLocks xmlns:a="http://schemas.openxmlformats.org/drawingml/2006/main" noGrp="1"/>
          </p:cNvSpPr>
          <p:nvPr/>
        </p:nvSpPr>
        <p:spPr>
          <a:xfrm xmlns:a="http://schemas.openxmlformats.org/drawingml/2006/main">
            <a:off x="3114675" y="2457450"/>
            <a:ext cx="133350" cy="133350"/>
          </a:xfrm>
          <a:prstGeom xmlns:a="http://schemas.openxmlformats.org/drawingml/2006/main" prst="triangl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5635BD3-B45F-4E88-AF48-268B2BB1DF9F}"/>
              </a:ext>
            </a:extLst>
          </p:cNvPr>
          <p:cNvSpPr>
            <a:spLocks xmlns:a="http://schemas.openxmlformats.org/drawingml/2006/main" noGrp="1"/>
          </p:cNvSpPr>
          <p:nvPr/>
        </p:nvSpPr>
        <p:spPr>
          <a:xfrm xmlns:a="http://schemas.openxmlformats.org/drawingml/2006/main">
            <a:off x="3333750" y="1962150"/>
            <a:ext cx="2381250" cy="1104900"/>
          </a:xfrm>
          <a:prstGeom xmlns:a="http://schemas.openxmlformats.org/drawingml/2006/main" prst="roundRect">
            <a:avLst>
              <a:gd name="adj" fmla="val 6897"/>
            </a:avLst>
          </a:prstGeom>
          <a:solidFill xmlns:a="http://schemas.openxmlformats.org/drawingml/2006/main">
            <a:srgbClr val="1B4C3D"/>
          </a:solidFill>
          <a:ln xmlns:a="http://schemas.openxmlformats.org/drawingml/2006/main" w="9525">
            <a:solidFill>
              <a:srgbClr val="3F685A"/>
            </a:solidFill>
            <a:prstDash val="solid"/>
          </a:ln>
        </p:spPr>
      </p:sp>
      <p:sp>
        <p:nvSpPr>
          <p:cNvPr id="13" name="">
            <a:extLst xmlns:a="http://schemas.openxmlformats.org/drawingml/2006/main">
              <a:ext uri="{FF2B5EF4-FFF2-40B4-BE49-F238E27FC236}">
                <a16:creationId xmlns:a16="http://schemas.microsoft.com/office/drawing/2014/main" id="{76E0D47F-2AD8-4605-A768-804241833BFA}"/>
              </a:ext>
            </a:extLst>
          </p:cNvPr>
          <p:cNvSpPr>
            <a:spLocks xmlns:a="http://schemas.openxmlformats.org/drawingml/2006/main" noGrp="1"/>
          </p:cNvSpPr>
          <p:nvPr/>
        </p:nvSpPr>
        <p:spPr>
          <a:xfrm xmlns:a="http://schemas.openxmlformats.org/drawingml/2006/main">
            <a:off x="3505200" y="2190750"/>
            <a:ext cx="323850" cy="3238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5E31127-FB7C-4280-9872-E42F49CB492B}"/>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330EDEAB-FDB9-45A3-AE3F-D38067FDDF88}"/>
              </a:ext>
            </a:extLst>
          </p:cNvPr>
          <p:cNvSpPr>
            <a:spLocks xmlns:a="http://schemas.openxmlformats.org/drawingml/2006/main" noGrp="1"/>
          </p:cNvSpPr>
          <p:nvPr/>
        </p:nvSpPr>
        <p:spPr>
          <a:xfrm xmlns:a="http://schemas.openxmlformats.org/drawingml/2006/main">
            <a:off x="3962400" y="2133600"/>
            <a:ext cx="15049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FastAPI</a:t>
            </a:r>
          </a:p>
        </p:txBody>
      </p:sp>
      <p:sp>
        <p:nvSpPr>
          <p:cNvPr id="16" name="">
            <a:extLst xmlns:a="http://schemas.openxmlformats.org/drawingml/2006/main">
              <a:ext uri="{FF2B5EF4-FFF2-40B4-BE49-F238E27FC236}">
                <a16:creationId xmlns:a16="http://schemas.microsoft.com/office/drawing/2014/main" id="{B0C253E3-694D-41B5-AC4B-29FBB188A9B3}"/>
              </a:ext>
            </a:extLst>
          </p:cNvPr>
          <p:cNvSpPr>
            <a:spLocks xmlns:a="http://schemas.openxmlformats.org/drawingml/2006/main" noGrp="1"/>
          </p:cNvSpPr>
          <p:nvPr/>
        </p:nvSpPr>
        <p:spPr>
          <a:xfrm xmlns:a="http://schemas.openxmlformats.org/drawingml/2006/main">
            <a:off x="3562350" y="2609850"/>
            <a:ext cx="1924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DDE5DD"/>
                </a:solidFill>
                <a:latin typeface="Aptos"/>
                <a:ea typeface="Aptos"/>
                <a:cs typeface="Aptos"/>
              </a:defRPr>
            </a:pPr>
            <a:r>
              <a:rPr sz="713" b="0">
                <a:solidFill>
                  <a:srgbClr val="DDE5DD"/>
                </a:solidFill>
                <a:latin typeface="Aptos"/>
                <a:ea typeface="Aptos"/>
                <a:cs typeface="Aptos"/>
              </a:rPr>
              <a:t>API e logica applicativa</a:t>
            </a:r>
          </a:p>
        </p:txBody>
      </p:sp>
      <p:sp>
        <p:nvSpPr>
          <p:cNvPr id="17" name="">
            <a:extLst xmlns:a="http://schemas.openxmlformats.org/drawingml/2006/main">
              <a:ext uri="{FF2B5EF4-FFF2-40B4-BE49-F238E27FC236}">
                <a16:creationId xmlns:a16="http://schemas.microsoft.com/office/drawing/2014/main" id="{A1B3DC50-2181-4FEE-AA19-B3DAB4E894AC}"/>
              </a:ext>
            </a:extLst>
          </p:cNvPr>
          <p:cNvSpPr>
            <a:spLocks xmlns:a="http://schemas.openxmlformats.org/drawingml/2006/main" noGrp="1"/>
          </p:cNvSpPr>
          <p:nvPr/>
        </p:nvSpPr>
        <p:spPr>
          <a:xfrm xmlns:a="http://schemas.openxmlformats.org/drawingml/2006/main">
            <a:off x="5715000" y="2514600"/>
            <a:ext cx="209550" cy="28575"/>
          </a:xfrm>
          <a:prstGeom xmlns:a="http://schemas.openxmlformats.org/drawingml/2006/main" prst="rect">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3A08E2D-E6A8-494D-AD7B-7DDCB2C375A2}"/>
              </a:ext>
            </a:extLst>
          </p:cNvPr>
          <p:cNvSpPr>
            <a:spLocks xmlns:a="http://schemas.openxmlformats.org/drawingml/2006/main" noGrp="1"/>
          </p:cNvSpPr>
          <p:nvPr/>
        </p:nvSpPr>
        <p:spPr>
          <a:xfrm xmlns:a="http://schemas.openxmlformats.org/drawingml/2006/main">
            <a:off x="5895975" y="2457450"/>
            <a:ext cx="133350" cy="133350"/>
          </a:xfrm>
          <a:prstGeom xmlns:a="http://schemas.openxmlformats.org/drawingml/2006/main" prst="triangl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C6C08B2-75AC-4F69-8B72-5564BBC23CD2}"/>
              </a:ext>
            </a:extLst>
          </p:cNvPr>
          <p:cNvSpPr>
            <a:spLocks xmlns:a="http://schemas.openxmlformats.org/drawingml/2006/main" noGrp="1"/>
          </p:cNvSpPr>
          <p:nvPr/>
        </p:nvSpPr>
        <p:spPr>
          <a:xfrm xmlns:a="http://schemas.openxmlformats.org/drawingml/2006/main">
            <a:off x="6115050" y="1962150"/>
            <a:ext cx="2381250" cy="1104900"/>
          </a:xfrm>
          <a:prstGeom xmlns:a="http://schemas.openxmlformats.org/drawingml/2006/main" prst="roundRect">
            <a:avLst>
              <a:gd name="adj" fmla="val 6897"/>
            </a:avLst>
          </a:prstGeom>
          <a:solidFill xmlns:a="http://schemas.openxmlformats.org/drawingml/2006/main">
            <a:srgbClr val="1B4C3D"/>
          </a:solidFill>
          <a:ln xmlns:a="http://schemas.openxmlformats.org/drawingml/2006/main" w="9525">
            <a:solidFill>
              <a:srgbClr val="3F685A"/>
            </a:solidFill>
            <a:prstDash val="solid"/>
          </a:ln>
        </p:spPr>
      </p:sp>
      <p:sp>
        <p:nvSpPr>
          <p:cNvPr id="20" name="">
            <a:extLst xmlns:a="http://schemas.openxmlformats.org/drawingml/2006/main">
              <a:ext uri="{FF2B5EF4-FFF2-40B4-BE49-F238E27FC236}">
                <a16:creationId xmlns:a16="http://schemas.microsoft.com/office/drawing/2014/main" id="{64165E92-09E7-4D23-86FC-0AFA79E8DF65}"/>
              </a:ext>
            </a:extLst>
          </p:cNvPr>
          <p:cNvSpPr>
            <a:spLocks xmlns:a="http://schemas.openxmlformats.org/drawingml/2006/main" noGrp="1"/>
          </p:cNvSpPr>
          <p:nvPr/>
        </p:nvSpPr>
        <p:spPr>
          <a:xfrm xmlns:a="http://schemas.openxmlformats.org/drawingml/2006/main">
            <a:off x="6286500" y="2190750"/>
            <a:ext cx="323850" cy="3238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71A2598-9B30-4AC9-85FD-82FE1A0F31D7}"/>
              </a:ext>
            </a:extLst>
          </p:cNvPr>
          <p:cNvSpPr>
            <a:spLocks xmlns:a="http://schemas.openxmlformats.org/drawingml/2006/main" noGrp="1"/>
          </p:cNvSpPr>
          <p:nvPr/>
        </p:nvSpPr>
        <p:spPr>
          <a:xfrm xmlns:a="http://schemas.openxmlformats.org/drawingml/2006/main">
            <a:off x="6286500" y="22288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B26BDD7C-4B13-4581-AD95-11A6A9C4B424}"/>
              </a:ext>
            </a:extLst>
          </p:cNvPr>
          <p:cNvSpPr>
            <a:spLocks xmlns:a="http://schemas.openxmlformats.org/drawingml/2006/main" noGrp="1"/>
          </p:cNvSpPr>
          <p:nvPr/>
        </p:nvSpPr>
        <p:spPr>
          <a:xfrm xmlns:a="http://schemas.openxmlformats.org/drawingml/2006/main">
            <a:off x="6743700" y="2133600"/>
            <a:ext cx="15049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Dati + modelli</a:t>
            </a:r>
          </a:p>
        </p:txBody>
      </p:sp>
      <p:sp>
        <p:nvSpPr>
          <p:cNvPr id="23" name="">
            <a:extLst xmlns:a="http://schemas.openxmlformats.org/drawingml/2006/main">
              <a:ext uri="{FF2B5EF4-FFF2-40B4-BE49-F238E27FC236}">
                <a16:creationId xmlns:a16="http://schemas.microsoft.com/office/drawing/2014/main" id="{838B200B-4DB1-4831-A21A-89E4282D0339}"/>
              </a:ext>
            </a:extLst>
          </p:cNvPr>
          <p:cNvSpPr>
            <a:spLocks xmlns:a="http://schemas.openxmlformats.org/drawingml/2006/main" noGrp="1"/>
          </p:cNvSpPr>
          <p:nvPr/>
        </p:nvSpPr>
        <p:spPr>
          <a:xfrm xmlns:a="http://schemas.openxmlformats.org/drawingml/2006/main">
            <a:off x="6343650" y="2609850"/>
            <a:ext cx="1924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DDE5DD"/>
                </a:solidFill>
                <a:latin typeface="Aptos"/>
                <a:ea typeface="Aptos"/>
                <a:cs typeface="Aptos"/>
              </a:defRPr>
            </a:pPr>
            <a:r>
              <a:rPr sz="713" b="0">
                <a:solidFill>
                  <a:srgbClr val="DDE5DD"/>
                </a:solidFill>
                <a:latin typeface="Aptos"/>
                <a:ea typeface="Aptos"/>
                <a:cs typeface="Aptos"/>
              </a:rPr>
              <a:t>SQLite · immagini · checkpoint</a:t>
            </a:r>
          </a:p>
        </p:txBody>
      </p:sp>
      <p:sp>
        <p:nvSpPr>
          <p:cNvPr id="24" name="">
            <a:extLst xmlns:a="http://schemas.openxmlformats.org/drawingml/2006/main">
              <a:ext uri="{FF2B5EF4-FFF2-40B4-BE49-F238E27FC236}">
                <a16:creationId xmlns:a16="http://schemas.microsoft.com/office/drawing/2014/main" id="{554F9806-A507-488E-A61C-6966661C69D5}"/>
              </a:ext>
            </a:extLst>
          </p:cNvPr>
          <p:cNvSpPr>
            <a:spLocks xmlns:a="http://schemas.openxmlformats.org/drawingml/2006/main" noGrp="1"/>
          </p:cNvSpPr>
          <p:nvPr/>
        </p:nvSpPr>
        <p:spPr>
          <a:xfrm xmlns:a="http://schemas.openxmlformats.org/drawingml/2006/main">
            <a:off x="8496300" y="2514600"/>
            <a:ext cx="209550" cy="28575"/>
          </a:xfrm>
          <a:prstGeom xmlns:a="http://schemas.openxmlformats.org/drawingml/2006/main" prst="rect">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A99E71E-7A0F-4CF7-B757-965A77084E62}"/>
              </a:ext>
            </a:extLst>
          </p:cNvPr>
          <p:cNvSpPr>
            <a:spLocks xmlns:a="http://schemas.openxmlformats.org/drawingml/2006/main" noGrp="1"/>
          </p:cNvSpPr>
          <p:nvPr/>
        </p:nvSpPr>
        <p:spPr>
          <a:xfrm xmlns:a="http://schemas.openxmlformats.org/drawingml/2006/main">
            <a:off x="8677275" y="2457450"/>
            <a:ext cx="133350" cy="133350"/>
          </a:xfrm>
          <a:prstGeom xmlns:a="http://schemas.openxmlformats.org/drawingml/2006/main" prst="triangl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96D1D142-4DAE-4649-9824-A8B818A47471}"/>
              </a:ext>
            </a:extLst>
          </p:cNvPr>
          <p:cNvSpPr>
            <a:spLocks xmlns:a="http://schemas.openxmlformats.org/drawingml/2006/main" noGrp="1"/>
          </p:cNvSpPr>
          <p:nvPr/>
        </p:nvSpPr>
        <p:spPr>
          <a:xfrm xmlns:a="http://schemas.openxmlformats.org/drawingml/2006/main">
            <a:off x="8896350" y="1962150"/>
            <a:ext cx="2381250" cy="1104900"/>
          </a:xfrm>
          <a:prstGeom xmlns:a="http://schemas.openxmlformats.org/drawingml/2006/main" prst="roundRect">
            <a:avLst>
              <a:gd name="adj" fmla="val 6897"/>
            </a:avLst>
          </a:prstGeom>
          <a:solidFill xmlns:a="http://schemas.openxmlformats.org/drawingml/2006/main">
            <a:srgbClr val="1B4C3D"/>
          </a:solidFill>
          <a:ln xmlns:a="http://schemas.openxmlformats.org/drawingml/2006/main" w="9525">
            <a:solidFill>
              <a:srgbClr val="3F685A"/>
            </a:solidFill>
            <a:prstDash val="solid"/>
          </a:ln>
        </p:spPr>
      </p:sp>
      <p:sp>
        <p:nvSpPr>
          <p:cNvPr id="27" name="">
            <a:extLst xmlns:a="http://schemas.openxmlformats.org/drawingml/2006/main">
              <a:ext uri="{FF2B5EF4-FFF2-40B4-BE49-F238E27FC236}">
                <a16:creationId xmlns:a16="http://schemas.microsoft.com/office/drawing/2014/main" id="{EB6E5FF5-58BC-44ED-A885-53B05C3F42B8}"/>
              </a:ext>
            </a:extLst>
          </p:cNvPr>
          <p:cNvSpPr>
            <a:spLocks xmlns:a="http://schemas.openxmlformats.org/drawingml/2006/main" noGrp="1"/>
          </p:cNvSpPr>
          <p:nvPr/>
        </p:nvSpPr>
        <p:spPr>
          <a:xfrm xmlns:a="http://schemas.openxmlformats.org/drawingml/2006/main">
            <a:off x="9067800" y="2190750"/>
            <a:ext cx="323850" cy="323850"/>
          </a:xfrm>
          <a:prstGeom xmlns:a="http://schemas.openxmlformats.org/drawingml/2006/main" prst="ellipse">
            <a:avLst/>
          </a:prstGeom>
          <a:solidFill xmlns:a="http://schemas.openxmlformats.org/drawingml/2006/main">
            <a:srgbClr val="B9D94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F0208B9B-1627-4517-A520-5FC59713A6BD}"/>
              </a:ext>
            </a:extLst>
          </p:cNvPr>
          <p:cNvSpPr>
            <a:spLocks xmlns:a="http://schemas.openxmlformats.org/drawingml/2006/main" noGrp="1"/>
          </p:cNvSpPr>
          <p:nvPr/>
        </p:nvSpPr>
        <p:spPr>
          <a:xfrm xmlns:a="http://schemas.openxmlformats.org/drawingml/2006/main">
            <a:off x="9067800" y="22288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123C31"/>
                </a:solidFill>
                <a:latin typeface="Aptos"/>
                <a:ea typeface="Aptos"/>
                <a:cs typeface="Aptos"/>
              </a:defRPr>
            </a:pPr>
            <a:r>
              <a:rPr sz="825" b="1">
                <a:solidFill>
                  <a:srgbClr val="123C31"/>
                </a:solidFill>
                <a:latin typeface="Aptos"/>
                <a:ea typeface="Aptos"/>
                <a:cs typeface="Aptos"/>
              </a:rPr>
              <a:t>4</a:t>
            </a:r>
          </a:p>
        </p:txBody>
      </p:sp>
      <p:sp>
        <p:nvSpPr>
          <p:cNvPr id="29" name="">
            <a:extLst xmlns:a="http://schemas.openxmlformats.org/drawingml/2006/main">
              <a:ext uri="{FF2B5EF4-FFF2-40B4-BE49-F238E27FC236}">
                <a16:creationId xmlns:a16="http://schemas.microsoft.com/office/drawing/2014/main" id="{68284C7C-7AD3-48D4-BBB2-F4523A6A0F81}"/>
              </a:ext>
            </a:extLst>
          </p:cNvPr>
          <p:cNvSpPr>
            <a:spLocks xmlns:a="http://schemas.openxmlformats.org/drawingml/2006/main" noGrp="1"/>
          </p:cNvSpPr>
          <p:nvPr/>
        </p:nvSpPr>
        <p:spPr>
          <a:xfrm xmlns:a="http://schemas.openxmlformats.org/drawingml/2006/main">
            <a:off x="9525000" y="2133600"/>
            <a:ext cx="15049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Georgia"/>
                <a:ea typeface="Georgia"/>
                <a:cs typeface="Georgia"/>
              </a:defRPr>
            </a:pPr>
            <a:r>
              <a:rPr sz="1275" b="1">
                <a:solidFill>
                  <a:srgbClr val="FFFFFF"/>
                </a:solidFill>
                <a:latin typeface="Georgia"/>
                <a:ea typeface="Georgia"/>
                <a:cs typeface="Georgia"/>
              </a:rPr>
              <a:t>PWA</a:t>
            </a:r>
          </a:p>
        </p:txBody>
      </p:sp>
      <p:sp>
        <p:nvSpPr>
          <p:cNvPr id="30" name="">
            <a:extLst xmlns:a="http://schemas.openxmlformats.org/drawingml/2006/main">
              <a:ext uri="{FF2B5EF4-FFF2-40B4-BE49-F238E27FC236}">
                <a16:creationId xmlns:a16="http://schemas.microsoft.com/office/drawing/2014/main" id="{53BDD141-5A13-47F3-81AB-9B56F15AF50D}"/>
              </a:ext>
            </a:extLst>
          </p:cNvPr>
          <p:cNvSpPr>
            <a:spLocks xmlns:a="http://schemas.openxmlformats.org/drawingml/2006/main" noGrp="1"/>
          </p:cNvSpPr>
          <p:nvPr/>
        </p:nvSpPr>
        <p:spPr>
          <a:xfrm xmlns:a="http://schemas.openxmlformats.org/drawingml/2006/main">
            <a:off x="9124950" y="2609850"/>
            <a:ext cx="1924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DDE5DD"/>
                </a:solidFill>
                <a:latin typeface="Aptos"/>
                <a:ea typeface="Aptos"/>
                <a:cs typeface="Aptos"/>
              </a:defRPr>
            </a:pPr>
            <a:r>
              <a:rPr sz="713" b="0">
                <a:solidFill>
                  <a:srgbClr val="DDE5DD"/>
                </a:solidFill>
                <a:latin typeface="Aptos"/>
                <a:ea typeface="Aptos"/>
                <a:cs typeface="Aptos"/>
              </a:rPr>
              <a:t>installabile da browser</a:t>
            </a:r>
          </a:p>
        </p:txBody>
      </p:sp>
      <p:sp>
        <p:nvSpPr>
          <p:cNvPr id="31" name="">
            <a:extLst xmlns:a="http://schemas.openxmlformats.org/drawingml/2006/main">
              <a:ext uri="{FF2B5EF4-FFF2-40B4-BE49-F238E27FC236}">
                <a16:creationId xmlns:a16="http://schemas.microsoft.com/office/drawing/2014/main" id="{F5240C0C-8AF4-4F6C-9D89-6277282245D6}"/>
              </a:ext>
            </a:extLst>
          </p:cNvPr>
          <p:cNvSpPr>
            <a:spLocks xmlns:a="http://schemas.openxmlformats.org/drawingml/2006/main" noGrp="1"/>
          </p:cNvSpPr>
          <p:nvPr/>
        </p:nvSpPr>
        <p:spPr>
          <a:xfrm xmlns:a="http://schemas.openxmlformats.org/drawingml/2006/main">
            <a:off x="552450" y="354330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20E29FEB-1511-4D58-993E-F9377AFF89EA}"/>
              </a:ext>
            </a:extLst>
          </p:cNvPr>
          <p:cNvSpPr>
            <a:spLocks xmlns:a="http://schemas.openxmlformats.org/drawingml/2006/main" noGrp="1"/>
          </p:cNvSpPr>
          <p:nvPr/>
        </p:nvSpPr>
        <p:spPr>
          <a:xfrm xmlns:a="http://schemas.openxmlformats.org/drawingml/2006/main">
            <a:off x="552450" y="3943350"/>
            <a:ext cx="3143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D56E42"/>
                </a:solidFill>
                <a:latin typeface="Aptos"/>
                <a:ea typeface="Aptos"/>
                <a:cs typeface="Aptos"/>
              </a:defRPr>
            </a:pPr>
            <a:r>
              <a:rPr sz="675" b="1">
                <a:solidFill>
                  <a:srgbClr val="D56E42"/>
                </a:solidFill>
                <a:latin typeface="Aptos"/>
                <a:ea typeface="Aptos"/>
                <a:cs typeface="Aptos"/>
              </a:rPr>
              <a:t>COSTI</a:t>
            </a:r>
          </a:p>
        </p:txBody>
      </p:sp>
      <p:sp>
        <p:nvSpPr>
          <p:cNvPr id="33" name="">
            <a:extLst xmlns:a="http://schemas.openxmlformats.org/drawingml/2006/main">
              <a:ext uri="{FF2B5EF4-FFF2-40B4-BE49-F238E27FC236}">
                <a16:creationId xmlns:a16="http://schemas.microsoft.com/office/drawing/2014/main" id="{C525B07D-CB99-4934-A91C-1FA34EEF7FC9}"/>
              </a:ext>
            </a:extLst>
          </p:cNvPr>
          <p:cNvSpPr>
            <a:spLocks xmlns:a="http://schemas.openxmlformats.org/drawingml/2006/main" noGrp="1"/>
          </p:cNvSpPr>
          <p:nvPr/>
        </p:nvSpPr>
        <p:spPr>
          <a:xfrm xmlns:a="http://schemas.openxmlformats.org/drawingml/2006/main">
            <a:off x="552450" y="4305300"/>
            <a:ext cx="3143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Georgia"/>
                <a:ea typeface="Georgia"/>
                <a:cs typeface="Georgia"/>
              </a:defRPr>
            </a:pPr>
            <a:r>
              <a:rPr sz="1050" b="1">
                <a:solidFill>
                  <a:srgbClr val="FFFFFF"/>
                </a:solidFill>
                <a:latin typeface="Georgia"/>
                <a:ea typeface="Georgia"/>
                <a:cs typeface="Georgia"/>
              </a:rPr>
              <a:t>software prevalentemente open source; costo principale: tempo e servizi cloud opzionali</a:t>
            </a:r>
          </a:p>
        </p:txBody>
      </p:sp>
      <p:sp>
        <p:nvSpPr>
          <p:cNvPr id="34" name="">
            <a:extLst xmlns:a="http://schemas.openxmlformats.org/drawingml/2006/main">
              <a:ext uri="{FF2B5EF4-FFF2-40B4-BE49-F238E27FC236}">
                <a16:creationId xmlns:a16="http://schemas.microsoft.com/office/drawing/2014/main" id="{881484FD-9477-4AD2-ACDC-F49AC6979F9E}"/>
              </a:ext>
            </a:extLst>
          </p:cNvPr>
          <p:cNvSpPr>
            <a:spLocks xmlns:a="http://schemas.openxmlformats.org/drawingml/2006/main" noGrp="1"/>
          </p:cNvSpPr>
          <p:nvPr/>
        </p:nvSpPr>
        <p:spPr>
          <a:xfrm xmlns:a="http://schemas.openxmlformats.org/drawingml/2006/main">
            <a:off x="4248150" y="3943350"/>
            <a:ext cx="3143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466D86"/>
                </a:solidFill>
                <a:latin typeface="Aptos"/>
                <a:ea typeface="Aptos"/>
                <a:cs typeface="Aptos"/>
              </a:defRPr>
            </a:pPr>
            <a:r>
              <a:rPr sz="675" b="1">
                <a:solidFill>
                  <a:srgbClr val="466D86"/>
                </a:solidFill>
                <a:latin typeface="Aptos"/>
                <a:ea typeface="Aptos"/>
                <a:cs typeface="Aptos"/>
              </a:rPr>
              <a:t>MATERIALI</a:t>
            </a:r>
          </a:p>
        </p:txBody>
      </p:sp>
      <p:sp>
        <p:nvSpPr>
          <p:cNvPr id="35" name="">
            <a:extLst xmlns:a="http://schemas.openxmlformats.org/drawingml/2006/main">
              <a:ext uri="{FF2B5EF4-FFF2-40B4-BE49-F238E27FC236}">
                <a16:creationId xmlns:a16="http://schemas.microsoft.com/office/drawing/2014/main" id="{F477B67F-7A35-451A-B610-8DACA1C0EE50}"/>
              </a:ext>
            </a:extLst>
          </p:cNvPr>
          <p:cNvSpPr>
            <a:spLocks xmlns:a="http://schemas.openxmlformats.org/drawingml/2006/main" noGrp="1"/>
          </p:cNvSpPr>
          <p:nvPr/>
        </p:nvSpPr>
        <p:spPr>
          <a:xfrm xmlns:a="http://schemas.openxmlformats.org/drawingml/2006/main">
            <a:off x="4248150" y="4305300"/>
            <a:ext cx="3143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Georgia"/>
                <a:ea typeface="Georgia"/>
                <a:cs typeface="Georgia"/>
              </a:defRPr>
            </a:pPr>
            <a:r>
              <a:rPr sz="1050" b="1">
                <a:solidFill>
                  <a:srgbClr val="FFFFFF"/>
                </a:solidFill>
                <a:latin typeface="Georgia"/>
                <a:ea typeface="Georgia"/>
                <a:cs typeface="Georgia"/>
              </a:rPr>
              <a:t>smartphone e laptop esistenti; nessun hardware dedicato nel prototipo</a:t>
            </a:r>
          </a:p>
        </p:txBody>
      </p:sp>
      <p:sp>
        <p:nvSpPr>
          <p:cNvPr id="36" name="">
            <a:extLst xmlns:a="http://schemas.openxmlformats.org/drawingml/2006/main">
              <a:ext uri="{FF2B5EF4-FFF2-40B4-BE49-F238E27FC236}">
                <a16:creationId xmlns:a16="http://schemas.microsoft.com/office/drawing/2014/main" id="{87424867-F7FA-4AB4-A3DD-8B697817B26C}"/>
              </a:ext>
            </a:extLst>
          </p:cNvPr>
          <p:cNvSpPr>
            <a:spLocks xmlns:a="http://schemas.openxmlformats.org/drawingml/2006/main" noGrp="1"/>
          </p:cNvSpPr>
          <p:nvPr/>
        </p:nvSpPr>
        <p:spPr>
          <a:xfrm xmlns:a="http://schemas.openxmlformats.org/drawingml/2006/main">
            <a:off x="7943850" y="3943350"/>
            <a:ext cx="3143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B9D94A"/>
                </a:solidFill>
                <a:latin typeface="Aptos"/>
                <a:ea typeface="Aptos"/>
                <a:cs typeface="Aptos"/>
              </a:defRPr>
            </a:pPr>
            <a:r>
              <a:rPr sz="675" b="1">
                <a:solidFill>
                  <a:srgbClr val="B9D94A"/>
                </a:solidFill>
                <a:latin typeface="Aptos"/>
                <a:ea typeface="Aptos"/>
                <a:cs typeface="Aptos"/>
              </a:rPr>
              <a:t>SCALABILITÀ</a:t>
            </a:r>
          </a:p>
        </p:txBody>
      </p:sp>
      <p:sp>
        <p:nvSpPr>
          <p:cNvPr id="37" name="">
            <a:extLst xmlns:a="http://schemas.openxmlformats.org/drawingml/2006/main">
              <a:ext uri="{FF2B5EF4-FFF2-40B4-BE49-F238E27FC236}">
                <a16:creationId xmlns:a16="http://schemas.microsoft.com/office/drawing/2014/main" id="{E198910C-EE20-41DB-95B7-048B21293C78}"/>
              </a:ext>
            </a:extLst>
          </p:cNvPr>
          <p:cNvSpPr>
            <a:spLocks xmlns:a="http://schemas.openxmlformats.org/drawingml/2006/main" noGrp="1"/>
          </p:cNvSpPr>
          <p:nvPr/>
        </p:nvSpPr>
        <p:spPr>
          <a:xfrm xmlns:a="http://schemas.openxmlformats.org/drawingml/2006/main">
            <a:off x="7943850" y="4305300"/>
            <a:ext cx="3143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Georgia"/>
                <a:ea typeface="Georgia"/>
                <a:cs typeface="Georgia"/>
              </a:defRPr>
            </a:pPr>
            <a:r>
              <a:rPr sz="1050" b="1">
                <a:solidFill>
                  <a:srgbClr val="FFFFFF"/>
                </a:solidFill>
                <a:latin typeface="Georgia"/>
                <a:ea typeface="Georgia"/>
                <a:cs typeface="Georgia"/>
              </a:rPr>
              <a:t>SQLite → PostgreSQL; file locali → object storage; auth e job asincroni</a:t>
            </a:r>
          </a:p>
        </p:txBody>
      </p:sp>
      <p:sp>
        <p:nvSpPr>
          <p:cNvPr id="38" name="">
            <a:extLst xmlns:a="http://schemas.openxmlformats.org/drawingml/2006/main">
              <a:ext uri="{FF2B5EF4-FFF2-40B4-BE49-F238E27FC236}">
                <a16:creationId xmlns:a16="http://schemas.microsoft.com/office/drawing/2014/main" id="{E8A68D2E-A6E2-4EC1-A9D5-0CA43895FB1A}"/>
              </a:ext>
            </a:extLst>
          </p:cNvPr>
          <p:cNvSpPr>
            <a:spLocks xmlns:a="http://schemas.openxmlformats.org/drawingml/2006/main" noGrp="1"/>
          </p:cNvSpPr>
          <p:nvPr/>
        </p:nvSpPr>
        <p:spPr>
          <a:xfrm xmlns:a="http://schemas.openxmlformats.org/drawingml/2006/main">
            <a:off x="552450" y="5581650"/>
            <a:ext cx="11087100" cy="400050"/>
          </a:xfrm>
          <a:prstGeom xmlns:a="http://schemas.openxmlformats.org/drawingml/2006/main" prst="roundRect">
            <a:avLst>
              <a:gd name="adj" fmla="val 19048"/>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069B16DD-307C-4C03-9025-861DA5D591B4}"/>
              </a:ext>
            </a:extLst>
          </p:cNvPr>
          <p:cNvSpPr>
            <a:spLocks xmlns:a="http://schemas.openxmlformats.org/drawingml/2006/main" noGrp="1"/>
          </p:cNvSpPr>
          <p:nvPr/>
        </p:nvSpPr>
        <p:spPr>
          <a:xfrm xmlns:a="http://schemas.openxmlformats.org/drawingml/2006/main">
            <a:off x="781050" y="5667375"/>
            <a:ext cx="10629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123C31"/>
                </a:solidFill>
                <a:latin typeface="Aptos"/>
                <a:ea typeface="Aptos"/>
                <a:cs typeface="Aptos"/>
              </a:defRPr>
            </a:pPr>
            <a:r>
              <a:rPr sz="825" b="0">
                <a:solidFill>
                  <a:srgbClr val="123C31"/>
                </a:solidFill>
                <a:latin typeface="Aptos"/>
                <a:ea typeface="Aptos"/>
                <a:cs typeface="Aptos"/>
              </a:rPr>
              <a:t>Versione smartphone: PWA prima; wrapper o app nativa solo se camera, push e offline lo richiedono.</a:t>
            </a:r>
          </a:p>
        </p:txBody>
      </p:sp>
      <p:sp>
        <p:nvSpPr>
          <p:cNvPr id="40" name="">
            <a:extLst xmlns:a="http://schemas.openxmlformats.org/drawingml/2006/main">
              <a:ext uri="{FF2B5EF4-FFF2-40B4-BE49-F238E27FC236}">
                <a16:creationId xmlns:a16="http://schemas.microsoft.com/office/drawing/2014/main" id="{DCB8D03E-0F93-4DCC-9337-709973B453FF}"/>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3F685A"/>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CCAC9787-2C38-40ED-ACB9-9648433E6759}"/>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91AA9F"/>
                </a:solidFill>
                <a:latin typeface="Aptos"/>
                <a:ea typeface="Aptos"/>
                <a:cs typeface="Aptos"/>
              </a:defRPr>
            </a:pPr>
            <a:r>
              <a:rPr sz="563" b="0">
                <a:solidFill>
                  <a:srgbClr val="91AA9F"/>
                </a:solidFill>
                <a:latin typeface="Aptos"/>
                <a:ea typeface="Aptos"/>
                <a:cs typeface="Aptos"/>
              </a:rPr>
              <a:t>Architettura logica · prima della produzione: autenticazione, isolamento utenti, storage sicuro e GDPR</a:t>
            </a:r>
          </a:p>
        </p:txBody>
      </p:sp>
      <p:sp>
        <p:nvSpPr>
          <p:cNvPr id="42" name="">
            <a:extLst xmlns:a="http://schemas.openxmlformats.org/drawingml/2006/main">
              <a:ext uri="{FF2B5EF4-FFF2-40B4-BE49-F238E27FC236}">
                <a16:creationId xmlns:a16="http://schemas.microsoft.com/office/drawing/2014/main" id="{954D9E2C-66C4-4A7E-A27E-68BDFA7B781C}"/>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91AA9F"/>
                </a:solidFill>
                <a:latin typeface="Georgia"/>
                <a:ea typeface="Georgia"/>
                <a:cs typeface="Georgia"/>
              </a:defRPr>
            </a:pPr>
            <a:r>
              <a:rPr sz="750" b="1">
                <a:solidFill>
                  <a:srgbClr val="91AA9F"/>
                </a:solidFill>
                <a:latin typeface="Georgia"/>
                <a:ea typeface="Georgia"/>
                <a:cs typeface="Georgia"/>
              </a:rPr>
              <a:t>16</a:t>
            </a:r>
          </a:p>
        </p:txBody>
      </p:sp>
    </p:spTree>
    <p:extLst>
      <p:ext uri="{BB962C8B-B14F-4D97-AF65-F5344CB8AC3E}">
        <p14:creationId xmlns:p14="http://schemas.microsoft.com/office/powerpoint/2010/main" val="162636562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833A1042-BEF1-4D98-BEF4-943F70A562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165FBBA-1EC2-4FAA-8027-8A48F6622ADC}"/>
              </a:ext>
            </a:extLst>
          </p:cNvPr>
          <p:cNvSpPr>
            <a:spLocks xmlns:a="http://schemas.openxmlformats.org/drawingml/2006/main" noGrp="1"/>
          </p:cNvSpPr>
          <p:nvPr/>
        </p:nvSpPr>
        <p:spPr>
          <a:xfrm xmlns:a="http://schemas.openxmlformats.org/drawingml/2006/main">
            <a:off x="552450" y="409575"/>
            <a:ext cx="85725" cy="85725"/>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8E4D770-4267-4634-869F-C8B5788EE80E}"/>
              </a:ext>
            </a:extLst>
          </p:cNvPr>
          <p:cNvSpPr>
            <a:spLocks xmlns:a="http://schemas.openxmlformats.org/drawingml/2006/main" noGrp="1"/>
          </p:cNvSpPr>
          <p:nvPr/>
        </p:nvSpPr>
        <p:spPr>
          <a:xfrm xmlns:a="http://schemas.openxmlformats.org/drawingml/2006/main">
            <a:off x="742950" y="361950"/>
            <a:ext cx="666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65736B"/>
                </a:solidFill>
                <a:latin typeface="Aptos"/>
                <a:ea typeface="Aptos"/>
                <a:cs typeface="Aptos"/>
              </a:defRPr>
            </a:pPr>
            <a:r>
              <a:rPr sz="638" b="1">
                <a:solidFill>
                  <a:srgbClr val="65736B"/>
                </a:solidFill>
                <a:latin typeface="Aptos"/>
                <a:ea typeface="Aptos"/>
                <a:cs typeface="Aptos"/>
              </a:rPr>
              <a:t>A N A L I S I   D I   S O S T E N I B I L I T À   ·   C O N S E G N A   U F F I C I A L E</a:t>
            </a:r>
          </a:p>
        </p:txBody>
      </p:sp>
      <p:sp>
        <p:nvSpPr>
          <p:cNvPr id="4" name="claim-title">
            <a:extLst xmlns:a="http://schemas.openxmlformats.org/drawingml/2006/main">
              <a:ext uri="{FF2B5EF4-FFF2-40B4-BE49-F238E27FC236}">
                <a16:creationId xmlns:a16="http://schemas.microsoft.com/office/drawing/2014/main" id="{E72514C3-E1DE-4A30-B36F-C6434F27C03B}"/>
              </a:ext>
            </a:extLst>
          </p:cNvPr>
          <p:cNvSpPr>
            <a:spLocks xmlns:a="http://schemas.openxmlformats.org/drawingml/2006/main" noGrp="1"/>
          </p:cNvSpPr>
          <p:nvPr/>
        </p:nvSpPr>
        <p:spPr>
          <a:xfrm xmlns:a="http://schemas.openxmlformats.org/drawingml/2006/main">
            <a:off x="552450" y="742950"/>
            <a:ext cx="8953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11D"/>
                </a:solidFill>
                <a:latin typeface="Georgia"/>
                <a:ea typeface="Georgia"/>
                <a:cs typeface="Georgia"/>
              </a:defRPr>
            </a:pPr>
            <a:r>
              <a:rPr sz="3000" b="1">
                <a:solidFill>
                  <a:srgbClr val="17211D"/>
                </a:solidFill>
                <a:latin typeface="Georgia"/>
                <a:ea typeface="Georgia"/>
                <a:cs typeface="Georgia"/>
              </a:rPr>
              <a:t>La sostenibilità è un bilancio, non uno slogan.</a:t>
            </a:r>
          </a:p>
        </p:txBody>
      </p:sp>
      <p:sp>
        <p:nvSpPr>
          <p:cNvPr id="5" name="">
            <a:extLst xmlns:a="http://schemas.openxmlformats.org/drawingml/2006/main">
              <a:ext uri="{FF2B5EF4-FFF2-40B4-BE49-F238E27FC236}">
                <a16:creationId xmlns:a16="http://schemas.microsoft.com/office/drawing/2014/main" id="{5821345D-7EDA-4682-B8EA-FE5C16F5A801}"/>
              </a:ext>
            </a:extLst>
          </p:cNvPr>
          <p:cNvSpPr>
            <a:spLocks xmlns:a="http://schemas.openxmlformats.org/drawingml/2006/main" noGrp="1"/>
          </p:cNvSpPr>
          <p:nvPr/>
        </p:nvSpPr>
        <p:spPr>
          <a:xfrm xmlns:a="http://schemas.openxmlformats.org/drawingml/2006/main">
            <a:off x="552450" y="1924050"/>
            <a:ext cx="495300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9525">
            <a:solidFill>
              <a:srgbClr val="B9C3BB"/>
            </a:solidFill>
            <a:prstDash val="solid"/>
          </a:ln>
        </p:spPr>
      </p:sp>
      <p:sp>
        <p:nvSpPr>
          <p:cNvPr id="6" name="">
            <a:extLst xmlns:a="http://schemas.openxmlformats.org/drawingml/2006/main">
              <a:ext uri="{FF2B5EF4-FFF2-40B4-BE49-F238E27FC236}">
                <a16:creationId xmlns:a16="http://schemas.microsoft.com/office/drawing/2014/main" id="{DE86598A-52F2-454F-9C70-0A9E180F05B3}"/>
              </a:ext>
            </a:extLst>
          </p:cNvPr>
          <p:cNvSpPr>
            <a:spLocks xmlns:a="http://schemas.openxmlformats.org/drawingml/2006/main" noGrp="1"/>
          </p:cNvSpPr>
          <p:nvPr/>
        </p:nvSpPr>
        <p:spPr>
          <a:xfrm xmlns:a="http://schemas.openxmlformats.org/drawingml/2006/main">
            <a:off x="800100" y="21526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2F7D5B"/>
                </a:solidFill>
                <a:latin typeface="Aptos"/>
                <a:ea typeface="Aptos"/>
                <a:cs typeface="Aptos"/>
              </a:defRPr>
            </a:pPr>
            <a:r>
              <a:rPr sz="675" b="1">
                <a:solidFill>
                  <a:srgbClr val="2F7D5B"/>
                </a:solidFill>
                <a:latin typeface="Aptos"/>
                <a:ea typeface="Aptos"/>
                <a:cs typeface="Aptos"/>
              </a:rPr>
              <a:t>BENEFICIO POTENZIALE</a:t>
            </a:r>
          </a:p>
        </p:txBody>
      </p:sp>
      <p:sp>
        <p:nvSpPr>
          <p:cNvPr id="7" name="">
            <a:extLst xmlns:a="http://schemas.openxmlformats.org/drawingml/2006/main">
              <a:ext uri="{FF2B5EF4-FFF2-40B4-BE49-F238E27FC236}">
                <a16:creationId xmlns:a16="http://schemas.microsoft.com/office/drawing/2014/main" id="{9D589D02-8D02-4E50-A0A5-A2EB05D32565}"/>
              </a:ext>
            </a:extLst>
          </p:cNvPr>
          <p:cNvSpPr>
            <a:spLocks xmlns:a="http://schemas.openxmlformats.org/drawingml/2006/main" noGrp="1"/>
          </p:cNvSpPr>
          <p:nvPr/>
        </p:nvSpPr>
        <p:spPr>
          <a:xfrm xmlns:a="http://schemas.openxmlformats.org/drawingml/2006/main">
            <a:off x="800100" y="2609850"/>
            <a:ext cx="171450" cy="1714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1AF9A51-2309-46E3-A92D-B9574DA5EDF3}"/>
              </a:ext>
            </a:extLst>
          </p:cNvPr>
          <p:cNvSpPr>
            <a:spLocks xmlns:a="http://schemas.openxmlformats.org/drawingml/2006/main" noGrp="1"/>
          </p:cNvSpPr>
          <p:nvPr/>
        </p:nvSpPr>
        <p:spPr>
          <a:xfrm xmlns:a="http://schemas.openxmlformats.org/drawingml/2006/main">
            <a:off x="800100" y="2609850"/>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655D1528-B0FD-44CC-9094-89E071E084D7}"/>
              </a:ext>
            </a:extLst>
          </p:cNvPr>
          <p:cNvSpPr>
            <a:spLocks xmlns:a="http://schemas.openxmlformats.org/drawingml/2006/main" noGrp="1"/>
          </p:cNvSpPr>
          <p:nvPr/>
        </p:nvSpPr>
        <p:spPr>
          <a:xfrm xmlns:a="http://schemas.openxmlformats.org/drawingml/2006/main">
            <a:off x="1104900" y="2571750"/>
            <a:ext cx="371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più riuso e rotazione</a:t>
            </a:r>
          </a:p>
        </p:txBody>
      </p:sp>
      <p:sp>
        <p:nvSpPr>
          <p:cNvPr id="10" name="">
            <a:extLst xmlns:a="http://schemas.openxmlformats.org/drawingml/2006/main">
              <a:ext uri="{FF2B5EF4-FFF2-40B4-BE49-F238E27FC236}">
                <a16:creationId xmlns:a16="http://schemas.microsoft.com/office/drawing/2014/main" id="{4FFF7A4C-C50A-4A23-964F-D4CD272F1254}"/>
              </a:ext>
            </a:extLst>
          </p:cNvPr>
          <p:cNvSpPr>
            <a:spLocks xmlns:a="http://schemas.openxmlformats.org/drawingml/2006/main" noGrp="1"/>
          </p:cNvSpPr>
          <p:nvPr/>
        </p:nvSpPr>
        <p:spPr>
          <a:xfrm xmlns:a="http://schemas.openxmlformats.org/drawingml/2006/main">
            <a:off x="800100" y="3086100"/>
            <a:ext cx="171450" cy="1714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6851E33-D852-421F-AD29-D5830B10A1E5}"/>
              </a:ext>
            </a:extLst>
          </p:cNvPr>
          <p:cNvSpPr>
            <a:spLocks xmlns:a="http://schemas.openxmlformats.org/drawingml/2006/main" noGrp="1"/>
          </p:cNvSpPr>
          <p:nvPr/>
        </p:nvSpPr>
        <p:spPr>
          <a:xfrm xmlns:a="http://schemas.openxmlformats.org/drawingml/2006/main">
            <a:off x="800100" y="3086100"/>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36703001-5A38-41C9-8A6A-7803ACDF166B}"/>
              </a:ext>
            </a:extLst>
          </p:cNvPr>
          <p:cNvSpPr>
            <a:spLocks xmlns:a="http://schemas.openxmlformats.org/drawingml/2006/main" noGrp="1"/>
          </p:cNvSpPr>
          <p:nvPr/>
        </p:nvSpPr>
        <p:spPr>
          <a:xfrm xmlns:a="http://schemas.openxmlformats.org/drawingml/2006/main">
            <a:off x="1104900" y="3048000"/>
            <a:ext cx="371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cura prima della sostituzione</a:t>
            </a:r>
          </a:p>
        </p:txBody>
      </p:sp>
      <p:sp>
        <p:nvSpPr>
          <p:cNvPr id="13" name="">
            <a:extLst xmlns:a="http://schemas.openxmlformats.org/drawingml/2006/main">
              <a:ext uri="{FF2B5EF4-FFF2-40B4-BE49-F238E27FC236}">
                <a16:creationId xmlns:a16="http://schemas.microsoft.com/office/drawing/2014/main" id="{CF916543-57E3-4437-B84A-AA5E1F298BFD}"/>
              </a:ext>
            </a:extLst>
          </p:cNvPr>
          <p:cNvSpPr>
            <a:spLocks xmlns:a="http://schemas.openxmlformats.org/drawingml/2006/main" noGrp="1"/>
          </p:cNvSpPr>
          <p:nvPr/>
        </p:nvSpPr>
        <p:spPr>
          <a:xfrm xmlns:a="http://schemas.openxmlformats.org/drawingml/2006/main">
            <a:off x="800100" y="3562350"/>
            <a:ext cx="171450" cy="1714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20558CD-B2BF-4EC3-B3B3-BCB79F83E7E5}"/>
              </a:ext>
            </a:extLst>
          </p:cNvPr>
          <p:cNvSpPr>
            <a:spLocks xmlns:a="http://schemas.openxmlformats.org/drawingml/2006/main" noGrp="1"/>
          </p:cNvSpPr>
          <p:nvPr/>
        </p:nvSpPr>
        <p:spPr>
          <a:xfrm xmlns:a="http://schemas.openxmlformats.org/drawingml/2006/main">
            <a:off x="800100" y="3562350"/>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A5FDD614-B76F-4982-A420-B4575F15F85F}"/>
              </a:ext>
            </a:extLst>
          </p:cNvPr>
          <p:cNvSpPr>
            <a:spLocks xmlns:a="http://schemas.openxmlformats.org/drawingml/2006/main" noGrp="1"/>
          </p:cNvSpPr>
          <p:nvPr/>
        </p:nvSpPr>
        <p:spPr>
          <a:xfrm xmlns:a="http://schemas.openxmlformats.org/drawingml/2006/main">
            <a:off x="1104900" y="3524250"/>
            <a:ext cx="371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meno acquisti non necessari</a:t>
            </a:r>
          </a:p>
        </p:txBody>
      </p:sp>
      <p:sp>
        <p:nvSpPr>
          <p:cNvPr id="16" name="">
            <a:extLst xmlns:a="http://schemas.openxmlformats.org/drawingml/2006/main">
              <a:ext uri="{FF2B5EF4-FFF2-40B4-BE49-F238E27FC236}">
                <a16:creationId xmlns:a16="http://schemas.microsoft.com/office/drawing/2014/main" id="{C1DFA352-FE9C-40A9-A16A-78C3CE2B8011}"/>
              </a:ext>
            </a:extLst>
          </p:cNvPr>
          <p:cNvSpPr>
            <a:spLocks xmlns:a="http://schemas.openxmlformats.org/drawingml/2006/main" noGrp="1"/>
          </p:cNvSpPr>
          <p:nvPr/>
        </p:nvSpPr>
        <p:spPr>
          <a:xfrm xmlns:a="http://schemas.openxmlformats.org/drawingml/2006/main">
            <a:off x="800100" y="4038600"/>
            <a:ext cx="171450" cy="17145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902B0E9-1BDE-466F-9291-952A964CD92F}"/>
              </a:ext>
            </a:extLst>
          </p:cNvPr>
          <p:cNvSpPr>
            <a:spLocks xmlns:a="http://schemas.openxmlformats.org/drawingml/2006/main" noGrp="1"/>
          </p:cNvSpPr>
          <p:nvPr/>
        </p:nvSpPr>
        <p:spPr>
          <a:xfrm xmlns:a="http://schemas.openxmlformats.org/drawingml/2006/main">
            <a:off x="800100" y="4038600"/>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BDA8A82E-6BB2-406A-A026-C6DDE94E77DC}"/>
              </a:ext>
            </a:extLst>
          </p:cNvPr>
          <p:cNvSpPr>
            <a:spLocks xmlns:a="http://schemas.openxmlformats.org/drawingml/2006/main" noGrp="1"/>
          </p:cNvSpPr>
          <p:nvPr/>
        </p:nvSpPr>
        <p:spPr>
          <a:xfrm xmlns:a="http://schemas.openxmlformats.org/drawingml/2006/main">
            <a:off x="1104900" y="4000500"/>
            <a:ext cx="371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7211D"/>
                </a:solidFill>
                <a:latin typeface="Georgia"/>
                <a:ea typeface="Georgia"/>
                <a:cs typeface="Georgia"/>
              </a:defRPr>
            </a:pPr>
            <a:r>
              <a:rPr sz="975" b="1">
                <a:solidFill>
                  <a:srgbClr val="17211D"/>
                </a:solidFill>
                <a:latin typeface="Georgia"/>
                <a:ea typeface="Georgia"/>
                <a:cs typeface="Georgia"/>
              </a:rPr>
              <a:t>seconda vita documentata</a:t>
            </a:r>
          </a:p>
        </p:txBody>
      </p:sp>
      <p:sp>
        <p:nvSpPr>
          <p:cNvPr id="19" name="">
            <a:extLst xmlns:a="http://schemas.openxmlformats.org/drawingml/2006/main">
              <a:ext uri="{FF2B5EF4-FFF2-40B4-BE49-F238E27FC236}">
                <a16:creationId xmlns:a16="http://schemas.microsoft.com/office/drawing/2014/main" id="{ED76286C-BAF9-4BB5-8C03-C94D1062F9B0}"/>
              </a:ext>
            </a:extLst>
          </p:cNvPr>
          <p:cNvSpPr>
            <a:spLocks xmlns:a="http://schemas.openxmlformats.org/drawingml/2006/main" noGrp="1"/>
          </p:cNvSpPr>
          <p:nvPr/>
        </p:nvSpPr>
        <p:spPr>
          <a:xfrm xmlns:a="http://schemas.openxmlformats.org/drawingml/2006/main">
            <a:off x="800100" y="4343400"/>
            <a:ext cx="4229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9572432-1BC3-4B8C-A818-742B3D242B9F}"/>
              </a:ext>
            </a:extLst>
          </p:cNvPr>
          <p:cNvSpPr>
            <a:spLocks xmlns:a="http://schemas.openxmlformats.org/drawingml/2006/main" noGrp="1"/>
          </p:cNvSpPr>
          <p:nvPr/>
        </p:nvSpPr>
        <p:spPr>
          <a:xfrm xmlns:a="http://schemas.openxmlformats.org/drawingml/2006/main">
            <a:off x="800100" y="451485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466D86"/>
                </a:solidFill>
                <a:latin typeface="Aptos"/>
                <a:ea typeface="Aptos"/>
                <a:cs typeface="Aptos"/>
              </a:defRPr>
            </a:pPr>
            <a:r>
              <a:rPr sz="638" b="1">
                <a:solidFill>
                  <a:srgbClr val="466D86"/>
                </a:solidFill>
                <a:latin typeface="Aptos"/>
                <a:ea typeface="Aptos"/>
                <a:cs typeface="Aptos"/>
              </a:rPr>
              <a:t>MITIGAZIONE</a:t>
            </a:r>
          </a:p>
        </p:txBody>
      </p:sp>
      <p:sp>
        <p:nvSpPr>
          <p:cNvPr id="21" name="">
            <a:extLst xmlns:a="http://schemas.openxmlformats.org/drawingml/2006/main">
              <a:ext uri="{FF2B5EF4-FFF2-40B4-BE49-F238E27FC236}">
                <a16:creationId xmlns:a16="http://schemas.microsoft.com/office/drawing/2014/main" id="{B6A8F840-6F92-44DC-A5C8-EC3AC749D61D}"/>
              </a:ext>
            </a:extLst>
          </p:cNvPr>
          <p:cNvSpPr>
            <a:spLocks xmlns:a="http://schemas.openxmlformats.org/drawingml/2006/main" noGrp="1"/>
          </p:cNvSpPr>
          <p:nvPr/>
        </p:nvSpPr>
        <p:spPr>
          <a:xfrm xmlns:a="http://schemas.openxmlformats.org/drawingml/2006/main">
            <a:off x="2038350" y="4438650"/>
            <a:ext cx="2952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5736B"/>
                </a:solidFill>
                <a:latin typeface="Aptos"/>
                <a:ea typeface="Aptos"/>
                <a:cs typeface="Aptos"/>
              </a:defRPr>
            </a:pPr>
            <a:r>
              <a:rPr sz="750" b="0">
                <a:solidFill>
                  <a:srgbClr val="65736B"/>
                </a:solidFill>
                <a:latin typeface="Aptos"/>
                <a:ea typeface="Aptos"/>
                <a:cs typeface="Aptos"/>
              </a:rPr>
              <a:t>modelli piccoli, backbone congelato, inferenza locale e generazione opzionale</a:t>
            </a:r>
          </a:p>
        </p:txBody>
      </p:sp>
      <p:sp>
        <p:nvSpPr>
          <p:cNvPr id="22" name="">
            <a:extLst xmlns:a="http://schemas.openxmlformats.org/drawingml/2006/main">
              <a:ext uri="{FF2B5EF4-FFF2-40B4-BE49-F238E27FC236}">
                <a16:creationId xmlns:a16="http://schemas.microsoft.com/office/drawing/2014/main" id="{9F108A32-864E-4DDB-BCE1-4C8DFC194BA8}"/>
              </a:ext>
            </a:extLst>
          </p:cNvPr>
          <p:cNvSpPr>
            <a:spLocks xmlns:a="http://schemas.openxmlformats.org/drawingml/2006/main" noGrp="1"/>
          </p:cNvSpPr>
          <p:nvPr/>
        </p:nvSpPr>
        <p:spPr>
          <a:xfrm xmlns:a="http://schemas.openxmlformats.org/drawingml/2006/main">
            <a:off x="5734050" y="1924050"/>
            <a:ext cx="2857500" cy="3009900"/>
          </a:xfrm>
          <a:prstGeom xmlns:a="http://schemas.openxmlformats.org/drawingml/2006/main" prst="roundRect">
            <a:avLst>
              <a:gd name="adj" fmla="val 2667"/>
            </a:avLst>
          </a:prstGeom>
          <a:solidFill xmlns:a="http://schemas.openxmlformats.org/drawingml/2006/main">
            <a:srgbClr val="123C31"/>
          </a:solidFill>
          <a:ln xmlns:a="http://schemas.openxmlformats.org/drawingml/2006/main" w="9525">
            <a:solidFill>
              <a:srgbClr val="123C31"/>
            </a:solidFill>
            <a:prstDash val="solid"/>
          </a:ln>
        </p:spPr>
      </p:sp>
      <p:sp>
        <p:nvSpPr>
          <p:cNvPr id="23" name="">
            <a:extLst xmlns:a="http://schemas.openxmlformats.org/drawingml/2006/main">
              <a:ext uri="{FF2B5EF4-FFF2-40B4-BE49-F238E27FC236}">
                <a16:creationId xmlns:a16="http://schemas.microsoft.com/office/drawing/2014/main" id="{EBCBDC6B-11F5-455D-9D5D-7E149C68DBCA}"/>
              </a:ext>
            </a:extLst>
          </p:cNvPr>
          <p:cNvSpPr>
            <a:spLocks xmlns:a="http://schemas.openxmlformats.org/drawingml/2006/main" noGrp="1"/>
          </p:cNvSpPr>
          <p:nvPr/>
        </p:nvSpPr>
        <p:spPr>
          <a:xfrm xmlns:a="http://schemas.openxmlformats.org/drawingml/2006/main">
            <a:off x="5981700" y="2152650"/>
            <a:ext cx="190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B9D94A"/>
                </a:solidFill>
                <a:latin typeface="Aptos"/>
                <a:ea typeface="Aptos"/>
                <a:cs typeface="Aptos"/>
              </a:defRPr>
            </a:pPr>
            <a:r>
              <a:rPr sz="675" b="1">
                <a:solidFill>
                  <a:srgbClr val="B9D94A"/>
                </a:solidFill>
                <a:latin typeface="Aptos"/>
                <a:ea typeface="Aptos"/>
                <a:cs typeface="Aptos"/>
              </a:rPr>
              <a:t>COSTO DIGITALE</a:t>
            </a:r>
          </a:p>
        </p:txBody>
      </p:sp>
      <p:sp>
        <p:nvSpPr>
          <p:cNvPr id="24" name="">
            <a:extLst xmlns:a="http://schemas.openxmlformats.org/drawingml/2006/main">
              <a:ext uri="{FF2B5EF4-FFF2-40B4-BE49-F238E27FC236}">
                <a16:creationId xmlns:a16="http://schemas.microsoft.com/office/drawing/2014/main" id="{A4018FC8-5D20-48CC-A61C-9E7601C58CBB}"/>
              </a:ext>
            </a:extLst>
          </p:cNvPr>
          <p:cNvSpPr>
            <a:spLocks xmlns:a="http://schemas.openxmlformats.org/drawingml/2006/main" noGrp="1"/>
          </p:cNvSpPr>
          <p:nvPr/>
        </p:nvSpPr>
        <p:spPr>
          <a:xfrm xmlns:a="http://schemas.openxmlformats.org/drawingml/2006/main">
            <a:off x="5981700" y="2609850"/>
            <a:ext cx="171450" cy="1714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DB7F747-9824-4729-9670-901FD0A8D3F4}"/>
              </a:ext>
            </a:extLst>
          </p:cNvPr>
          <p:cNvSpPr>
            <a:spLocks xmlns:a="http://schemas.openxmlformats.org/drawingml/2006/main" noGrp="1"/>
          </p:cNvSpPr>
          <p:nvPr/>
        </p:nvSpPr>
        <p:spPr>
          <a:xfrm xmlns:a="http://schemas.openxmlformats.org/drawingml/2006/main">
            <a:off x="5981700" y="2600325"/>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087111C8-DB76-4621-A140-9840E27CBC0B}"/>
              </a:ext>
            </a:extLst>
          </p:cNvPr>
          <p:cNvSpPr>
            <a:spLocks xmlns:a="http://schemas.openxmlformats.org/drawingml/2006/main" noGrp="1"/>
          </p:cNvSpPr>
          <p:nvPr/>
        </p:nvSpPr>
        <p:spPr>
          <a:xfrm xmlns:a="http://schemas.openxmlformats.org/drawingml/2006/main">
            <a:off x="6286500" y="257175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Georgia"/>
                <a:ea typeface="Georgia"/>
                <a:cs typeface="Georgia"/>
              </a:defRPr>
            </a:pPr>
            <a:r>
              <a:rPr sz="975" b="1">
                <a:solidFill>
                  <a:srgbClr val="FFFFFF"/>
                </a:solidFill>
                <a:latin typeface="Georgia"/>
                <a:ea typeface="Georgia"/>
                <a:cs typeface="Georgia"/>
              </a:rPr>
              <a:t>training e inferenza</a:t>
            </a:r>
          </a:p>
        </p:txBody>
      </p:sp>
      <p:sp>
        <p:nvSpPr>
          <p:cNvPr id="27" name="">
            <a:extLst xmlns:a="http://schemas.openxmlformats.org/drawingml/2006/main">
              <a:ext uri="{FF2B5EF4-FFF2-40B4-BE49-F238E27FC236}">
                <a16:creationId xmlns:a16="http://schemas.microsoft.com/office/drawing/2014/main" id="{90D17169-7C18-4FA1-BD47-AB64DBF13271}"/>
              </a:ext>
            </a:extLst>
          </p:cNvPr>
          <p:cNvSpPr>
            <a:spLocks xmlns:a="http://schemas.openxmlformats.org/drawingml/2006/main" noGrp="1"/>
          </p:cNvSpPr>
          <p:nvPr/>
        </p:nvSpPr>
        <p:spPr>
          <a:xfrm xmlns:a="http://schemas.openxmlformats.org/drawingml/2006/main">
            <a:off x="5981700" y="3086100"/>
            <a:ext cx="171450" cy="1714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73BC5DA-E694-481A-B12B-09E8ECBE0E99}"/>
              </a:ext>
            </a:extLst>
          </p:cNvPr>
          <p:cNvSpPr>
            <a:spLocks xmlns:a="http://schemas.openxmlformats.org/drawingml/2006/main" noGrp="1"/>
          </p:cNvSpPr>
          <p:nvPr/>
        </p:nvSpPr>
        <p:spPr>
          <a:xfrm xmlns:a="http://schemas.openxmlformats.org/drawingml/2006/main">
            <a:off x="5981700" y="3076575"/>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29" name="">
            <a:extLst xmlns:a="http://schemas.openxmlformats.org/drawingml/2006/main">
              <a:ext uri="{FF2B5EF4-FFF2-40B4-BE49-F238E27FC236}">
                <a16:creationId xmlns:a16="http://schemas.microsoft.com/office/drawing/2014/main" id="{C50B794F-A66E-4B83-AFE3-5BF242D1EB3A}"/>
              </a:ext>
            </a:extLst>
          </p:cNvPr>
          <p:cNvSpPr>
            <a:spLocks xmlns:a="http://schemas.openxmlformats.org/drawingml/2006/main" noGrp="1"/>
          </p:cNvSpPr>
          <p:nvPr/>
        </p:nvSpPr>
        <p:spPr>
          <a:xfrm xmlns:a="http://schemas.openxmlformats.org/drawingml/2006/main">
            <a:off x="6286500" y="304800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Georgia"/>
                <a:ea typeface="Georgia"/>
                <a:cs typeface="Georgia"/>
              </a:defRPr>
            </a:pPr>
            <a:r>
              <a:rPr sz="975" b="1">
                <a:solidFill>
                  <a:srgbClr val="FFFFFF"/>
                </a:solidFill>
                <a:latin typeface="Georgia"/>
                <a:ea typeface="Georgia"/>
                <a:cs typeface="Georgia"/>
              </a:rPr>
              <a:t>storage delle immagini</a:t>
            </a:r>
          </a:p>
        </p:txBody>
      </p:sp>
      <p:sp>
        <p:nvSpPr>
          <p:cNvPr id="30" name="">
            <a:extLst xmlns:a="http://schemas.openxmlformats.org/drawingml/2006/main">
              <a:ext uri="{FF2B5EF4-FFF2-40B4-BE49-F238E27FC236}">
                <a16:creationId xmlns:a16="http://schemas.microsoft.com/office/drawing/2014/main" id="{D881C8B1-0AAB-45C2-B92F-72B7CDF8BB00}"/>
              </a:ext>
            </a:extLst>
          </p:cNvPr>
          <p:cNvSpPr>
            <a:spLocks xmlns:a="http://schemas.openxmlformats.org/drawingml/2006/main" noGrp="1"/>
          </p:cNvSpPr>
          <p:nvPr/>
        </p:nvSpPr>
        <p:spPr>
          <a:xfrm xmlns:a="http://schemas.openxmlformats.org/drawingml/2006/main">
            <a:off x="5981700" y="3562350"/>
            <a:ext cx="171450" cy="1714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1FE6C278-319F-4E7A-98D0-0B86350944EF}"/>
              </a:ext>
            </a:extLst>
          </p:cNvPr>
          <p:cNvSpPr>
            <a:spLocks xmlns:a="http://schemas.openxmlformats.org/drawingml/2006/main" noGrp="1"/>
          </p:cNvSpPr>
          <p:nvPr/>
        </p:nvSpPr>
        <p:spPr>
          <a:xfrm xmlns:a="http://schemas.openxmlformats.org/drawingml/2006/main">
            <a:off x="5981700" y="3552825"/>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32" name="">
            <a:extLst xmlns:a="http://schemas.openxmlformats.org/drawingml/2006/main">
              <a:ext uri="{FF2B5EF4-FFF2-40B4-BE49-F238E27FC236}">
                <a16:creationId xmlns:a16="http://schemas.microsoft.com/office/drawing/2014/main" id="{2205EB11-50A0-44E7-AADC-16CF2C7FB98B}"/>
              </a:ext>
            </a:extLst>
          </p:cNvPr>
          <p:cNvSpPr>
            <a:spLocks xmlns:a="http://schemas.openxmlformats.org/drawingml/2006/main" noGrp="1"/>
          </p:cNvSpPr>
          <p:nvPr/>
        </p:nvSpPr>
        <p:spPr>
          <a:xfrm xmlns:a="http://schemas.openxmlformats.org/drawingml/2006/main">
            <a:off x="6286500" y="352425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Georgia"/>
                <a:ea typeface="Georgia"/>
                <a:cs typeface="Georgia"/>
              </a:defRPr>
            </a:pPr>
            <a:r>
              <a:rPr sz="975" b="1">
                <a:solidFill>
                  <a:srgbClr val="FFFFFF"/>
                </a:solidFill>
                <a:latin typeface="Georgia"/>
                <a:ea typeface="Georgia"/>
                <a:cs typeface="Georgia"/>
              </a:rPr>
              <a:t>servizi generativi esterni</a:t>
            </a:r>
          </a:p>
        </p:txBody>
      </p:sp>
      <p:sp>
        <p:nvSpPr>
          <p:cNvPr id="33" name="">
            <a:extLst xmlns:a="http://schemas.openxmlformats.org/drawingml/2006/main">
              <a:ext uri="{FF2B5EF4-FFF2-40B4-BE49-F238E27FC236}">
                <a16:creationId xmlns:a16="http://schemas.microsoft.com/office/drawing/2014/main" id="{ADE7E5D0-932B-4200-866B-AA52B6E80C2E}"/>
              </a:ext>
            </a:extLst>
          </p:cNvPr>
          <p:cNvSpPr>
            <a:spLocks xmlns:a="http://schemas.openxmlformats.org/drawingml/2006/main" noGrp="1"/>
          </p:cNvSpPr>
          <p:nvPr/>
        </p:nvSpPr>
        <p:spPr>
          <a:xfrm xmlns:a="http://schemas.openxmlformats.org/drawingml/2006/main">
            <a:off x="5981700" y="4038600"/>
            <a:ext cx="171450" cy="171450"/>
          </a:xfrm>
          <a:prstGeom xmlns:a="http://schemas.openxmlformats.org/drawingml/2006/main" prst="ellipse">
            <a:avLst/>
          </a:prstGeom>
          <a:solidFill xmlns:a="http://schemas.openxmlformats.org/drawingml/2006/main">
            <a:srgbClr val="D56E42"/>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D2274F0-1B60-44B3-80AB-705E5BE97076}"/>
              </a:ext>
            </a:extLst>
          </p:cNvPr>
          <p:cNvSpPr>
            <a:spLocks xmlns:a="http://schemas.openxmlformats.org/drawingml/2006/main" noGrp="1"/>
          </p:cNvSpPr>
          <p:nvPr/>
        </p:nvSpPr>
        <p:spPr>
          <a:xfrm xmlns:a="http://schemas.openxmlformats.org/drawingml/2006/main">
            <a:off x="5981700" y="4029075"/>
            <a:ext cx="171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908AC615-DF5D-4679-AAC9-32CCD1F28332}"/>
              </a:ext>
            </a:extLst>
          </p:cNvPr>
          <p:cNvSpPr>
            <a:spLocks xmlns:a="http://schemas.openxmlformats.org/drawingml/2006/main" noGrp="1"/>
          </p:cNvSpPr>
          <p:nvPr/>
        </p:nvSpPr>
        <p:spPr>
          <a:xfrm xmlns:a="http://schemas.openxmlformats.org/drawingml/2006/main">
            <a:off x="6286500" y="400050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Georgia"/>
                <a:ea typeface="Georgia"/>
                <a:cs typeface="Georgia"/>
              </a:defRPr>
            </a:pPr>
            <a:r>
              <a:rPr sz="975" b="1">
                <a:solidFill>
                  <a:srgbClr val="FFFFFF"/>
                </a:solidFill>
                <a:latin typeface="Georgia"/>
                <a:ea typeface="Georgia"/>
                <a:cs typeface="Georgia"/>
              </a:rPr>
              <a:t>device e rete</a:t>
            </a:r>
          </a:p>
        </p:txBody>
      </p:sp>
      <p:sp>
        <p:nvSpPr>
          <p:cNvPr id="36" name="">
            <a:extLst xmlns:a="http://schemas.openxmlformats.org/drawingml/2006/main">
              <a:ext uri="{FF2B5EF4-FFF2-40B4-BE49-F238E27FC236}">
                <a16:creationId xmlns:a16="http://schemas.microsoft.com/office/drawing/2014/main" id="{EC2C3BC7-E003-4B6B-B528-381C45F40B5D}"/>
              </a:ext>
            </a:extLst>
          </p:cNvPr>
          <p:cNvSpPr>
            <a:spLocks xmlns:a="http://schemas.openxmlformats.org/drawingml/2006/main" noGrp="1"/>
          </p:cNvSpPr>
          <p:nvPr/>
        </p:nvSpPr>
        <p:spPr>
          <a:xfrm xmlns:a="http://schemas.openxmlformats.org/drawingml/2006/main">
            <a:off x="5981700" y="4343400"/>
            <a:ext cx="2266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DE5DD"/>
                </a:solidFill>
                <a:latin typeface="Aptos"/>
                <a:ea typeface="Aptos"/>
                <a:cs typeface="Aptos"/>
              </a:defRPr>
            </a:pPr>
            <a:r>
              <a:rPr sz="750" b="0">
                <a:solidFill>
                  <a:srgbClr val="DDE5DD"/>
                </a:solidFill>
                <a:latin typeface="Aptos"/>
                <a:ea typeface="Aptos"/>
                <a:cs typeface="Aptos"/>
              </a:rPr>
              <a:t>L’impatto netto va misurato con dati reali e intervalli d’incertezza.</a:t>
            </a:r>
          </a:p>
        </p:txBody>
      </p:sp>
      <p:sp>
        <p:nvSpPr>
          <p:cNvPr id="37" name="">
            <a:extLst xmlns:a="http://schemas.openxmlformats.org/drawingml/2006/main">
              <a:ext uri="{FF2B5EF4-FFF2-40B4-BE49-F238E27FC236}">
                <a16:creationId xmlns:a16="http://schemas.microsoft.com/office/drawing/2014/main" id="{FFBCE9F5-836A-4F65-90F4-79EB54B783E2}"/>
              </a:ext>
            </a:extLst>
          </p:cNvPr>
          <p:cNvSpPr>
            <a:spLocks xmlns:a="http://schemas.openxmlformats.org/drawingml/2006/main" noGrp="1"/>
          </p:cNvSpPr>
          <p:nvPr/>
        </p:nvSpPr>
        <p:spPr>
          <a:xfrm xmlns:a="http://schemas.openxmlformats.org/drawingml/2006/main">
            <a:off x="8820150" y="1924050"/>
            <a:ext cx="2819400" cy="3009900"/>
          </a:xfrm>
          <a:prstGeom xmlns:a="http://schemas.openxmlformats.org/drawingml/2006/main" prst="roundRect">
            <a:avLst>
              <a:gd name="adj" fmla="val 2703"/>
            </a:avLst>
          </a:prstGeom>
          <a:solidFill xmlns:a="http://schemas.openxmlformats.org/drawingml/2006/main">
            <a:srgbClr val="EAE5DA"/>
          </a:solidFill>
          <a:ln xmlns:a="http://schemas.openxmlformats.org/drawingml/2006/main" w="9525">
            <a:solidFill>
              <a:srgbClr val="B9C3BB"/>
            </a:solidFill>
            <a:prstDash val="solid"/>
          </a:ln>
        </p:spPr>
      </p:sp>
      <p:sp>
        <p:nvSpPr>
          <p:cNvPr id="38" name="">
            <a:extLst xmlns:a="http://schemas.openxmlformats.org/drawingml/2006/main">
              <a:ext uri="{FF2B5EF4-FFF2-40B4-BE49-F238E27FC236}">
                <a16:creationId xmlns:a16="http://schemas.microsoft.com/office/drawing/2014/main" id="{7CA2A622-9718-47BC-8D37-182B2EE2B86E}"/>
              </a:ext>
            </a:extLst>
          </p:cNvPr>
          <p:cNvSpPr>
            <a:spLocks xmlns:a="http://schemas.openxmlformats.org/drawingml/2006/main" noGrp="1"/>
          </p:cNvSpPr>
          <p:nvPr/>
        </p:nvSpPr>
        <p:spPr>
          <a:xfrm xmlns:a="http://schemas.openxmlformats.org/drawingml/2006/main">
            <a:off x="9067800" y="2152650"/>
            <a:ext cx="2000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23C31"/>
                </a:solidFill>
                <a:latin typeface="Aptos"/>
                <a:ea typeface="Aptos"/>
                <a:cs typeface="Aptos"/>
              </a:defRPr>
            </a:pPr>
            <a:r>
              <a:rPr sz="675" b="1">
                <a:solidFill>
                  <a:srgbClr val="123C31"/>
                </a:solidFill>
                <a:latin typeface="Aptos"/>
                <a:ea typeface="Aptos"/>
                <a:cs typeface="Aptos"/>
              </a:rPr>
              <a:t>CHECK CONSEGNA</a:t>
            </a:r>
          </a:p>
        </p:txBody>
      </p:sp>
      <p:sp>
        <p:nvSpPr>
          <p:cNvPr id="39" name="">
            <a:extLst xmlns:a="http://schemas.openxmlformats.org/drawingml/2006/main">
              <a:ext uri="{FF2B5EF4-FFF2-40B4-BE49-F238E27FC236}">
                <a16:creationId xmlns:a16="http://schemas.microsoft.com/office/drawing/2014/main" id="{56FED33A-2266-4046-8C4E-FC456C9E413C}"/>
              </a:ext>
            </a:extLst>
          </p:cNvPr>
          <p:cNvSpPr>
            <a:spLocks xmlns:a="http://schemas.openxmlformats.org/drawingml/2006/main" noGrp="1"/>
          </p:cNvSpPr>
          <p:nvPr/>
        </p:nvSpPr>
        <p:spPr>
          <a:xfrm xmlns:a="http://schemas.openxmlformats.org/drawingml/2006/main">
            <a:off x="9067800" y="2571750"/>
            <a:ext cx="152400" cy="1524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5163445D-702F-4A64-96E6-52F459D25D10}"/>
              </a:ext>
            </a:extLst>
          </p:cNvPr>
          <p:cNvSpPr>
            <a:spLocks xmlns:a="http://schemas.openxmlformats.org/drawingml/2006/main" noGrp="1"/>
          </p:cNvSpPr>
          <p:nvPr/>
        </p:nvSpPr>
        <p:spPr>
          <a:xfrm xmlns:a="http://schemas.openxmlformats.org/drawingml/2006/main">
            <a:off x="9067800" y="2581275"/>
            <a:ext cx="1524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a:t>
            </a:r>
          </a:p>
        </p:txBody>
      </p:sp>
      <p:sp>
        <p:nvSpPr>
          <p:cNvPr id="41" name="">
            <a:extLst xmlns:a="http://schemas.openxmlformats.org/drawingml/2006/main">
              <a:ext uri="{FF2B5EF4-FFF2-40B4-BE49-F238E27FC236}">
                <a16:creationId xmlns:a16="http://schemas.microsoft.com/office/drawing/2014/main" id="{92B6A0AC-2C09-4B2E-867F-C715E1C1B61C}"/>
              </a:ext>
            </a:extLst>
          </p:cNvPr>
          <p:cNvSpPr>
            <a:spLocks xmlns:a="http://schemas.openxmlformats.org/drawingml/2006/main" noGrp="1"/>
          </p:cNvSpPr>
          <p:nvPr/>
        </p:nvSpPr>
        <p:spPr>
          <a:xfrm xmlns:a="http://schemas.openxmlformats.org/drawingml/2006/main">
            <a:off x="9334500" y="25336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Problem setting</a:t>
            </a:r>
          </a:p>
        </p:txBody>
      </p:sp>
      <p:sp>
        <p:nvSpPr>
          <p:cNvPr id="42" name="">
            <a:extLst xmlns:a="http://schemas.openxmlformats.org/drawingml/2006/main">
              <a:ext uri="{FF2B5EF4-FFF2-40B4-BE49-F238E27FC236}">
                <a16:creationId xmlns:a16="http://schemas.microsoft.com/office/drawing/2014/main" id="{9C512C6E-A75D-4459-A4C1-AEA1D83FDAEE}"/>
              </a:ext>
            </a:extLst>
          </p:cNvPr>
          <p:cNvSpPr>
            <a:spLocks xmlns:a="http://schemas.openxmlformats.org/drawingml/2006/main" noGrp="1"/>
          </p:cNvSpPr>
          <p:nvPr/>
        </p:nvSpPr>
        <p:spPr>
          <a:xfrm xmlns:a="http://schemas.openxmlformats.org/drawingml/2006/main">
            <a:off x="9067800" y="2914650"/>
            <a:ext cx="152400" cy="1524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FEC1DC4D-4C16-41FC-A005-D48A842525E7}"/>
              </a:ext>
            </a:extLst>
          </p:cNvPr>
          <p:cNvSpPr>
            <a:spLocks xmlns:a="http://schemas.openxmlformats.org/drawingml/2006/main" noGrp="1"/>
          </p:cNvSpPr>
          <p:nvPr/>
        </p:nvSpPr>
        <p:spPr>
          <a:xfrm xmlns:a="http://schemas.openxmlformats.org/drawingml/2006/main">
            <a:off x="9067800" y="2924175"/>
            <a:ext cx="1524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a:t>
            </a:r>
          </a:p>
        </p:txBody>
      </p:sp>
      <p:sp>
        <p:nvSpPr>
          <p:cNvPr id="44" name="">
            <a:extLst xmlns:a="http://schemas.openxmlformats.org/drawingml/2006/main">
              <a:ext uri="{FF2B5EF4-FFF2-40B4-BE49-F238E27FC236}">
                <a16:creationId xmlns:a16="http://schemas.microsoft.com/office/drawing/2014/main" id="{F623A859-3835-4EA0-97C8-621E3FAEF9F8}"/>
              </a:ext>
            </a:extLst>
          </p:cNvPr>
          <p:cNvSpPr>
            <a:spLocks xmlns:a="http://schemas.openxmlformats.org/drawingml/2006/main" noGrp="1"/>
          </p:cNvSpPr>
          <p:nvPr/>
        </p:nvSpPr>
        <p:spPr>
          <a:xfrm xmlns:a="http://schemas.openxmlformats.org/drawingml/2006/main">
            <a:off x="9334500" y="28765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Workflow + prompt</a:t>
            </a:r>
          </a:p>
        </p:txBody>
      </p:sp>
      <p:sp>
        <p:nvSpPr>
          <p:cNvPr id="45" name="">
            <a:extLst xmlns:a="http://schemas.openxmlformats.org/drawingml/2006/main">
              <a:ext uri="{FF2B5EF4-FFF2-40B4-BE49-F238E27FC236}">
                <a16:creationId xmlns:a16="http://schemas.microsoft.com/office/drawing/2014/main" id="{E1814DEC-AA75-43BE-B668-B41F21514728}"/>
              </a:ext>
            </a:extLst>
          </p:cNvPr>
          <p:cNvSpPr>
            <a:spLocks xmlns:a="http://schemas.openxmlformats.org/drawingml/2006/main" noGrp="1"/>
          </p:cNvSpPr>
          <p:nvPr/>
        </p:nvSpPr>
        <p:spPr>
          <a:xfrm xmlns:a="http://schemas.openxmlformats.org/drawingml/2006/main">
            <a:off x="9067800" y="3257550"/>
            <a:ext cx="152400" cy="1524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11C74C08-9AD5-4063-9605-905F9E0DFF7C}"/>
              </a:ext>
            </a:extLst>
          </p:cNvPr>
          <p:cNvSpPr>
            <a:spLocks xmlns:a="http://schemas.openxmlformats.org/drawingml/2006/main" noGrp="1"/>
          </p:cNvSpPr>
          <p:nvPr/>
        </p:nvSpPr>
        <p:spPr>
          <a:xfrm xmlns:a="http://schemas.openxmlformats.org/drawingml/2006/main">
            <a:off x="9067800" y="3267075"/>
            <a:ext cx="1524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a:t>
            </a:r>
          </a:p>
        </p:txBody>
      </p:sp>
      <p:sp>
        <p:nvSpPr>
          <p:cNvPr id="47" name="">
            <a:extLst xmlns:a="http://schemas.openxmlformats.org/drawingml/2006/main">
              <a:ext uri="{FF2B5EF4-FFF2-40B4-BE49-F238E27FC236}">
                <a16:creationId xmlns:a16="http://schemas.microsoft.com/office/drawing/2014/main" id="{AFF99F2C-365E-4A86-B191-B2A9377BF6A1}"/>
              </a:ext>
            </a:extLst>
          </p:cNvPr>
          <p:cNvSpPr>
            <a:spLocks xmlns:a="http://schemas.openxmlformats.org/drawingml/2006/main" noGrp="1"/>
          </p:cNvSpPr>
          <p:nvPr/>
        </p:nvSpPr>
        <p:spPr>
          <a:xfrm xmlns:a="http://schemas.openxmlformats.org/drawingml/2006/main">
            <a:off x="9334500" y="32194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Confronti + allucinazioni</a:t>
            </a:r>
          </a:p>
        </p:txBody>
      </p:sp>
      <p:sp>
        <p:nvSpPr>
          <p:cNvPr id="48" name="">
            <a:extLst xmlns:a="http://schemas.openxmlformats.org/drawingml/2006/main">
              <a:ext uri="{FF2B5EF4-FFF2-40B4-BE49-F238E27FC236}">
                <a16:creationId xmlns:a16="http://schemas.microsoft.com/office/drawing/2014/main" id="{C6E759A9-D8E4-4C8C-912C-85FD4F2138F0}"/>
              </a:ext>
            </a:extLst>
          </p:cNvPr>
          <p:cNvSpPr>
            <a:spLocks xmlns:a="http://schemas.openxmlformats.org/drawingml/2006/main" noGrp="1"/>
          </p:cNvSpPr>
          <p:nvPr/>
        </p:nvSpPr>
        <p:spPr>
          <a:xfrm xmlns:a="http://schemas.openxmlformats.org/drawingml/2006/main">
            <a:off x="9067800" y="3600450"/>
            <a:ext cx="152400" cy="1524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DDE96872-68C9-4080-805E-66A145622798}"/>
              </a:ext>
            </a:extLst>
          </p:cNvPr>
          <p:cNvSpPr>
            <a:spLocks xmlns:a="http://schemas.openxmlformats.org/drawingml/2006/main" noGrp="1"/>
          </p:cNvSpPr>
          <p:nvPr/>
        </p:nvSpPr>
        <p:spPr>
          <a:xfrm xmlns:a="http://schemas.openxmlformats.org/drawingml/2006/main">
            <a:off x="9067800" y="3609975"/>
            <a:ext cx="1524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a:t>
            </a:r>
          </a:p>
        </p:txBody>
      </p:sp>
      <p:sp>
        <p:nvSpPr>
          <p:cNvPr id="50" name="">
            <a:extLst xmlns:a="http://schemas.openxmlformats.org/drawingml/2006/main">
              <a:ext uri="{FF2B5EF4-FFF2-40B4-BE49-F238E27FC236}">
                <a16:creationId xmlns:a16="http://schemas.microsoft.com/office/drawing/2014/main" id="{ABD7C680-38A8-40BD-8F66-3C1D005A5BA4}"/>
              </a:ext>
            </a:extLst>
          </p:cNvPr>
          <p:cNvSpPr>
            <a:spLocks xmlns:a="http://schemas.openxmlformats.org/drawingml/2006/main" noGrp="1"/>
          </p:cNvSpPr>
          <p:nvPr/>
        </p:nvSpPr>
        <p:spPr>
          <a:xfrm xmlns:a="http://schemas.openxmlformats.org/drawingml/2006/main">
            <a:off x="9334500" y="35623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ML + notebook Python</a:t>
            </a:r>
          </a:p>
        </p:txBody>
      </p:sp>
      <p:sp>
        <p:nvSpPr>
          <p:cNvPr id="51" name="">
            <a:extLst xmlns:a="http://schemas.openxmlformats.org/drawingml/2006/main">
              <a:ext uri="{FF2B5EF4-FFF2-40B4-BE49-F238E27FC236}">
                <a16:creationId xmlns:a16="http://schemas.microsoft.com/office/drawing/2014/main" id="{B1FD564B-4D0B-4D1D-A85C-A3F13E50F351}"/>
              </a:ext>
            </a:extLst>
          </p:cNvPr>
          <p:cNvSpPr>
            <a:spLocks xmlns:a="http://schemas.openxmlformats.org/drawingml/2006/main" noGrp="1"/>
          </p:cNvSpPr>
          <p:nvPr/>
        </p:nvSpPr>
        <p:spPr>
          <a:xfrm xmlns:a="http://schemas.openxmlformats.org/drawingml/2006/main">
            <a:off x="9067800" y="3943350"/>
            <a:ext cx="152400" cy="1524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6BCA8846-934E-4D8F-9095-755517AF51B5}"/>
              </a:ext>
            </a:extLst>
          </p:cNvPr>
          <p:cNvSpPr>
            <a:spLocks xmlns:a="http://schemas.openxmlformats.org/drawingml/2006/main" noGrp="1"/>
          </p:cNvSpPr>
          <p:nvPr/>
        </p:nvSpPr>
        <p:spPr>
          <a:xfrm xmlns:a="http://schemas.openxmlformats.org/drawingml/2006/main">
            <a:off x="9067800" y="3952875"/>
            <a:ext cx="1524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a:t>
            </a:r>
          </a:p>
        </p:txBody>
      </p:sp>
      <p:sp>
        <p:nvSpPr>
          <p:cNvPr id="53" name="">
            <a:extLst xmlns:a="http://schemas.openxmlformats.org/drawingml/2006/main">
              <a:ext uri="{FF2B5EF4-FFF2-40B4-BE49-F238E27FC236}">
                <a16:creationId xmlns:a16="http://schemas.microsoft.com/office/drawing/2014/main" id="{922EEDB1-EB4E-41FC-B1B1-5CE38D1C9284}"/>
              </a:ext>
            </a:extLst>
          </p:cNvPr>
          <p:cNvSpPr>
            <a:spLocks xmlns:a="http://schemas.openxmlformats.org/drawingml/2006/main" noGrp="1"/>
          </p:cNvSpPr>
          <p:nvPr/>
        </p:nvSpPr>
        <p:spPr>
          <a:xfrm xmlns:a="http://schemas.openxmlformats.org/drawingml/2006/main">
            <a:off x="9334500" y="39052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Fattibilità</a:t>
            </a:r>
          </a:p>
        </p:txBody>
      </p:sp>
      <p:sp>
        <p:nvSpPr>
          <p:cNvPr id="54" name="">
            <a:extLst xmlns:a="http://schemas.openxmlformats.org/drawingml/2006/main">
              <a:ext uri="{FF2B5EF4-FFF2-40B4-BE49-F238E27FC236}">
                <a16:creationId xmlns:a16="http://schemas.microsoft.com/office/drawing/2014/main" id="{C8E35405-3A06-4D8F-A726-C2526400EBC5}"/>
              </a:ext>
            </a:extLst>
          </p:cNvPr>
          <p:cNvSpPr>
            <a:spLocks xmlns:a="http://schemas.openxmlformats.org/drawingml/2006/main" noGrp="1"/>
          </p:cNvSpPr>
          <p:nvPr/>
        </p:nvSpPr>
        <p:spPr>
          <a:xfrm xmlns:a="http://schemas.openxmlformats.org/drawingml/2006/main">
            <a:off x="9067800" y="4286250"/>
            <a:ext cx="152400" cy="152400"/>
          </a:xfrm>
          <a:prstGeom xmlns:a="http://schemas.openxmlformats.org/drawingml/2006/main" prst="ellipse">
            <a:avLst/>
          </a:prstGeom>
          <a:solidFill xmlns:a="http://schemas.openxmlformats.org/drawingml/2006/main">
            <a:srgbClr val="2F7D5B"/>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87F1DAF9-D673-4822-9765-3772B7B1E9BC}"/>
              </a:ext>
            </a:extLst>
          </p:cNvPr>
          <p:cNvSpPr>
            <a:spLocks xmlns:a="http://schemas.openxmlformats.org/drawingml/2006/main" noGrp="1"/>
          </p:cNvSpPr>
          <p:nvPr/>
        </p:nvSpPr>
        <p:spPr>
          <a:xfrm xmlns:a="http://schemas.openxmlformats.org/drawingml/2006/main">
            <a:off x="9067800" y="4295775"/>
            <a:ext cx="1524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a:t>
            </a:r>
          </a:p>
        </p:txBody>
      </p:sp>
      <p:sp>
        <p:nvSpPr>
          <p:cNvPr id="56" name="">
            <a:extLst xmlns:a="http://schemas.openxmlformats.org/drawingml/2006/main">
              <a:ext uri="{FF2B5EF4-FFF2-40B4-BE49-F238E27FC236}">
                <a16:creationId xmlns:a16="http://schemas.microsoft.com/office/drawing/2014/main" id="{73B1AD57-9F9A-4FC9-B4F6-71620581526C}"/>
              </a:ext>
            </a:extLst>
          </p:cNvPr>
          <p:cNvSpPr>
            <a:spLocks xmlns:a="http://schemas.openxmlformats.org/drawingml/2006/main" noGrp="1"/>
          </p:cNvSpPr>
          <p:nvPr/>
        </p:nvSpPr>
        <p:spPr>
          <a:xfrm xmlns:a="http://schemas.openxmlformats.org/drawingml/2006/main">
            <a:off x="9334500" y="42481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7211D"/>
                </a:solidFill>
                <a:latin typeface="Aptos"/>
                <a:ea typeface="Aptos"/>
                <a:cs typeface="Aptos"/>
              </a:defRPr>
            </a:pPr>
            <a:r>
              <a:rPr sz="788" b="1">
                <a:solidFill>
                  <a:srgbClr val="17211D"/>
                </a:solidFill>
                <a:latin typeface="Aptos"/>
                <a:ea typeface="Aptos"/>
                <a:cs typeface="Aptos"/>
              </a:rPr>
              <a:t>Analisi di sostenibilità</a:t>
            </a:r>
          </a:p>
        </p:txBody>
      </p:sp>
      <p:sp>
        <p:nvSpPr>
          <p:cNvPr id="57" name="">
            <a:extLst xmlns:a="http://schemas.openxmlformats.org/drawingml/2006/main">
              <a:ext uri="{FF2B5EF4-FFF2-40B4-BE49-F238E27FC236}">
                <a16:creationId xmlns:a16="http://schemas.microsoft.com/office/drawing/2014/main" id="{4F82C14E-71C5-4059-8B08-C7708DAFB229}"/>
              </a:ext>
            </a:extLst>
          </p:cNvPr>
          <p:cNvSpPr>
            <a:spLocks xmlns:a="http://schemas.openxmlformats.org/drawingml/2006/main" noGrp="1"/>
          </p:cNvSpPr>
          <p:nvPr/>
        </p:nvSpPr>
        <p:spPr>
          <a:xfrm xmlns:a="http://schemas.openxmlformats.org/drawingml/2006/main">
            <a:off x="552450" y="5295900"/>
            <a:ext cx="11087100" cy="685800"/>
          </a:xfrm>
          <a:prstGeom xmlns:a="http://schemas.openxmlformats.org/drawingml/2006/main" prst="roundRect">
            <a:avLst>
              <a:gd name="adj" fmla="val 11111"/>
            </a:avLst>
          </a:prstGeom>
          <a:solidFill xmlns:a="http://schemas.openxmlformats.org/drawingml/2006/main">
            <a:srgbClr val="123C31"/>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862C8177-3DC2-4CD3-A360-413716623F34}"/>
              </a:ext>
            </a:extLst>
          </p:cNvPr>
          <p:cNvSpPr>
            <a:spLocks xmlns:a="http://schemas.openxmlformats.org/drawingml/2006/main" noGrp="1"/>
          </p:cNvSpPr>
          <p:nvPr/>
        </p:nvSpPr>
        <p:spPr>
          <a:xfrm xmlns:a="http://schemas.openxmlformats.org/drawingml/2006/main">
            <a:off x="781050" y="5410200"/>
            <a:ext cx="106299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Georgia"/>
                <a:ea typeface="Georgia"/>
                <a:cs typeface="Georgia"/>
              </a:defRPr>
            </a:pPr>
            <a:r>
              <a:rPr sz="1350" b="1">
                <a:solidFill>
                  <a:srgbClr val="FFFFFF"/>
                </a:solidFill>
                <a:latin typeface="Georgia"/>
                <a:ea typeface="Georgia"/>
                <a:cs typeface="Georgia"/>
              </a:rPr>
              <a:t>Usare l’AI dove riduce davvero l’incertezza.</a:t>
            </a:r>
          </a:p>
          <a:p xmlns:a="http://schemas.openxmlformats.org/drawingml/2006/main">
            <a:pPr algn="ctr">
              <a:defRPr sz="1350" b="1">
                <a:solidFill>
                  <a:srgbClr val="FFFFFF"/>
                </a:solidFill>
                <a:latin typeface="Georgia"/>
                <a:ea typeface="Georgia"/>
                <a:cs typeface="Georgia"/>
              </a:defRPr>
            </a:pPr>
            <a:r>
              <a:rPr sz="1350" b="1">
                <a:solidFill>
                  <a:srgbClr val="FFFFFF"/>
                </a:solidFill>
                <a:latin typeface="Georgia"/>
                <a:ea typeface="Georgia"/>
                <a:cs typeface="Georgia"/>
              </a:rPr>
              <a:t>Mantenere spiegabile tutto il resto.</a:t>
            </a:r>
          </a:p>
        </p:txBody>
      </p:sp>
      <p:sp>
        <p:nvSpPr>
          <p:cNvPr id="59" name="">
            <a:extLst xmlns:a="http://schemas.openxmlformats.org/drawingml/2006/main">
              <a:ext uri="{FF2B5EF4-FFF2-40B4-BE49-F238E27FC236}">
                <a16:creationId xmlns:a16="http://schemas.microsoft.com/office/drawing/2014/main" id="{4DC53FDF-E541-473D-AC97-BAB94D54AC3C}"/>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B9C3BB"/>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554BE5ED-7415-423E-B8EA-7621F3CBBBD9}"/>
              </a:ext>
            </a:extLst>
          </p:cNvPr>
          <p:cNvSpPr>
            <a:spLocks xmlns:a="http://schemas.openxmlformats.org/drawingml/2006/main" noGrp="1"/>
          </p:cNvSpPr>
          <p:nvPr/>
        </p:nvSpPr>
        <p:spPr>
          <a:xfrm xmlns:a="http://schemas.openxmlformats.org/drawingml/2006/main">
            <a:off x="552450" y="6496050"/>
            <a:ext cx="10039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63" b="0">
                <a:solidFill>
                  <a:srgbClr val="65736B"/>
                </a:solidFill>
                <a:latin typeface="Aptos"/>
                <a:ea typeface="Aptos"/>
                <a:cs typeface="Aptos"/>
              </a:defRPr>
            </a:pPr>
            <a:r>
              <a:rPr sz="563" b="0">
                <a:solidFill>
                  <a:srgbClr val="65736B"/>
                </a:solidFill>
                <a:latin typeface="Aptos"/>
                <a:ea typeface="Aptos"/>
                <a:cs typeface="Aptos"/>
              </a:rPr>
              <a:t>Deliverable: PPTX con note orali · 5 notebook · registro tool e prompt · codice Python</a:t>
            </a:r>
          </a:p>
        </p:txBody>
      </p:sp>
      <p:sp>
        <p:nvSpPr>
          <p:cNvPr id="61" name="">
            <a:extLst xmlns:a="http://schemas.openxmlformats.org/drawingml/2006/main">
              <a:ext uri="{FF2B5EF4-FFF2-40B4-BE49-F238E27FC236}">
                <a16:creationId xmlns:a16="http://schemas.microsoft.com/office/drawing/2014/main" id="{1AC31EA6-2B56-4512-BC9D-EC4D174E822C}"/>
              </a:ext>
            </a:extLst>
          </p:cNvPr>
          <p:cNvSpPr>
            <a:spLocks xmlns:a="http://schemas.openxmlformats.org/drawingml/2006/main" noGrp="1"/>
          </p:cNvSpPr>
          <p:nvPr/>
        </p:nvSpPr>
        <p:spPr>
          <a:xfrm xmlns:a="http://schemas.openxmlformats.org/drawingml/2006/main">
            <a:off x="11049000" y="647700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65736B"/>
                </a:solidFill>
                <a:latin typeface="Georgia"/>
                <a:ea typeface="Georgia"/>
                <a:cs typeface="Georgia"/>
              </a:defRPr>
            </a:pPr>
            <a:r>
              <a:rPr sz="750" b="1">
                <a:solidFill>
                  <a:srgbClr val="65736B"/>
                </a:solidFill>
                <a:latin typeface="Georgia"/>
                <a:ea typeface="Georgia"/>
                <a:cs typeface="Georgia"/>
              </a:rPr>
              <a:t>17</a:t>
            </a:r>
          </a:p>
        </p:txBody>
      </p:sp>
    </p:spTree>
    <p:extLst>
      <p:ext uri="{BB962C8B-B14F-4D97-AF65-F5344CB8AC3E}">
        <p14:creationId xmlns:p14="http://schemas.microsoft.com/office/powerpoint/2010/main" val="11387870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ClosetAI — Presentazione ufficiale d'esame</dc:title>
  <dcterms:created xsi:type="dcterms:W3CDTF">2026-07-14T16:11:08.6760000Z</dcterms:created>
  <dcterms:modified xsi:type="dcterms:W3CDTF">2026-07-14T16:11:08.6760000Z</dcterms:modified>
  <dc:subject>User story, AI generativa, machine learning, fattibilità e sostenibilità</dc:subject>
  <dc:description>Include 17 note orali in italiano, una per ogni slide, destinate allo studente che espone.</dc:description>
</coreProperties>
</file>