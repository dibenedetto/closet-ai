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2.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59d7f7f157f745f4" Type="http://schemas.openxmlformats.org/officeDocument/2006/relationships/extended-properties" Target="docProps/app.xml"/><Relationship Id="R5f30eb4805b74316" Type="http://schemas.openxmlformats.org/package/2006/relationships/metadata/core-properties" Target="docProps/core.xml"/><Relationship Id="R885f0c29860942d7"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9f5409b28453483a"/>
  </p:sldMasterIdLst>
  <p:notesMasterIdLst>
    <p:notesMasterId xmlns:r="http://schemas.openxmlformats.org/officeDocument/2006/relationships" r:id="R26d126ffc8564ec3"/>
  </p:notesMasterIdLst>
  <p:sldIdLst>
    <p:sldId xmlns:r="http://schemas.openxmlformats.org/officeDocument/2006/relationships" id="256" r:id="R581df5649069417c"/>
    <p:sldId xmlns:r="http://schemas.openxmlformats.org/officeDocument/2006/relationships" id="257" r:id="Rb8dd3bb5d3a7477c"/>
    <p:sldId xmlns:r="http://schemas.openxmlformats.org/officeDocument/2006/relationships" id="258" r:id="R2e9e05c1aeaa470a"/>
    <p:sldId xmlns:r="http://schemas.openxmlformats.org/officeDocument/2006/relationships" id="259" r:id="Rad232b4618c849ec"/>
    <p:sldId xmlns:r="http://schemas.openxmlformats.org/officeDocument/2006/relationships" id="260" r:id="Refad209174964451"/>
    <p:sldId xmlns:r="http://schemas.openxmlformats.org/officeDocument/2006/relationships" id="261" r:id="Rd4794c498ee04baa"/>
    <p:sldId xmlns:r="http://schemas.openxmlformats.org/officeDocument/2006/relationships" id="262" r:id="R7cb98edf33d2446e"/>
    <p:sldId xmlns:r="http://schemas.openxmlformats.org/officeDocument/2006/relationships" id="263" r:id="Ra8a84e7d341b4a6b"/>
    <p:sldId xmlns:r="http://schemas.openxmlformats.org/officeDocument/2006/relationships" id="264" r:id="Rf4c9b052e53c4ef1"/>
    <p:sldId xmlns:r="http://schemas.openxmlformats.org/officeDocument/2006/relationships" id="265" r:id="Rc2b856bc436c4f57"/>
    <p:sldId xmlns:r="http://schemas.openxmlformats.org/officeDocument/2006/relationships" id="266" r:id="Rd9e2143c212a4b28"/>
    <p:sldId xmlns:r="http://schemas.openxmlformats.org/officeDocument/2006/relationships" id="267" r:id="R878b6bd1741e4317"/>
    <p:sldId xmlns:r="http://schemas.openxmlformats.org/officeDocument/2006/relationships" id="268" r:id="R1f25cf189ce04305"/>
    <p:sldId xmlns:r="http://schemas.openxmlformats.org/officeDocument/2006/relationships" id="269" r:id="R603ba51552d84de7"/>
    <p:sldId xmlns:r="http://schemas.openxmlformats.org/officeDocument/2006/relationships" id="270" r:id="Ra1a6892f200d4c87"/>
    <p:sldId xmlns:r="http://schemas.openxmlformats.org/officeDocument/2006/relationships" id="271" r:id="Rf36c307168a749eb"/>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xml version='1.0' encoding='UTF-8' standalone='yes'?>
<Relationships xmlns="http://schemas.openxmlformats.org/package/2006/relationships"><Relationship Id="R013c460a45844342" Type="http://schemas.openxmlformats.org/officeDocument/2006/relationships/theme" Target="theme/theme1.xml"/><Relationship Id="R1f25cf189ce04305" Type="http://schemas.openxmlformats.org/officeDocument/2006/relationships/slide" Target="slides/slide13.xml"/><Relationship Id="R261a8830d8c14ac9" Type="http://schemas.openxmlformats.org/officeDocument/2006/relationships/viewProps" Target="viewProps.xml"/><Relationship Id="R26d126ffc8564ec3" Type="http://schemas.openxmlformats.org/officeDocument/2006/relationships/notesMaster" Target="notesMasters/notesMaster1.xml"/><Relationship Id="R2e9e05c1aeaa470a" Type="http://schemas.openxmlformats.org/officeDocument/2006/relationships/slide" Target="slides/slide3.xml"/><Relationship Id="R581df5649069417c" Type="http://schemas.openxmlformats.org/officeDocument/2006/relationships/slide" Target="slides/slide1.xml"/><Relationship Id="R603ba51552d84de7" Type="http://schemas.openxmlformats.org/officeDocument/2006/relationships/slide" Target="slides/slide14.xml"/><Relationship Id="R66372e1d0bbc4595" Type="http://schemas.openxmlformats.org/officeDocument/2006/relationships/presProps" Target="presProps.xml"/><Relationship Id="R7cb98edf33d2446e" Type="http://schemas.openxmlformats.org/officeDocument/2006/relationships/slide" Target="slides/slide7.xml"/><Relationship Id="R878b6bd1741e4317" Type="http://schemas.openxmlformats.org/officeDocument/2006/relationships/slide" Target="slides/slide12.xml"/><Relationship Id="R9f5409b28453483a" Type="http://schemas.openxmlformats.org/officeDocument/2006/relationships/slideMaster" Target="slideMasters/slideMaster1.xml"/><Relationship Id="Ra1a6892f200d4c87" Type="http://schemas.openxmlformats.org/officeDocument/2006/relationships/slide" Target="slides/slide15.xml"/><Relationship Id="Ra8a84e7d341b4a6b" Type="http://schemas.openxmlformats.org/officeDocument/2006/relationships/slide" Target="slides/slide8.xml"/><Relationship Id="Rad232b4618c849ec" Type="http://schemas.openxmlformats.org/officeDocument/2006/relationships/slide" Target="slides/slide4.xml"/><Relationship Id="Rb8dd3bb5d3a7477c" Type="http://schemas.openxmlformats.org/officeDocument/2006/relationships/slide" Target="slides/slide2.xml"/><Relationship Id="Rc2b856bc436c4f57" Type="http://schemas.openxmlformats.org/officeDocument/2006/relationships/slide" Target="slides/slide10.xml"/><Relationship Id="Rce12e3d131454821" Type="http://schemas.openxmlformats.org/officeDocument/2006/relationships/tableStyles" Target="tableStyles.xml"/><Relationship Id="Rd4794c498ee04baa" Type="http://schemas.openxmlformats.org/officeDocument/2006/relationships/slide" Target="slides/slide6.xml"/><Relationship Id="Rd9e2143c212a4b28" Type="http://schemas.openxmlformats.org/officeDocument/2006/relationships/slide" Target="slides/slide11.xml"/><Relationship Id="Refad209174964451" Type="http://schemas.openxmlformats.org/officeDocument/2006/relationships/slide" Target="slides/slide5.xml"/><Relationship Id="Rf36c307168a749eb" Type="http://schemas.openxmlformats.org/officeDocument/2006/relationships/slide" Target="slides/slide16.xml"/><Relationship Id="Rf4c9b052e53c4ef1"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a624d9146e1b4591" Type="http://schemas.openxmlformats.org/officeDocument/2006/relationships/theme" Target="theme/theme2.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bf00ece844c64016" Type="http://schemas.openxmlformats.org/officeDocument/2006/relationships/slide" Target="../slides/slide1.xml"/><Relationship Id="Re68d971ec9ca46e6"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e3374f411e2f4807" Type="http://schemas.openxmlformats.org/officeDocument/2006/relationships/slide" Target="../slides/slide2.xml"/><Relationship Id="Rffbc1841e64743cc"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1d6e475832234a47" Type="http://schemas.openxmlformats.org/officeDocument/2006/relationships/notesMaster" Target="../notesMasters/notesMaster1.xml"/><Relationship Id="Rfa4e280cd3f74a97"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666bceda9d17401d" Type="http://schemas.openxmlformats.org/officeDocument/2006/relationships/slide" Target="../slides/slide4.xml"/><Relationship Id="Rc1df6178944d4edd"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0d0e1c7c401c4923" Type="http://schemas.openxmlformats.org/officeDocument/2006/relationships/slide" Target="../slides/slide5.xml"/><Relationship Id="Rbe1b2277a5fa4f9a"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4ceef13ff1184b79" Type="http://schemas.openxmlformats.org/officeDocument/2006/relationships/slide" Target="../slides/slide6.xml"/><Relationship Id="R8441bdd607b0457d"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4e903be16e764fb6" Type="http://schemas.openxmlformats.org/officeDocument/2006/relationships/slide" Target="../slides/slide7.xml"/><Relationship Id="Rf85bcb9295f34477"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040cec1b04fe434b" Type="http://schemas.openxmlformats.org/officeDocument/2006/relationships/slide" Target="../slides/slide8.xml"/><Relationship Id="Rabceeb50f877488b"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a845236991af482f" Type="http://schemas.openxmlformats.org/officeDocument/2006/relationships/notesMaster" Target="../notesMasters/notesMaster1.xml"/><Relationship Id="Rce9b7eee6c7e4a4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0949c1c747b748c0" Type="http://schemas.openxmlformats.org/officeDocument/2006/relationships/slide" Target="../slides/slide10.xml"/><Relationship Id="R67403df03e0f4dd0"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0bce78848f1d4e70" Type="http://schemas.openxmlformats.org/officeDocument/2006/relationships/notesMaster" Target="../notesMasters/notesMaster1.xml"/><Relationship Id="R795000e3aa974da4"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aa7414b3e7c5418f" Type="http://schemas.openxmlformats.org/officeDocument/2006/relationships/notesMaster" Target="../notesMasters/notesMaster1.xml"/><Relationship Id="Rbcb46ba8778f49d4"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b1cef235b00e4453" Type="http://schemas.openxmlformats.org/officeDocument/2006/relationships/slide" Target="../slides/slide13.xml"/><Relationship Id="Re15011d22095480e"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339b7793d3fc462c" Type="http://schemas.openxmlformats.org/officeDocument/2006/relationships/notesMaster" Target="../notesMasters/notesMaster1.xml"/><Relationship Id="Rb1503dc5ec994624"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0696bc3176334a0b" Type="http://schemas.openxmlformats.org/officeDocument/2006/relationships/notesMaster" Target="../notesMasters/notesMaster1.xml"/><Relationship Id="Rf1ce5276f77c48cb"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c41af9ff2c0545e8" Type="http://schemas.openxmlformats.org/officeDocument/2006/relationships/notesMaster" Target="../notesMasters/notesMaster1.xml"/><Relationship Id="Rd424ad3ae8664663" Type="http://schemas.openxmlformats.org/officeDocument/2006/relationships/slide" Target="../slides/slide16.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Apro con una distinzione importante: ClosetAI non è “AI applicata alla moda” in senso generico. È un prodotto che prova a cambiare una decisione quotidiana: usare più a lungo ciò che possediamo prima di comprare altro. Durante la presentazione mostrerò quattro segnali visibili nell’interfaccia—impatto verde, stato dei capi, gap del guardaroba e capi fantasma—e dirò sempre se dietro c’è un modello nostro, un modello pre-addestrato, un servizio generativo oppure una regola. Questa precisione è parte del progetto, non una nota a margine.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Per motivare il problema uso solo numeri che posso citare. UNEP stima che il tessile produca fra il 2 e l’8 per cento delle emissioni globali: presento un intervallo, non un falso numero esatto. L’EEA riporta che nel 2022 in UE si consumavano 19 chilogrammi di tessili per persona e se ne generavano 16 come rifiuto. Inoltre l’85 per cento dei rifiuti tessili domestici non veniva raccolto separatamente. Il punto non è colpevolizzare l’utente: è rendere più facile riuso, cura e seconda vita.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Questa è la tesi di prodotto. ClosetAI chiude un ciclo: fotografo il capo, registro quando lo indosso, riscopro ciò che non uso, valuto lo stato, decido se esiste davvero un gap e, quando serve, scelgo un’azione circolare. Il feedback loop è il passaggio essenziale: i dati d’uso migliorano le decisioni successive. Se questi moduli fossero app separate avremmo più funzioni ma meno valore. Nella demo seguirò esattamente questo percorso, usando un solo capo come filo narrativo.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UI è stata ricostruita per far emergere decisioni, non soltanto numeri. La dashboard mette in primo piano la CO₂ equivalente stimata, ma nello stesso contesto mostra stato, gap e rotazione. “Stato” risponde a cosa richiede cura; “gap” a cosa manca davvero; “rotazione” a quali capi meritano di rientrare in un outfit. La dicitura in basso è deliberata: questa è una mappa delle superfici effettive, non uno screenshot inventato. Durante la demo apro le route reali /dashboard, /items/:id e /today.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Risposta diretta alla domanda sui ghost garments: sì, sono rilevati. La regola operativa è esatta e non usa machine learning. Un capo è ghost se non ha alcun wear registrato, è posseduto da almeno la soglia scelta—30 giorni per default—ed è ancora attivo. La data di acquisto è preferita; in sua assenza si usa la data di inserimento. La UI mostra il conteggio e la lista nella dashboard, il badge nel dettaglio e il bonus di riscoperta negli outfit. Dico “mai indossato dopo X giorni”, non “non usato di recente”: un capo indossato una volta anni fa non è ghost secondo questa definizione.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Qui mostro il primo modello addestrato da noi. Non addestriamo Fashion-CLIP da zero: lo congeliamo e lo usiamo come estrattore di 512 feature. Su queste feature alleniamo una testa MLP 512-256-128-3 con circa 165 mila parametri. È transfer learning. Sul test locale di 83 immagini l’accuracy è circa 94 per cento e la F1 della classe danneggiato è 0,981. Ma il limite è importante: lo split è un holdout locale casuale, non una validazione esterna per sorgente. Quindi presento il risultato come prova tecnica del prototipo, non come garanzia su foto reali.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 secondo modello lavora sull’intero guardaroba, non sulle foto. Riceve 14 feature aggregate—conteggi per ruolo, stagionalità, colori, neutri, ghost ratio—e produce sei probabilità indipendenti. È multi-label perché uno stesso armadio può avere contemporaneamente pochi capispalla e poca varietà di colori. Le metriche sono alte sul dataset simulato: micro-F1 0,943 e macro-F1 0,932. La precisazione da dire subito è che le etichette derivano da regole esperte con rumore. Oggi la rete dimostra la pipeline e apprende quelle regole; per validare il concetto servono feedback e guardaroba reali.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 recommender non è una rete addestrata. Il punteggio combina 55 per cento compatibilità cromatica, 35 per cento meteo, un bonus fino al 15 per cento per capi ghost eleggibili e un piccolo termine di feedback, più o meno 4 per cento. Il feedback quindi personalizza l’ordine, ma non domina il risultato. È importante non ripetere una vecchia descrizione: nel ranking attuale non entrano Chroma né gli embedding Fashion-CLIP. Il vantaggio delle regole qui è la spiegabilità: posso dire perché un outfit è stato proposto e mantenere il comportamento stabile anche senza servizi esterni.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dashboard verde non misura emissioni fisiche. Calcola una stima di scenario: media indicativa della categoria moltiplicata per un fattore associato all’azione. L’esempio interno mostra jeans da 32 chilogrammi CO₂ equivalente per 70 per cento in caso di riparazione, cioè 22,4. Questi numeri servono a dare ordine di grandezza e motivazione, ma non sono una LCA per materiale e dipendono dall’ipotesi che riuso o riparazione sostituiscano davvero un nuovo acquisto. All’esame uso sempre le parole “stima” e “CO₂ equivalente”, e propongo come sviluppo range d’incertezza e LCA per materiale.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Questa slide riassume il confine tecnico. Fashion-CLIP è pre-addestrato da altri e viene usato in inference. Le due MLP—stato e gap—sono addestrate da noi e hanno checkpoint riproducibili. Ghost, outfit, cost-per-wear e stima CO₂ sono regole o tabelle. LLM e diffusion sono modelli generativi esterni e opzionali. Questa tassonomia evita l’errore di chiamare AI qualsiasi calcolo. Il criterio che abbiamo seguito è semplice: addestriamo un modello soltanto quando c’è un’incertezza che una formula esplicita non risolve meglio.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L’architettura spiega perché il progetto può evolvere. Il client React è separato dalle API FastAPI sotto /api/v1. I servizi contengono la logica di wear, statistiche, gap, recommender e circolarità. Dati e checkpoint sono separati ancora: SQLite e filesystem per l’MVP, PyTorch per le due teste e Fashion-CLIP per la percezione. LLM e try-on si attivano solo se configurati. Oggi il sistema è single-user e locale: è una scelta di prototipo e privacy. Per la produzione servono autenticazione, isolamento per utente e storage remoto sicuro.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Per l’esame ho separato ogni fitting in un notebook autonomo ed eseguito. I primi due ricostruiscono i modelli caricati dal prodotto. Gli altri tre—rischio ghost con logistic regression, previsione wear con random forest e cluster con K-means—sono esperimenti accademici e non sono collegati alla UI. Questa distinzione è importante: il vecchio notebook unico aveva un esperimento ghost con pochissimi positivi e non era difendibile. Il nuovo notebook genera un dataset didattico non degenere, riporta ROC-AUC 0,713 e dichiara apertamente che il risultato è sintetico.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Sì, possiamo creare un’app per smartphone senza riscrivere il backend. Oggi l’interfaccia è già responsive e l’upload usa la camera posteriore del browser. La via più breve è una PWA: manifest, service worker e coda offline. Se serve una pubblicazione rapida sugli store mantenendo la UI web, Capacitor è il passaggio intermedio. Expo/React Native ha più senso soltanto se camera nativa, push affidabili, offline-first e UX mobile diventano il centro del prodotto; riutilizzeremmo API e tipi, ma ricostruiremmo i componenti. Prima di tutto servono auth, HTTPS e governance delle immagini.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Questa non è una slide difensiva: è il piano di validazione. Per generalizzare la diagnosi dello stato dobbiamo fare split per sorgente e un test esterno. Per i gap dobbiamo sostituire o integrare le label simulate con feedback reale e audit dei bias. Per l’impatto servono LCA per materiale e intervalli d’incertezza. Per la privacy servono autenticazione, cifratura, retention e una valutazione GDPR/DPIA perché le foto possono includere corpo e ambiente domestico. Infine SQLite e filesystem vanno sostituiti con Postgres, object storage e job asincroni quando passiamo al multiutente.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Questa è la scaletta della demo, da provare prima dell’esame con le tab già aperte. In tre minuti e mezzo mostro una singola storia: guardaroba e dettaglio, wear log, ghost con soglia, diagnosi dello stato, gap multi-label e azione circolare che aggiorna l’impatto. Non apro tutte le pagine e non provo ogni pulsante. Per ogni schermata uso sempre la stessa formula orale: qual è l’input, quale trasformazione avviene, qual è l’output, perché aiuta l’utente e qual è il limite. Se una chiamata generativa non è configurata, lo dico e mostro il fallback.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Chiudo con tre messaggi. Primo: il prodotto trasforma uso, stato, gap e ghost in decisioni concrete che possono allungare la vita dei capi. Secondo: abbiamo addestrato due reti e dichiarato con precisione tutto ciò che è pre-addestrato, generativo o rule-based. Terzo: la qualità del progetto non dipende soltanto dalla metrica migliore, ma dalla riproducibilità dei notebook, dalla visibilità dei limiti e da una roadmap realistica per dati, privacy e mobile. La frase finale è: compra meno, usa meglio, dichiara l’incertezza. Poi mi fermo e apro alle domande.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xml version='1.0' encoding='UTF-8' standalone='yes'?>
<Relationships xmlns="http://schemas.openxmlformats.org/package/2006/relationships"><Relationship Id="R9584c194a7674d5f" Type="http://schemas.openxmlformats.org/officeDocument/2006/relationships/slideMaster" Target="../slideMasters/slideMaster1.xml"/></Relationships>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39d94596624d46b1" Type="http://schemas.openxmlformats.org/officeDocument/2006/relationships/slideLayout" Target="../slideLayouts/slideLayout2.xml"/><Relationship Id="Rf7ce8494ccf74a0f" Type="http://schemas.openxmlformats.org/officeDocument/2006/relationships/theme" Target="../theme/theme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9d94596624d46b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350e594ecf0643b9" Type="http://schemas.openxmlformats.org/officeDocument/2006/relationships/notesSlide" Target="../notesSlides/notesSlide1.xml"/><Relationship Id="R60d5f88bc3c7402c"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2a8c43a492e9444c" Type="http://schemas.openxmlformats.org/officeDocument/2006/relationships/notesSlide" Target="../notesSlides/notesSlide2.xml"/><Relationship Id="R63cc234338ad4304"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cde444276f244e7f" Type="http://schemas.openxmlformats.org/officeDocument/2006/relationships/notesSlide" Target="../notesSlides/notesSlide3.xml"/><Relationship Id="Rd9536456eafb486b"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535d8fe8e565431b" Type="http://schemas.openxmlformats.org/officeDocument/2006/relationships/notesSlide" Target="../notesSlides/notesSlide4.xml"/><Relationship Id="Rc3b609b61db6408c"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2e890f79c92043f4" Type="http://schemas.openxmlformats.org/officeDocument/2006/relationships/notesSlide" Target="../notesSlides/notesSlide5.xml"/><Relationship Id="Rd7d4c3c7771744e2"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13ac980f274449cf" Type="http://schemas.openxmlformats.org/officeDocument/2006/relationships/notesSlide" Target="../notesSlides/notesSlide6.xml"/><Relationship Id="R569506099c5a414f"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0c3f81199e3845ad" Type="http://schemas.openxmlformats.org/officeDocument/2006/relationships/slideLayout" Target="../slideLayouts/slideLayout2.xml"/><Relationship Id="R0e2429951dca412f"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54b0a08c84124de0" Type="http://schemas.openxmlformats.org/officeDocument/2006/relationships/notesSlide" Target="../notesSlides/notesSlide8.xml"/><Relationship Id="Rc8f9ceb975454f09"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468fceb2223a4733" Type="http://schemas.openxmlformats.org/officeDocument/2006/relationships/slideLayout" Target="../slideLayouts/slideLayout2.xml"/><Relationship Id="R46de661416cb455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07046e27ce354136" Type="http://schemas.openxmlformats.org/officeDocument/2006/relationships/slideLayout" Target="../slideLayouts/slideLayout2.xml"/><Relationship Id="R7ca07120014c4bf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eb8602e7b5264096" Type="http://schemas.openxmlformats.org/officeDocument/2006/relationships/slideLayout" Target="../slideLayouts/slideLayout2.xml"/><Relationship Id="Red45e72acbf543f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2b1131d3edf2497b" Type="http://schemas.openxmlformats.org/officeDocument/2006/relationships/notesSlide" Target="../notesSlides/notesSlide12.xml"/><Relationship Id="R62d29ba809644657"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76e40666e5b04154" Type="http://schemas.openxmlformats.org/officeDocument/2006/relationships/slideLayout" Target="../slideLayouts/slideLayout2.xml"/><Relationship Id="Rff147672d6d74f3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6d43766046b04725" Type="http://schemas.openxmlformats.org/officeDocument/2006/relationships/notesSlide" Target="../notesSlides/notesSlide14.xml"/><Relationship Id="R99f0e2395c7248b2"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b23bac7fd6974d95" Type="http://schemas.openxmlformats.org/officeDocument/2006/relationships/slideLayout" Target="../slideLayouts/slideLayout2.xml"/><Relationship Id="Rc9fa1523cb2f418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7633d85ba1c74de7" Type="http://schemas.openxmlformats.org/officeDocument/2006/relationships/slideLayout" Target="../slideLayouts/slideLayout2.xml"/><Relationship Id="Rd32e1199b7624562" Type="http://schemas.openxmlformats.org/officeDocument/2006/relationships/notesSlide" Target="../notesSlides/notesSlide16.xml"/></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939459FC-DEF2-40DE-94FC-99EC03CBA97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23C31"/>
          </a:solidFill>
          <a:ln xmlns:a="http://schemas.openxmlformats.org/drawingml/2006/main" w="0">
            <a:solidFill>
              <a:srgbClr val="000000">
                <a:alpha val="0"/>
              </a:srgbClr>
            </a:solidFill>
            <a:prstDash val="solid"/>
          </a:ln>
        </p:spPr>
      </p:sp>
      <p:sp>
        <p:nvSpPr>
          <p:cNvPr id="2" name="kicker-marker">
            <a:extLst xmlns:a="http://schemas.openxmlformats.org/drawingml/2006/main">
              <a:ext uri="{FF2B5EF4-FFF2-40B4-BE49-F238E27FC236}">
                <a16:creationId xmlns:a16="http://schemas.microsoft.com/office/drawing/2014/main" id="{3E95BD63-EFC3-45B3-BC08-4B7A944944AC}"/>
              </a:ext>
            </a:extLst>
          </p:cNvPr>
          <p:cNvSpPr>
            <a:spLocks xmlns:a="http://schemas.openxmlformats.org/drawingml/2006/main" noGrp="1"/>
          </p:cNvSpPr>
          <p:nvPr/>
        </p:nvSpPr>
        <p:spPr>
          <a:xfrm xmlns:a="http://schemas.openxmlformats.org/drawingml/2006/main">
            <a:off x="552450" y="438150"/>
            <a:ext cx="95250" cy="95250"/>
          </a:xfrm>
          <a:prstGeom xmlns:a="http://schemas.openxmlformats.org/drawingml/2006/main" prst="ellipse">
            <a:avLst/>
          </a:prstGeom>
          <a:solidFill xmlns:a="http://schemas.openxmlformats.org/drawingml/2006/main">
            <a:srgbClr val="B9D94A"/>
          </a:solidFill>
          <a:ln xmlns:a="http://schemas.openxmlformats.org/drawingml/2006/main" w="0">
            <a:solidFill>
              <a:srgbClr val="000000">
                <a:alpha val="0"/>
              </a:srgbClr>
            </a:solidFill>
            <a:prstDash val="solid"/>
          </a:ln>
        </p:spPr>
      </p:sp>
      <p:sp>
        <p:nvSpPr>
          <p:cNvPr id="3" name="kicker-label">
            <a:extLst xmlns:a="http://schemas.openxmlformats.org/drawingml/2006/main">
              <a:ext uri="{FF2B5EF4-FFF2-40B4-BE49-F238E27FC236}">
                <a16:creationId xmlns:a16="http://schemas.microsoft.com/office/drawing/2014/main" id="{ACEB0214-2C08-496B-AF5A-AC0B35A00123}"/>
              </a:ext>
            </a:extLst>
          </p:cNvPr>
          <p:cNvSpPr>
            <a:spLocks xmlns:a="http://schemas.openxmlformats.org/drawingml/2006/main" noGrp="1"/>
          </p:cNvSpPr>
          <p:nvPr/>
        </p:nvSpPr>
        <p:spPr>
          <a:xfrm xmlns:a="http://schemas.openxmlformats.org/drawingml/2006/main">
            <a:off x="762000" y="400050"/>
            <a:ext cx="4762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DDE5DD"/>
                </a:solidFill>
                <a:latin typeface="Aptos"/>
                <a:ea typeface="Aptos"/>
                <a:cs typeface="Aptos"/>
              </a:defRPr>
            </a:pPr>
            <a:r>
              <a:rPr sz="675" b="1">
                <a:solidFill>
                  <a:srgbClr val="DDE5DD"/>
                </a:solidFill>
                <a:latin typeface="Aptos"/>
                <a:ea typeface="Aptos"/>
                <a:cs typeface="Aptos"/>
              </a:rPr>
              <a:t>E S A M E   U N I V E R S I T A R I O   U F F I C I A L E   ·   A . A .   2 0 2 5 / 2 0 2 6</a:t>
            </a:r>
          </a:p>
        </p:txBody>
      </p:sp>
      <p:sp>
        <p:nvSpPr>
          <p:cNvPr id="4" name="">
            <a:extLst xmlns:a="http://schemas.openxmlformats.org/drawingml/2006/main">
              <a:ext uri="{FF2B5EF4-FFF2-40B4-BE49-F238E27FC236}">
                <a16:creationId xmlns:a16="http://schemas.microsoft.com/office/drawing/2014/main" id="{6212241E-9CB5-4654-B86F-4B4DD0439BEF}"/>
              </a:ext>
            </a:extLst>
          </p:cNvPr>
          <p:cNvSpPr>
            <a:spLocks xmlns:a="http://schemas.openxmlformats.org/drawingml/2006/main" noGrp="1"/>
          </p:cNvSpPr>
          <p:nvPr/>
        </p:nvSpPr>
        <p:spPr>
          <a:xfrm xmlns:a="http://schemas.openxmlformats.org/drawingml/2006/main">
            <a:off x="552450" y="1219200"/>
            <a:ext cx="6096000" cy="838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100" b="1">
                <a:solidFill>
                  <a:srgbClr val="FFFFFF"/>
                </a:solidFill>
                <a:latin typeface="Georgia"/>
                <a:ea typeface="Georgia"/>
                <a:cs typeface="Georgia"/>
              </a:defRPr>
            </a:pPr>
            <a:r>
              <a:rPr sz="5100" b="1">
                <a:solidFill>
                  <a:srgbClr val="FFFFFF"/>
                </a:solidFill>
                <a:latin typeface="Georgia"/>
                <a:ea typeface="Georgia"/>
                <a:cs typeface="Georgia"/>
              </a:rPr>
              <a:t>ClosetAI</a:t>
            </a:r>
          </a:p>
        </p:txBody>
      </p:sp>
      <p:sp>
        <p:nvSpPr>
          <p:cNvPr id="5" name="">
            <a:extLst xmlns:a="http://schemas.openxmlformats.org/drawingml/2006/main">
              <a:ext uri="{FF2B5EF4-FFF2-40B4-BE49-F238E27FC236}">
                <a16:creationId xmlns:a16="http://schemas.microsoft.com/office/drawing/2014/main" id="{8B420F5A-3C10-4A3A-8326-EACD416A9AD6}"/>
              </a:ext>
            </a:extLst>
          </p:cNvPr>
          <p:cNvSpPr>
            <a:spLocks xmlns:a="http://schemas.openxmlformats.org/drawingml/2006/main" noGrp="1"/>
          </p:cNvSpPr>
          <p:nvPr/>
        </p:nvSpPr>
        <p:spPr>
          <a:xfrm xmlns:a="http://schemas.openxmlformats.org/drawingml/2006/main">
            <a:off x="552450" y="2190750"/>
            <a:ext cx="6191250" cy="1066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B9D94A"/>
                </a:solidFill>
                <a:latin typeface="Georgia"/>
                <a:ea typeface="Georgia"/>
                <a:cs typeface="Georgia"/>
              </a:defRPr>
            </a:pPr>
            <a:r>
              <a:rPr sz="2250" b="1">
                <a:solidFill>
                  <a:srgbClr val="B9D94A"/>
                </a:solidFill>
                <a:latin typeface="Georgia"/>
                <a:ea typeface="Georgia"/>
                <a:cs typeface="Georgia"/>
              </a:rPr>
              <a:t>Usare meglio ciò che possediamo,</a:t>
            </a:r>
          </a:p>
          <a:p xmlns:a="http://schemas.openxmlformats.org/drawingml/2006/main">
            <a:pPr algn="l">
              <a:defRPr sz="2250" b="1">
                <a:solidFill>
                  <a:srgbClr val="B9D94A"/>
                </a:solidFill>
                <a:latin typeface="Georgia"/>
                <a:ea typeface="Georgia"/>
                <a:cs typeface="Georgia"/>
              </a:defRPr>
            </a:pPr>
            <a:r>
              <a:rPr sz="2250" b="1">
                <a:solidFill>
                  <a:srgbClr val="B9D94A"/>
                </a:solidFill>
                <a:latin typeface="Georgia"/>
                <a:ea typeface="Georgia"/>
                <a:cs typeface="Georgia"/>
              </a:rPr>
              <a:t>prima di comprare altro.</a:t>
            </a:r>
          </a:p>
        </p:txBody>
      </p:sp>
      <p:sp>
        <p:nvSpPr>
          <p:cNvPr id="6" name="">
            <a:extLst xmlns:a="http://schemas.openxmlformats.org/drawingml/2006/main">
              <a:ext uri="{FF2B5EF4-FFF2-40B4-BE49-F238E27FC236}">
                <a16:creationId xmlns:a16="http://schemas.microsoft.com/office/drawing/2014/main" id="{64F17AFE-36EA-418D-8371-2B7BF0E6DB75}"/>
              </a:ext>
            </a:extLst>
          </p:cNvPr>
          <p:cNvSpPr>
            <a:spLocks xmlns:a="http://schemas.openxmlformats.org/drawingml/2006/main" noGrp="1"/>
          </p:cNvSpPr>
          <p:nvPr/>
        </p:nvSpPr>
        <p:spPr>
          <a:xfrm xmlns:a="http://schemas.openxmlformats.org/drawingml/2006/main">
            <a:off x="552450" y="3543300"/>
            <a:ext cx="619125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0">
                <a:solidFill>
                  <a:srgbClr val="DDE5DD"/>
                </a:solidFill>
                <a:latin typeface="Aptos"/>
                <a:ea typeface="Aptos"/>
                <a:cs typeface="Aptos"/>
              </a:defRPr>
            </a:pPr>
            <a:r>
              <a:rPr sz="1275" b="0">
                <a:solidFill>
                  <a:srgbClr val="DDE5DD"/>
                </a:solidFill>
                <a:latin typeface="Aptos"/>
                <a:ea typeface="Aptos"/>
                <a:cs typeface="Aptos"/>
              </a:rPr>
              <a:t>Un prodotto che collega uso reale, stato dei capi, gap del guardaroba e azioni circolari—con confini AI dichiarati.</a:t>
            </a:r>
          </a:p>
        </p:txBody>
      </p:sp>
      <p:sp>
        <p:nvSpPr>
          <p:cNvPr id="7" name="">
            <a:extLst xmlns:a="http://schemas.openxmlformats.org/drawingml/2006/main">
              <a:ext uri="{FF2B5EF4-FFF2-40B4-BE49-F238E27FC236}">
                <a16:creationId xmlns:a16="http://schemas.microsoft.com/office/drawing/2014/main" id="{34CB787C-AE56-4242-8906-78DF73009B04}"/>
              </a:ext>
            </a:extLst>
          </p:cNvPr>
          <p:cNvSpPr>
            <a:spLocks xmlns:a="http://schemas.openxmlformats.org/drawingml/2006/main" noGrp="1"/>
          </p:cNvSpPr>
          <p:nvPr/>
        </p:nvSpPr>
        <p:spPr>
          <a:xfrm xmlns:a="http://schemas.openxmlformats.org/drawingml/2006/main">
            <a:off x="7429500" y="1276350"/>
            <a:ext cx="9525" cy="4324350"/>
          </a:xfrm>
          <a:prstGeom xmlns:a="http://schemas.openxmlformats.org/drawingml/2006/main" prst="rect">
            <a:avLst/>
          </a:prstGeom>
          <a:solidFill xmlns:a="http://schemas.openxmlformats.org/drawingml/2006/main">
            <a:srgbClr val="52796B"/>
          </a:solidFill>
          <a:ln xmlns:a="http://schemas.openxmlformats.org/drawingml/2006/main" w="0">
            <a:solidFill>
              <a:srgbClr val="000000">
                <a:alpha val="0"/>
              </a:srgbClr>
            </a:solidFill>
            <a:prstDash val="solid"/>
          </a:ln>
        </p:spPr>
      </p:sp>
      <p:sp>
        <p:nvSpPr>
          <p:cNvPr id="8" name="">
            <a:extLst xmlns:a="http://schemas.openxmlformats.org/drawingml/2006/main">
              <a:ext uri="{FF2B5EF4-FFF2-40B4-BE49-F238E27FC236}">
                <a16:creationId xmlns:a16="http://schemas.microsoft.com/office/drawing/2014/main" id="{4BE1172D-793D-48D7-8BD8-99A057E89556}"/>
              </a:ext>
            </a:extLst>
          </p:cNvPr>
          <p:cNvSpPr>
            <a:spLocks xmlns:a="http://schemas.openxmlformats.org/drawingml/2006/main" noGrp="1"/>
          </p:cNvSpPr>
          <p:nvPr/>
        </p:nvSpPr>
        <p:spPr>
          <a:xfrm xmlns:a="http://schemas.openxmlformats.org/drawingml/2006/main">
            <a:off x="7810500" y="1390650"/>
            <a:ext cx="5143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B9D94A"/>
                </a:solidFill>
                <a:latin typeface="Georgia"/>
                <a:ea typeface="Georgia"/>
                <a:cs typeface="Georgia"/>
              </a:defRPr>
            </a:pPr>
            <a:r>
              <a:rPr sz="1125" b="1">
                <a:solidFill>
                  <a:srgbClr val="B9D94A"/>
                </a:solidFill>
                <a:latin typeface="Georgia"/>
                <a:ea typeface="Georgia"/>
                <a:cs typeface="Georgia"/>
              </a:rPr>
              <a:t>01</a:t>
            </a:r>
          </a:p>
        </p:txBody>
      </p:sp>
      <p:sp>
        <p:nvSpPr>
          <p:cNvPr id="9" name="">
            <a:extLst xmlns:a="http://schemas.openxmlformats.org/drawingml/2006/main">
              <a:ext uri="{FF2B5EF4-FFF2-40B4-BE49-F238E27FC236}">
                <a16:creationId xmlns:a16="http://schemas.microsoft.com/office/drawing/2014/main" id="{32F688AB-4331-4C51-AAC3-974D6358C47A}"/>
              </a:ext>
            </a:extLst>
          </p:cNvPr>
          <p:cNvSpPr>
            <a:spLocks xmlns:a="http://schemas.openxmlformats.org/drawingml/2006/main" noGrp="1"/>
          </p:cNvSpPr>
          <p:nvPr/>
        </p:nvSpPr>
        <p:spPr>
          <a:xfrm xmlns:a="http://schemas.openxmlformats.org/drawingml/2006/main">
            <a:off x="8420100" y="1371600"/>
            <a:ext cx="24765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FFFFFF"/>
                </a:solidFill>
                <a:latin typeface="Georgia"/>
                <a:ea typeface="Georgia"/>
                <a:cs typeface="Georgia"/>
              </a:defRPr>
            </a:pPr>
            <a:r>
              <a:rPr sz="1650" b="1">
                <a:solidFill>
                  <a:srgbClr val="FFFFFF"/>
                </a:solidFill>
                <a:latin typeface="Georgia"/>
                <a:ea typeface="Georgia"/>
                <a:cs typeface="Georgia"/>
              </a:rPr>
              <a:t>Riscoprire</a:t>
            </a:r>
          </a:p>
        </p:txBody>
      </p:sp>
      <p:sp>
        <p:nvSpPr>
          <p:cNvPr id="10" name="">
            <a:extLst xmlns:a="http://schemas.openxmlformats.org/drawingml/2006/main">
              <a:ext uri="{FF2B5EF4-FFF2-40B4-BE49-F238E27FC236}">
                <a16:creationId xmlns:a16="http://schemas.microsoft.com/office/drawing/2014/main" id="{BA6A83C0-5997-4992-958A-25A0BE2F72BB}"/>
              </a:ext>
            </a:extLst>
          </p:cNvPr>
          <p:cNvSpPr>
            <a:spLocks xmlns:a="http://schemas.openxmlformats.org/drawingml/2006/main" noGrp="1"/>
          </p:cNvSpPr>
          <p:nvPr/>
        </p:nvSpPr>
        <p:spPr>
          <a:xfrm xmlns:a="http://schemas.openxmlformats.org/drawingml/2006/main">
            <a:off x="8420100" y="1752600"/>
            <a:ext cx="2476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A9C0B5"/>
                </a:solidFill>
                <a:latin typeface="Aptos"/>
                <a:ea typeface="Aptos"/>
                <a:cs typeface="Aptos"/>
              </a:defRPr>
            </a:pPr>
            <a:r>
              <a:rPr sz="825" b="0">
                <a:solidFill>
                  <a:srgbClr val="A9C0B5"/>
                </a:solidFill>
                <a:latin typeface="Aptos"/>
                <a:ea typeface="Aptos"/>
                <a:cs typeface="Aptos"/>
              </a:rPr>
              <a:t>capi mai indossati</a:t>
            </a:r>
          </a:p>
        </p:txBody>
      </p:sp>
      <p:sp>
        <p:nvSpPr>
          <p:cNvPr id="11" name="">
            <a:extLst xmlns:a="http://schemas.openxmlformats.org/drawingml/2006/main">
              <a:ext uri="{FF2B5EF4-FFF2-40B4-BE49-F238E27FC236}">
                <a16:creationId xmlns:a16="http://schemas.microsoft.com/office/drawing/2014/main" id="{D2C08636-1886-4379-B7BF-90C9D741CE79}"/>
              </a:ext>
            </a:extLst>
          </p:cNvPr>
          <p:cNvSpPr>
            <a:spLocks xmlns:a="http://schemas.openxmlformats.org/drawingml/2006/main" noGrp="1"/>
          </p:cNvSpPr>
          <p:nvPr/>
        </p:nvSpPr>
        <p:spPr>
          <a:xfrm xmlns:a="http://schemas.openxmlformats.org/drawingml/2006/main">
            <a:off x="7810500" y="2419350"/>
            <a:ext cx="5143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B9D94A"/>
                </a:solidFill>
                <a:latin typeface="Georgia"/>
                <a:ea typeface="Georgia"/>
                <a:cs typeface="Georgia"/>
              </a:defRPr>
            </a:pPr>
            <a:r>
              <a:rPr sz="1125" b="1">
                <a:solidFill>
                  <a:srgbClr val="B9D94A"/>
                </a:solidFill>
                <a:latin typeface="Georgia"/>
                <a:ea typeface="Georgia"/>
                <a:cs typeface="Georgia"/>
              </a:rPr>
              <a:t>02</a:t>
            </a:r>
          </a:p>
        </p:txBody>
      </p:sp>
      <p:sp>
        <p:nvSpPr>
          <p:cNvPr id="12" name="">
            <a:extLst xmlns:a="http://schemas.openxmlformats.org/drawingml/2006/main">
              <a:ext uri="{FF2B5EF4-FFF2-40B4-BE49-F238E27FC236}">
                <a16:creationId xmlns:a16="http://schemas.microsoft.com/office/drawing/2014/main" id="{71659D5A-6767-4D1D-BCFA-3EA218FB4111}"/>
              </a:ext>
            </a:extLst>
          </p:cNvPr>
          <p:cNvSpPr>
            <a:spLocks xmlns:a="http://schemas.openxmlformats.org/drawingml/2006/main" noGrp="1"/>
          </p:cNvSpPr>
          <p:nvPr/>
        </p:nvSpPr>
        <p:spPr>
          <a:xfrm xmlns:a="http://schemas.openxmlformats.org/drawingml/2006/main">
            <a:off x="8420100" y="2400300"/>
            <a:ext cx="24765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FFFFFF"/>
                </a:solidFill>
                <a:latin typeface="Georgia"/>
                <a:ea typeface="Georgia"/>
                <a:cs typeface="Georgia"/>
              </a:defRPr>
            </a:pPr>
            <a:r>
              <a:rPr sz="1650" b="1">
                <a:solidFill>
                  <a:srgbClr val="FFFFFF"/>
                </a:solidFill>
                <a:latin typeface="Georgia"/>
                <a:ea typeface="Georgia"/>
                <a:cs typeface="Georgia"/>
              </a:rPr>
              <a:t>Curare</a:t>
            </a:r>
          </a:p>
        </p:txBody>
      </p:sp>
      <p:sp>
        <p:nvSpPr>
          <p:cNvPr id="13" name="">
            <a:extLst xmlns:a="http://schemas.openxmlformats.org/drawingml/2006/main">
              <a:ext uri="{FF2B5EF4-FFF2-40B4-BE49-F238E27FC236}">
                <a16:creationId xmlns:a16="http://schemas.microsoft.com/office/drawing/2014/main" id="{CCC1B5DD-50A0-40D6-8A64-364776B1081A}"/>
              </a:ext>
            </a:extLst>
          </p:cNvPr>
          <p:cNvSpPr>
            <a:spLocks xmlns:a="http://schemas.openxmlformats.org/drawingml/2006/main" noGrp="1"/>
          </p:cNvSpPr>
          <p:nvPr/>
        </p:nvSpPr>
        <p:spPr>
          <a:xfrm xmlns:a="http://schemas.openxmlformats.org/drawingml/2006/main">
            <a:off x="8420100" y="2781300"/>
            <a:ext cx="2476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A9C0B5"/>
                </a:solidFill>
                <a:latin typeface="Aptos"/>
                <a:ea typeface="Aptos"/>
                <a:cs typeface="Aptos"/>
              </a:defRPr>
            </a:pPr>
            <a:r>
              <a:rPr sz="825" b="0">
                <a:solidFill>
                  <a:srgbClr val="A9C0B5"/>
                </a:solidFill>
                <a:latin typeface="Aptos"/>
                <a:ea typeface="Aptos"/>
                <a:cs typeface="Aptos"/>
              </a:rPr>
              <a:t>usura e danni</a:t>
            </a:r>
          </a:p>
        </p:txBody>
      </p:sp>
      <p:sp>
        <p:nvSpPr>
          <p:cNvPr id="14" name="">
            <a:extLst xmlns:a="http://schemas.openxmlformats.org/drawingml/2006/main">
              <a:ext uri="{FF2B5EF4-FFF2-40B4-BE49-F238E27FC236}">
                <a16:creationId xmlns:a16="http://schemas.microsoft.com/office/drawing/2014/main" id="{F0B9AA32-F462-43D8-BF2B-03C4D5A2EEBF}"/>
              </a:ext>
            </a:extLst>
          </p:cNvPr>
          <p:cNvSpPr>
            <a:spLocks xmlns:a="http://schemas.openxmlformats.org/drawingml/2006/main" noGrp="1"/>
          </p:cNvSpPr>
          <p:nvPr/>
        </p:nvSpPr>
        <p:spPr>
          <a:xfrm xmlns:a="http://schemas.openxmlformats.org/drawingml/2006/main">
            <a:off x="7810500" y="3448050"/>
            <a:ext cx="5143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B9D94A"/>
                </a:solidFill>
                <a:latin typeface="Georgia"/>
                <a:ea typeface="Georgia"/>
                <a:cs typeface="Georgia"/>
              </a:defRPr>
            </a:pPr>
            <a:r>
              <a:rPr sz="1125" b="1">
                <a:solidFill>
                  <a:srgbClr val="B9D94A"/>
                </a:solidFill>
                <a:latin typeface="Georgia"/>
                <a:ea typeface="Georgia"/>
                <a:cs typeface="Georgia"/>
              </a:rPr>
              <a:t>03</a:t>
            </a:r>
          </a:p>
        </p:txBody>
      </p:sp>
      <p:sp>
        <p:nvSpPr>
          <p:cNvPr id="15" name="">
            <a:extLst xmlns:a="http://schemas.openxmlformats.org/drawingml/2006/main">
              <a:ext uri="{FF2B5EF4-FFF2-40B4-BE49-F238E27FC236}">
                <a16:creationId xmlns:a16="http://schemas.microsoft.com/office/drawing/2014/main" id="{4B27D949-1352-4C9E-A270-8103CB00BA41}"/>
              </a:ext>
            </a:extLst>
          </p:cNvPr>
          <p:cNvSpPr>
            <a:spLocks xmlns:a="http://schemas.openxmlformats.org/drawingml/2006/main" noGrp="1"/>
          </p:cNvSpPr>
          <p:nvPr/>
        </p:nvSpPr>
        <p:spPr>
          <a:xfrm xmlns:a="http://schemas.openxmlformats.org/drawingml/2006/main">
            <a:off x="8420100" y="3429000"/>
            <a:ext cx="24765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FFFFFF"/>
                </a:solidFill>
                <a:latin typeface="Georgia"/>
                <a:ea typeface="Georgia"/>
                <a:cs typeface="Georgia"/>
              </a:defRPr>
            </a:pPr>
            <a:r>
              <a:rPr sz="1650" b="1">
                <a:solidFill>
                  <a:srgbClr val="FFFFFF"/>
                </a:solidFill>
                <a:latin typeface="Georgia"/>
                <a:ea typeface="Georgia"/>
                <a:cs typeface="Georgia"/>
              </a:rPr>
              <a:t>Colmare</a:t>
            </a:r>
          </a:p>
        </p:txBody>
      </p:sp>
      <p:sp>
        <p:nvSpPr>
          <p:cNvPr id="16" name="">
            <a:extLst xmlns:a="http://schemas.openxmlformats.org/drawingml/2006/main">
              <a:ext uri="{FF2B5EF4-FFF2-40B4-BE49-F238E27FC236}">
                <a16:creationId xmlns:a16="http://schemas.microsoft.com/office/drawing/2014/main" id="{D5AC88E5-B2BB-4D27-AE94-538D9579C2E0}"/>
              </a:ext>
            </a:extLst>
          </p:cNvPr>
          <p:cNvSpPr>
            <a:spLocks xmlns:a="http://schemas.openxmlformats.org/drawingml/2006/main" noGrp="1"/>
          </p:cNvSpPr>
          <p:nvPr/>
        </p:nvSpPr>
        <p:spPr>
          <a:xfrm xmlns:a="http://schemas.openxmlformats.org/drawingml/2006/main">
            <a:off x="8420100" y="3810000"/>
            <a:ext cx="2476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A9C0B5"/>
                </a:solidFill>
                <a:latin typeface="Aptos"/>
                <a:ea typeface="Aptos"/>
                <a:cs typeface="Aptos"/>
              </a:defRPr>
            </a:pPr>
            <a:r>
              <a:rPr sz="825" b="0">
                <a:solidFill>
                  <a:srgbClr val="A9C0B5"/>
                </a:solidFill>
                <a:latin typeface="Aptos"/>
                <a:ea typeface="Aptos"/>
                <a:cs typeface="Aptos"/>
              </a:rPr>
              <a:t>solo gap reali</a:t>
            </a:r>
          </a:p>
        </p:txBody>
      </p:sp>
      <p:sp>
        <p:nvSpPr>
          <p:cNvPr id="17" name="">
            <a:extLst xmlns:a="http://schemas.openxmlformats.org/drawingml/2006/main">
              <a:ext uri="{FF2B5EF4-FFF2-40B4-BE49-F238E27FC236}">
                <a16:creationId xmlns:a16="http://schemas.microsoft.com/office/drawing/2014/main" id="{A951FCAA-CF56-4011-9DA4-699DEEF7E205}"/>
              </a:ext>
            </a:extLst>
          </p:cNvPr>
          <p:cNvSpPr>
            <a:spLocks xmlns:a="http://schemas.openxmlformats.org/drawingml/2006/main" noGrp="1"/>
          </p:cNvSpPr>
          <p:nvPr/>
        </p:nvSpPr>
        <p:spPr>
          <a:xfrm xmlns:a="http://schemas.openxmlformats.org/drawingml/2006/main">
            <a:off x="7810500" y="4476750"/>
            <a:ext cx="5143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B9D94A"/>
                </a:solidFill>
                <a:latin typeface="Georgia"/>
                <a:ea typeface="Georgia"/>
                <a:cs typeface="Georgia"/>
              </a:defRPr>
            </a:pPr>
            <a:r>
              <a:rPr sz="1125" b="1">
                <a:solidFill>
                  <a:srgbClr val="B9D94A"/>
                </a:solidFill>
                <a:latin typeface="Georgia"/>
                <a:ea typeface="Georgia"/>
                <a:cs typeface="Georgia"/>
              </a:rPr>
              <a:t>04</a:t>
            </a:r>
          </a:p>
        </p:txBody>
      </p:sp>
      <p:sp>
        <p:nvSpPr>
          <p:cNvPr id="18" name="">
            <a:extLst xmlns:a="http://schemas.openxmlformats.org/drawingml/2006/main">
              <a:ext uri="{FF2B5EF4-FFF2-40B4-BE49-F238E27FC236}">
                <a16:creationId xmlns:a16="http://schemas.microsoft.com/office/drawing/2014/main" id="{C6F57839-6A53-4929-8DB2-66C5BBFA2EC0}"/>
              </a:ext>
            </a:extLst>
          </p:cNvPr>
          <p:cNvSpPr>
            <a:spLocks xmlns:a="http://schemas.openxmlformats.org/drawingml/2006/main" noGrp="1"/>
          </p:cNvSpPr>
          <p:nvPr/>
        </p:nvSpPr>
        <p:spPr>
          <a:xfrm xmlns:a="http://schemas.openxmlformats.org/drawingml/2006/main">
            <a:off x="8420100" y="4457700"/>
            <a:ext cx="24765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FFFFFF"/>
                </a:solidFill>
                <a:latin typeface="Georgia"/>
                <a:ea typeface="Georgia"/>
                <a:cs typeface="Georgia"/>
              </a:defRPr>
            </a:pPr>
            <a:r>
              <a:rPr sz="1650" b="1">
                <a:solidFill>
                  <a:srgbClr val="FFFFFF"/>
                </a:solidFill>
                <a:latin typeface="Georgia"/>
                <a:ea typeface="Georgia"/>
                <a:cs typeface="Georgia"/>
              </a:rPr>
              <a:t>Misurare</a:t>
            </a:r>
          </a:p>
        </p:txBody>
      </p:sp>
      <p:sp>
        <p:nvSpPr>
          <p:cNvPr id="19" name="">
            <a:extLst xmlns:a="http://schemas.openxmlformats.org/drawingml/2006/main">
              <a:ext uri="{FF2B5EF4-FFF2-40B4-BE49-F238E27FC236}">
                <a16:creationId xmlns:a16="http://schemas.microsoft.com/office/drawing/2014/main" id="{3D84A5E2-3E9E-478E-A282-FE3C02C51630}"/>
              </a:ext>
            </a:extLst>
          </p:cNvPr>
          <p:cNvSpPr>
            <a:spLocks xmlns:a="http://schemas.openxmlformats.org/drawingml/2006/main" noGrp="1"/>
          </p:cNvSpPr>
          <p:nvPr/>
        </p:nvSpPr>
        <p:spPr>
          <a:xfrm xmlns:a="http://schemas.openxmlformats.org/drawingml/2006/main">
            <a:off x="8420100" y="4838700"/>
            <a:ext cx="2476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A9C0B5"/>
                </a:solidFill>
                <a:latin typeface="Aptos"/>
                <a:ea typeface="Aptos"/>
                <a:cs typeface="Aptos"/>
              </a:defRPr>
            </a:pPr>
            <a:r>
              <a:rPr sz="825" b="0">
                <a:solidFill>
                  <a:srgbClr val="A9C0B5"/>
                </a:solidFill>
                <a:latin typeface="Aptos"/>
                <a:ea typeface="Aptos"/>
                <a:cs typeface="Aptos"/>
              </a:rPr>
              <a:t>impatto come stima</a:t>
            </a:r>
          </a:p>
        </p:txBody>
      </p:sp>
      <p:sp>
        <p:nvSpPr>
          <p:cNvPr id="20" name="">
            <a:extLst xmlns:a="http://schemas.openxmlformats.org/drawingml/2006/main">
              <a:ext uri="{FF2B5EF4-FFF2-40B4-BE49-F238E27FC236}">
                <a16:creationId xmlns:a16="http://schemas.microsoft.com/office/drawing/2014/main" id="{7EE82E23-8FE8-4E78-8630-30342384DD11}"/>
              </a:ext>
            </a:extLst>
          </p:cNvPr>
          <p:cNvSpPr>
            <a:spLocks xmlns:a="http://schemas.openxmlformats.org/drawingml/2006/main" noGrp="1"/>
          </p:cNvSpPr>
          <p:nvPr/>
        </p:nvSpPr>
        <p:spPr>
          <a:xfrm xmlns:a="http://schemas.openxmlformats.org/drawingml/2006/main">
            <a:off x="552450" y="6457950"/>
            <a:ext cx="11087100" cy="9525"/>
          </a:xfrm>
          <a:prstGeom xmlns:a="http://schemas.openxmlformats.org/drawingml/2006/main" prst="rect">
            <a:avLst/>
          </a:prstGeom>
          <a:solidFill xmlns:a="http://schemas.openxmlformats.org/drawingml/2006/main">
            <a:srgbClr val="3F685A"/>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74BA81C8-B3F1-4A1D-A4A3-96262F34BD6E}"/>
              </a:ext>
            </a:extLst>
          </p:cNvPr>
          <p:cNvSpPr>
            <a:spLocks xmlns:a="http://schemas.openxmlformats.org/drawingml/2006/main" noGrp="1"/>
          </p:cNvSpPr>
          <p:nvPr/>
        </p:nvSpPr>
        <p:spPr>
          <a:xfrm xmlns:a="http://schemas.openxmlformats.org/drawingml/2006/main">
            <a:off x="552450" y="6534150"/>
            <a:ext cx="1000125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63" b="0">
                <a:solidFill>
                  <a:srgbClr val="86A396"/>
                </a:solidFill>
                <a:latin typeface="Aptos"/>
                <a:ea typeface="Aptos"/>
                <a:cs typeface="Aptos"/>
              </a:defRPr>
            </a:pPr>
            <a:r>
              <a:rPr sz="563" b="0">
                <a:solidFill>
                  <a:srgbClr val="86A396"/>
                </a:solidFill>
                <a:latin typeface="Aptos"/>
                <a:ea typeface="Aptos"/>
                <a:cs typeface="Aptos"/>
              </a:rPr>
              <a:t>ClosetAI · Università di Pisa · nessun nome di corso/docente inventato</a:t>
            </a:r>
          </a:p>
        </p:txBody>
      </p:sp>
      <p:sp>
        <p:nvSpPr>
          <p:cNvPr id="22" name="">
            <a:extLst xmlns:a="http://schemas.openxmlformats.org/drawingml/2006/main">
              <a:ext uri="{FF2B5EF4-FFF2-40B4-BE49-F238E27FC236}">
                <a16:creationId xmlns:a16="http://schemas.microsoft.com/office/drawing/2014/main" id="{08619C2D-E243-4EAE-BEB1-269E997EFF7D}"/>
              </a:ext>
            </a:extLst>
          </p:cNvPr>
          <p:cNvSpPr>
            <a:spLocks xmlns:a="http://schemas.openxmlformats.org/drawingml/2006/main" noGrp="1"/>
          </p:cNvSpPr>
          <p:nvPr/>
        </p:nvSpPr>
        <p:spPr>
          <a:xfrm xmlns:a="http://schemas.openxmlformats.org/drawingml/2006/main">
            <a:off x="11087100" y="650557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86A396"/>
                </a:solidFill>
                <a:latin typeface="Georgia"/>
                <a:ea typeface="Georgia"/>
                <a:cs typeface="Georgia"/>
              </a:defRPr>
            </a:pPr>
            <a:r>
              <a:rPr sz="750" b="1">
                <a:solidFill>
                  <a:srgbClr val="86A396"/>
                </a:solidFill>
                <a:latin typeface="Georgia"/>
                <a:ea typeface="Georgia"/>
                <a:cs typeface="Georgia"/>
              </a:rPr>
              <a:t>01</a:t>
            </a:r>
          </a:p>
        </p:txBody>
      </p:sp>
    </p:spTree>
    <p:extLst>
      <p:ext uri="{BB962C8B-B14F-4D97-AF65-F5344CB8AC3E}">
        <p14:creationId xmlns:p14="http://schemas.microsoft.com/office/powerpoint/2010/main" val="2108204173"/>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394A6F9B-8F70-4BE9-BD15-B1C06996ABD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0E7"/>
          </a:solidFill>
          <a:ln xmlns:a="http://schemas.openxmlformats.org/drawingml/2006/main" w="0">
            <a:solidFill>
              <a:srgbClr val="000000">
                <a:alpha val="0"/>
              </a:srgbClr>
            </a:solidFill>
            <a:prstDash val="solid"/>
          </a:ln>
        </p:spPr>
      </p:sp>
      <p:sp>
        <p:nvSpPr>
          <p:cNvPr id="2" name="kicker-marker">
            <a:extLst xmlns:a="http://schemas.openxmlformats.org/drawingml/2006/main">
              <a:ext uri="{FF2B5EF4-FFF2-40B4-BE49-F238E27FC236}">
                <a16:creationId xmlns:a16="http://schemas.microsoft.com/office/drawing/2014/main" id="{0637DF99-3CE6-4136-AC8B-D4CAEB239530}"/>
              </a:ext>
            </a:extLst>
          </p:cNvPr>
          <p:cNvSpPr>
            <a:spLocks xmlns:a="http://schemas.openxmlformats.org/drawingml/2006/main" noGrp="1"/>
          </p:cNvSpPr>
          <p:nvPr/>
        </p:nvSpPr>
        <p:spPr>
          <a:xfrm xmlns:a="http://schemas.openxmlformats.org/drawingml/2006/main">
            <a:off x="552450" y="438150"/>
            <a:ext cx="95250" cy="9525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3" name="kicker-label">
            <a:extLst xmlns:a="http://schemas.openxmlformats.org/drawingml/2006/main">
              <a:ext uri="{FF2B5EF4-FFF2-40B4-BE49-F238E27FC236}">
                <a16:creationId xmlns:a16="http://schemas.microsoft.com/office/drawing/2014/main" id="{87F8EE7B-8F8A-461D-9575-05947481B967}"/>
              </a:ext>
            </a:extLst>
          </p:cNvPr>
          <p:cNvSpPr>
            <a:spLocks xmlns:a="http://schemas.openxmlformats.org/drawingml/2006/main" noGrp="1"/>
          </p:cNvSpPr>
          <p:nvPr/>
        </p:nvSpPr>
        <p:spPr>
          <a:xfrm xmlns:a="http://schemas.openxmlformats.org/drawingml/2006/main">
            <a:off x="762000" y="400050"/>
            <a:ext cx="4762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65736B"/>
                </a:solidFill>
                <a:latin typeface="Aptos"/>
                <a:ea typeface="Aptos"/>
                <a:cs typeface="Aptos"/>
              </a:defRPr>
            </a:pPr>
            <a:r>
              <a:rPr sz="675" b="1">
                <a:solidFill>
                  <a:srgbClr val="65736B"/>
                </a:solidFill>
                <a:latin typeface="Aptos"/>
                <a:ea typeface="Aptos"/>
                <a:cs typeface="Aptos"/>
              </a:rPr>
              <a:t>P R O B L E M A   ·   D A T I   V E R I F I C A T I</a:t>
            </a:r>
          </a:p>
        </p:txBody>
      </p:sp>
      <p:sp>
        <p:nvSpPr>
          <p:cNvPr id="4" name="claim-title">
            <a:extLst xmlns:a="http://schemas.openxmlformats.org/drawingml/2006/main">
              <a:ext uri="{FF2B5EF4-FFF2-40B4-BE49-F238E27FC236}">
                <a16:creationId xmlns:a16="http://schemas.microsoft.com/office/drawing/2014/main" id="{E467569A-16F2-4CFD-9FD0-BA19243AEA7A}"/>
              </a:ext>
            </a:extLst>
          </p:cNvPr>
          <p:cNvSpPr>
            <a:spLocks xmlns:a="http://schemas.openxmlformats.org/drawingml/2006/main" noGrp="1"/>
          </p:cNvSpPr>
          <p:nvPr/>
        </p:nvSpPr>
        <p:spPr>
          <a:xfrm xmlns:a="http://schemas.openxmlformats.org/drawingml/2006/main">
            <a:off x="552450" y="742950"/>
            <a:ext cx="1057275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7211D"/>
                </a:solidFill>
                <a:latin typeface="Georgia"/>
                <a:ea typeface="Georgia"/>
                <a:cs typeface="Georgia"/>
              </a:defRPr>
            </a:pPr>
            <a:r>
              <a:rPr sz="2850" b="1">
                <a:solidFill>
                  <a:srgbClr val="17211D"/>
                </a:solidFill>
                <a:latin typeface="Georgia"/>
                <a:ea typeface="Georgia"/>
                <a:cs typeface="Georgia"/>
              </a:rPr>
              <a:t>Il problema è misurabile: in Europa consumiamo quasi quanto scartiamo.</a:t>
            </a:r>
          </a:p>
        </p:txBody>
      </p:sp>
      <p:sp>
        <p:nvSpPr>
          <p:cNvPr id="5" name="">
            <a:extLst xmlns:a="http://schemas.openxmlformats.org/drawingml/2006/main">
              <a:ext uri="{FF2B5EF4-FFF2-40B4-BE49-F238E27FC236}">
                <a16:creationId xmlns:a16="http://schemas.microsoft.com/office/drawing/2014/main" id="{65D9EE45-3B76-4E56-9CC3-C7148CB2E543}"/>
              </a:ext>
            </a:extLst>
          </p:cNvPr>
          <p:cNvSpPr>
            <a:spLocks xmlns:a="http://schemas.openxmlformats.org/drawingml/2006/main" noGrp="1"/>
          </p:cNvSpPr>
          <p:nvPr/>
        </p:nvSpPr>
        <p:spPr>
          <a:xfrm xmlns:a="http://schemas.openxmlformats.org/drawingml/2006/main">
            <a:off x="552450" y="2038350"/>
            <a:ext cx="2952750" cy="38100"/>
          </a:xfrm>
          <a:prstGeom xmlns:a="http://schemas.openxmlformats.org/drawingml/2006/main" prst="rect">
            <a:avLst/>
          </a:prstGeom>
          <a:solidFill xmlns:a="http://schemas.openxmlformats.org/drawingml/2006/main">
            <a:srgbClr val="D56E42"/>
          </a:solidFill>
          <a:ln xmlns:a="http://schemas.openxmlformats.org/drawingml/2006/main" w="0">
            <a:solidFill>
              <a:srgbClr val="000000">
                <a:alpha val="0"/>
              </a:srgbClr>
            </a:solidFill>
            <a:prstDash val="solid"/>
          </a:ln>
        </p:spPr>
      </p:sp>
      <p:sp>
        <p:nvSpPr>
          <p:cNvPr id="6" name="">
            <a:extLst xmlns:a="http://schemas.openxmlformats.org/drawingml/2006/main">
              <a:ext uri="{FF2B5EF4-FFF2-40B4-BE49-F238E27FC236}">
                <a16:creationId xmlns:a16="http://schemas.microsoft.com/office/drawing/2014/main" id="{E142E5A0-015D-4D69-83D2-662D0F25C65B}"/>
              </a:ext>
            </a:extLst>
          </p:cNvPr>
          <p:cNvSpPr>
            <a:spLocks xmlns:a="http://schemas.openxmlformats.org/drawingml/2006/main" noGrp="1"/>
          </p:cNvSpPr>
          <p:nvPr/>
        </p:nvSpPr>
        <p:spPr>
          <a:xfrm xmlns:a="http://schemas.openxmlformats.org/drawingml/2006/main">
            <a:off x="552450" y="2209800"/>
            <a:ext cx="2952750" cy="590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300" b="1">
                <a:solidFill>
                  <a:srgbClr val="17211D"/>
                </a:solidFill>
                <a:latin typeface="Georgia"/>
                <a:ea typeface="Georgia"/>
                <a:cs typeface="Georgia"/>
              </a:defRPr>
            </a:pPr>
            <a:r>
              <a:rPr sz="3300" b="1">
                <a:solidFill>
                  <a:srgbClr val="17211D"/>
                </a:solidFill>
                <a:latin typeface="Georgia"/>
                <a:ea typeface="Georgia"/>
                <a:cs typeface="Georgia"/>
              </a:rPr>
              <a:t>2–8%</a:t>
            </a:r>
          </a:p>
        </p:txBody>
      </p:sp>
      <p:sp>
        <p:nvSpPr>
          <p:cNvPr id="7" name="">
            <a:extLst xmlns:a="http://schemas.openxmlformats.org/drawingml/2006/main">
              <a:ext uri="{FF2B5EF4-FFF2-40B4-BE49-F238E27FC236}">
                <a16:creationId xmlns:a16="http://schemas.microsoft.com/office/drawing/2014/main" id="{B5B322A6-7AB1-4D5E-A6F8-95E9CF97E9FC}"/>
              </a:ext>
            </a:extLst>
          </p:cNvPr>
          <p:cNvSpPr>
            <a:spLocks xmlns:a="http://schemas.openxmlformats.org/drawingml/2006/main" noGrp="1"/>
          </p:cNvSpPr>
          <p:nvPr/>
        </p:nvSpPr>
        <p:spPr>
          <a:xfrm xmlns:a="http://schemas.openxmlformats.org/drawingml/2006/main">
            <a:off x="552450" y="2838450"/>
            <a:ext cx="29527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17211D"/>
                </a:solidFill>
                <a:latin typeface="Aptos"/>
                <a:ea typeface="Aptos"/>
                <a:cs typeface="Aptos"/>
              </a:defRPr>
            </a:pPr>
            <a:r>
              <a:rPr sz="975" b="1">
                <a:solidFill>
                  <a:srgbClr val="17211D"/>
                </a:solidFill>
                <a:latin typeface="Aptos"/>
                <a:ea typeface="Aptos"/>
                <a:cs typeface="Aptos"/>
              </a:rPr>
              <a:t>delle emissioni globali</a:t>
            </a:r>
          </a:p>
        </p:txBody>
      </p:sp>
      <p:sp>
        <p:nvSpPr>
          <p:cNvPr id="8" name="">
            <a:extLst xmlns:a="http://schemas.openxmlformats.org/drawingml/2006/main">
              <a:ext uri="{FF2B5EF4-FFF2-40B4-BE49-F238E27FC236}">
                <a16:creationId xmlns:a16="http://schemas.microsoft.com/office/drawing/2014/main" id="{C97D4AF2-A73E-446C-B039-661B553026B1}"/>
              </a:ext>
            </a:extLst>
          </p:cNvPr>
          <p:cNvSpPr>
            <a:spLocks xmlns:a="http://schemas.openxmlformats.org/drawingml/2006/main" noGrp="1"/>
          </p:cNvSpPr>
          <p:nvPr/>
        </p:nvSpPr>
        <p:spPr>
          <a:xfrm xmlns:a="http://schemas.openxmlformats.org/drawingml/2006/main">
            <a:off x="552450" y="3200400"/>
            <a:ext cx="29527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65736B"/>
                </a:solidFill>
                <a:latin typeface="Aptos"/>
                <a:ea typeface="Aptos"/>
                <a:cs typeface="Aptos"/>
              </a:defRPr>
            </a:pPr>
            <a:r>
              <a:rPr sz="788" b="0">
                <a:solidFill>
                  <a:srgbClr val="65736B"/>
                </a:solidFill>
                <a:latin typeface="Aptos"/>
                <a:ea typeface="Aptos"/>
                <a:cs typeface="Aptos"/>
              </a:rPr>
              <a:t>intervallo stimato per il settore tessile</a:t>
            </a:r>
          </a:p>
        </p:txBody>
      </p:sp>
      <p:sp>
        <p:nvSpPr>
          <p:cNvPr id="9" name="">
            <a:extLst xmlns:a="http://schemas.openxmlformats.org/drawingml/2006/main">
              <a:ext uri="{FF2B5EF4-FFF2-40B4-BE49-F238E27FC236}">
                <a16:creationId xmlns:a16="http://schemas.microsoft.com/office/drawing/2014/main" id="{94039791-FEF0-4E62-A17E-9BCC47033289}"/>
              </a:ext>
            </a:extLst>
          </p:cNvPr>
          <p:cNvSpPr>
            <a:spLocks xmlns:a="http://schemas.openxmlformats.org/drawingml/2006/main" noGrp="1"/>
          </p:cNvSpPr>
          <p:nvPr/>
        </p:nvSpPr>
        <p:spPr>
          <a:xfrm xmlns:a="http://schemas.openxmlformats.org/drawingml/2006/main">
            <a:off x="3943350" y="2038350"/>
            <a:ext cx="2952750" cy="38100"/>
          </a:xfrm>
          <a:prstGeom xmlns:a="http://schemas.openxmlformats.org/drawingml/2006/main" prst="rect">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10" name="">
            <a:extLst xmlns:a="http://schemas.openxmlformats.org/drawingml/2006/main">
              <a:ext uri="{FF2B5EF4-FFF2-40B4-BE49-F238E27FC236}">
                <a16:creationId xmlns:a16="http://schemas.microsoft.com/office/drawing/2014/main" id="{F810C96B-6902-4986-8253-85D0911C9193}"/>
              </a:ext>
            </a:extLst>
          </p:cNvPr>
          <p:cNvSpPr>
            <a:spLocks xmlns:a="http://schemas.openxmlformats.org/drawingml/2006/main" noGrp="1"/>
          </p:cNvSpPr>
          <p:nvPr/>
        </p:nvSpPr>
        <p:spPr>
          <a:xfrm xmlns:a="http://schemas.openxmlformats.org/drawingml/2006/main">
            <a:off x="3943350" y="2209800"/>
            <a:ext cx="2952750" cy="590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300" b="1">
                <a:solidFill>
                  <a:srgbClr val="17211D"/>
                </a:solidFill>
                <a:latin typeface="Georgia"/>
                <a:ea typeface="Georgia"/>
                <a:cs typeface="Georgia"/>
              </a:defRPr>
            </a:pPr>
            <a:r>
              <a:rPr sz="3300" b="1">
                <a:solidFill>
                  <a:srgbClr val="17211D"/>
                </a:solidFill>
                <a:latin typeface="Georgia"/>
                <a:ea typeface="Georgia"/>
                <a:cs typeface="Georgia"/>
              </a:rPr>
              <a:t>19 kg</a:t>
            </a:r>
          </a:p>
        </p:txBody>
      </p:sp>
      <p:sp>
        <p:nvSpPr>
          <p:cNvPr id="11" name="">
            <a:extLst xmlns:a="http://schemas.openxmlformats.org/drawingml/2006/main">
              <a:ext uri="{FF2B5EF4-FFF2-40B4-BE49-F238E27FC236}">
                <a16:creationId xmlns:a16="http://schemas.microsoft.com/office/drawing/2014/main" id="{51BF7399-7969-4484-A475-7B32809BD94E}"/>
              </a:ext>
            </a:extLst>
          </p:cNvPr>
          <p:cNvSpPr>
            <a:spLocks xmlns:a="http://schemas.openxmlformats.org/drawingml/2006/main" noGrp="1"/>
          </p:cNvSpPr>
          <p:nvPr/>
        </p:nvSpPr>
        <p:spPr>
          <a:xfrm xmlns:a="http://schemas.openxmlformats.org/drawingml/2006/main">
            <a:off x="3943350" y="2838450"/>
            <a:ext cx="29527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17211D"/>
                </a:solidFill>
                <a:latin typeface="Aptos"/>
                <a:ea typeface="Aptos"/>
                <a:cs typeface="Aptos"/>
              </a:defRPr>
            </a:pPr>
            <a:r>
              <a:rPr sz="975" b="1">
                <a:solidFill>
                  <a:srgbClr val="17211D"/>
                </a:solidFill>
                <a:latin typeface="Aptos"/>
                <a:ea typeface="Aptos"/>
                <a:cs typeface="Aptos"/>
              </a:rPr>
              <a:t>consumati per persona</a:t>
            </a:r>
          </a:p>
        </p:txBody>
      </p:sp>
      <p:sp>
        <p:nvSpPr>
          <p:cNvPr id="12" name="">
            <a:extLst xmlns:a="http://schemas.openxmlformats.org/drawingml/2006/main">
              <a:ext uri="{FF2B5EF4-FFF2-40B4-BE49-F238E27FC236}">
                <a16:creationId xmlns:a16="http://schemas.microsoft.com/office/drawing/2014/main" id="{0B4989CD-7335-4D2B-8ACD-BE10350F104B}"/>
              </a:ext>
            </a:extLst>
          </p:cNvPr>
          <p:cNvSpPr>
            <a:spLocks xmlns:a="http://schemas.openxmlformats.org/drawingml/2006/main" noGrp="1"/>
          </p:cNvSpPr>
          <p:nvPr/>
        </p:nvSpPr>
        <p:spPr>
          <a:xfrm xmlns:a="http://schemas.openxmlformats.org/drawingml/2006/main">
            <a:off x="3943350" y="3200400"/>
            <a:ext cx="29527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65736B"/>
                </a:solidFill>
                <a:latin typeface="Aptos"/>
                <a:ea typeface="Aptos"/>
                <a:cs typeface="Aptos"/>
              </a:defRPr>
            </a:pPr>
            <a:r>
              <a:rPr sz="788" b="0">
                <a:solidFill>
                  <a:srgbClr val="65736B"/>
                </a:solidFill>
                <a:latin typeface="Aptos"/>
                <a:ea typeface="Aptos"/>
                <a:cs typeface="Aptos"/>
              </a:rPr>
              <a:t>abbigliamento, calzature e tessili casa · UE-27, 2022</a:t>
            </a:r>
          </a:p>
        </p:txBody>
      </p:sp>
      <p:sp>
        <p:nvSpPr>
          <p:cNvPr id="13" name="">
            <a:extLst xmlns:a="http://schemas.openxmlformats.org/drawingml/2006/main">
              <a:ext uri="{FF2B5EF4-FFF2-40B4-BE49-F238E27FC236}">
                <a16:creationId xmlns:a16="http://schemas.microsoft.com/office/drawing/2014/main" id="{3FE8AB0C-C99D-46C5-8B75-E8A7FBEDD6A4}"/>
              </a:ext>
            </a:extLst>
          </p:cNvPr>
          <p:cNvSpPr>
            <a:spLocks xmlns:a="http://schemas.openxmlformats.org/drawingml/2006/main" noGrp="1"/>
          </p:cNvSpPr>
          <p:nvPr/>
        </p:nvSpPr>
        <p:spPr>
          <a:xfrm xmlns:a="http://schemas.openxmlformats.org/drawingml/2006/main">
            <a:off x="7334250" y="2038350"/>
            <a:ext cx="2952750" cy="38100"/>
          </a:xfrm>
          <a:prstGeom xmlns:a="http://schemas.openxmlformats.org/drawingml/2006/main" prst="rect">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F3E42BC9-48D1-43C9-B96E-693AC910EC18}"/>
              </a:ext>
            </a:extLst>
          </p:cNvPr>
          <p:cNvSpPr>
            <a:spLocks xmlns:a="http://schemas.openxmlformats.org/drawingml/2006/main" noGrp="1"/>
          </p:cNvSpPr>
          <p:nvPr/>
        </p:nvSpPr>
        <p:spPr>
          <a:xfrm xmlns:a="http://schemas.openxmlformats.org/drawingml/2006/main">
            <a:off x="7334250" y="2209800"/>
            <a:ext cx="2952750" cy="590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300" b="1">
                <a:solidFill>
                  <a:srgbClr val="17211D"/>
                </a:solidFill>
                <a:latin typeface="Georgia"/>
                <a:ea typeface="Georgia"/>
                <a:cs typeface="Georgia"/>
              </a:defRPr>
            </a:pPr>
            <a:r>
              <a:rPr sz="3300" b="1">
                <a:solidFill>
                  <a:srgbClr val="17211D"/>
                </a:solidFill>
                <a:latin typeface="Georgia"/>
                <a:ea typeface="Georgia"/>
                <a:cs typeface="Georgia"/>
              </a:rPr>
              <a:t>16 kg</a:t>
            </a:r>
          </a:p>
        </p:txBody>
      </p:sp>
      <p:sp>
        <p:nvSpPr>
          <p:cNvPr id="15" name="">
            <a:extLst xmlns:a="http://schemas.openxmlformats.org/drawingml/2006/main">
              <a:ext uri="{FF2B5EF4-FFF2-40B4-BE49-F238E27FC236}">
                <a16:creationId xmlns:a16="http://schemas.microsoft.com/office/drawing/2014/main" id="{BDBD8D78-F2FA-4EEE-9FF1-22E4233DF4BC}"/>
              </a:ext>
            </a:extLst>
          </p:cNvPr>
          <p:cNvSpPr>
            <a:spLocks xmlns:a="http://schemas.openxmlformats.org/drawingml/2006/main" noGrp="1"/>
          </p:cNvSpPr>
          <p:nvPr/>
        </p:nvSpPr>
        <p:spPr>
          <a:xfrm xmlns:a="http://schemas.openxmlformats.org/drawingml/2006/main">
            <a:off x="7334250" y="2838450"/>
            <a:ext cx="29527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17211D"/>
                </a:solidFill>
                <a:latin typeface="Aptos"/>
                <a:ea typeface="Aptos"/>
                <a:cs typeface="Aptos"/>
              </a:defRPr>
            </a:pPr>
            <a:r>
              <a:rPr sz="975" b="1">
                <a:solidFill>
                  <a:srgbClr val="17211D"/>
                </a:solidFill>
                <a:latin typeface="Aptos"/>
                <a:ea typeface="Aptos"/>
                <a:cs typeface="Aptos"/>
              </a:rPr>
              <a:t>diventano rifiuto</a:t>
            </a:r>
          </a:p>
        </p:txBody>
      </p:sp>
      <p:sp>
        <p:nvSpPr>
          <p:cNvPr id="16" name="">
            <a:extLst xmlns:a="http://schemas.openxmlformats.org/drawingml/2006/main">
              <a:ext uri="{FF2B5EF4-FFF2-40B4-BE49-F238E27FC236}">
                <a16:creationId xmlns:a16="http://schemas.microsoft.com/office/drawing/2014/main" id="{BA300B82-A5BB-4A53-AD15-4FEFEC0435D4}"/>
              </a:ext>
            </a:extLst>
          </p:cNvPr>
          <p:cNvSpPr>
            <a:spLocks xmlns:a="http://schemas.openxmlformats.org/drawingml/2006/main" noGrp="1"/>
          </p:cNvSpPr>
          <p:nvPr/>
        </p:nvSpPr>
        <p:spPr>
          <a:xfrm xmlns:a="http://schemas.openxmlformats.org/drawingml/2006/main">
            <a:off x="7334250" y="3200400"/>
            <a:ext cx="29527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65736B"/>
                </a:solidFill>
                <a:latin typeface="Aptos"/>
                <a:ea typeface="Aptos"/>
                <a:cs typeface="Aptos"/>
              </a:defRPr>
            </a:pPr>
            <a:r>
              <a:rPr sz="788" b="0">
                <a:solidFill>
                  <a:srgbClr val="65736B"/>
                </a:solidFill>
                <a:latin typeface="Aptos"/>
                <a:ea typeface="Aptos"/>
                <a:cs typeface="Aptos"/>
              </a:rPr>
              <a:t>6,94 milioni di tonnellate · UE-27, 2022</a:t>
            </a:r>
          </a:p>
        </p:txBody>
      </p:sp>
      <p:sp>
        <p:nvSpPr>
          <p:cNvPr id="17" name="">
            <a:extLst xmlns:a="http://schemas.openxmlformats.org/drawingml/2006/main">
              <a:ext uri="{FF2B5EF4-FFF2-40B4-BE49-F238E27FC236}">
                <a16:creationId xmlns:a16="http://schemas.microsoft.com/office/drawing/2014/main" id="{C6FBFF51-129A-4A77-B50F-6FBA0C5A9554}"/>
              </a:ext>
            </a:extLst>
          </p:cNvPr>
          <p:cNvSpPr>
            <a:spLocks xmlns:a="http://schemas.openxmlformats.org/drawingml/2006/main" noGrp="1"/>
          </p:cNvSpPr>
          <p:nvPr/>
        </p:nvSpPr>
        <p:spPr>
          <a:xfrm xmlns:a="http://schemas.openxmlformats.org/drawingml/2006/main">
            <a:off x="552450" y="4914900"/>
            <a:ext cx="10648950" cy="952500"/>
          </a:xfrm>
          <a:prstGeom xmlns:a="http://schemas.openxmlformats.org/drawingml/2006/main" prst="roundRect">
            <a:avLst>
              <a:gd name="adj" fmla="val 8000"/>
            </a:avLst>
          </a:prstGeom>
          <a:solidFill xmlns:a="http://schemas.openxmlformats.org/drawingml/2006/main">
            <a:srgbClr val="123C31"/>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7ADBCDDE-2577-4DB3-8645-D493F871A193}"/>
              </a:ext>
            </a:extLst>
          </p:cNvPr>
          <p:cNvSpPr>
            <a:spLocks xmlns:a="http://schemas.openxmlformats.org/drawingml/2006/main" noGrp="1"/>
          </p:cNvSpPr>
          <p:nvPr/>
        </p:nvSpPr>
        <p:spPr>
          <a:xfrm xmlns:a="http://schemas.openxmlformats.org/drawingml/2006/main">
            <a:off x="800100" y="5076825"/>
            <a:ext cx="1428750" cy="571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150" b="1">
                <a:solidFill>
                  <a:srgbClr val="B9D94A"/>
                </a:solidFill>
                <a:latin typeface="Georgia"/>
                <a:ea typeface="Georgia"/>
                <a:cs typeface="Georgia"/>
              </a:defRPr>
            </a:pPr>
            <a:r>
              <a:rPr sz="3150" b="1">
                <a:solidFill>
                  <a:srgbClr val="B9D94A"/>
                </a:solidFill>
                <a:latin typeface="Georgia"/>
                <a:ea typeface="Georgia"/>
                <a:cs typeface="Georgia"/>
              </a:rPr>
              <a:t>85%</a:t>
            </a:r>
          </a:p>
        </p:txBody>
      </p:sp>
      <p:sp>
        <p:nvSpPr>
          <p:cNvPr id="19" name="">
            <a:extLst xmlns:a="http://schemas.openxmlformats.org/drawingml/2006/main">
              <a:ext uri="{FF2B5EF4-FFF2-40B4-BE49-F238E27FC236}">
                <a16:creationId xmlns:a16="http://schemas.microsoft.com/office/drawing/2014/main" id="{340F0366-1F37-4E5B-9AAF-A78D532D3CB5}"/>
              </a:ext>
            </a:extLst>
          </p:cNvPr>
          <p:cNvSpPr>
            <a:spLocks xmlns:a="http://schemas.openxmlformats.org/drawingml/2006/main" noGrp="1"/>
          </p:cNvSpPr>
          <p:nvPr/>
        </p:nvSpPr>
        <p:spPr>
          <a:xfrm xmlns:a="http://schemas.openxmlformats.org/drawingml/2006/main">
            <a:off x="2381250" y="5124450"/>
            <a:ext cx="838200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0">
                <a:solidFill>
                  <a:srgbClr val="FFFFFF"/>
                </a:solidFill>
                <a:latin typeface="Aptos"/>
                <a:ea typeface="Aptos"/>
                <a:cs typeface="Aptos"/>
              </a:defRPr>
            </a:pPr>
            <a:r>
              <a:rPr sz="1275" b="0">
                <a:solidFill>
                  <a:srgbClr val="FFFFFF"/>
                </a:solidFill>
                <a:latin typeface="Aptos"/>
                <a:ea typeface="Aptos"/>
                <a:cs typeface="Aptos"/>
              </a:rPr>
              <a:t>dei rifiuti tessili domestici non è raccolto separatamente: il riuso e il riciclo perdono materiale prima ancora di iniziare.</a:t>
            </a:r>
          </a:p>
        </p:txBody>
      </p:sp>
      <p:sp>
        <p:nvSpPr>
          <p:cNvPr id="20" name="">
            <a:extLst xmlns:a="http://schemas.openxmlformats.org/drawingml/2006/main">
              <a:ext uri="{FF2B5EF4-FFF2-40B4-BE49-F238E27FC236}">
                <a16:creationId xmlns:a16="http://schemas.microsoft.com/office/drawing/2014/main" id="{FD69AA7D-A31F-4E23-8523-49B6E3AA99D6}"/>
              </a:ext>
            </a:extLst>
          </p:cNvPr>
          <p:cNvSpPr>
            <a:spLocks xmlns:a="http://schemas.openxmlformats.org/drawingml/2006/main" noGrp="1"/>
          </p:cNvSpPr>
          <p:nvPr/>
        </p:nvSpPr>
        <p:spPr>
          <a:xfrm xmlns:a="http://schemas.openxmlformats.org/drawingml/2006/main">
            <a:off x="552450" y="6457950"/>
            <a:ext cx="1108710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08BC426F-B55D-4485-89F0-A6D17AE1767F}"/>
              </a:ext>
            </a:extLst>
          </p:cNvPr>
          <p:cNvSpPr>
            <a:spLocks xmlns:a="http://schemas.openxmlformats.org/drawingml/2006/main" noGrp="1"/>
          </p:cNvSpPr>
          <p:nvPr/>
        </p:nvSpPr>
        <p:spPr>
          <a:xfrm xmlns:a="http://schemas.openxmlformats.org/drawingml/2006/main">
            <a:off x="552450" y="6534150"/>
            <a:ext cx="1000125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63" b="0">
                <a:solidFill>
                  <a:srgbClr val="65736B"/>
                </a:solidFill>
                <a:latin typeface="Aptos"/>
                <a:ea typeface="Aptos"/>
                <a:cs typeface="Aptos"/>
              </a:defRPr>
            </a:pPr>
            <a:r>
              <a:rPr sz="563" b="0">
                <a:solidFill>
                  <a:srgbClr val="65736B"/>
                </a:solidFill>
                <a:latin typeface="Aptos"/>
                <a:ea typeface="Aptos"/>
                <a:cs typeface="Aptos"/>
              </a:rPr>
              <a:t>Fonti: UNEP 2025 · EEA, dati UE-27 2022</a:t>
            </a:r>
          </a:p>
        </p:txBody>
      </p:sp>
      <p:sp>
        <p:nvSpPr>
          <p:cNvPr id="22" name="">
            <a:extLst xmlns:a="http://schemas.openxmlformats.org/drawingml/2006/main">
              <a:ext uri="{FF2B5EF4-FFF2-40B4-BE49-F238E27FC236}">
                <a16:creationId xmlns:a16="http://schemas.microsoft.com/office/drawing/2014/main" id="{FF311016-75B8-4200-B9D8-8C526C573B0A}"/>
              </a:ext>
            </a:extLst>
          </p:cNvPr>
          <p:cNvSpPr>
            <a:spLocks xmlns:a="http://schemas.openxmlformats.org/drawingml/2006/main" noGrp="1"/>
          </p:cNvSpPr>
          <p:nvPr/>
        </p:nvSpPr>
        <p:spPr>
          <a:xfrm xmlns:a="http://schemas.openxmlformats.org/drawingml/2006/main">
            <a:off x="11087100" y="650557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65736B"/>
                </a:solidFill>
                <a:latin typeface="Georgia"/>
                <a:ea typeface="Georgia"/>
                <a:cs typeface="Georgia"/>
              </a:defRPr>
            </a:pPr>
            <a:r>
              <a:rPr sz="750" b="1">
                <a:solidFill>
                  <a:srgbClr val="65736B"/>
                </a:solidFill>
                <a:latin typeface="Georgia"/>
                <a:ea typeface="Georgia"/>
                <a:cs typeface="Georgia"/>
              </a:rPr>
              <a:t>02</a:t>
            </a:r>
          </a:p>
        </p:txBody>
      </p:sp>
    </p:spTree>
    <p:extLst>
      <p:ext uri="{BB962C8B-B14F-4D97-AF65-F5344CB8AC3E}">
        <p14:creationId xmlns:p14="http://schemas.microsoft.com/office/powerpoint/2010/main" val="1789815598"/>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BDCF00BC-3238-43BF-819E-74AF91E6DC8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0E7"/>
          </a:solidFill>
          <a:ln xmlns:a="http://schemas.openxmlformats.org/drawingml/2006/main" w="0">
            <a:solidFill>
              <a:srgbClr val="000000">
                <a:alpha val="0"/>
              </a:srgbClr>
            </a:solidFill>
            <a:prstDash val="solid"/>
          </a:ln>
        </p:spPr>
      </p:sp>
      <p:sp>
        <p:nvSpPr>
          <p:cNvPr id="2" name="kicker-marker">
            <a:extLst xmlns:a="http://schemas.openxmlformats.org/drawingml/2006/main">
              <a:ext uri="{FF2B5EF4-FFF2-40B4-BE49-F238E27FC236}">
                <a16:creationId xmlns:a16="http://schemas.microsoft.com/office/drawing/2014/main" id="{04F2661C-ADB1-4A2C-A511-79981F487AA6}"/>
              </a:ext>
            </a:extLst>
          </p:cNvPr>
          <p:cNvSpPr>
            <a:spLocks xmlns:a="http://schemas.openxmlformats.org/drawingml/2006/main" noGrp="1"/>
          </p:cNvSpPr>
          <p:nvPr/>
        </p:nvSpPr>
        <p:spPr>
          <a:xfrm xmlns:a="http://schemas.openxmlformats.org/drawingml/2006/main">
            <a:off x="552450" y="438150"/>
            <a:ext cx="95250" cy="9525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3" name="kicker-label">
            <a:extLst xmlns:a="http://schemas.openxmlformats.org/drawingml/2006/main">
              <a:ext uri="{FF2B5EF4-FFF2-40B4-BE49-F238E27FC236}">
                <a16:creationId xmlns:a16="http://schemas.microsoft.com/office/drawing/2014/main" id="{6380B885-76B0-4C89-9132-1381B65478E8}"/>
              </a:ext>
            </a:extLst>
          </p:cNvPr>
          <p:cNvSpPr>
            <a:spLocks xmlns:a="http://schemas.openxmlformats.org/drawingml/2006/main" noGrp="1"/>
          </p:cNvSpPr>
          <p:nvPr/>
        </p:nvSpPr>
        <p:spPr>
          <a:xfrm xmlns:a="http://schemas.openxmlformats.org/drawingml/2006/main">
            <a:off x="762000" y="400050"/>
            <a:ext cx="4762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65736B"/>
                </a:solidFill>
                <a:latin typeface="Aptos"/>
                <a:ea typeface="Aptos"/>
                <a:cs typeface="Aptos"/>
              </a:defRPr>
            </a:pPr>
            <a:r>
              <a:rPr sz="675" b="1">
                <a:solidFill>
                  <a:srgbClr val="65736B"/>
                </a:solidFill>
                <a:latin typeface="Aptos"/>
                <a:ea typeface="Aptos"/>
                <a:cs typeface="Aptos"/>
              </a:rPr>
              <a:t>T E S I   D I   P R O D O T T O</a:t>
            </a:r>
          </a:p>
        </p:txBody>
      </p:sp>
      <p:sp>
        <p:nvSpPr>
          <p:cNvPr id="4" name="claim-title">
            <a:extLst xmlns:a="http://schemas.openxmlformats.org/drawingml/2006/main">
              <a:ext uri="{FF2B5EF4-FFF2-40B4-BE49-F238E27FC236}">
                <a16:creationId xmlns:a16="http://schemas.microsoft.com/office/drawing/2014/main" id="{B1D10324-E366-4E48-8A74-BBF3F8F8EC67}"/>
              </a:ext>
            </a:extLst>
          </p:cNvPr>
          <p:cNvSpPr>
            <a:spLocks xmlns:a="http://schemas.openxmlformats.org/drawingml/2006/main" noGrp="1"/>
          </p:cNvSpPr>
          <p:nvPr/>
        </p:nvSpPr>
        <p:spPr>
          <a:xfrm xmlns:a="http://schemas.openxmlformats.org/drawingml/2006/main">
            <a:off x="552450" y="742950"/>
            <a:ext cx="1066800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700" b="1">
                <a:solidFill>
                  <a:srgbClr val="17211D"/>
                </a:solidFill>
                <a:latin typeface="Georgia"/>
                <a:ea typeface="Georgia"/>
                <a:cs typeface="Georgia"/>
              </a:defRPr>
            </a:pPr>
            <a:r>
              <a:rPr sz="2700" b="1">
                <a:solidFill>
                  <a:srgbClr val="17211D"/>
                </a:solidFill>
                <a:latin typeface="Georgia"/>
                <a:ea typeface="Georgia"/>
                <a:cs typeface="Georgia"/>
              </a:rPr>
              <a:t>Un capo genera valore quando il sistema chiude il ciclo—non quando aggiunge un’altra feature.</a:t>
            </a:r>
          </a:p>
        </p:txBody>
      </p:sp>
      <p:sp>
        <p:nvSpPr>
          <p:cNvPr id="5" name="">
            <a:extLst xmlns:a="http://schemas.openxmlformats.org/drawingml/2006/main">
              <a:ext uri="{FF2B5EF4-FFF2-40B4-BE49-F238E27FC236}">
                <a16:creationId xmlns:a16="http://schemas.microsoft.com/office/drawing/2014/main" id="{FF6C4EF4-63F6-42F6-9295-066E7E5409BA}"/>
              </a:ext>
            </a:extLst>
          </p:cNvPr>
          <p:cNvSpPr>
            <a:spLocks xmlns:a="http://schemas.openxmlformats.org/drawingml/2006/main" noGrp="1"/>
          </p:cNvSpPr>
          <p:nvPr/>
        </p:nvSpPr>
        <p:spPr>
          <a:xfrm xmlns:a="http://schemas.openxmlformats.org/drawingml/2006/main">
            <a:off x="952500" y="3200400"/>
            <a:ext cx="9906000" cy="2857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6" name="">
            <a:extLst xmlns:a="http://schemas.openxmlformats.org/drawingml/2006/main">
              <a:ext uri="{FF2B5EF4-FFF2-40B4-BE49-F238E27FC236}">
                <a16:creationId xmlns:a16="http://schemas.microsoft.com/office/drawing/2014/main" id="{62B41A61-875A-4C85-99F2-C27AFBA11473}"/>
              </a:ext>
            </a:extLst>
          </p:cNvPr>
          <p:cNvSpPr>
            <a:spLocks xmlns:a="http://schemas.openxmlformats.org/drawingml/2006/main" noGrp="1"/>
          </p:cNvSpPr>
          <p:nvPr/>
        </p:nvSpPr>
        <p:spPr>
          <a:xfrm xmlns:a="http://schemas.openxmlformats.org/drawingml/2006/main">
            <a:off x="781050" y="3000375"/>
            <a:ext cx="419100" cy="419100"/>
          </a:xfrm>
          <a:prstGeom xmlns:a="http://schemas.openxmlformats.org/drawingml/2006/main" prst="ellipse">
            <a:avLst/>
          </a:prstGeom>
          <a:solidFill xmlns:a="http://schemas.openxmlformats.org/drawingml/2006/main">
            <a:srgbClr val="123C31"/>
          </a:solidFill>
          <a:ln xmlns:a="http://schemas.openxmlformats.org/drawingml/2006/main" w="0">
            <a:solidFill>
              <a:srgbClr val="000000">
                <a:alpha val="0"/>
              </a:srgbClr>
            </a:solidFill>
            <a:prstDash val="solid"/>
          </a:ln>
        </p:spPr>
      </p:sp>
      <p:sp>
        <p:nvSpPr>
          <p:cNvPr id="7" name="">
            <a:extLst xmlns:a="http://schemas.openxmlformats.org/drawingml/2006/main">
              <a:ext uri="{FF2B5EF4-FFF2-40B4-BE49-F238E27FC236}">
                <a16:creationId xmlns:a16="http://schemas.microsoft.com/office/drawing/2014/main" id="{F9D9ECEA-1ACC-41F1-889B-A7DC59AA8D8F}"/>
              </a:ext>
            </a:extLst>
          </p:cNvPr>
          <p:cNvSpPr>
            <a:spLocks xmlns:a="http://schemas.openxmlformats.org/drawingml/2006/main" noGrp="1"/>
          </p:cNvSpPr>
          <p:nvPr/>
        </p:nvSpPr>
        <p:spPr>
          <a:xfrm xmlns:a="http://schemas.openxmlformats.org/drawingml/2006/main">
            <a:off x="781050" y="3019425"/>
            <a:ext cx="4191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75" b="1">
                <a:solidFill>
                  <a:srgbClr val="FFFFFF"/>
                </a:solidFill>
                <a:latin typeface="Georgia"/>
                <a:ea typeface="Georgia"/>
                <a:cs typeface="Georgia"/>
              </a:defRPr>
            </a:pPr>
            <a:r>
              <a:rPr sz="1275" b="1">
                <a:solidFill>
                  <a:srgbClr val="FFFFFF"/>
                </a:solidFill>
                <a:latin typeface="Georgia"/>
                <a:ea typeface="Georgia"/>
                <a:cs typeface="Georgia"/>
              </a:rPr>
              <a:t>1</a:t>
            </a:r>
          </a:p>
        </p:txBody>
      </p:sp>
      <p:sp>
        <p:nvSpPr>
          <p:cNvPr id="8" name="">
            <a:extLst xmlns:a="http://schemas.openxmlformats.org/drawingml/2006/main">
              <a:ext uri="{FF2B5EF4-FFF2-40B4-BE49-F238E27FC236}">
                <a16:creationId xmlns:a16="http://schemas.microsoft.com/office/drawing/2014/main" id="{7156F2E5-B386-42F8-B6B0-1448750BE4BA}"/>
              </a:ext>
            </a:extLst>
          </p:cNvPr>
          <p:cNvSpPr>
            <a:spLocks xmlns:a="http://schemas.openxmlformats.org/drawingml/2006/main" noGrp="1"/>
          </p:cNvSpPr>
          <p:nvPr/>
        </p:nvSpPr>
        <p:spPr>
          <a:xfrm xmlns:a="http://schemas.openxmlformats.org/drawingml/2006/main">
            <a:off x="400050" y="3533775"/>
            <a:ext cx="11811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25" b="1">
                <a:solidFill>
                  <a:srgbClr val="17211D"/>
                </a:solidFill>
                <a:latin typeface="Aptos"/>
                <a:ea typeface="Aptos"/>
                <a:cs typeface="Aptos"/>
              </a:defRPr>
            </a:pPr>
            <a:r>
              <a:rPr sz="825" b="1">
                <a:solidFill>
                  <a:srgbClr val="17211D"/>
                </a:solidFill>
                <a:latin typeface="Aptos"/>
                <a:ea typeface="Aptos"/>
                <a:cs typeface="Aptos"/>
              </a:rPr>
              <a:t>Fotografa</a:t>
            </a:r>
          </a:p>
          <a:p xmlns:a="http://schemas.openxmlformats.org/drawingml/2006/main">
            <a:pPr algn="ctr">
              <a:defRPr sz="825" b="1">
                <a:solidFill>
                  <a:srgbClr val="17211D"/>
                </a:solidFill>
                <a:latin typeface="Aptos"/>
                <a:ea typeface="Aptos"/>
                <a:cs typeface="Aptos"/>
              </a:defRPr>
            </a:pPr>
            <a:r>
              <a:rPr sz="825" b="1">
                <a:solidFill>
                  <a:srgbClr val="17211D"/>
                </a:solidFill>
                <a:latin typeface="Aptos"/>
                <a:ea typeface="Aptos"/>
                <a:cs typeface="Aptos"/>
              </a:rPr>
              <a:t>categoria + colore</a:t>
            </a:r>
          </a:p>
        </p:txBody>
      </p:sp>
      <p:sp>
        <p:nvSpPr>
          <p:cNvPr id="9" name="">
            <a:extLst xmlns:a="http://schemas.openxmlformats.org/drawingml/2006/main">
              <a:ext uri="{FF2B5EF4-FFF2-40B4-BE49-F238E27FC236}">
                <a16:creationId xmlns:a16="http://schemas.microsoft.com/office/drawing/2014/main" id="{B7E94E85-A7EC-4F17-8743-739E28310DA7}"/>
              </a:ext>
            </a:extLst>
          </p:cNvPr>
          <p:cNvSpPr>
            <a:spLocks xmlns:a="http://schemas.openxmlformats.org/drawingml/2006/main" noGrp="1"/>
          </p:cNvSpPr>
          <p:nvPr/>
        </p:nvSpPr>
        <p:spPr>
          <a:xfrm xmlns:a="http://schemas.openxmlformats.org/drawingml/2006/main">
            <a:off x="2590800" y="3000375"/>
            <a:ext cx="419100" cy="419100"/>
          </a:xfrm>
          <a:prstGeom xmlns:a="http://schemas.openxmlformats.org/drawingml/2006/main" prst="ellipse">
            <a:avLst/>
          </a:prstGeom>
          <a:solidFill xmlns:a="http://schemas.openxmlformats.org/drawingml/2006/main">
            <a:srgbClr val="123C31"/>
          </a:solidFill>
          <a:ln xmlns:a="http://schemas.openxmlformats.org/drawingml/2006/main" w="0">
            <a:solidFill>
              <a:srgbClr val="000000">
                <a:alpha val="0"/>
              </a:srgbClr>
            </a:solidFill>
            <a:prstDash val="solid"/>
          </a:ln>
        </p:spPr>
      </p:sp>
      <p:sp>
        <p:nvSpPr>
          <p:cNvPr id="10" name="">
            <a:extLst xmlns:a="http://schemas.openxmlformats.org/drawingml/2006/main">
              <a:ext uri="{FF2B5EF4-FFF2-40B4-BE49-F238E27FC236}">
                <a16:creationId xmlns:a16="http://schemas.microsoft.com/office/drawing/2014/main" id="{DABFDFEB-0B21-42EF-8878-A6F5B7B4CA81}"/>
              </a:ext>
            </a:extLst>
          </p:cNvPr>
          <p:cNvSpPr>
            <a:spLocks xmlns:a="http://schemas.openxmlformats.org/drawingml/2006/main" noGrp="1"/>
          </p:cNvSpPr>
          <p:nvPr/>
        </p:nvSpPr>
        <p:spPr>
          <a:xfrm xmlns:a="http://schemas.openxmlformats.org/drawingml/2006/main">
            <a:off x="2590800" y="3019425"/>
            <a:ext cx="4191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75" b="1">
                <a:solidFill>
                  <a:srgbClr val="FFFFFF"/>
                </a:solidFill>
                <a:latin typeface="Georgia"/>
                <a:ea typeface="Georgia"/>
                <a:cs typeface="Georgia"/>
              </a:defRPr>
            </a:pPr>
            <a:r>
              <a:rPr sz="1275" b="1">
                <a:solidFill>
                  <a:srgbClr val="FFFFFF"/>
                </a:solidFill>
                <a:latin typeface="Georgia"/>
                <a:ea typeface="Georgia"/>
                <a:cs typeface="Georgia"/>
              </a:rPr>
              <a:t>2</a:t>
            </a:r>
          </a:p>
        </p:txBody>
      </p:sp>
      <p:sp>
        <p:nvSpPr>
          <p:cNvPr id="11" name="">
            <a:extLst xmlns:a="http://schemas.openxmlformats.org/drawingml/2006/main">
              <a:ext uri="{FF2B5EF4-FFF2-40B4-BE49-F238E27FC236}">
                <a16:creationId xmlns:a16="http://schemas.microsoft.com/office/drawing/2014/main" id="{0FFECFDC-2079-4590-913D-9140547BBF4F}"/>
              </a:ext>
            </a:extLst>
          </p:cNvPr>
          <p:cNvSpPr>
            <a:spLocks xmlns:a="http://schemas.openxmlformats.org/drawingml/2006/main" noGrp="1"/>
          </p:cNvSpPr>
          <p:nvPr/>
        </p:nvSpPr>
        <p:spPr>
          <a:xfrm xmlns:a="http://schemas.openxmlformats.org/drawingml/2006/main">
            <a:off x="2209800" y="3533775"/>
            <a:ext cx="11811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25" b="1">
                <a:solidFill>
                  <a:srgbClr val="17211D"/>
                </a:solidFill>
                <a:latin typeface="Aptos"/>
                <a:ea typeface="Aptos"/>
                <a:cs typeface="Aptos"/>
              </a:defRPr>
            </a:pPr>
            <a:r>
              <a:rPr sz="825" b="1">
                <a:solidFill>
                  <a:srgbClr val="17211D"/>
                </a:solidFill>
                <a:latin typeface="Aptos"/>
                <a:ea typeface="Aptos"/>
                <a:cs typeface="Aptos"/>
              </a:rPr>
              <a:t>Indossa</a:t>
            </a:r>
          </a:p>
          <a:p xmlns:a="http://schemas.openxmlformats.org/drawingml/2006/main">
            <a:pPr algn="ctr">
              <a:defRPr sz="825" b="1">
                <a:solidFill>
                  <a:srgbClr val="17211D"/>
                </a:solidFill>
                <a:latin typeface="Aptos"/>
                <a:ea typeface="Aptos"/>
                <a:cs typeface="Aptos"/>
              </a:defRPr>
            </a:pPr>
            <a:r>
              <a:rPr sz="825" b="1">
                <a:solidFill>
                  <a:srgbClr val="17211D"/>
                </a:solidFill>
                <a:latin typeface="Aptos"/>
                <a:ea typeface="Aptos"/>
                <a:cs typeface="Aptos"/>
              </a:rPr>
              <a:t>wear log</a:t>
            </a:r>
          </a:p>
        </p:txBody>
      </p:sp>
      <p:sp>
        <p:nvSpPr>
          <p:cNvPr id="12" name="">
            <a:extLst xmlns:a="http://schemas.openxmlformats.org/drawingml/2006/main">
              <a:ext uri="{FF2B5EF4-FFF2-40B4-BE49-F238E27FC236}">
                <a16:creationId xmlns:a16="http://schemas.microsoft.com/office/drawing/2014/main" id="{7B253DFE-1CB8-41F1-BEB1-665EE157BD29}"/>
              </a:ext>
            </a:extLst>
          </p:cNvPr>
          <p:cNvSpPr>
            <a:spLocks xmlns:a="http://schemas.openxmlformats.org/drawingml/2006/main" noGrp="1"/>
          </p:cNvSpPr>
          <p:nvPr/>
        </p:nvSpPr>
        <p:spPr>
          <a:xfrm xmlns:a="http://schemas.openxmlformats.org/drawingml/2006/main">
            <a:off x="4400550" y="3000375"/>
            <a:ext cx="419100" cy="419100"/>
          </a:xfrm>
          <a:prstGeom xmlns:a="http://schemas.openxmlformats.org/drawingml/2006/main" prst="ellipse">
            <a:avLst/>
          </a:prstGeom>
          <a:solidFill xmlns:a="http://schemas.openxmlformats.org/drawingml/2006/main">
            <a:srgbClr val="123C31"/>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85EC1A44-D0B2-48EE-83B4-B9CC32268586}"/>
              </a:ext>
            </a:extLst>
          </p:cNvPr>
          <p:cNvSpPr>
            <a:spLocks xmlns:a="http://schemas.openxmlformats.org/drawingml/2006/main" noGrp="1"/>
          </p:cNvSpPr>
          <p:nvPr/>
        </p:nvSpPr>
        <p:spPr>
          <a:xfrm xmlns:a="http://schemas.openxmlformats.org/drawingml/2006/main">
            <a:off x="4400550" y="3019425"/>
            <a:ext cx="4191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75" b="1">
                <a:solidFill>
                  <a:srgbClr val="FFFFFF"/>
                </a:solidFill>
                <a:latin typeface="Georgia"/>
                <a:ea typeface="Georgia"/>
                <a:cs typeface="Georgia"/>
              </a:defRPr>
            </a:pPr>
            <a:r>
              <a:rPr sz="1275" b="1">
                <a:solidFill>
                  <a:srgbClr val="FFFFFF"/>
                </a:solidFill>
                <a:latin typeface="Georgia"/>
                <a:ea typeface="Georgia"/>
                <a:cs typeface="Georgia"/>
              </a:rPr>
              <a:t>3</a:t>
            </a:r>
          </a:p>
        </p:txBody>
      </p:sp>
      <p:sp>
        <p:nvSpPr>
          <p:cNvPr id="14" name="">
            <a:extLst xmlns:a="http://schemas.openxmlformats.org/drawingml/2006/main">
              <a:ext uri="{FF2B5EF4-FFF2-40B4-BE49-F238E27FC236}">
                <a16:creationId xmlns:a16="http://schemas.microsoft.com/office/drawing/2014/main" id="{F0253358-17D7-4EF3-8532-91FEAE81487F}"/>
              </a:ext>
            </a:extLst>
          </p:cNvPr>
          <p:cNvSpPr>
            <a:spLocks xmlns:a="http://schemas.openxmlformats.org/drawingml/2006/main" noGrp="1"/>
          </p:cNvSpPr>
          <p:nvPr/>
        </p:nvSpPr>
        <p:spPr>
          <a:xfrm xmlns:a="http://schemas.openxmlformats.org/drawingml/2006/main">
            <a:off x="4019550" y="3533775"/>
            <a:ext cx="11811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25" b="1">
                <a:solidFill>
                  <a:srgbClr val="17211D"/>
                </a:solidFill>
                <a:latin typeface="Aptos"/>
                <a:ea typeface="Aptos"/>
                <a:cs typeface="Aptos"/>
              </a:defRPr>
            </a:pPr>
            <a:r>
              <a:rPr sz="825" b="1">
                <a:solidFill>
                  <a:srgbClr val="17211D"/>
                </a:solidFill>
                <a:latin typeface="Aptos"/>
                <a:ea typeface="Aptos"/>
                <a:cs typeface="Aptos"/>
              </a:rPr>
              <a:t>Riscopri</a:t>
            </a:r>
          </a:p>
          <a:p xmlns:a="http://schemas.openxmlformats.org/drawingml/2006/main">
            <a:pPr algn="ctr">
              <a:defRPr sz="825" b="1">
                <a:solidFill>
                  <a:srgbClr val="17211D"/>
                </a:solidFill>
                <a:latin typeface="Aptos"/>
                <a:ea typeface="Aptos"/>
                <a:cs typeface="Aptos"/>
              </a:defRPr>
            </a:pPr>
            <a:r>
              <a:rPr sz="825" b="1">
                <a:solidFill>
                  <a:srgbClr val="17211D"/>
                </a:solidFill>
                <a:latin typeface="Aptos"/>
                <a:ea typeface="Aptos"/>
                <a:cs typeface="Aptos"/>
              </a:rPr>
              <a:t>ghost rule</a:t>
            </a:r>
          </a:p>
        </p:txBody>
      </p:sp>
      <p:sp>
        <p:nvSpPr>
          <p:cNvPr id="15" name="">
            <a:extLst xmlns:a="http://schemas.openxmlformats.org/drawingml/2006/main">
              <a:ext uri="{FF2B5EF4-FFF2-40B4-BE49-F238E27FC236}">
                <a16:creationId xmlns:a16="http://schemas.microsoft.com/office/drawing/2014/main" id="{6E29F0D4-76AE-46D4-A3E9-DA8C73ED796B}"/>
              </a:ext>
            </a:extLst>
          </p:cNvPr>
          <p:cNvSpPr>
            <a:spLocks xmlns:a="http://schemas.openxmlformats.org/drawingml/2006/main" noGrp="1"/>
          </p:cNvSpPr>
          <p:nvPr/>
        </p:nvSpPr>
        <p:spPr>
          <a:xfrm xmlns:a="http://schemas.openxmlformats.org/drawingml/2006/main">
            <a:off x="6210300" y="3000375"/>
            <a:ext cx="419100" cy="419100"/>
          </a:xfrm>
          <a:prstGeom xmlns:a="http://schemas.openxmlformats.org/drawingml/2006/main" prst="ellipse">
            <a:avLst/>
          </a:prstGeom>
          <a:solidFill xmlns:a="http://schemas.openxmlformats.org/drawingml/2006/main">
            <a:srgbClr val="123C31"/>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02B21D53-EAB2-49FC-903F-6B77112AB53B}"/>
              </a:ext>
            </a:extLst>
          </p:cNvPr>
          <p:cNvSpPr>
            <a:spLocks xmlns:a="http://schemas.openxmlformats.org/drawingml/2006/main" noGrp="1"/>
          </p:cNvSpPr>
          <p:nvPr/>
        </p:nvSpPr>
        <p:spPr>
          <a:xfrm xmlns:a="http://schemas.openxmlformats.org/drawingml/2006/main">
            <a:off x="6210300" y="3019425"/>
            <a:ext cx="4191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75" b="1">
                <a:solidFill>
                  <a:srgbClr val="FFFFFF"/>
                </a:solidFill>
                <a:latin typeface="Georgia"/>
                <a:ea typeface="Georgia"/>
                <a:cs typeface="Georgia"/>
              </a:defRPr>
            </a:pPr>
            <a:r>
              <a:rPr sz="1275" b="1">
                <a:solidFill>
                  <a:srgbClr val="FFFFFF"/>
                </a:solidFill>
                <a:latin typeface="Georgia"/>
                <a:ea typeface="Georgia"/>
                <a:cs typeface="Georgia"/>
              </a:rPr>
              <a:t>4</a:t>
            </a:r>
          </a:p>
        </p:txBody>
      </p:sp>
      <p:sp>
        <p:nvSpPr>
          <p:cNvPr id="17" name="">
            <a:extLst xmlns:a="http://schemas.openxmlformats.org/drawingml/2006/main">
              <a:ext uri="{FF2B5EF4-FFF2-40B4-BE49-F238E27FC236}">
                <a16:creationId xmlns:a16="http://schemas.microsoft.com/office/drawing/2014/main" id="{E35D161C-44DF-4569-AE28-AB431A09267D}"/>
              </a:ext>
            </a:extLst>
          </p:cNvPr>
          <p:cNvSpPr>
            <a:spLocks xmlns:a="http://schemas.openxmlformats.org/drawingml/2006/main" noGrp="1"/>
          </p:cNvSpPr>
          <p:nvPr/>
        </p:nvSpPr>
        <p:spPr>
          <a:xfrm xmlns:a="http://schemas.openxmlformats.org/drawingml/2006/main">
            <a:off x="5829300" y="3533775"/>
            <a:ext cx="11811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25" b="1">
                <a:solidFill>
                  <a:srgbClr val="17211D"/>
                </a:solidFill>
                <a:latin typeface="Aptos"/>
                <a:ea typeface="Aptos"/>
                <a:cs typeface="Aptos"/>
              </a:defRPr>
            </a:pPr>
            <a:r>
              <a:rPr sz="825" b="1">
                <a:solidFill>
                  <a:srgbClr val="17211D"/>
                </a:solidFill>
                <a:latin typeface="Aptos"/>
                <a:ea typeface="Aptos"/>
                <a:cs typeface="Aptos"/>
              </a:rPr>
              <a:t>Cura</a:t>
            </a:r>
          </a:p>
          <a:p xmlns:a="http://schemas.openxmlformats.org/drawingml/2006/main">
            <a:pPr algn="ctr">
              <a:defRPr sz="825" b="1">
                <a:solidFill>
                  <a:srgbClr val="17211D"/>
                </a:solidFill>
                <a:latin typeface="Aptos"/>
                <a:ea typeface="Aptos"/>
                <a:cs typeface="Aptos"/>
              </a:defRPr>
            </a:pPr>
            <a:r>
              <a:rPr sz="825" b="1">
                <a:solidFill>
                  <a:srgbClr val="17211D"/>
                </a:solidFill>
                <a:latin typeface="Aptos"/>
                <a:ea typeface="Aptos"/>
                <a:cs typeface="Aptos"/>
              </a:rPr>
              <a:t>stato del capo</a:t>
            </a:r>
          </a:p>
        </p:txBody>
      </p:sp>
      <p:sp>
        <p:nvSpPr>
          <p:cNvPr id="18" name="">
            <a:extLst xmlns:a="http://schemas.openxmlformats.org/drawingml/2006/main">
              <a:ext uri="{FF2B5EF4-FFF2-40B4-BE49-F238E27FC236}">
                <a16:creationId xmlns:a16="http://schemas.microsoft.com/office/drawing/2014/main" id="{E654E139-C669-4D13-B27D-2F0C62BBC4F4}"/>
              </a:ext>
            </a:extLst>
          </p:cNvPr>
          <p:cNvSpPr>
            <a:spLocks xmlns:a="http://schemas.openxmlformats.org/drawingml/2006/main" noGrp="1"/>
          </p:cNvSpPr>
          <p:nvPr/>
        </p:nvSpPr>
        <p:spPr>
          <a:xfrm xmlns:a="http://schemas.openxmlformats.org/drawingml/2006/main">
            <a:off x="8020050" y="3000375"/>
            <a:ext cx="419100" cy="419100"/>
          </a:xfrm>
          <a:prstGeom xmlns:a="http://schemas.openxmlformats.org/drawingml/2006/main" prst="ellipse">
            <a:avLst/>
          </a:prstGeom>
          <a:solidFill xmlns:a="http://schemas.openxmlformats.org/drawingml/2006/main">
            <a:srgbClr val="123C31"/>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3325E5DF-F503-477F-B7F3-433685D32414}"/>
              </a:ext>
            </a:extLst>
          </p:cNvPr>
          <p:cNvSpPr>
            <a:spLocks xmlns:a="http://schemas.openxmlformats.org/drawingml/2006/main" noGrp="1"/>
          </p:cNvSpPr>
          <p:nvPr/>
        </p:nvSpPr>
        <p:spPr>
          <a:xfrm xmlns:a="http://schemas.openxmlformats.org/drawingml/2006/main">
            <a:off x="8020050" y="3019425"/>
            <a:ext cx="4191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75" b="1">
                <a:solidFill>
                  <a:srgbClr val="FFFFFF"/>
                </a:solidFill>
                <a:latin typeface="Georgia"/>
                <a:ea typeface="Georgia"/>
                <a:cs typeface="Georgia"/>
              </a:defRPr>
            </a:pPr>
            <a:r>
              <a:rPr sz="1275" b="1">
                <a:solidFill>
                  <a:srgbClr val="FFFFFF"/>
                </a:solidFill>
                <a:latin typeface="Georgia"/>
                <a:ea typeface="Georgia"/>
                <a:cs typeface="Georgia"/>
              </a:rPr>
              <a:t>5</a:t>
            </a:r>
          </a:p>
        </p:txBody>
      </p:sp>
      <p:sp>
        <p:nvSpPr>
          <p:cNvPr id="20" name="">
            <a:extLst xmlns:a="http://schemas.openxmlformats.org/drawingml/2006/main">
              <a:ext uri="{FF2B5EF4-FFF2-40B4-BE49-F238E27FC236}">
                <a16:creationId xmlns:a16="http://schemas.microsoft.com/office/drawing/2014/main" id="{DD4C9ADB-9463-4392-A821-3FD3D29D7C51}"/>
              </a:ext>
            </a:extLst>
          </p:cNvPr>
          <p:cNvSpPr>
            <a:spLocks xmlns:a="http://schemas.openxmlformats.org/drawingml/2006/main" noGrp="1"/>
          </p:cNvSpPr>
          <p:nvPr/>
        </p:nvSpPr>
        <p:spPr>
          <a:xfrm xmlns:a="http://schemas.openxmlformats.org/drawingml/2006/main">
            <a:off x="7639050" y="3533775"/>
            <a:ext cx="11811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25" b="1">
                <a:solidFill>
                  <a:srgbClr val="17211D"/>
                </a:solidFill>
                <a:latin typeface="Aptos"/>
                <a:ea typeface="Aptos"/>
                <a:cs typeface="Aptos"/>
              </a:defRPr>
            </a:pPr>
            <a:r>
              <a:rPr sz="825" b="1">
                <a:solidFill>
                  <a:srgbClr val="17211D"/>
                </a:solidFill>
                <a:latin typeface="Aptos"/>
                <a:ea typeface="Aptos"/>
                <a:cs typeface="Aptos"/>
              </a:rPr>
              <a:t>Decidi</a:t>
            </a:r>
          </a:p>
          <a:p xmlns:a="http://schemas.openxmlformats.org/drawingml/2006/main">
            <a:pPr algn="ctr">
              <a:defRPr sz="825" b="1">
                <a:solidFill>
                  <a:srgbClr val="17211D"/>
                </a:solidFill>
                <a:latin typeface="Aptos"/>
                <a:ea typeface="Aptos"/>
                <a:cs typeface="Aptos"/>
              </a:defRPr>
            </a:pPr>
            <a:r>
              <a:rPr sz="825" b="1">
                <a:solidFill>
                  <a:srgbClr val="17211D"/>
                </a:solidFill>
                <a:latin typeface="Aptos"/>
                <a:ea typeface="Aptos"/>
                <a:cs typeface="Aptos"/>
              </a:rPr>
              <a:t>gap + outfit</a:t>
            </a:r>
          </a:p>
        </p:txBody>
      </p:sp>
      <p:sp>
        <p:nvSpPr>
          <p:cNvPr id="21" name="">
            <a:extLst xmlns:a="http://schemas.openxmlformats.org/drawingml/2006/main">
              <a:ext uri="{FF2B5EF4-FFF2-40B4-BE49-F238E27FC236}">
                <a16:creationId xmlns:a16="http://schemas.microsoft.com/office/drawing/2014/main" id="{76F23F32-28BF-4546-9860-EA086B86F6D5}"/>
              </a:ext>
            </a:extLst>
          </p:cNvPr>
          <p:cNvSpPr>
            <a:spLocks xmlns:a="http://schemas.openxmlformats.org/drawingml/2006/main" noGrp="1"/>
          </p:cNvSpPr>
          <p:nvPr/>
        </p:nvSpPr>
        <p:spPr>
          <a:xfrm xmlns:a="http://schemas.openxmlformats.org/drawingml/2006/main">
            <a:off x="9829800" y="3000375"/>
            <a:ext cx="419100" cy="419100"/>
          </a:xfrm>
          <a:prstGeom xmlns:a="http://schemas.openxmlformats.org/drawingml/2006/main" prst="ellipse">
            <a:avLst/>
          </a:prstGeom>
          <a:solidFill xmlns:a="http://schemas.openxmlformats.org/drawingml/2006/main">
            <a:srgbClr val="123C31"/>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05289803-62EB-4879-B27E-43B52E9C4AA2}"/>
              </a:ext>
            </a:extLst>
          </p:cNvPr>
          <p:cNvSpPr>
            <a:spLocks xmlns:a="http://schemas.openxmlformats.org/drawingml/2006/main" noGrp="1"/>
          </p:cNvSpPr>
          <p:nvPr/>
        </p:nvSpPr>
        <p:spPr>
          <a:xfrm xmlns:a="http://schemas.openxmlformats.org/drawingml/2006/main">
            <a:off x="9829800" y="3019425"/>
            <a:ext cx="4191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75" b="1">
                <a:solidFill>
                  <a:srgbClr val="FFFFFF"/>
                </a:solidFill>
                <a:latin typeface="Georgia"/>
                <a:ea typeface="Georgia"/>
                <a:cs typeface="Georgia"/>
              </a:defRPr>
            </a:pPr>
            <a:r>
              <a:rPr sz="1275" b="1">
                <a:solidFill>
                  <a:srgbClr val="FFFFFF"/>
                </a:solidFill>
                <a:latin typeface="Georgia"/>
                <a:ea typeface="Georgia"/>
                <a:cs typeface="Georgia"/>
              </a:rPr>
              <a:t>6</a:t>
            </a:r>
          </a:p>
        </p:txBody>
      </p:sp>
      <p:sp>
        <p:nvSpPr>
          <p:cNvPr id="23" name="">
            <a:extLst xmlns:a="http://schemas.openxmlformats.org/drawingml/2006/main">
              <a:ext uri="{FF2B5EF4-FFF2-40B4-BE49-F238E27FC236}">
                <a16:creationId xmlns:a16="http://schemas.microsoft.com/office/drawing/2014/main" id="{E5573E5E-40B1-4EE8-88D0-FEF2D5DA7651}"/>
              </a:ext>
            </a:extLst>
          </p:cNvPr>
          <p:cNvSpPr>
            <a:spLocks xmlns:a="http://schemas.openxmlformats.org/drawingml/2006/main" noGrp="1"/>
          </p:cNvSpPr>
          <p:nvPr/>
        </p:nvSpPr>
        <p:spPr>
          <a:xfrm xmlns:a="http://schemas.openxmlformats.org/drawingml/2006/main">
            <a:off x="9448800" y="3533775"/>
            <a:ext cx="11811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25" b="1">
                <a:solidFill>
                  <a:srgbClr val="17211D"/>
                </a:solidFill>
                <a:latin typeface="Aptos"/>
                <a:ea typeface="Aptos"/>
                <a:cs typeface="Aptos"/>
              </a:defRPr>
            </a:pPr>
            <a:r>
              <a:rPr sz="825" b="1">
                <a:solidFill>
                  <a:srgbClr val="17211D"/>
                </a:solidFill>
                <a:latin typeface="Aptos"/>
                <a:ea typeface="Aptos"/>
                <a:cs typeface="Aptos"/>
              </a:rPr>
              <a:t>Allunga</a:t>
            </a:r>
          </a:p>
          <a:p xmlns:a="http://schemas.openxmlformats.org/drawingml/2006/main">
            <a:pPr algn="ctr">
              <a:defRPr sz="825" b="1">
                <a:solidFill>
                  <a:srgbClr val="17211D"/>
                </a:solidFill>
                <a:latin typeface="Aptos"/>
                <a:ea typeface="Aptos"/>
                <a:cs typeface="Aptos"/>
              </a:defRPr>
            </a:pPr>
            <a:r>
              <a:rPr sz="825" b="1">
                <a:solidFill>
                  <a:srgbClr val="17211D"/>
                </a:solidFill>
                <a:latin typeface="Aptos"/>
                <a:ea typeface="Aptos"/>
                <a:cs typeface="Aptos"/>
              </a:rPr>
              <a:t>azione circolare</a:t>
            </a:r>
          </a:p>
        </p:txBody>
      </p:sp>
      <p:sp>
        <p:nvSpPr>
          <p:cNvPr id="24" name="">
            <a:extLst xmlns:a="http://schemas.openxmlformats.org/drawingml/2006/main">
              <a:ext uri="{FF2B5EF4-FFF2-40B4-BE49-F238E27FC236}">
                <a16:creationId xmlns:a16="http://schemas.microsoft.com/office/drawing/2014/main" id="{F8F3E4B3-D5E9-4222-8536-2D8B9AC1A2B4}"/>
              </a:ext>
            </a:extLst>
          </p:cNvPr>
          <p:cNvSpPr>
            <a:spLocks xmlns:a="http://schemas.openxmlformats.org/drawingml/2006/main" noGrp="1"/>
          </p:cNvSpPr>
          <p:nvPr/>
        </p:nvSpPr>
        <p:spPr>
          <a:xfrm xmlns:a="http://schemas.openxmlformats.org/drawingml/2006/main">
            <a:off x="1524000" y="4914900"/>
            <a:ext cx="8763000" cy="685800"/>
          </a:xfrm>
          <a:prstGeom xmlns:a="http://schemas.openxmlformats.org/drawingml/2006/main" prst="roundRect">
            <a:avLst>
              <a:gd name="adj" fmla="val 11111"/>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647006C3-3F77-4202-9C40-9AD607598F80}"/>
              </a:ext>
            </a:extLst>
          </p:cNvPr>
          <p:cNvSpPr>
            <a:spLocks xmlns:a="http://schemas.openxmlformats.org/drawingml/2006/main" noGrp="1"/>
          </p:cNvSpPr>
          <p:nvPr/>
        </p:nvSpPr>
        <p:spPr>
          <a:xfrm xmlns:a="http://schemas.openxmlformats.org/drawingml/2006/main">
            <a:off x="1790700" y="5105400"/>
            <a:ext cx="16192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2F7D5B"/>
                </a:solidFill>
                <a:latin typeface="Aptos"/>
                <a:ea typeface="Aptos"/>
                <a:cs typeface="Aptos"/>
              </a:defRPr>
            </a:pPr>
            <a:r>
              <a:rPr sz="750" b="1">
                <a:solidFill>
                  <a:srgbClr val="2F7D5B"/>
                </a:solidFill>
                <a:latin typeface="Aptos"/>
                <a:ea typeface="Aptos"/>
                <a:cs typeface="Aptos"/>
              </a:rPr>
              <a:t>FEEDBACK LOOP</a:t>
            </a:r>
          </a:p>
        </p:txBody>
      </p:sp>
      <p:sp>
        <p:nvSpPr>
          <p:cNvPr id="26" name="">
            <a:extLst xmlns:a="http://schemas.openxmlformats.org/drawingml/2006/main">
              <a:ext uri="{FF2B5EF4-FFF2-40B4-BE49-F238E27FC236}">
                <a16:creationId xmlns:a16="http://schemas.microsoft.com/office/drawing/2014/main" id="{71EE7D97-83F6-4C9A-955C-94C28D4074A2}"/>
              </a:ext>
            </a:extLst>
          </p:cNvPr>
          <p:cNvSpPr>
            <a:spLocks xmlns:a="http://schemas.openxmlformats.org/drawingml/2006/main" noGrp="1"/>
          </p:cNvSpPr>
          <p:nvPr/>
        </p:nvSpPr>
        <p:spPr>
          <a:xfrm xmlns:a="http://schemas.openxmlformats.org/drawingml/2006/main">
            <a:off x="3505200" y="5067300"/>
            <a:ext cx="62865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17211D"/>
                </a:solidFill>
                <a:latin typeface="Georgia"/>
                <a:ea typeface="Georgia"/>
                <a:cs typeface="Georgia"/>
              </a:defRPr>
            </a:pPr>
            <a:r>
              <a:rPr sz="1200" b="1">
                <a:solidFill>
                  <a:srgbClr val="17211D"/>
                </a:solidFill>
                <a:latin typeface="Georgia"/>
                <a:ea typeface="Georgia"/>
                <a:cs typeface="Georgia"/>
              </a:rPr>
              <a:t>uso reale → scelte più pertinenti → meno acquisti non necessari</a:t>
            </a:r>
          </a:p>
        </p:txBody>
      </p:sp>
      <p:sp>
        <p:nvSpPr>
          <p:cNvPr id="27" name="">
            <a:extLst xmlns:a="http://schemas.openxmlformats.org/drawingml/2006/main">
              <a:ext uri="{FF2B5EF4-FFF2-40B4-BE49-F238E27FC236}">
                <a16:creationId xmlns:a16="http://schemas.microsoft.com/office/drawing/2014/main" id="{ACA0E210-56BE-4711-831F-68BCADCEA94C}"/>
              </a:ext>
            </a:extLst>
          </p:cNvPr>
          <p:cNvSpPr>
            <a:spLocks xmlns:a="http://schemas.openxmlformats.org/drawingml/2006/main" noGrp="1"/>
          </p:cNvSpPr>
          <p:nvPr/>
        </p:nvSpPr>
        <p:spPr>
          <a:xfrm xmlns:a="http://schemas.openxmlformats.org/drawingml/2006/main">
            <a:off x="2362200" y="582930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25" b="0">
                <a:solidFill>
                  <a:srgbClr val="65736B"/>
                </a:solidFill>
                <a:latin typeface="Aptos"/>
                <a:ea typeface="Aptos"/>
                <a:cs typeface="Aptos"/>
              </a:defRPr>
            </a:pPr>
            <a:r>
              <a:rPr sz="825" b="0">
                <a:solidFill>
                  <a:srgbClr val="65736B"/>
                </a:solidFill>
                <a:latin typeface="Aptos"/>
                <a:ea typeface="Aptos"/>
                <a:cs typeface="Aptos"/>
              </a:rPr>
              <a:t>Il valore del prodotto nasce dal collegamento fra passaggi, non dal numero di modelli.</a:t>
            </a:r>
          </a:p>
        </p:txBody>
      </p:sp>
      <p:sp>
        <p:nvSpPr>
          <p:cNvPr id="28" name="">
            <a:extLst xmlns:a="http://schemas.openxmlformats.org/drawingml/2006/main">
              <a:ext uri="{FF2B5EF4-FFF2-40B4-BE49-F238E27FC236}">
                <a16:creationId xmlns:a16="http://schemas.microsoft.com/office/drawing/2014/main" id="{04BBE928-0CBE-46C1-B86B-443A45ABE9D3}"/>
              </a:ext>
            </a:extLst>
          </p:cNvPr>
          <p:cNvSpPr>
            <a:spLocks xmlns:a="http://schemas.openxmlformats.org/drawingml/2006/main" noGrp="1"/>
          </p:cNvSpPr>
          <p:nvPr/>
        </p:nvSpPr>
        <p:spPr>
          <a:xfrm xmlns:a="http://schemas.openxmlformats.org/drawingml/2006/main">
            <a:off x="552450" y="6457950"/>
            <a:ext cx="1108710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43572CA9-E05A-4E90-9560-0F675B23B296}"/>
              </a:ext>
            </a:extLst>
          </p:cNvPr>
          <p:cNvSpPr>
            <a:spLocks xmlns:a="http://schemas.openxmlformats.org/drawingml/2006/main" noGrp="1"/>
          </p:cNvSpPr>
          <p:nvPr/>
        </p:nvSpPr>
        <p:spPr>
          <a:xfrm xmlns:a="http://schemas.openxmlformats.org/drawingml/2006/main">
            <a:off x="552450" y="6534150"/>
            <a:ext cx="1000125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63" b="0">
                <a:solidFill>
                  <a:srgbClr val="65736B"/>
                </a:solidFill>
                <a:latin typeface="Aptos"/>
                <a:ea typeface="Aptos"/>
                <a:cs typeface="Aptos"/>
              </a:defRPr>
            </a:pPr>
            <a:r>
              <a:rPr sz="563" b="0">
                <a:solidFill>
                  <a:srgbClr val="65736B"/>
                </a:solidFill>
                <a:latin typeface="Aptos"/>
                <a:ea typeface="Aptos"/>
                <a:cs typeface="Aptos"/>
              </a:rPr>
              <a:t>Proof object: lifecycle operativo del prototipo</a:t>
            </a:r>
          </a:p>
        </p:txBody>
      </p:sp>
      <p:sp>
        <p:nvSpPr>
          <p:cNvPr id="30" name="">
            <a:extLst xmlns:a="http://schemas.openxmlformats.org/drawingml/2006/main">
              <a:ext uri="{FF2B5EF4-FFF2-40B4-BE49-F238E27FC236}">
                <a16:creationId xmlns:a16="http://schemas.microsoft.com/office/drawing/2014/main" id="{63C01AB9-8A28-4CE2-AB73-CE8C5C816DCF}"/>
              </a:ext>
            </a:extLst>
          </p:cNvPr>
          <p:cNvSpPr>
            <a:spLocks xmlns:a="http://schemas.openxmlformats.org/drawingml/2006/main" noGrp="1"/>
          </p:cNvSpPr>
          <p:nvPr/>
        </p:nvSpPr>
        <p:spPr>
          <a:xfrm xmlns:a="http://schemas.openxmlformats.org/drawingml/2006/main">
            <a:off x="11087100" y="650557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65736B"/>
                </a:solidFill>
                <a:latin typeface="Georgia"/>
                <a:ea typeface="Georgia"/>
                <a:cs typeface="Georgia"/>
              </a:defRPr>
            </a:pPr>
            <a:r>
              <a:rPr sz="750" b="1">
                <a:solidFill>
                  <a:srgbClr val="65736B"/>
                </a:solidFill>
                <a:latin typeface="Georgia"/>
                <a:ea typeface="Georgia"/>
                <a:cs typeface="Georgia"/>
              </a:rPr>
              <a:t>03</a:t>
            </a:r>
          </a:p>
        </p:txBody>
      </p:sp>
    </p:spTree>
    <p:extLst>
      <p:ext uri="{BB962C8B-B14F-4D97-AF65-F5344CB8AC3E}">
        <p14:creationId xmlns:p14="http://schemas.microsoft.com/office/powerpoint/2010/main" val="98363273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D9B3050D-4C19-43F0-9EE4-1B330CDE3E1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0E7"/>
          </a:solidFill>
          <a:ln xmlns:a="http://schemas.openxmlformats.org/drawingml/2006/main" w="0">
            <a:solidFill>
              <a:srgbClr val="000000">
                <a:alpha val="0"/>
              </a:srgbClr>
            </a:solidFill>
            <a:prstDash val="solid"/>
          </a:ln>
        </p:spPr>
      </p:sp>
      <p:sp>
        <p:nvSpPr>
          <p:cNvPr id="2" name="kicker-marker">
            <a:extLst xmlns:a="http://schemas.openxmlformats.org/drawingml/2006/main">
              <a:ext uri="{FF2B5EF4-FFF2-40B4-BE49-F238E27FC236}">
                <a16:creationId xmlns:a16="http://schemas.microsoft.com/office/drawing/2014/main" id="{DED7D858-D0C7-41D7-829D-939EDEB1499C}"/>
              </a:ext>
            </a:extLst>
          </p:cNvPr>
          <p:cNvSpPr>
            <a:spLocks xmlns:a="http://schemas.openxmlformats.org/drawingml/2006/main" noGrp="1"/>
          </p:cNvSpPr>
          <p:nvPr/>
        </p:nvSpPr>
        <p:spPr>
          <a:xfrm xmlns:a="http://schemas.openxmlformats.org/drawingml/2006/main">
            <a:off x="552450" y="438150"/>
            <a:ext cx="95250" cy="9525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3" name="kicker-label">
            <a:extLst xmlns:a="http://schemas.openxmlformats.org/drawingml/2006/main">
              <a:ext uri="{FF2B5EF4-FFF2-40B4-BE49-F238E27FC236}">
                <a16:creationId xmlns:a16="http://schemas.microsoft.com/office/drawing/2014/main" id="{9E831922-B003-43EF-B558-57D2ACC94862}"/>
              </a:ext>
            </a:extLst>
          </p:cNvPr>
          <p:cNvSpPr>
            <a:spLocks xmlns:a="http://schemas.openxmlformats.org/drawingml/2006/main" noGrp="1"/>
          </p:cNvSpPr>
          <p:nvPr/>
        </p:nvSpPr>
        <p:spPr>
          <a:xfrm xmlns:a="http://schemas.openxmlformats.org/drawingml/2006/main">
            <a:off x="762000" y="400050"/>
            <a:ext cx="4762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65736B"/>
                </a:solidFill>
                <a:latin typeface="Aptos"/>
                <a:ea typeface="Aptos"/>
                <a:cs typeface="Aptos"/>
              </a:defRPr>
            </a:pPr>
            <a:r>
              <a:rPr sz="675" b="1">
                <a:solidFill>
                  <a:srgbClr val="65736B"/>
                </a:solidFill>
                <a:latin typeface="Aptos"/>
                <a:ea typeface="Aptos"/>
                <a:cs typeface="Aptos"/>
              </a:rPr>
              <a:t>E S P E R I E N Z A   ·   R E D E S I G N</a:t>
            </a:r>
          </a:p>
        </p:txBody>
      </p:sp>
      <p:sp>
        <p:nvSpPr>
          <p:cNvPr id="4" name="claim-title">
            <a:extLst xmlns:a="http://schemas.openxmlformats.org/drawingml/2006/main">
              <a:ext uri="{FF2B5EF4-FFF2-40B4-BE49-F238E27FC236}">
                <a16:creationId xmlns:a16="http://schemas.microsoft.com/office/drawing/2014/main" id="{2D2AB418-BE4F-4F59-A752-21575E9BB307}"/>
              </a:ext>
            </a:extLst>
          </p:cNvPr>
          <p:cNvSpPr>
            <a:spLocks xmlns:a="http://schemas.openxmlformats.org/drawingml/2006/main" noGrp="1"/>
          </p:cNvSpPr>
          <p:nvPr/>
        </p:nvSpPr>
        <p:spPr>
          <a:xfrm xmlns:a="http://schemas.openxmlformats.org/drawingml/2006/main">
            <a:off x="552450" y="742950"/>
            <a:ext cx="1066800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700" b="1">
                <a:solidFill>
                  <a:srgbClr val="17211D"/>
                </a:solidFill>
                <a:latin typeface="Georgia"/>
                <a:ea typeface="Georgia"/>
                <a:cs typeface="Georgia"/>
              </a:defRPr>
            </a:pPr>
            <a:r>
              <a:rPr sz="2700" b="1">
                <a:solidFill>
                  <a:srgbClr val="17211D"/>
                </a:solidFill>
                <a:latin typeface="Georgia"/>
                <a:ea typeface="Georgia"/>
                <a:cs typeface="Georgia"/>
              </a:rPr>
              <a:t>La nuova UI rende visibili quattro decisioni, non quattro dashboard decorative.</a:t>
            </a:r>
          </a:p>
        </p:txBody>
      </p:sp>
      <p:sp>
        <p:nvSpPr>
          <p:cNvPr id="5" name="">
            <a:extLst xmlns:a="http://schemas.openxmlformats.org/drawingml/2006/main">
              <a:ext uri="{FF2B5EF4-FFF2-40B4-BE49-F238E27FC236}">
                <a16:creationId xmlns:a16="http://schemas.microsoft.com/office/drawing/2014/main" id="{D4E1D224-E26C-4297-AB91-A7209C06F21A}"/>
              </a:ext>
            </a:extLst>
          </p:cNvPr>
          <p:cNvSpPr>
            <a:spLocks xmlns:a="http://schemas.openxmlformats.org/drawingml/2006/main" noGrp="1"/>
          </p:cNvSpPr>
          <p:nvPr/>
        </p:nvSpPr>
        <p:spPr>
          <a:xfrm xmlns:a="http://schemas.openxmlformats.org/drawingml/2006/main">
            <a:off x="552450" y="1857375"/>
            <a:ext cx="6381750" cy="4000500"/>
          </a:xfrm>
          <a:prstGeom xmlns:a="http://schemas.openxmlformats.org/drawingml/2006/main" prst="roundRect">
            <a:avLst>
              <a:gd name="adj" fmla="val 1905"/>
            </a:avLst>
          </a:prstGeom>
          <a:solidFill xmlns:a="http://schemas.openxmlformats.org/drawingml/2006/main">
            <a:srgbClr val="FFFFFF"/>
          </a:solidFill>
          <a:ln xmlns:a="http://schemas.openxmlformats.org/drawingml/2006/main" w="9525">
            <a:solidFill>
              <a:srgbClr val="B9C3BB"/>
            </a:solidFill>
            <a:prstDash val="solid"/>
          </a:ln>
        </p:spPr>
      </p:sp>
      <p:sp>
        <p:nvSpPr>
          <p:cNvPr id="6" name="">
            <a:extLst xmlns:a="http://schemas.openxmlformats.org/drawingml/2006/main">
              <a:ext uri="{FF2B5EF4-FFF2-40B4-BE49-F238E27FC236}">
                <a16:creationId xmlns:a16="http://schemas.microsoft.com/office/drawing/2014/main" id="{F88B5D40-5C6F-4A2D-A45C-F4799905F844}"/>
              </a:ext>
            </a:extLst>
          </p:cNvPr>
          <p:cNvSpPr>
            <a:spLocks xmlns:a="http://schemas.openxmlformats.org/drawingml/2006/main" noGrp="1"/>
          </p:cNvSpPr>
          <p:nvPr/>
        </p:nvSpPr>
        <p:spPr>
          <a:xfrm xmlns:a="http://schemas.openxmlformats.org/drawingml/2006/main">
            <a:off x="819150" y="209550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2F7D5B"/>
                </a:solidFill>
                <a:latin typeface="Aptos"/>
                <a:ea typeface="Aptos"/>
                <a:cs typeface="Aptos"/>
              </a:defRPr>
            </a:pPr>
            <a:r>
              <a:rPr sz="675" b="1">
                <a:solidFill>
                  <a:srgbClr val="2F7D5B"/>
                </a:solidFill>
                <a:latin typeface="Aptos"/>
                <a:ea typeface="Aptos"/>
                <a:cs typeface="Aptos"/>
              </a:rPr>
              <a:t>IMPATTO</a:t>
            </a:r>
          </a:p>
        </p:txBody>
      </p:sp>
      <p:sp>
        <p:nvSpPr>
          <p:cNvPr id="7" name="">
            <a:extLst xmlns:a="http://schemas.openxmlformats.org/drawingml/2006/main">
              <a:ext uri="{FF2B5EF4-FFF2-40B4-BE49-F238E27FC236}">
                <a16:creationId xmlns:a16="http://schemas.microsoft.com/office/drawing/2014/main" id="{4704F0CA-BB3F-454E-AE66-CF7FC1F1F99C}"/>
              </a:ext>
            </a:extLst>
          </p:cNvPr>
          <p:cNvSpPr>
            <a:spLocks xmlns:a="http://schemas.openxmlformats.org/drawingml/2006/main" noGrp="1"/>
          </p:cNvSpPr>
          <p:nvPr/>
        </p:nvSpPr>
        <p:spPr>
          <a:xfrm xmlns:a="http://schemas.openxmlformats.org/drawingml/2006/main">
            <a:off x="819150" y="2400300"/>
            <a:ext cx="4953000" cy="590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950" b="1">
                <a:solidFill>
                  <a:srgbClr val="17211D"/>
                </a:solidFill>
                <a:latin typeface="Georgia"/>
                <a:ea typeface="Georgia"/>
                <a:cs typeface="Georgia"/>
              </a:defRPr>
            </a:pPr>
            <a:r>
              <a:rPr sz="1950" b="1">
                <a:solidFill>
                  <a:srgbClr val="17211D"/>
                </a:solidFill>
                <a:latin typeface="Georgia"/>
                <a:ea typeface="Georgia"/>
                <a:cs typeface="Georgia"/>
              </a:rPr>
              <a:t>Il tuo guardaroba sta già facendo la differenza.</a:t>
            </a:r>
          </a:p>
        </p:txBody>
      </p:sp>
      <p:sp>
        <p:nvSpPr>
          <p:cNvPr id="8" name="">
            <a:extLst xmlns:a="http://schemas.openxmlformats.org/drawingml/2006/main">
              <a:ext uri="{FF2B5EF4-FFF2-40B4-BE49-F238E27FC236}">
                <a16:creationId xmlns:a16="http://schemas.microsoft.com/office/drawing/2014/main" id="{59AEBA8C-D527-4B7D-8C4B-32B65FF66EEB}"/>
              </a:ext>
            </a:extLst>
          </p:cNvPr>
          <p:cNvSpPr>
            <a:spLocks xmlns:a="http://schemas.openxmlformats.org/drawingml/2006/main" noGrp="1"/>
          </p:cNvSpPr>
          <p:nvPr/>
        </p:nvSpPr>
        <p:spPr>
          <a:xfrm xmlns:a="http://schemas.openxmlformats.org/drawingml/2006/main">
            <a:off x="819150" y="3238500"/>
            <a:ext cx="18097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65736B"/>
                </a:solidFill>
                <a:latin typeface="Aptos"/>
                <a:ea typeface="Aptos"/>
                <a:cs typeface="Aptos"/>
              </a:defRPr>
            </a:pPr>
            <a:r>
              <a:rPr sz="750" b="1">
                <a:solidFill>
                  <a:srgbClr val="65736B"/>
                </a:solidFill>
                <a:latin typeface="Aptos"/>
                <a:ea typeface="Aptos"/>
                <a:cs typeface="Aptos"/>
              </a:rPr>
              <a:t>CO₂eq evitata</a:t>
            </a:r>
          </a:p>
        </p:txBody>
      </p:sp>
      <p:sp>
        <p:nvSpPr>
          <p:cNvPr id="9" name="">
            <a:extLst xmlns:a="http://schemas.openxmlformats.org/drawingml/2006/main">
              <a:ext uri="{FF2B5EF4-FFF2-40B4-BE49-F238E27FC236}">
                <a16:creationId xmlns:a16="http://schemas.microsoft.com/office/drawing/2014/main" id="{F3F24EA4-F176-4640-BD3C-E7AE66402FBD}"/>
              </a:ext>
            </a:extLst>
          </p:cNvPr>
          <p:cNvSpPr>
            <a:spLocks xmlns:a="http://schemas.openxmlformats.org/drawingml/2006/main" noGrp="1"/>
          </p:cNvSpPr>
          <p:nvPr/>
        </p:nvSpPr>
        <p:spPr>
          <a:xfrm xmlns:a="http://schemas.openxmlformats.org/drawingml/2006/main">
            <a:off x="819150" y="3476625"/>
            <a:ext cx="180975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300" b="1">
                <a:solidFill>
                  <a:srgbClr val="2F7D5B"/>
                </a:solidFill>
                <a:latin typeface="Georgia"/>
                <a:ea typeface="Georgia"/>
                <a:cs typeface="Georgia"/>
              </a:defRPr>
            </a:pPr>
            <a:r>
              <a:rPr sz="3300" b="1">
                <a:solidFill>
                  <a:srgbClr val="2F7D5B"/>
                </a:solidFill>
                <a:latin typeface="Georgia"/>
                <a:ea typeface="Georgia"/>
                <a:cs typeface="Georgia"/>
              </a:rPr>
              <a:t>22,4</a:t>
            </a:r>
          </a:p>
        </p:txBody>
      </p:sp>
      <p:sp>
        <p:nvSpPr>
          <p:cNvPr id="10" name="">
            <a:extLst xmlns:a="http://schemas.openxmlformats.org/drawingml/2006/main">
              <a:ext uri="{FF2B5EF4-FFF2-40B4-BE49-F238E27FC236}">
                <a16:creationId xmlns:a16="http://schemas.microsoft.com/office/drawing/2014/main" id="{B1FE2B2D-80A0-4532-A753-CAC3CD174386}"/>
              </a:ext>
            </a:extLst>
          </p:cNvPr>
          <p:cNvSpPr>
            <a:spLocks xmlns:a="http://schemas.openxmlformats.org/drawingml/2006/main" noGrp="1"/>
          </p:cNvSpPr>
          <p:nvPr/>
        </p:nvSpPr>
        <p:spPr>
          <a:xfrm xmlns:a="http://schemas.openxmlformats.org/drawingml/2006/main">
            <a:off x="819150" y="4048125"/>
            <a:ext cx="18097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5736B"/>
                </a:solidFill>
                <a:latin typeface="Aptos"/>
                <a:ea typeface="Aptos"/>
                <a:cs typeface="Aptos"/>
              </a:defRPr>
            </a:pPr>
            <a:r>
              <a:rPr sz="750" b="0">
                <a:solidFill>
                  <a:srgbClr val="65736B"/>
                </a:solidFill>
                <a:latin typeface="Aptos"/>
                <a:ea typeface="Aptos"/>
                <a:cs typeface="Aptos"/>
              </a:rPr>
              <a:t>kg · stima di scenario</a:t>
            </a:r>
          </a:p>
        </p:txBody>
      </p:sp>
      <p:sp>
        <p:nvSpPr>
          <p:cNvPr id="11" name="">
            <a:extLst xmlns:a="http://schemas.openxmlformats.org/drawingml/2006/main">
              <a:ext uri="{FF2B5EF4-FFF2-40B4-BE49-F238E27FC236}">
                <a16:creationId xmlns:a16="http://schemas.microsoft.com/office/drawing/2014/main" id="{3615126A-E404-4A3E-AB89-944A1150C1B0}"/>
              </a:ext>
            </a:extLst>
          </p:cNvPr>
          <p:cNvSpPr>
            <a:spLocks xmlns:a="http://schemas.openxmlformats.org/drawingml/2006/main" noGrp="1"/>
          </p:cNvSpPr>
          <p:nvPr/>
        </p:nvSpPr>
        <p:spPr>
          <a:xfrm xmlns:a="http://schemas.openxmlformats.org/drawingml/2006/main">
            <a:off x="3143250" y="3143250"/>
            <a:ext cx="314325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9641DF62-4C84-474A-9D04-EEDC113E47A6}"/>
              </a:ext>
            </a:extLst>
          </p:cNvPr>
          <p:cNvSpPr>
            <a:spLocks xmlns:a="http://schemas.openxmlformats.org/drawingml/2006/main" noGrp="1"/>
          </p:cNvSpPr>
          <p:nvPr/>
        </p:nvSpPr>
        <p:spPr>
          <a:xfrm xmlns:a="http://schemas.openxmlformats.org/drawingml/2006/main">
            <a:off x="3143250" y="3276600"/>
            <a:ext cx="133350" cy="133350"/>
          </a:xfrm>
          <a:prstGeom xmlns:a="http://schemas.openxmlformats.org/drawingml/2006/main" prst="ellipse">
            <a:avLst/>
          </a:prstGeom>
          <a:solidFill xmlns:a="http://schemas.openxmlformats.org/drawingml/2006/main">
            <a:srgbClr val="D56E42"/>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1392AC3E-BF2A-49E5-BF25-F08AD74E279C}"/>
              </a:ext>
            </a:extLst>
          </p:cNvPr>
          <p:cNvSpPr>
            <a:spLocks xmlns:a="http://schemas.openxmlformats.org/drawingml/2006/main" noGrp="1"/>
          </p:cNvSpPr>
          <p:nvPr/>
        </p:nvSpPr>
        <p:spPr>
          <a:xfrm xmlns:a="http://schemas.openxmlformats.org/drawingml/2006/main">
            <a:off x="3409950" y="3181350"/>
            <a:ext cx="95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65736B"/>
                </a:solidFill>
                <a:latin typeface="Aptos"/>
                <a:ea typeface="Aptos"/>
                <a:cs typeface="Aptos"/>
              </a:defRPr>
            </a:pPr>
            <a:r>
              <a:rPr sz="900" b="1">
                <a:solidFill>
                  <a:srgbClr val="65736B"/>
                </a:solidFill>
                <a:latin typeface="Aptos"/>
                <a:ea typeface="Aptos"/>
                <a:cs typeface="Aptos"/>
              </a:rPr>
              <a:t>Stato</a:t>
            </a:r>
          </a:p>
        </p:txBody>
      </p:sp>
      <p:sp>
        <p:nvSpPr>
          <p:cNvPr id="14" name="">
            <a:extLst xmlns:a="http://schemas.openxmlformats.org/drawingml/2006/main">
              <a:ext uri="{FF2B5EF4-FFF2-40B4-BE49-F238E27FC236}">
                <a16:creationId xmlns:a16="http://schemas.microsoft.com/office/drawing/2014/main" id="{3985AA59-A157-4403-A426-907A598BC64A}"/>
              </a:ext>
            </a:extLst>
          </p:cNvPr>
          <p:cNvSpPr>
            <a:spLocks xmlns:a="http://schemas.openxmlformats.org/drawingml/2006/main" noGrp="1"/>
          </p:cNvSpPr>
          <p:nvPr/>
        </p:nvSpPr>
        <p:spPr>
          <a:xfrm xmlns:a="http://schemas.openxmlformats.org/drawingml/2006/main">
            <a:off x="4362450" y="3162300"/>
            <a:ext cx="19050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1125" b="1">
                <a:solidFill>
                  <a:srgbClr val="17211D"/>
                </a:solidFill>
                <a:latin typeface="Georgia"/>
                <a:ea typeface="Georgia"/>
                <a:cs typeface="Georgia"/>
              </a:defRPr>
            </a:pPr>
            <a:r>
              <a:rPr sz="1125" b="1">
                <a:solidFill>
                  <a:srgbClr val="17211D"/>
                </a:solidFill>
                <a:latin typeface="Georgia"/>
                <a:ea typeface="Georgia"/>
                <a:cs typeface="Georgia"/>
              </a:rPr>
              <a:t>2 capi da curare</a:t>
            </a:r>
          </a:p>
        </p:txBody>
      </p:sp>
      <p:sp>
        <p:nvSpPr>
          <p:cNvPr id="15" name="">
            <a:extLst xmlns:a="http://schemas.openxmlformats.org/drawingml/2006/main">
              <a:ext uri="{FF2B5EF4-FFF2-40B4-BE49-F238E27FC236}">
                <a16:creationId xmlns:a16="http://schemas.microsoft.com/office/drawing/2014/main" id="{B2AB8F08-07A9-4732-8B68-FE3A74EE1E65}"/>
              </a:ext>
            </a:extLst>
          </p:cNvPr>
          <p:cNvSpPr>
            <a:spLocks xmlns:a="http://schemas.openxmlformats.org/drawingml/2006/main" noGrp="1"/>
          </p:cNvSpPr>
          <p:nvPr/>
        </p:nvSpPr>
        <p:spPr>
          <a:xfrm xmlns:a="http://schemas.openxmlformats.org/drawingml/2006/main">
            <a:off x="3143250" y="3886200"/>
            <a:ext cx="314325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003ACA38-605D-4249-8D58-217FDC489137}"/>
              </a:ext>
            </a:extLst>
          </p:cNvPr>
          <p:cNvSpPr>
            <a:spLocks xmlns:a="http://schemas.openxmlformats.org/drawingml/2006/main" noGrp="1"/>
          </p:cNvSpPr>
          <p:nvPr/>
        </p:nvSpPr>
        <p:spPr>
          <a:xfrm xmlns:a="http://schemas.openxmlformats.org/drawingml/2006/main">
            <a:off x="3143250" y="4019550"/>
            <a:ext cx="133350" cy="13335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9255A805-871D-4B43-8E16-B048C3E1CC55}"/>
              </a:ext>
            </a:extLst>
          </p:cNvPr>
          <p:cNvSpPr>
            <a:spLocks xmlns:a="http://schemas.openxmlformats.org/drawingml/2006/main" noGrp="1"/>
          </p:cNvSpPr>
          <p:nvPr/>
        </p:nvSpPr>
        <p:spPr>
          <a:xfrm xmlns:a="http://schemas.openxmlformats.org/drawingml/2006/main">
            <a:off x="3409950" y="3924300"/>
            <a:ext cx="95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65736B"/>
                </a:solidFill>
                <a:latin typeface="Aptos"/>
                <a:ea typeface="Aptos"/>
                <a:cs typeface="Aptos"/>
              </a:defRPr>
            </a:pPr>
            <a:r>
              <a:rPr sz="900" b="1">
                <a:solidFill>
                  <a:srgbClr val="65736B"/>
                </a:solidFill>
                <a:latin typeface="Aptos"/>
                <a:ea typeface="Aptos"/>
                <a:cs typeface="Aptos"/>
              </a:rPr>
              <a:t>Gap</a:t>
            </a:r>
          </a:p>
        </p:txBody>
      </p:sp>
      <p:sp>
        <p:nvSpPr>
          <p:cNvPr id="18" name="">
            <a:extLst xmlns:a="http://schemas.openxmlformats.org/drawingml/2006/main">
              <a:ext uri="{FF2B5EF4-FFF2-40B4-BE49-F238E27FC236}">
                <a16:creationId xmlns:a16="http://schemas.microsoft.com/office/drawing/2014/main" id="{FB4DF522-8589-4EEC-9C21-A94C6742C150}"/>
              </a:ext>
            </a:extLst>
          </p:cNvPr>
          <p:cNvSpPr>
            <a:spLocks xmlns:a="http://schemas.openxmlformats.org/drawingml/2006/main" noGrp="1"/>
          </p:cNvSpPr>
          <p:nvPr/>
        </p:nvSpPr>
        <p:spPr>
          <a:xfrm xmlns:a="http://schemas.openxmlformats.org/drawingml/2006/main">
            <a:off x="4362450" y="3905250"/>
            <a:ext cx="19050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1125" b="1">
                <a:solidFill>
                  <a:srgbClr val="17211D"/>
                </a:solidFill>
                <a:latin typeface="Georgia"/>
                <a:ea typeface="Georgia"/>
                <a:cs typeface="Georgia"/>
              </a:defRPr>
            </a:pPr>
            <a:r>
              <a:rPr sz="1125" b="1">
                <a:solidFill>
                  <a:srgbClr val="17211D"/>
                </a:solidFill>
                <a:latin typeface="Georgia"/>
                <a:ea typeface="Georgia"/>
                <a:cs typeface="Georgia"/>
              </a:rPr>
              <a:t>1 vuoto funzionale</a:t>
            </a:r>
          </a:p>
        </p:txBody>
      </p:sp>
      <p:sp>
        <p:nvSpPr>
          <p:cNvPr id="19" name="">
            <a:extLst xmlns:a="http://schemas.openxmlformats.org/drawingml/2006/main">
              <a:ext uri="{FF2B5EF4-FFF2-40B4-BE49-F238E27FC236}">
                <a16:creationId xmlns:a16="http://schemas.microsoft.com/office/drawing/2014/main" id="{987BD7F1-B423-4C6D-9FF9-60874B29A14F}"/>
              </a:ext>
            </a:extLst>
          </p:cNvPr>
          <p:cNvSpPr>
            <a:spLocks xmlns:a="http://schemas.openxmlformats.org/drawingml/2006/main" noGrp="1"/>
          </p:cNvSpPr>
          <p:nvPr/>
        </p:nvSpPr>
        <p:spPr>
          <a:xfrm xmlns:a="http://schemas.openxmlformats.org/drawingml/2006/main">
            <a:off x="3143250" y="4629150"/>
            <a:ext cx="314325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A547254F-861D-4AE0-A3E7-05A9B96B4DD2}"/>
              </a:ext>
            </a:extLst>
          </p:cNvPr>
          <p:cNvSpPr>
            <a:spLocks xmlns:a="http://schemas.openxmlformats.org/drawingml/2006/main" noGrp="1"/>
          </p:cNvSpPr>
          <p:nvPr/>
        </p:nvSpPr>
        <p:spPr>
          <a:xfrm xmlns:a="http://schemas.openxmlformats.org/drawingml/2006/main">
            <a:off x="3143250" y="4762500"/>
            <a:ext cx="133350" cy="133350"/>
          </a:xfrm>
          <a:prstGeom xmlns:a="http://schemas.openxmlformats.org/drawingml/2006/main" prst="ellipse">
            <a:avLst/>
          </a:prstGeom>
          <a:solidFill xmlns:a="http://schemas.openxmlformats.org/drawingml/2006/main">
            <a:srgbClr val="466D86"/>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F0291D04-BC44-4F30-A4D0-E6FFB1FAEC7E}"/>
              </a:ext>
            </a:extLst>
          </p:cNvPr>
          <p:cNvSpPr>
            <a:spLocks xmlns:a="http://schemas.openxmlformats.org/drawingml/2006/main" noGrp="1"/>
          </p:cNvSpPr>
          <p:nvPr/>
        </p:nvSpPr>
        <p:spPr>
          <a:xfrm xmlns:a="http://schemas.openxmlformats.org/drawingml/2006/main">
            <a:off x="3409950" y="4667250"/>
            <a:ext cx="95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65736B"/>
                </a:solidFill>
                <a:latin typeface="Aptos"/>
                <a:ea typeface="Aptos"/>
                <a:cs typeface="Aptos"/>
              </a:defRPr>
            </a:pPr>
            <a:r>
              <a:rPr sz="900" b="1">
                <a:solidFill>
                  <a:srgbClr val="65736B"/>
                </a:solidFill>
                <a:latin typeface="Aptos"/>
                <a:ea typeface="Aptos"/>
                <a:cs typeface="Aptos"/>
              </a:rPr>
              <a:t>Ghost</a:t>
            </a:r>
          </a:p>
        </p:txBody>
      </p:sp>
      <p:sp>
        <p:nvSpPr>
          <p:cNvPr id="22" name="">
            <a:extLst xmlns:a="http://schemas.openxmlformats.org/drawingml/2006/main">
              <a:ext uri="{FF2B5EF4-FFF2-40B4-BE49-F238E27FC236}">
                <a16:creationId xmlns:a16="http://schemas.microsoft.com/office/drawing/2014/main" id="{904EF990-3B75-419B-84B1-B32FE6CA65B7}"/>
              </a:ext>
            </a:extLst>
          </p:cNvPr>
          <p:cNvSpPr>
            <a:spLocks xmlns:a="http://schemas.openxmlformats.org/drawingml/2006/main" noGrp="1"/>
          </p:cNvSpPr>
          <p:nvPr/>
        </p:nvSpPr>
        <p:spPr>
          <a:xfrm xmlns:a="http://schemas.openxmlformats.org/drawingml/2006/main">
            <a:off x="4362450" y="4648200"/>
            <a:ext cx="19050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1125" b="1">
                <a:solidFill>
                  <a:srgbClr val="17211D"/>
                </a:solidFill>
                <a:latin typeface="Georgia"/>
                <a:ea typeface="Georgia"/>
                <a:cs typeface="Georgia"/>
              </a:defRPr>
            </a:pPr>
            <a:r>
              <a:rPr sz="1125" b="1">
                <a:solidFill>
                  <a:srgbClr val="17211D"/>
                </a:solidFill>
                <a:latin typeface="Georgia"/>
                <a:ea typeface="Georgia"/>
                <a:cs typeface="Georgia"/>
              </a:rPr>
              <a:t>3 capi da riscoprire</a:t>
            </a:r>
          </a:p>
        </p:txBody>
      </p:sp>
      <p:sp>
        <p:nvSpPr>
          <p:cNvPr id="23" name="">
            <a:extLst xmlns:a="http://schemas.openxmlformats.org/drawingml/2006/main">
              <a:ext uri="{FF2B5EF4-FFF2-40B4-BE49-F238E27FC236}">
                <a16:creationId xmlns:a16="http://schemas.microsoft.com/office/drawing/2014/main" id="{110F2F86-F746-425E-A315-E39E0DFA4FF3}"/>
              </a:ext>
            </a:extLst>
          </p:cNvPr>
          <p:cNvSpPr>
            <a:spLocks xmlns:a="http://schemas.openxmlformats.org/drawingml/2006/main" noGrp="1"/>
          </p:cNvSpPr>
          <p:nvPr/>
        </p:nvSpPr>
        <p:spPr>
          <a:xfrm xmlns:a="http://schemas.openxmlformats.org/drawingml/2006/main">
            <a:off x="7524750" y="1952625"/>
            <a:ext cx="4572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7D5B"/>
                </a:solidFill>
                <a:latin typeface="Georgia"/>
                <a:ea typeface="Georgia"/>
                <a:cs typeface="Georgia"/>
              </a:defRPr>
            </a:pPr>
            <a:r>
              <a:rPr sz="1050" b="1">
                <a:solidFill>
                  <a:srgbClr val="2F7D5B"/>
                </a:solidFill>
                <a:latin typeface="Georgia"/>
                <a:ea typeface="Georgia"/>
                <a:cs typeface="Georgia"/>
              </a:rPr>
              <a:t>01</a:t>
            </a:r>
          </a:p>
        </p:txBody>
      </p:sp>
      <p:sp>
        <p:nvSpPr>
          <p:cNvPr id="24" name="">
            <a:extLst xmlns:a="http://schemas.openxmlformats.org/drawingml/2006/main">
              <a:ext uri="{FF2B5EF4-FFF2-40B4-BE49-F238E27FC236}">
                <a16:creationId xmlns:a16="http://schemas.microsoft.com/office/drawing/2014/main" id="{0D65857F-B392-4C76-B95F-DE404AA453A1}"/>
              </a:ext>
            </a:extLst>
          </p:cNvPr>
          <p:cNvSpPr>
            <a:spLocks xmlns:a="http://schemas.openxmlformats.org/drawingml/2006/main" noGrp="1"/>
          </p:cNvSpPr>
          <p:nvPr/>
        </p:nvSpPr>
        <p:spPr>
          <a:xfrm xmlns:a="http://schemas.openxmlformats.org/drawingml/2006/main">
            <a:off x="8077200" y="1933575"/>
            <a:ext cx="27622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1">
                <a:solidFill>
                  <a:srgbClr val="17211D"/>
                </a:solidFill>
                <a:latin typeface="Georgia"/>
                <a:ea typeface="Georgia"/>
                <a:cs typeface="Georgia"/>
              </a:defRPr>
            </a:pPr>
            <a:r>
              <a:rPr sz="1425" b="1">
                <a:solidFill>
                  <a:srgbClr val="17211D"/>
                </a:solidFill>
                <a:latin typeface="Georgia"/>
                <a:ea typeface="Georgia"/>
                <a:cs typeface="Georgia"/>
              </a:rPr>
              <a:t>Impatto</a:t>
            </a:r>
          </a:p>
        </p:txBody>
      </p:sp>
      <p:sp>
        <p:nvSpPr>
          <p:cNvPr id="25" name="">
            <a:extLst xmlns:a="http://schemas.openxmlformats.org/drawingml/2006/main">
              <a:ext uri="{FF2B5EF4-FFF2-40B4-BE49-F238E27FC236}">
                <a16:creationId xmlns:a16="http://schemas.microsoft.com/office/drawing/2014/main" id="{7BCCBCC4-1D56-4D0C-A3CE-1DC7A78C310A}"/>
              </a:ext>
            </a:extLst>
          </p:cNvPr>
          <p:cNvSpPr>
            <a:spLocks xmlns:a="http://schemas.openxmlformats.org/drawingml/2006/main" noGrp="1"/>
          </p:cNvSpPr>
          <p:nvPr/>
        </p:nvSpPr>
        <p:spPr>
          <a:xfrm xmlns:a="http://schemas.openxmlformats.org/drawingml/2006/main">
            <a:off x="8077200" y="2276475"/>
            <a:ext cx="31432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0">
                <a:solidFill>
                  <a:srgbClr val="65736B"/>
                </a:solidFill>
                <a:latin typeface="Aptos"/>
                <a:ea typeface="Aptos"/>
                <a:cs typeface="Aptos"/>
              </a:defRPr>
            </a:pPr>
            <a:r>
              <a:rPr sz="863" b="0">
                <a:solidFill>
                  <a:srgbClr val="65736B"/>
                </a:solidFill>
                <a:latin typeface="Aptos"/>
                <a:ea typeface="Aptos"/>
                <a:cs typeface="Aptos"/>
              </a:rPr>
              <a:t>CO₂eq, azioni circolari, valore d’uso</a:t>
            </a:r>
          </a:p>
        </p:txBody>
      </p:sp>
      <p:sp>
        <p:nvSpPr>
          <p:cNvPr id="26" name="">
            <a:extLst xmlns:a="http://schemas.openxmlformats.org/drawingml/2006/main">
              <a:ext uri="{FF2B5EF4-FFF2-40B4-BE49-F238E27FC236}">
                <a16:creationId xmlns:a16="http://schemas.microsoft.com/office/drawing/2014/main" id="{F30AF296-3EBD-41F2-8203-2595C9A55419}"/>
              </a:ext>
            </a:extLst>
          </p:cNvPr>
          <p:cNvSpPr>
            <a:spLocks xmlns:a="http://schemas.openxmlformats.org/drawingml/2006/main" noGrp="1"/>
          </p:cNvSpPr>
          <p:nvPr/>
        </p:nvSpPr>
        <p:spPr>
          <a:xfrm xmlns:a="http://schemas.openxmlformats.org/drawingml/2006/main">
            <a:off x="7524750" y="2886075"/>
            <a:ext cx="4572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7D5B"/>
                </a:solidFill>
                <a:latin typeface="Georgia"/>
                <a:ea typeface="Georgia"/>
                <a:cs typeface="Georgia"/>
              </a:defRPr>
            </a:pPr>
            <a:r>
              <a:rPr sz="1050" b="1">
                <a:solidFill>
                  <a:srgbClr val="2F7D5B"/>
                </a:solidFill>
                <a:latin typeface="Georgia"/>
                <a:ea typeface="Georgia"/>
                <a:cs typeface="Georgia"/>
              </a:rPr>
              <a:t>02</a:t>
            </a:r>
          </a:p>
        </p:txBody>
      </p:sp>
      <p:sp>
        <p:nvSpPr>
          <p:cNvPr id="27" name="">
            <a:extLst xmlns:a="http://schemas.openxmlformats.org/drawingml/2006/main">
              <a:ext uri="{FF2B5EF4-FFF2-40B4-BE49-F238E27FC236}">
                <a16:creationId xmlns:a16="http://schemas.microsoft.com/office/drawing/2014/main" id="{94BEE2C1-A68C-49E5-84C2-31C92DF3E4C1}"/>
              </a:ext>
            </a:extLst>
          </p:cNvPr>
          <p:cNvSpPr>
            <a:spLocks xmlns:a="http://schemas.openxmlformats.org/drawingml/2006/main" noGrp="1"/>
          </p:cNvSpPr>
          <p:nvPr/>
        </p:nvSpPr>
        <p:spPr>
          <a:xfrm xmlns:a="http://schemas.openxmlformats.org/drawingml/2006/main">
            <a:off x="8077200" y="2867025"/>
            <a:ext cx="27622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1">
                <a:solidFill>
                  <a:srgbClr val="17211D"/>
                </a:solidFill>
                <a:latin typeface="Georgia"/>
                <a:ea typeface="Georgia"/>
                <a:cs typeface="Georgia"/>
              </a:defRPr>
            </a:pPr>
            <a:r>
              <a:rPr sz="1425" b="1">
                <a:solidFill>
                  <a:srgbClr val="17211D"/>
                </a:solidFill>
                <a:latin typeface="Georgia"/>
                <a:ea typeface="Georgia"/>
                <a:cs typeface="Georgia"/>
              </a:rPr>
              <a:t>Stato</a:t>
            </a:r>
          </a:p>
        </p:txBody>
      </p:sp>
      <p:sp>
        <p:nvSpPr>
          <p:cNvPr id="28" name="">
            <a:extLst xmlns:a="http://schemas.openxmlformats.org/drawingml/2006/main">
              <a:ext uri="{FF2B5EF4-FFF2-40B4-BE49-F238E27FC236}">
                <a16:creationId xmlns:a16="http://schemas.microsoft.com/office/drawing/2014/main" id="{FE0EAD7F-3039-4F8A-AE68-F15D94DEDCA3}"/>
              </a:ext>
            </a:extLst>
          </p:cNvPr>
          <p:cNvSpPr>
            <a:spLocks xmlns:a="http://schemas.openxmlformats.org/drawingml/2006/main" noGrp="1"/>
          </p:cNvSpPr>
          <p:nvPr/>
        </p:nvSpPr>
        <p:spPr>
          <a:xfrm xmlns:a="http://schemas.openxmlformats.org/drawingml/2006/main">
            <a:off x="8077200" y="3209925"/>
            <a:ext cx="31432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0">
                <a:solidFill>
                  <a:srgbClr val="65736B"/>
                </a:solidFill>
                <a:latin typeface="Aptos"/>
                <a:ea typeface="Aptos"/>
                <a:cs typeface="Aptos"/>
              </a:defRPr>
            </a:pPr>
            <a:r>
              <a:rPr sz="863" b="0">
                <a:solidFill>
                  <a:srgbClr val="65736B"/>
                </a:solidFill>
                <a:latin typeface="Aptos"/>
                <a:ea typeface="Aptos"/>
                <a:cs typeface="Aptos"/>
              </a:rPr>
              <a:t>buono · usurato · danneggiato</a:t>
            </a:r>
          </a:p>
        </p:txBody>
      </p:sp>
      <p:sp>
        <p:nvSpPr>
          <p:cNvPr id="29" name="">
            <a:extLst xmlns:a="http://schemas.openxmlformats.org/drawingml/2006/main">
              <a:ext uri="{FF2B5EF4-FFF2-40B4-BE49-F238E27FC236}">
                <a16:creationId xmlns:a16="http://schemas.microsoft.com/office/drawing/2014/main" id="{93D4D7B5-009F-4270-A525-DBEFADE0FC9B}"/>
              </a:ext>
            </a:extLst>
          </p:cNvPr>
          <p:cNvSpPr>
            <a:spLocks xmlns:a="http://schemas.openxmlformats.org/drawingml/2006/main" noGrp="1"/>
          </p:cNvSpPr>
          <p:nvPr/>
        </p:nvSpPr>
        <p:spPr>
          <a:xfrm xmlns:a="http://schemas.openxmlformats.org/drawingml/2006/main">
            <a:off x="7524750" y="3819525"/>
            <a:ext cx="4572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7D5B"/>
                </a:solidFill>
                <a:latin typeface="Georgia"/>
                <a:ea typeface="Georgia"/>
                <a:cs typeface="Georgia"/>
              </a:defRPr>
            </a:pPr>
            <a:r>
              <a:rPr sz="1050" b="1">
                <a:solidFill>
                  <a:srgbClr val="2F7D5B"/>
                </a:solidFill>
                <a:latin typeface="Georgia"/>
                <a:ea typeface="Georgia"/>
                <a:cs typeface="Georgia"/>
              </a:rPr>
              <a:t>03</a:t>
            </a:r>
          </a:p>
        </p:txBody>
      </p:sp>
      <p:sp>
        <p:nvSpPr>
          <p:cNvPr id="30" name="">
            <a:extLst xmlns:a="http://schemas.openxmlformats.org/drawingml/2006/main">
              <a:ext uri="{FF2B5EF4-FFF2-40B4-BE49-F238E27FC236}">
                <a16:creationId xmlns:a16="http://schemas.microsoft.com/office/drawing/2014/main" id="{64EAE324-82CE-4577-8033-9D325FCC7214}"/>
              </a:ext>
            </a:extLst>
          </p:cNvPr>
          <p:cNvSpPr>
            <a:spLocks xmlns:a="http://schemas.openxmlformats.org/drawingml/2006/main" noGrp="1"/>
          </p:cNvSpPr>
          <p:nvPr/>
        </p:nvSpPr>
        <p:spPr>
          <a:xfrm xmlns:a="http://schemas.openxmlformats.org/drawingml/2006/main">
            <a:off x="8077200" y="3800475"/>
            <a:ext cx="27622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1">
                <a:solidFill>
                  <a:srgbClr val="17211D"/>
                </a:solidFill>
                <a:latin typeface="Georgia"/>
                <a:ea typeface="Georgia"/>
                <a:cs typeface="Georgia"/>
              </a:defRPr>
            </a:pPr>
            <a:r>
              <a:rPr sz="1425" b="1">
                <a:solidFill>
                  <a:srgbClr val="17211D"/>
                </a:solidFill>
                <a:latin typeface="Georgia"/>
                <a:ea typeface="Georgia"/>
                <a:cs typeface="Georgia"/>
              </a:rPr>
              <a:t>Gap</a:t>
            </a:r>
          </a:p>
        </p:txBody>
      </p:sp>
      <p:sp>
        <p:nvSpPr>
          <p:cNvPr id="31" name="">
            <a:extLst xmlns:a="http://schemas.openxmlformats.org/drawingml/2006/main">
              <a:ext uri="{FF2B5EF4-FFF2-40B4-BE49-F238E27FC236}">
                <a16:creationId xmlns:a16="http://schemas.microsoft.com/office/drawing/2014/main" id="{FC5BBC5B-4D1B-4E4A-A28B-EDBEB120C18F}"/>
              </a:ext>
            </a:extLst>
          </p:cNvPr>
          <p:cNvSpPr>
            <a:spLocks xmlns:a="http://schemas.openxmlformats.org/drawingml/2006/main" noGrp="1"/>
          </p:cNvSpPr>
          <p:nvPr/>
        </p:nvSpPr>
        <p:spPr>
          <a:xfrm xmlns:a="http://schemas.openxmlformats.org/drawingml/2006/main">
            <a:off x="8077200" y="4143375"/>
            <a:ext cx="31432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0">
                <a:solidFill>
                  <a:srgbClr val="65736B"/>
                </a:solidFill>
                <a:latin typeface="Aptos"/>
                <a:ea typeface="Aptos"/>
                <a:cs typeface="Aptos"/>
              </a:defRPr>
            </a:pPr>
            <a:r>
              <a:rPr sz="863" b="0">
                <a:solidFill>
                  <a:srgbClr val="65736B"/>
                </a:solidFill>
                <a:latin typeface="Aptos"/>
                <a:ea typeface="Aptos"/>
                <a:cs typeface="Aptos"/>
              </a:rPr>
              <a:t>cosa manca davvero—o niente</a:t>
            </a:r>
          </a:p>
        </p:txBody>
      </p:sp>
      <p:sp>
        <p:nvSpPr>
          <p:cNvPr id="32" name="">
            <a:extLst xmlns:a="http://schemas.openxmlformats.org/drawingml/2006/main">
              <a:ext uri="{FF2B5EF4-FFF2-40B4-BE49-F238E27FC236}">
                <a16:creationId xmlns:a16="http://schemas.microsoft.com/office/drawing/2014/main" id="{9D080D35-EFD3-4C4A-9BA0-0F69304A9183}"/>
              </a:ext>
            </a:extLst>
          </p:cNvPr>
          <p:cNvSpPr>
            <a:spLocks xmlns:a="http://schemas.openxmlformats.org/drawingml/2006/main" noGrp="1"/>
          </p:cNvSpPr>
          <p:nvPr/>
        </p:nvSpPr>
        <p:spPr>
          <a:xfrm xmlns:a="http://schemas.openxmlformats.org/drawingml/2006/main">
            <a:off x="7524750" y="4752975"/>
            <a:ext cx="4572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2F7D5B"/>
                </a:solidFill>
                <a:latin typeface="Georgia"/>
                <a:ea typeface="Georgia"/>
                <a:cs typeface="Georgia"/>
              </a:defRPr>
            </a:pPr>
            <a:r>
              <a:rPr sz="1050" b="1">
                <a:solidFill>
                  <a:srgbClr val="2F7D5B"/>
                </a:solidFill>
                <a:latin typeface="Georgia"/>
                <a:ea typeface="Georgia"/>
                <a:cs typeface="Georgia"/>
              </a:rPr>
              <a:t>04</a:t>
            </a:r>
          </a:p>
        </p:txBody>
      </p:sp>
      <p:sp>
        <p:nvSpPr>
          <p:cNvPr id="33" name="">
            <a:extLst xmlns:a="http://schemas.openxmlformats.org/drawingml/2006/main">
              <a:ext uri="{FF2B5EF4-FFF2-40B4-BE49-F238E27FC236}">
                <a16:creationId xmlns:a16="http://schemas.microsoft.com/office/drawing/2014/main" id="{6DEE5A31-EFF1-4A04-92D7-663EC292CC1A}"/>
              </a:ext>
            </a:extLst>
          </p:cNvPr>
          <p:cNvSpPr>
            <a:spLocks xmlns:a="http://schemas.openxmlformats.org/drawingml/2006/main" noGrp="1"/>
          </p:cNvSpPr>
          <p:nvPr/>
        </p:nvSpPr>
        <p:spPr>
          <a:xfrm xmlns:a="http://schemas.openxmlformats.org/drawingml/2006/main">
            <a:off x="8077200" y="4733925"/>
            <a:ext cx="27622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1">
                <a:solidFill>
                  <a:srgbClr val="17211D"/>
                </a:solidFill>
                <a:latin typeface="Georgia"/>
                <a:ea typeface="Georgia"/>
                <a:cs typeface="Georgia"/>
              </a:defRPr>
            </a:pPr>
            <a:r>
              <a:rPr sz="1425" b="1">
                <a:solidFill>
                  <a:srgbClr val="17211D"/>
                </a:solidFill>
                <a:latin typeface="Georgia"/>
                <a:ea typeface="Georgia"/>
                <a:cs typeface="Georgia"/>
              </a:rPr>
              <a:t>Rotazione</a:t>
            </a:r>
          </a:p>
        </p:txBody>
      </p:sp>
      <p:sp>
        <p:nvSpPr>
          <p:cNvPr id="34" name="">
            <a:extLst xmlns:a="http://schemas.openxmlformats.org/drawingml/2006/main">
              <a:ext uri="{FF2B5EF4-FFF2-40B4-BE49-F238E27FC236}">
                <a16:creationId xmlns:a16="http://schemas.microsoft.com/office/drawing/2014/main" id="{B09C4F53-6674-49D7-96AA-FAEE880DAFD5}"/>
              </a:ext>
            </a:extLst>
          </p:cNvPr>
          <p:cNvSpPr>
            <a:spLocks xmlns:a="http://schemas.openxmlformats.org/drawingml/2006/main" noGrp="1"/>
          </p:cNvSpPr>
          <p:nvPr/>
        </p:nvSpPr>
        <p:spPr>
          <a:xfrm xmlns:a="http://schemas.openxmlformats.org/drawingml/2006/main">
            <a:off x="8077200" y="5076825"/>
            <a:ext cx="31432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0">
                <a:solidFill>
                  <a:srgbClr val="65736B"/>
                </a:solidFill>
                <a:latin typeface="Aptos"/>
                <a:ea typeface="Aptos"/>
                <a:cs typeface="Aptos"/>
              </a:defRPr>
            </a:pPr>
            <a:r>
              <a:rPr sz="863" b="0">
                <a:solidFill>
                  <a:srgbClr val="65736B"/>
                </a:solidFill>
                <a:latin typeface="Aptos"/>
                <a:ea typeface="Aptos"/>
                <a:cs typeface="Aptos"/>
              </a:rPr>
              <a:t>capi mai indossati oltre soglia</a:t>
            </a:r>
          </a:p>
        </p:txBody>
      </p:sp>
      <p:sp>
        <p:nvSpPr>
          <p:cNvPr id="35" name="">
            <a:extLst xmlns:a="http://schemas.openxmlformats.org/drawingml/2006/main">
              <a:ext uri="{FF2B5EF4-FFF2-40B4-BE49-F238E27FC236}">
                <a16:creationId xmlns:a16="http://schemas.microsoft.com/office/drawing/2014/main" id="{84EDEDB8-5356-4046-B1DF-B83011698F6D}"/>
              </a:ext>
            </a:extLst>
          </p:cNvPr>
          <p:cNvSpPr>
            <a:spLocks xmlns:a="http://schemas.openxmlformats.org/drawingml/2006/main" noGrp="1"/>
          </p:cNvSpPr>
          <p:nvPr/>
        </p:nvSpPr>
        <p:spPr>
          <a:xfrm xmlns:a="http://schemas.openxmlformats.org/drawingml/2006/main">
            <a:off x="7734300" y="5753100"/>
            <a:ext cx="3238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38" b="0">
                <a:solidFill>
                  <a:srgbClr val="65736B"/>
                </a:solidFill>
                <a:latin typeface="Aptos"/>
                <a:ea typeface="Aptos"/>
                <a:cs typeface="Aptos"/>
              </a:defRPr>
            </a:pPr>
            <a:r>
              <a:rPr sz="638" b="0">
                <a:solidFill>
                  <a:srgbClr val="65736B"/>
                </a:solidFill>
                <a:latin typeface="Aptos"/>
                <a:ea typeface="Aptos"/>
                <a:cs typeface="Aptos"/>
              </a:rPr>
              <a:t>Mappa delle superfici correnti · non è uno screenshot</a:t>
            </a:r>
          </a:p>
        </p:txBody>
      </p:sp>
      <p:sp>
        <p:nvSpPr>
          <p:cNvPr id="36" name="">
            <a:extLst xmlns:a="http://schemas.openxmlformats.org/drawingml/2006/main">
              <a:ext uri="{FF2B5EF4-FFF2-40B4-BE49-F238E27FC236}">
                <a16:creationId xmlns:a16="http://schemas.microsoft.com/office/drawing/2014/main" id="{F6D95706-1C68-4B7E-AE3C-AB434DF69084}"/>
              </a:ext>
            </a:extLst>
          </p:cNvPr>
          <p:cNvSpPr>
            <a:spLocks xmlns:a="http://schemas.openxmlformats.org/drawingml/2006/main" noGrp="1"/>
          </p:cNvSpPr>
          <p:nvPr/>
        </p:nvSpPr>
        <p:spPr>
          <a:xfrm xmlns:a="http://schemas.openxmlformats.org/drawingml/2006/main">
            <a:off x="552450" y="6457950"/>
            <a:ext cx="1108710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92C2940A-AA12-43DD-A5C4-05CF56C9EF41}"/>
              </a:ext>
            </a:extLst>
          </p:cNvPr>
          <p:cNvSpPr>
            <a:spLocks xmlns:a="http://schemas.openxmlformats.org/drawingml/2006/main" noGrp="1"/>
          </p:cNvSpPr>
          <p:nvPr/>
        </p:nvSpPr>
        <p:spPr>
          <a:xfrm xmlns:a="http://schemas.openxmlformats.org/drawingml/2006/main">
            <a:off x="552450" y="6534150"/>
            <a:ext cx="1000125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63" b="0">
                <a:solidFill>
                  <a:srgbClr val="65736B"/>
                </a:solidFill>
                <a:latin typeface="Aptos"/>
                <a:ea typeface="Aptos"/>
                <a:cs typeface="Aptos"/>
              </a:defRPr>
            </a:pPr>
            <a:r>
              <a:rPr sz="563" b="0">
                <a:solidFill>
                  <a:srgbClr val="65736B"/>
                </a:solidFill>
                <a:latin typeface="Aptos"/>
                <a:ea typeface="Aptos"/>
                <a:cs typeface="Aptos"/>
              </a:rPr>
              <a:t>UI: /dashboard · /items/:id · /today</a:t>
            </a:r>
          </a:p>
        </p:txBody>
      </p:sp>
      <p:sp>
        <p:nvSpPr>
          <p:cNvPr id="38" name="">
            <a:extLst xmlns:a="http://schemas.openxmlformats.org/drawingml/2006/main">
              <a:ext uri="{FF2B5EF4-FFF2-40B4-BE49-F238E27FC236}">
                <a16:creationId xmlns:a16="http://schemas.microsoft.com/office/drawing/2014/main" id="{C5395F58-9C99-45DD-ACC8-6AF01758D08E}"/>
              </a:ext>
            </a:extLst>
          </p:cNvPr>
          <p:cNvSpPr>
            <a:spLocks xmlns:a="http://schemas.openxmlformats.org/drawingml/2006/main" noGrp="1"/>
          </p:cNvSpPr>
          <p:nvPr/>
        </p:nvSpPr>
        <p:spPr>
          <a:xfrm xmlns:a="http://schemas.openxmlformats.org/drawingml/2006/main">
            <a:off x="11087100" y="650557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65736B"/>
                </a:solidFill>
                <a:latin typeface="Georgia"/>
                <a:ea typeface="Georgia"/>
                <a:cs typeface="Georgia"/>
              </a:defRPr>
            </a:pPr>
            <a:r>
              <a:rPr sz="750" b="1">
                <a:solidFill>
                  <a:srgbClr val="65736B"/>
                </a:solidFill>
                <a:latin typeface="Georgia"/>
                <a:ea typeface="Georgia"/>
                <a:cs typeface="Georgia"/>
              </a:rPr>
              <a:t>04</a:t>
            </a:r>
          </a:p>
        </p:txBody>
      </p:sp>
    </p:spTree>
    <p:extLst>
      <p:ext uri="{BB962C8B-B14F-4D97-AF65-F5344CB8AC3E}">
        <p14:creationId xmlns:p14="http://schemas.microsoft.com/office/powerpoint/2010/main" val="22073285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BC660412-720F-467D-B30D-FFCF823764D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23C31"/>
          </a:solidFill>
          <a:ln xmlns:a="http://schemas.openxmlformats.org/drawingml/2006/main" w="0">
            <a:solidFill>
              <a:srgbClr val="000000">
                <a:alpha val="0"/>
              </a:srgbClr>
            </a:solidFill>
            <a:prstDash val="solid"/>
          </a:ln>
        </p:spPr>
      </p:sp>
      <p:sp>
        <p:nvSpPr>
          <p:cNvPr id="2" name="kicker-marker">
            <a:extLst xmlns:a="http://schemas.openxmlformats.org/drawingml/2006/main">
              <a:ext uri="{FF2B5EF4-FFF2-40B4-BE49-F238E27FC236}">
                <a16:creationId xmlns:a16="http://schemas.microsoft.com/office/drawing/2014/main" id="{C0C80A62-9B83-47F0-91EB-7DEA21BA1AFC}"/>
              </a:ext>
            </a:extLst>
          </p:cNvPr>
          <p:cNvSpPr>
            <a:spLocks xmlns:a="http://schemas.openxmlformats.org/drawingml/2006/main" noGrp="1"/>
          </p:cNvSpPr>
          <p:nvPr/>
        </p:nvSpPr>
        <p:spPr>
          <a:xfrm xmlns:a="http://schemas.openxmlformats.org/drawingml/2006/main">
            <a:off x="552450" y="438150"/>
            <a:ext cx="95250" cy="95250"/>
          </a:xfrm>
          <a:prstGeom xmlns:a="http://schemas.openxmlformats.org/drawingml/2006/main" prst="ellipse">
            <a:avLst/>
          </a:prstGeom>
          <a:solidFill xmlns:a="http://schemas.openxmlformats.org/drawingml/2006/main">
            <a:srgbClr val="B9D94A"/>
          </a:solidFill>
          <a:ln xmlns:a="http://schemas.openxmlformats.org/drawingml/2006/main" w="0">
            <a:solidFill>
              <a:srgbClr val="000000">
                <a:alpha val="0"/>
              </a:srgbClr>
            </a:solidFill>
            <a:prstDash val="solid"/>
          </a:ln>
        </p:spPr>
      </p:sp>
      <p:sp>
        <p:nvSpPr>
          <p:cNvPr id="3" name="kicker-label">
            <a:extLst xmlns:a="http://schemas.openxmlformats.org/drawingml/2006/main">
              <a:ext uri="{FF2B5EF4-FFF2-40B4-BE49-F238E27FC236}">
                <a16:creationId xmlns:a16="http://schemas.microsoft.com/office/drawing/2014/main" id="{151776AE-A0A5-456F-87B5-01BD386A9207}"/>
              </a:ext>
            </a:extLst>
          </p:cNvPr>
          <p:cNvSpPr>
            <a:spLocks xmlns:a="http://schemas.openxmlformats.org/drawingml/2006/main" noGrp="1"/>
          </p:cNvSpPr>
          <p:nvPr/>
        </p:nvSpPr>
        <p:spPr>
          <a:xfrm xmlns:a="http://schemas.openxmlformats.org/drawingml/2006/main">
            <a:off x="762000" y="400050"/>
            <a:ext cx="4762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DDE5DD"/>
                </a:solidFill>
                <a:latin typeface="Aptos"/>
                <a:ea typeface="Aptos"/>
                <a:cs typeface="Aptos"/>
              </a:defRPr>
            </a:pPr>
            <a:r>
              <a:rPr sz="675" b="1">
                <a:solidFill>
                  <a:srgbClr val="DDE5DD"/>
                </a:solidFill>
                <a:latin typeface="Aptos"/>
                <a:ea typeface="Aptos"/>
                <a:cs typeface="Aptos"/>
              </a:rPr>
              <a:t>G H O S T   G A R M E N T S   ·   R E G O L A   E S A T T A</a:t>
            </a:r>
          </a:p>
        </p:txBody>
      </p:sp>
      <p:sp>
        <p:nvSpPr>
          <p:cNvPr id="4" name="claim-title">
            <a:extLst xmlns:a="http://schemas.openxmlformats.org/drawingml/2006/main">
              <a:ext uri="{FF2B5EF4-FFF2-40B4-BE49-F238E27FC236}">
                <a16:creationId xmlns:a16="http://schemas.microsoft.com/office/drawing/2014/main" id="{A24CC554-FDC5-4F1B-A09B-210D4A9DAF81}"/>
              </a:ext>
            </a:extLst>
          </p:cNvPr>
          <p:cNvSpPr>
            <a:spLocks xmlns:a="http://schemas.openxmlformats.org/drawingml/2006/main" noGrp="1"/>
          </p:cNvSpPr>
          <p:nvPr/>
        </p:nvSpPr>
        <p:spPr>
          <a:xfrm xmlns:a="http://schemas.openxmlformats.org/drawingml/2006/main">
            <a:off x="552450" y="742950"/>
            <a:ext cx="1066800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700" b="1">
                <a:solidFill>
                  <a:srgbClr val="FFFFFF"/>
                </a:solidFill>
                <a:latin typeface="Georgia"/>
                <a:ea typeface="Georgia"/>
                <a:cs typeface="Georgia"/>
              </a:defRPr>
            </a:pPr>
            <a:r>
              <a:rPr sz="2700" b="1">
                <a:solidFill>
                  <a:srgbClr val="FFFFFF"/>
                </a:solidFill>
                <a:latin typeface="Georgia"/>
                <a:ea typeface="Georgia"/>
                <a:cs typeface="Georgia"/>
              </a:rPr>
              <a:t>Sì, i capi fantasma sono rilevati—con una regola auditabile, non con ML.</a:t>
            </a:r>
          </a:p>
        </p:txBody>
      </p:sp>
      <p:sp>
        <p:nvSpPr>
          <p:cNvPr id="5" name="">
            <a:extLst xmlns:a="http://schemas.openxmlformats.org/drawingml/2006/main">
              <a:ext uri="{FF2B5EF4-FFF2-40B4-BE49-F238E27FC236}">
                <a16:creationId xmlns:a16="http://schemas.microsoft.com/office/drawing/2014/main" id="{AE7AC059-AD12-4762-8932-2F57D23FD1E1}"/>
              </a:ext>
            </a:extLst>
          </p:cNvPr>
          <p:cNvSpPr>
            <a:spLocks xmlns:a="http://schemas.openxmlformats.org/drawingml/2006/main" noGrp="1"/>
          </p:cNvSpPr>
          <p:nvPr/>
        </p:nvSpPr>
        <p:spPr>
          <a:xfrm xmlns:a="http://schemas.openxmlformats.org/drawingml/2006/main">
            <a:off x="552450" y="1866900"/>
            <a:ext cx="11087100" cy="1200150"/>
          </a:xfrm>
          <a:prstGeom xmlns:a="http://schemas.openxmlformats.org/drawingml/2006/main" prst="roundRect">
            <a:avLst>
              <a:gd name="adj" fmla="val 6349"/>
            </a:avLst>
          </a:prstGeom>
          <a:solidFill xmlns:a="http://schemas.openxmlformats.org/drawingml/2006/main">
            <a:srgbClr val="1A4A3B"/>
          </a:solidFill>
          <a:ln xmlns:a="http://schemas.openxmlformats.org/drawingml/2006/main" w="9525">
            <a:solidFill>
              <a:srgbClr val="4C7969"/>
            </a:solidFill>
            <a:prstDash val="solid"/>
          </a:ln>
        </p:spPr>
      </p:sp>
      <p:sp>
        <p:nvSpPr>
          <p:cNvPr id="6" name="">
            <a:extLst xmlns:a="http://schemas.openxmlformats.org/drawingml/2006/main">
              <a:ext uri="{FF2B5EF4-FFF2-40B4-BE49-F238E27FC236}">
                <a16:creationId xmlns:a16="http://schemas.microsoft.com/office/drawing/2014/main" id="{4012427B-726F-44D4-952D-6C03451551F7}"/>
              </a:ext>
            </a:extLst>
          </p:cNvPr>
          <p:cNvSpPr>
            <a:spLocks xmlns:a="http://schemas.openxmlformats.org/drawingml/2006/main" noGrp="1"/>
          </p:cNvSpPr>
          <p:nvPr/>
        </p:nvSpPr>
        <p:spPr>
          <a:xfrm xmlns:a="http://schemas.openxmlformats.org/drawingml/2006/main">
            <a:off x="819150" y="2114550"/>
            <a:ext cx="12382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B9D94A"/>
                </a:solidFill>
                <a:latin typeface="Georgia"/>
                <a:ea typeface="Georgia"/>
                <a:cs typeface="Georgia"/>
              </a:defRPr>
            </a:pPr>
            <a:r>
              <a:rPr sz="2250" b="1">
                <a:solidFill>
                  <a:srgbClr val="B9D94A"/>
                </a:solidFill>
                <a:latin typeface="Georgia"/>
                <a:ea typeface="Georgia"/>
                <a:cs typeface="Georgia"/>
              </a:rPr>
              <a:t>GHOST</a:t>
            </a:r>
          </a:p>
        </p:txBody>
      </p:sp>
      <p:sp>
        <p:nvSpPr>
          <p:cNvPr id="7" name="">
            <a:extLst xmlns:a="http://schemas.openxmlformats.org/drawingml/2006/main">
              <a:ext uri="{FF2B5EF4-FFF2-40B4-BE49-F238E27FC236}">
                <a16:creationId xmlns:a16="http://schemas.microsoft.com/office/drawing/2014/main" id="{41A711A5-8586-461C-B71E-ABEAB3A6B4F5}"/>
              </a:ext>
            </a:extLst>
          </p:cNvPr>
          <p:cNvSpPr>
            <a:spLocks xmlns:a="http://schemas.openxmlformats.org/drawingml/2006/main" noGrp="1"/>
          </p:cNvSpPr>
          <p:nvPr/>
        </p:nvSpPr>
        <p:spPr>
          <a:xfrm xmlns:a="http://schemas.openxmlformats.org/drawingml/2006/main">
            <a:off x="2152650" y="2114550"/>
            <a:ext cx="38100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2250" b="1">
                <a:solidFill>
                  <a:srgbClr val="FFFFFF"/>
                </a:solidFill>
                <a:latin typeface="Georgia"/>
                <a:ea typeface="Georgia"/>
                <a:cs typeface="Georgia"/>
              </a:defRPr>
            </a:pPr>
            <a:r>
              <a:rPr sz="2250" b="1">
                <a:solidFill>
                  <a:srgbClr val="FFFFFF"/>
                </a:solidFill>
                <a:latin typeface="Georgia"/>
                <a:ea typeface="Georgia"/>
                <a:cs typeface="Georgia"/>
              </a:rPr>
              <a:t>=</a:t>
            </a:r>
          </a:p>
        </p:txBody>
      </p:sp>
      <p:sp>
        <p:nvSpPr>
          <p:cNvPr id="8" name="">
            <a:extLst xmlns:a="http://schemas.openxmlformats.org/drawingml/2006/main">
              <a:ext uri="{FF2B5EF4-FFF2-40B4-BE49-F238E27FC236}">
                <a16:creationId xmlns:a16="http://schemas.microsoft.com/office/drawing/2014/main" id="{403425F0-4E30-4EAD-9CBB-B6DCA686BA5E}"/>
              </a:ext>
            </a:extLst>
          </p:cNvPr>
          <p:cNvSpPr>
            <a:spLocks xmlns:a="http://schemas.openxmlformats.org/drawingml/2006/main" noGrp="1"/>
          </p:cNvSpPr>
          <p:nvPr/>
        </p:nvSpPr>
        <p:spPr>
          <a:xfrm xmlns:a="http://schemas.openxmlformats.org/drawingml/2006/main">
            <a:off x="2686050" y="2114550"/>
            <a:ext cx="171450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75" b="1">
                <a:solidFill>
                  <a:srgbClr val="FFFFFF"/>
                </a:solidFill>
                <a:latin typeface="Georgia"/>
                <a:ea typeface="Georgia"/>
                <a:cs typeface="Georgia"/>
              </a:defRPr>
            </a:pPr>
            <a:r>
              <a:rPr sz="1875" b="1">
                <a:solidFill>
                  <a:srgbClr val="FFFFFF"/>
                </a:solidFill>
                <a:latin typeface="Georgia"/>
                <a:ea typeface="Georgia"/>
                <a:cs typeface="Georgia"/>
              </a:rPr>
              <a:t>0 wear</a:t>
            </a:r>
          </a:p>
        </p:txBody>
      </p:sp>
      <p:sp>
        <p:nvSpPr>
          <p:cNvPr id="9" name="">
            <a:extLst xmlns:a="http://schemas.openxmlformats.org/drawingml/2006/main">
              <a:ext uri="{FF2B5EF4-FFF2-40B4-BE49-F238E27FC236}">
                <a16:creationId xmlns:a16="http://schemas.microsoft.com/office/drawing/2014/main" id="{CE78873A-72A5-467F-9E5A-4AAB67E467DA}"/>
              </a:ext>
            </a:extLst>
          </p:cNvPr>
          <p:cNvSpPr>
            <a:spLocks xmlns:a="http://schemas.openxmlformats.org/drawingml/2006/main" noGrp="1"/>
          </p:cNvSpPr>
          <p:nvPr/>
        </p:nvSpPr>
        <p:spPr>
          <a:xfrm xmlns:a="http://schemas.openxmlformats.org/drawingml/2006/main">
            <a:off x="4438650" y="2190750"/>
            <a:ext cx="66675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25" b="1">
                <a:solidFill>
                  <a:srgbClr val="9DB7AC"/>
                </a:solidFill>
                <a:latin typeface="Aptos"/>
                <a:ea typeface="Aptos"/>
                <a:cs typeface="Aptos"/>
              </a:defRPr>
            </a:pPr>
            <a:r>
              <a:rPr sz="825" b="1">
                <a:solidFill>
                  <a:srgbClr val="9DB7AC"/>
                </a:solidFill>
                <a:latin typeface="Aptos"/>
                <a:ea typeface="Aptos"/>
                <a:cs typeface="Aptos"/>
              </a:rPr>
              <a:t>AND</a:t>
            </a:r>
          </a:p>
        </p:txBody>
      </p:sp>
      <p:sp>
        <p:nvSpPr>
          <p:cNvPr id="10" name="">
            <a:extLst xmlns:a="http://schemas.openxmlformats.org/drawingml/2006/main">
              <a:ext uri="{FF2B5EF4-FFF2-40B4-BE49-F238E27FC236}">
                <a16:creationId xmlns:a16="http://schemas.microsoft.com/office/drawing/2014/main" id="{707F07B6-D992-41C8-B193-C80E068BDE39}"/>
              </a:ext>
            </a:extLst>
          </p:cNvPr>
          <p:cNvSpPr>
            <a:spLocks xmlns:a="http://schemas.openxmlformats.org/drawingml/2006/main" noGrp="1"/>
          </p:cNvSpPr>
          <p:nvPr/>
        </p:nvSpPr>
        <p:spPr>
          <a:xfrm xmlns:a="http://schemas.openxmlformats.org/drawingml/2006/main">
            <a:off x="5238750" y="2114550"/>
            <a:ext cx="266700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75" b="1">
                <a:solidFill>
                  <a:srgbClr val="FFFFFF"/>
                </a:solidFill>
                <a:latin typeface="Georgia"/>
                <a:ea typeface="Georgia"/>
                <a:cs typeface="Georgia"/>
              </a:defRPr>
            </a:pPr>
            <a:r>
              <a:rPr sz="1875" b="1">
                <a:solidFill>
                  <a:srgbClr val="FFFFFF"/>
                </a:solidFill>
                <a:latin typeface="Georgia"/>
                <a:ea typeface="Georgia"/>
                <a:cs typeface="Georgia"/>
              </a:rPr>
              <a:t>possesso ≥ soglia</a:t>
            </a:r>
          </a:p>
        </p:txBody>
      </p:sp>
      <p:sp>
        <p:nvSpPr>
          <p:cNvPr id="11" name="">
            <a:extLst xmlns:a="http://schemas.openxmlformats.org/drawingml/2006/main">
              <a:ext uri="{FF2B5EF4-FFF2-40B4-BE49-F238E27FC236}">
                <a16:creationId xmlns:a16="http://schemas.microsoft.com/office/drawing/2014/main" id="{58D008F6-5CF5-46FF-A605-41F4311E03BD}"/>
              </a:ext>
            </a:extLst>
          </p:cNvPr>
          <p:cNvSpPr>
            <a:spLocks xmlns:a="http://schemas.openxmlformats.org/drawingml/2006/main" noGrp="1"/>
          </p:cNvSpPr>
          <p:nvPr/>
        </p:nvSpPr>
        <p:spPr>
          <a:xfrm xmlns:a="http://schemas.openxmlformats.org/drawingml/2006/main">
            <a:off x="8020050" y="2190750"/>
            <a:ext cx="66675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25" b="1">
                <a:solidFill>
                  <a:srgbClr val="9DB7AC"/>
                </a:solidFill>
                <a:latin typeface="Aptos"/>
                <a:ea typeface="Aptos"/>
                <a:cs typeface="Aptos"/>
              </a:defRPr>
            </a:pPr>
            <a:r>
              <a:rPr sz="825" b="1">
                <a:solidFill>
                  <a:srgbClr val="9DB7AC"/>
                </a:solidFill>
                <a:latin typeface="Aptos"/>
                <a:ea typeface="Aptos"/>
                <a:cs typeface="Aptos"/>
              </a:rPr>
              <a:t>AND</a:t>
            </a:r>
          </a:p>
        </p:txBody>
      </p:sp>
      <p:sp>
        <p:nvSpPr>
          <p:cNvPr id="12" name="">
            <a:extLst xmlns:a="http://schemas.openxmlformats.org/drawingml/2006/main">
              <a:ext uri="{FF2B5EF4-FFF2-40B4-BE49-F238E27FC236}">
                <a16:creationId xmlns:a16="http://schemas.microsoft.com/office/drawing/2014/main" id="{F35C8BAA-502B-4D26-9C89-34F9E61BF6AF}"/>
              </a:ext>
            </a:extLst>
          </p:cNvPr>
          <p:cNvSpPr>
            <a:spLocks xmlns:a="http://schemas.openxmlformats.org/drawingml/2006/main" noGrp="1"/>
          </p:cNvSpPr>
          <p:nvPr/>
        </p:nvSpPr>
        <p:spPr>
          <a:xfrm xmlns:a="http://schemas.openxmlformats.org/drawingml/2006/main">
            <a:off x="8858250" y="2114550"/>
            <a:ext cx="20002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75" b="1">
                <a:solidFill>
                  <a:srgbClr val="FFFFFF"/>
                </a:solidFill>
                <a:latin typeface="Georgia"/>
                <a:ea typeface="Georgia"/>
                <a:cs typeface="Georgia"/>
              </a:defRPr>
            </a:pPr>
            <a:r>
              <a:rPr sz="1875" b="1">
                <a:solidFill>
                  <a:srgbClr val="FFFFFF"/>
                </a:solidFill>
                <a:latin typeface="Georgia"/>
                <a:ea typeface="Georgia"/>
                <a:cs typeface="Georgia"/>
              </a:rPr>
              <a:t>capo attivo</a:t>
            </a:r>
          </a:p>
        </p:txBody>
      </p:sp>
      <p:sp>
        <p:nvSpPr>
          <p:cNvPr id="13" name="">
            <a:extLst xmlns:a="http://schemas.openxmlformats.org/drawingml/2006/main">
              <a:ext uri="{FF2B5EF4-FFF2-40B4-BE49-F238E27FC236}">
                <a16:creationId xmlns:a16="http://schemas.microsoft.com/office/drawing/2014/main" id="{28F360FC-FD6D-4B13-828A-D8AF76260CE9}"/>
              </a:ext>
            </a:extLst>
          </p:cNvPr>
          <p:cNvSpPr>
            <a:spLocks xmlns:a="http://schemas.openxmlformats.org/drawingml/2006/main" noGrp="1"/>
          </p:cNvSpPr>
          <p:nvPr/>
        </p:nvSpPr>
        <p:spPr>
          <a:xfrm xmlns:a="http://schemas.openxmlformats.org/drawingml/2006/main">
            <a:off x="5067300" y="3276600"/>
            <a:ext cx="2057400" cy="266700"/>
          </a:xfrm>
          <a:prstGeom xmlns:a="http://schemas.openxmlformats.org/drawingml/2006/main" prst="roundRect">
            <a:avLst>
              <a:gd name="adj" fmla="val 28571"/>
            </a:avLst>
          </a:prstGeom>
          <a:solidFill xmlns:a="http://schemas.openxmlformats.org/drawingml/2006/main">
            <a:srgbClr val="B9D94A"/>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5A5416CB-8910-45B7-BF8C-08D6D93CA967}"/>
              </a:ext>
            </a:extLst>
          </p:cNvPr>
          <p:cNvSpPr>
            <a:spLocks xmlns:a="http://schemas.openxmlformats.org/drawingml/2006/main" noGrp="1"/>
          </p:cNvSpPr>
          <p:nvPr/>
        </p:nvSpPr>
        <p:spPr>
          <a:xfrm xmlns:a="http://schemas.openxmlformats.org/drawingml/2006/main">
            <a:off x="5162550" y="3295650"/>
            <a:ext cx="18669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675" b="1">
                <a:solidFill>
                  <a:srgbClr val="123C31"/>
                </a:solidFill>
                <a:latin typeface="Aptos"/>
                <a:ea typeface="Aptos"/>
                <a:cs typeface="Aptos"/>
              </a:defRPr>
            </a:pPr>
            <a:r>
              <a:rPr sz="675" b="1">
                <a:solidFill>
                  <a:srgbClr val="123C31"/>
                </a:solidFill>
                <a:latin typeface="Aptos"/>
                <a:ea typeface="Aptos"/>
                <a:cs typeface="Aptos"/>
              </a:rPr>
              <a:t>default: 30 giorni</a:t>
            </a:r>
          </a:p>
        </p:txBody>
      </p:sp>
      <p:sp>
        <p:nvSpPr>
          <p:cNvPr id="15" name="">
            <a:extLst xmlns:a="http://schemas.openxmlformats.org/drawingml/2006/main">
              <a:ext uri="{FF2B5EF4-FFF2-40B4-BE49-F238E27FC236}">
                <a16:creationId xmlns:a16="http://schemas.microsoft.com/office/drawing/2014/main" id="{EF46E3F2-38C2-4A1F-92AF-E79EC7AC6451}"/>
              </a:ext>
            </a:extLst>
          </p:cNvPr>
          <p:cNvSpPr>
            <a:spLocks xmlns:a="http://schemas.openxmlformats.org/drawingml/2006/main" noGrp="1"/>
          </p:cNvSpPr>
          <p:nvPr/>
        </p:nvSpPr>
        <p:spPr>
          <a:xfrm xmlns:a="http://schemas.openxmlformats.org/drawingml/2006/main">
            <a:off x="685800" y="3886200"/>
            <a:ext cx="495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B9D94A"/>
                </a:solidFill>
                <a:latin typeface="Georgia"/>
                <a:ea typeface="Georgia"/>
                <a:cs typeface="Georgia"/>
              </a:defRPr>
            </a:pPr>
            <a:r>
              <a:rPr sz="1125" b="1">
                <a:solidFill>
                  <a:srgbClr val="B9D94A"/>
                </a:solidFill>
                <a:latin typeface="Georgia"/>
                <a:ea typeface="Georgia"/>
                <a:cs typeface="Georgia"/>
              </a:rPr>
              <a:t>01</a:t>
            </a:r>
          </a:p>
        </p:txBody>
      </p:sp>
      <p:sp>
        <p:nvSpPr>
          <p:cNvPr id="16" name="">
            <a:extLst xmlns:a="http://schemas.openxmlformats.org/drawingml/2006/main">
              <a:ext uri="{FF2B5EF4-FFF2-40B4-BE49-F238E27FC236}">
                <a16:creationId xmlns:a16="http://schemas.microsoft.com/office/drawing/2014/main" id="{4356F788-C0FE-4C70-84F6-30342092D892}"/>
              </a:ext>
            </a:extLst>
          </p:cNvPr>
          <p:cNvSpPr>
            <a:spLocks xmlns:a="http://schemas.openxmlformats.org/drawingml/2006/main" noGrp="1"/>
          </p:cNvSpPr>
          <p:nvPr/>
        </p:nvSpPr>
        <p:spPr>
          <a:xfrm xmlns:a="http://schemas.openxmlformats.org/drawingml/2006/main">
            <a:off x="685800" y="4267200"/>
            <a:ext cx="31432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1">
                <a:solidFill>
                  <a:srgbClr val="FFFFFF"/>
                </a:solidFill>
                <a:latin typeface="Georgia"/>
                <a:ea typeface="Georgia"/>
                <a:cs typeface="Georgia"/>
              </a:defRPr>
            </a:pPr>
            <a:r>
              <a:rPr sz="1500" b="1">
                <a:solidFill>
                  <a:srgbClr val="FFFFFF"/>
                </a:solidFill>
                <a:latin typeface="Georgia"/>
                <a:ea typeface="Georgia"/>
                <a:cs typeface="Georgia"/>
              </a:rPr>
              <a:t>Dashboard</a:t>
            </a:r>
          </a:p>
        </p:txBody>
      </p:sp>
      <p:sp>
        <p:nvSpPr>
          <p:cNvPr id="17" name="">
            <a:extLst xmlns:a="http://schemas.openxmlformats.org/drawingml/2006/main">
              <a:ext uri="{FF2B5EF4-FFF2-40B4-BE49-F238E27FC236}">
                <a16:creationId xmlns:a16="http://schemas.microsoft.com/office/drawing/2014/main" id="{AA108FEF-8A8C-4991-8BB2-C5742BA9CEA0}"/>
              </a:ext>
            </a:extLst>
          </p:cNvPr>
          <p:cNvSpPr>
            <a:spLocks xmlns:a="http://schemas.openxmlformats.org/drawingml/2006/main" noGrp="1"/>
          </p:cNvSpPr>
          <p:nvPr/>
        </p:nvSpPr>
        <p:spPr>
          <a:xfrm xmlns:a="http://schemas.openxmlformats.org/drawingml/2006/main">
            <a:off x="685800" y="4667250"/>
            <a:ext cx="3143250" cy="685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DDE5DD"/>
                </a:solidFill>
                <a:latin typeface="Aptos"/>
                <a:ea typeface="Aptos"/>
                <a:cs typeface="Aptos"/>
              </a:defRPr>
            </a:pPr>
            <a:r>
              <a:rPr sz="900" b="0">
                <a:solidFill>
                  <a:srgbClr val="DDE5DD"/>
                </a:solidFill>
                <a:latin typeface="Aptos"/>
                <a:ea typeface="Aptos"/>
                <a:cs typeface="Aptos"/>
              </a:rPr>
              <a:t>conteggio + lista nominativa + soglia 30/60/90/180</a:t>
            </a:r>
          </a:p>
        </p:txBody>
      </p:sp>
      <p:sp>
        <p:nvSpPr>
          <p:cNvPr id="18" name="">
            <a:extLst xmlns:a="http://schemas.openxmlformats.org/drawingml/2006/main">
              <a:ext uri="{FF2B5EF4-FFF2-40B4-BE49-F238E27FC236}">
                <a16:creationId xmlns:a16="http://schemas.microsoft.com/office/drawing/2014/main" id="{17920055-B3F6-41B9-AED1-D0E1657927AA}"/>
              </a:ext>
            </a:extLst>
          </p:cNvPr>
          <p:cNvSpPr>
            <a:spLocks xmlns:a="http://schemas.openxmlformats.org/drawingml/2006/main" noGrp="1"/>
          </p:cNvSpPr>
          <p:nvPr/>
        </p:nvSpPr>
        <p:spPr>
          <a:xfrm xmlns:a="http://schemas.openxmlformats.org/drawingml/2006/main">
            <a:off x="4457700" y="3886200"/>
            <a:ext cx="495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B9D94A"/>
                </a:solidFill>
                <a:latin typeface="Georgia"/>
                <a:ea typeface="Georgia"/>
                <a:cs typeface="Georgia"/>
              </a:defRPr>
            </a:pPr>
            <a:r>
              <a:rPr sz="1125" b="1">
                <a:solidFill>
                  <a:srgbClr val="B9D94A"/>
                </a:solidFill>
                <a:latin typeface="Georgia"/>
                <a:ea typeface="Georgia"/>
                <a:cs typeface="Georgia"/>
              </a:rPr>
              <a:t>02</a:t>
            </a:r>
          </a:p>
        </p:txBody>
      </p:sp>
      <p:sp>
        <p:nvSpPr>
          <p:cNvPr id="19" name="">
            <a:extLst xmlns:a="http://schemas.openxmlformats.org/drawingml/2006/main">
              <a:ext uri="{FF2B5EF4-FFF2-40B4-BE49-F238E27FC236}">
                <a16:creationId xmlns:a16="http://schemas.microsoft.com/office/drawing/2014/main" id="{D486B8B2-73AD-4D3A-B0C7-6A7675228FD3}"/>
              </a:ext>
            </a:extLst>
          </p:cNvPr>
          <p:cNvSpPr>
            <a:spLocks xmlns:a="http://schemas.openxmlformats.org/drawingml/2006/main" noGrp="1"/>
          </p:cNvSpPr>
          <p:nvPr/>
        </p:nvSpPr>
        <p:spPr>
          <a:xfrm xmlns:a="http://schemas.openxmlformats.org/drawingml/2006/main">
            <a:off x="4457700" y="4267200"/>
            <a:ext cx="31432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1">
                <a:solidFill>
                  <a:srgbClr val="FFFFFF"/>
                </a:solidFill>
                <a:latin typeface="Georgia"/>
                <a:ea typeface="Georgia"/>
                <a:cs typeface="Georgia"/>
              </a:defRPr>
            </a:pPr>
            <a:r>
              <a:rPr sz="1500" b="1">
                <a:solidFill>
                  <a:srgbClr val="FFFFFF"/>
                </a:solidFill>
                <a:latin typeface="Georgia"/>
                <a:ea typeface="Georgia"/>
                <a:cs typeface="Georgia"/>
              </a:rPr>
              <a:t>Dettaglio capo</a:t>
            </a:r>
          </a:p>
        </p:txBody>
      </p:sp>
      <p:sp>
        <p:nvSpPr>
          <p:cNvPr id="20" name="">
            <a:extLst xmlns:a="http://schemas.openxmlformats.org/drawingml/2006/main">
              <a:ext uri="{FF2B5EF4-FFF2-40B4-BE49-F238E27FC236}">
                <a16:creationId xmlns:a16="http://schemas.microsoft.com/office/drawing/2014/main" id="{D3293739-69BE-4098-B3D8-0F00DA87AAFE}"/>
              </a:ext>
            </a:extLst>
          </p:cNvPr>
          <p:cNvSpPr>
            <a:spLocks xmlns:a="http://schemas.openxmlformats.org/drawingml/2006/main" noGrp="1"/>
          </p:cNvSpPr>
          <p:nvPr/>
        </p:nvSpPr>
        <p:spPr>
          <a:xfrm xmlns:a="http://schemas.openxmlformats.org/drawingml/2006/main">
            <a:off x="4457700" y="4667250"/>
            <a:ext cx="3143250" cy="685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DDE5DD"/>
                </a:solidFill>
                <a:latin typeface="Aptos"/>
                <a:ea typeface="Aptos"/>
                <a:cs typeface="Aptos"/>
              </a:defRPr>
            </a:pPr>
            <a:r>
              <a:rPr sz="900" b="0">
                <a:solidFill>
                  <a:srgbClr val="DDE5DD"/>
                </a:solidFill>
                <a:latin typeface="Aptos"/>
                <a:ea typeface="Aptos"/>
                <a:cs typeface="Aptos"/>
              </a:rPr>
              <a:t>badge “Poco utilizzato”</a:t>
            </a:r>
          </a:p>
        </p:txBody>
      </p:sp>
      <p:sp>
        <p:nvSpPr>
          <p:cNvPr id="21" name="">
            <a:extLst xmlns:a="http://schemas.openxmlformats.org/drawingml/2006/main">
              <a:ext uri="{FF2B5EF4-FFF2-40B4-BE49-F238E27FC236}">
                <a16:creationId xmlns:a16="http://schemas.microsoft.com/office/drawing/2014/main" id="{A97EFC74-55BA-4BD3-83A5-A580DF117BAA}"/>
              </a:ext>
            </a:extLst>
          </p:cNvPr>
          <p:cNvSpPr>
            <a:spLocks xmlns:a="http://schemas.openxmlformats.org/drawingml/2006/main" noGrp="1"/>
          </p:cNvSpPr>
          <p:nvPr/>
        </p:nvSpPr>
        <p:spPr>
          <a:xfrm xmlns:a="http://schemas.openxmlformats.org/drawingml/2006/main">
            <a:off x="8229600" y="3886200"/>
            <a:ext cx="495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B9D94A"/>
                </a:solidFill>
                <a:latin typeface="Georgia"/>
                <a:ea typeface="Georgia"/>
                <a:cs typeface="Georgia"/>
              </a:defRPr>
            </a:pPr>
            <a:r>
              <a:rPr sz="1125" b="1">
                <a:solidFill>
                  <a:srgbClr val="B9D94A"/>
                </a:solidFill>
                <a:latin typeface="Georgia"/>
                <a:ea typeface="Georgia"/>
                <a:cs typeface="Georgia"/>
              </a:rPr>
              <a:t>03</a:t>
            </a:r>
          </a:p>
        </p:txBody>
      </p:sp>
      <p:sp>
        <p:nvSpPr>
          <p:cNvPr id="22" name="">
            <a:extLst xmlns:a="http://schemas.openxmlformats.org/drawingml/2006/main">
              <a:ext uri="{FF2B5EF4-FFF2-40B4-BE49-F238E27FC236}">
                <a16:creationId xmlns:a16="http://schemas.microsoft.com/office/drawing/2014/main" id="{AEEF165D-472D-4EEE-8840-510796458EB4}"/>
              </a:ext>
            </a:extLst>
          </p:cNvPr>
          <p:cNvSpPr>
            <a:spLocks xmlns:a="http://schemas.openxmlformats.org/drawingml/2006/main" noGrp="1"/>
          </p:cNvSpPr>
          <p:nvPr/>
        </p:nvSpPr>
        <p:spPr>
          <a:xfrm xmlns:a="http://schemas.openxmlformats.org/drawingml/2006/main">
            <a:off x="8229600" y="4267200"/>
            <a:ext cx="31432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1">
                <a:solidFill>
                  <a:srgbClr val="FFFFFF"/>
                </a:solidFill>
                <a:latin typeface="Georgia"/>
                <a:ea typeface="Georgia"/>
                <a:cs typeface="Georgia"/>
              </a:defRPr>
            </a:pPr>
            <a:r>
              <a:rPr sz="1500" b="1">
                <a:solidFill>
                  <a:srgbClr val="FFFFFF"/>
                </a:solidFill>
                <a:latin typeface="Georgia"/>
                <a:ea typeface="Georgia"/>
                <a:cs typeface="Georgia"/>
              </a:rPr>
              <a:t>Outfit di oggi</a:t>
            </a:r>
          </a:p>
        </p:txBody>
      </p:sp>
      <p:sp>
        <p:nvSpPr>
          <p:cNvPr id="23" name="">
            <a:extLst xmlns:a="http://schemas.openxmlformats.org/drawingml/2006/main">
              <a:ext uri="{FF2B5EF4-FFF2-40B4-BE49-F238E27FC236}">
                <a16:creationId xmlns:a16="http://schemas.microsoft.com/office/drawing/2014/main" id="{846FBB1B-2167-4DEC-A456-58E7A45AD71F}"/>
              </a:ext>
            </a:extLst>
          </p:cNvPr>
          <p:cNvSpPr>
            <a:spLocks xmlns:a="http://schemas.openxmlformats.org/drawingml/2006/main" noGrp="1"/>
          </p:cNvSpPr>
          <p:nvPr/>
        </p:nvSpPr>
        <p:spPr>
          <a:xfrm xmlns:a="http://schemas.openxmlformats.org/drawingml/2006/main">
            <a:off x="8229600" y="4667250"/>
            <a:ext cx="3143250" cy="685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DDE5DD"/>
                </a:solidFill>
                <a:latin typeface="Aptos"/>
                <a:ea typeface="Aptos"/>
                <a:cs typeface="Aptos"/>
              </a:defRPr>
            </a:pPr>
            <a:r>
              <a:rPr sz="900" b="0">
                <a:solidFill>
                  <a:srgbClr val="DDE5DD"/>
                </a:solidFill>
                <a:latin typeface="Aptos"/>
                <a:ea typeface="Aptos"/>
                <a:cs typeface="Aptos"/>
              </a:rPr>
              <a:t>bonus “Riscoperta” solo per ghost eleggibili</a:t>
            </a:r>
          </a:p>
        </p:txBody>
      </p:sp>
      <p:sp>
        <p:nvSpPr>
          <p:cNvPr id="24" name="">
            <a:extLst xmlns:a="http://schemas.openxmlformats.org/drawingml/2006/main">
              <a:ext uri="{FF2B5EF4-FFF2-40B4-BE49-F238E27FC236}">
                <a16:creationId xmlns:a16="http://schemas.microsoft.com/office/drawing/2014/main" id="{DCB65483-0D75-4070-9B9A-726A31C9D740}"/>
              </a:ext>
            </a:extLst>
          </p:cNvPr>
          <p:cNvSpPr>
            <a:spLocks xmlns:a="http://schemas.openxmlformats.org/drawingml/2006/main" noGrp="1"/>
          </p:cNvSpPr>
          <p:nvPr/>
        </p:nvSpPr>
        <p:spPr>
          <a:xfrm xmlns:a="http://schemas.openxmlformats.org/drawingml/2006/main">
            <a:off x="552450" y="5905500"/>
            <a:ext cx="10572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A9C0B5"/>
                </a:solidFill>
                <a:latin typeface="Aptos"/>
                <a:ea typeface="Aptos"/>
                <a:cs typeface="Aptos"/>
              </a:defRPr>
            </a:pPr>
            <a:r>
              <a:rPr sz="825" b="0">
                <a:solidFill>
                  <a:srgbClr val="A9C0B5"/>
                </a:solidFill>
                <a:latin typeface="Aptos"/>
                <a:ea typeface="Aptos"/>
                <a:cs typeface="Aptos"/>
              </a:rPr>
              <a:t>Nota semantica: “mai indossato dopo X giorni”, non “non indossato di recente”.</a:t>
            </a:r>
          </a:p>
        </p:txBody>
      </p:sp>
      <p:sp>
        <p:nvSpPr>
          <p:cNvPr id="25" name="">
            <a:extLst xmlns:a="http://schemas.openxmlformats.org/drawingml/2006/main">
              <a:ext uri="{FF2B5EF4-FFF2-40B4-BE49-F238E27FC236}">
                <a16:creationId xmlns:a16="http://schemas.microsoft.com/office/drawing/2014/main" id="{D92EF3D0-6F42-404A-953D-5A08F1E28E17}"/>
              </a:ext>
            </a:extLst>
          </p:cNvPr>
          <p:cNvSpPr>
            <a:spLocks xmlns:a="http://schemas.openxmlformats.org/drawingml/2006/main" noGrp="1"/>
          </p:cNvSpPr>
          <p:nvPr/>
        </p:nvSpPr>
        <p:spPr>
          <a:xfrm xmlns:a="http://schemas.openxmlformats.org/drawingml/2006/main">
            <a:off x="552450" y="6457950"/>
            <a:ext cx="11087100" cy="9525"/>
          </a:xfrm>
          <a:prstGeom xmlns:a="http://schemas.openxmlformats.org/drawingml/2006/main" prst="rect">
            <a:avLst/>
          </a:prstGeom>
          <a:solidFill xmlns:a="http://schemas.openxmlformats.org/drawingml/2006/main">
            <a:srgbClr val="3F685A"/>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2F6E9F9A-DF2E-432F-913E-EBFD4C6570B5}"/>
              </a:ext>
            </a:extLst>
          </p:cNvPr>
          <p:cNvSpPr>
            <a:spLocks xmlns:a="http://schemas.openxmlformats.org/drawingml/2006/main" noGrp="1"/>
          </p:cNvSpPr>
          <p:nvPr/>
        </p:nvSpPr>
        <p:spPr>
          <a:xfrm xmlns:a="http://schemas.openxmlformats.org/drawingml/2006/main">
            <a:off x="552450" y="6534150"/>
            <a:ext cx="1000125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63" b="0">
                <a:solidFill>
                  <a:srgbClr val="86A396"/>
                </a:solidFill>
                <a:latin typeface="Aptos"/>
                <a:ea typeface="Aptos"/>
                <a:cs typeface="Aptos"/>
              </a:defRPr>
            </a:pPr>
            <a:r>
              <a:rPr sz="563" b="0">
                <a:solidFill>
                  <a:srgbClr val="86A396"/>
                </a:solidFill>
                <a:latin typeface="Aptos"/>
                <a:ea typeface="Aptos"/>
                <a:cs typeface="Aptos"/>
              </a:rPr>
              <a:t>Codice: services/ghosts.py + stats.py · UI: DashboardPage, ItemDetailPage, TodayPage</a:t>
            </a:r>
          </a:p>
        </p:txBody>
      </p:sp>
      <p:sp>
        <p:nvSpPr>
          <p:cNvPr id="27" name="">
            <a:extLst xmlns:a="http://schemas.openxmlformats.org/drawingml/2006/main">
              <a:ext uri="{FF2B5EF4-FFF2-40B4-BE49-F238E27FC236}">
                <a16:creationId xmlns:a16="http://schemas.microsoft.com/office/drawing/2014/main" id="{D722A1A3-842D-4818-86C0-F9C67C14C791}"/>
              </a:ext>
            </a:extLst>
          </p:cNvPr>
          <p:cNvSpPr>
            <a:spLocks xmlns:a="http://schemas.openxmlformats.org/drawingml/2006/main" noGrp="1"/>
          </p:cNvSpPr>
          <p:nvPr/>
        </p:nvSpPr>
        <p:spPr>
          <a:xfrm xmlns:a="http://schemas.openxmlformats.org/drawingml/2006/main">
            <a:off x="11087100" y="650557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86A396"/>
                </a:solidFill>
                <a:latin typeface="Georgia"/>
                <a:ea typeface="Georgia"/>
                <a:cs typeface="Georgia"/>
              </a:defRPr>
            </a:pPr>
            <a:r>
              <a:rPr sz="750" b="1">
                <a:solidFill>
                  <a:srgbClr val="86A396"/>
                </a:solidFill>
                <a:latin typeface="Georgia"/>
                <a:ea typeface="Georgia"/>
                <a:cs typeface="Georgia"/>
              </a:rPr>
              <a:t>05</a:t>
            </a:r>
          </a:p>
        </p:txBody>
      </p:sp>
    </p:spTree>
    <p:extLst>
      <p:ext uri="{BB962C8B-B14F-4D97-AF65-F5344CB8AC3E}">
        <p14:creationId xmlns:p14="http://schemas.microsoft.com/office/powerpoint/2010/main" val="1959419269"/>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9FB89444-C78C-431C-B575-D7385C19A54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0E7"/>
          </a:solidFill>
          <a:ln xmlns:a="http://schemas.openxmlformats.org/drawingml/2006/main" w="0">
            <a:solidFill>
              <a:srgbClr val="000000">
                <a:alpha val="0"/>
              </a:srgbClr>
            </a:solidFill>
            <a:prstDash val="solid"/>
          </a:ln>
        </p:spPr>
      </p:sp>
      <p:sp>
        <p:nvSpPr>
          <p:cNvPr id="2" name="kicker-marker">
            <a:extLst xmlns:a="http://schemas.openxmlformats.org/drawingml/2006/main">
              <a:ext uri="{FF2B5EF4-FFF2-40B4-BE49-F238E27FC236}">
                <a16:creationId xmlns:a16="http://schemas.microsoft.com/office/drawing/2014/main" id="{6D65C0D8-B4A4-4E77-B68A-6329BC75BC03}"/>
              </a:ext>
            </a:extLst>
          </p:cNvPr>
          <p:cNvSpPr>
            <a:spLocks xmlns:a="http://schemas.openxmlformats.org/drawingml/2006/main" noGrp="1"/>
          </p:cNvSpPr>
          <p:nvPr/>
        </p:nvSpPr>
        <p:spPr>
          <a:xfrm xmlns:a="http://schemas.openxmlformats.org/drawingml/2006/main">
            <a:off x="552450" y="438150"/>
            <a:ext cx="95250" cy="9525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3" name="kicker-label">
            <a:extLst xmlns:a="http://schemas.openxmlformats.org/drawingml/2006/main">
              <a:ext uri="{FF2B5EF4-FFF2-40B4-BE49-F238E27FC236}">
                <a16:creationId xmlns:a16="http://schemas.microsoft.com/office/drawing/2014/main" id="{35C78F40-5160-49A0-BCE4-A5B6B2F32E47}"/>
              </a:ext>
            </a:extLst>
          </p:cNvPr>
          <p:cNvSpPr>
            <a:spLocks xmlns:a="http://schemas.openxmlformats.org/drawingml/2006/main" noGrp="1"/>
          </p:cNvSpPr>
          <p:nvPr/>
        </p:nvSpPr>
        <p:spPr>
          <a:xfrm xmlns:a="http://schemas.openxmlformats.org/drawingml/2006/main">
            <a:off x="762000" y="400050"/>
            <a:ext cx="4762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65736B"/>
                </a:solidFill>
                <a:latin typeface="Aptos"/>
                <a:ea typeface="Aptos"/>
                <a:cs typeface="Aptos"/>
              </a:defRPr>
            </a:pPr>
            <a:r>
              <a:rPr sz="675" b="1">
                <a:solidFill>
                  <a:srgbClr val="65736B"/>
                </a:solidFill>
                <a:latin typeface="Aptos"/>
                <a:ea typeface="Aptos"/>
                <a:cs typeface="Aptos"/>
              </a:rPr>
              <a:t>M O D E L L O   1   ·   S T A T O   D E L   C A P O</a:t>
            </a:r>
          </a:p>
        </p:txBody>
      </p:sp>
      <p:sp>
        <p:nvSpPr>
          <p:cNvPr id="4" name="claim-title">
            <a:extLst xmlns:a="http://schemas.openxmlformats.org/drawingml/2006/main">
              <a:ext uri="{FF2B5EF4-FFF2-40B4-BE49-F238E27FC236}">
                <a16:creationId xmlns:a16="http://schemas.microsoft.com/office/drawing/2014/main" id="{1A7E9CDC-AAC3-4A8E-A563-07763AFB06D9}"/>
              </a:ext>
            </a:extLst>
          </p:cNvPr>
          <p:cNvSpPr>
            <a:spLocks xmlns:a="http://schemas.openxmlformats.org/drawingml/2006/main" noGrp="1"/>
          </p:cNvSpPr>
          <p:nvPr/>
        </p:nvSpPr>
        <p:spPr>
          <a:xfrm xmlns:a="http://schemas.openxmlformats.org/drawingml/2006/main">
            <a:off x="552450" y="742950"/>
            <a:ext cx="1066800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700" b="1">
                <a:solidFill>
                  <a:srgbClr val="17211D"/>
                </a:solidFill>
                <a:latin typeface="Georgia"/>
                <a:ea typeface="Georgia"/>
                <a:cs typeface="Georgia"/>
              </a:defRPr>
            </a:pPr>
            <a:r>
              <a:rPr sz="2700" b="1">
                <a:solidFill>
                  <a:srgbClr val="17211D"/>
                </a:solidFill>
                <a:latin typeface="Georgia"/>
                <a:ea typeface="Georgia"/>
                <a:cs typeface="Georgia"/>
              </a:rPr>
              <a:t>La diagnosi dello stato è transfer learning: percezione congelata, testa nostra.</a:t>
            </a:r>
          </a:p>
        </p:txBody>
      </p:sp>
      <p:sp>
        <p:nvSpPr>
          <p:cNvPr id="5" name="">
            <a:extLst xmlns:a="http://schemas.openxmlformats.org/drawingml/2006/main">
              <a:ext uri="{FF2B5EF4-FFF2-40B4-BE49-F238E27FC236}">
                <a16:creationId xmlns:a16="http://schemas.microsoft.com/office/drawing/2014/main" id="{98BE362C-8AAD-402C-BCAF-98FE672CD700}"/>
              </a:ext>
            </a:extLst>
          </p:cNvPr>
          <p:cNvSpPr>
            <a:spLocks xmlns:a="http://schemas.openxmlformats.org/drawingml/2006/main" noGrp="1"/>
          </p:cNvSpPr>
          <p:nvPr/>
        </p:nvSpPr>
        <p:spPr>
          <a:xfrm xmlns:a="http://schemas.openxmlformats.org/drawingml/2006/main">
            <a:off x="590550" y="1952625"/>
            <a:ext cx="1428750" cy="876300"/>
          </a:xfrm>
          <a:prstGeom xmlns:a="http://schemas.openxmlformats.org/drawingml/2006/main" prst="roundRect">
            <a:avLst>
              <a:gd name="adj" fmla="val 8696"/>
            </a:avLst>
          </a:prstGeom>
          <a:solidFill xmlns:a="http://schemas.openxmlformats.org/drawingml/2006/main">
            <a:srgbClr val="FFFFFF"/>
          </a:solidFill>
          <a:ln xmlns:a="http://schemas.openxmlformats.org/drawingml/2006/main" w="9525">
            <a:solidFill>
              <a:srgbClr val="B9C3BB"/>
            </a:solidFill>
            <a:prstDash val="solid"/>
          </a:ln>
        </p:spPr>
      </p:sp>
      <p:sp>
        <p:nvSpPr>
          <p:cNvPr id="6" name="">
            <a:extLst xmlns:a="http://schemas.openxmlformats.org/drawingml/2006/main">
              <a:ext uri="{FF2B5EF4-FFF2-40B4-BE49-F238E27FC236}">
                <a16:creationId xmlns:a16="http://schemas.microsoft.com/office/drawing/2014/main" id="{5447B632-FEBA-4005-B4D1-DE93D79CBAB4}"/>
              </a:ext>
            </a:extLst>
          </p:cNvPr>
          <p:cNvSpPr>
            <a:spLocks xmlns:a="http://schemas.openxmlformats.org/drawingml/2006/main" noGrp="1"/>
          </p:cNvSpPr>
          <p:nvPr/>
        </p:nvSpPr>
        <p:spPr>
          <a:xfrm xmlns:a="http://schemas.openxmlformats.org/drawingml/2006/main">
            <a:off x="704850" y="2095500"/>
            <a:ext cx="12001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17211D"/>
                </a:solidFill>
                <a:latin typeface="Georgia"/>
                <a:ea typeface="Georgia"/>
                <a:cs typeface="Georgia"/>
              </a:defRPr>
            </a:pPr>
            <a:r>
              <a:rPr sz="1125" b="1">
                <a:solidFill>
                  <a:srgbClr val="17211D"/>
                </a:solidFill>
                <a:latin typeface="Georgia"/>
                <a:ea typeface="Georgia"/>
                <a:cs typeface="Georgia"/>
              </a:rPr>
              <a:t>Foto</a:t>
            </a:r>
          </a:p>
        </p:txBody>
      </p:sp>
      <p:sp>
        <p:nvSpPr>
          <p:cNvPr id="7" name="">
            <a:extLst xmlns:a="http://schemas.openxmlformats.org/drawingml/2006/main">
              <a:ext uri="{FF2B5EF4-FFF2-40B4-BE49-F238E27FC236}">
                <a16:creationId xmlns:a16="http://schemas.microsoft.com/office/drawing/2014/main" id="{32CC42F1-767C-4B90-8BB3-E8839D11BB50}"/>
              </a:ext>
            </a:extLst>
          </p:cNvPr>
          <p:cNvSpPr>
            <a:spLocks xmlns:a="http://schemas.openxmlformats.org/drawingml/2006/main" noGrp="1"/>
          </p:cNvSpPr>
          <p:nvPr/>
        </p:nvSpPr>
        <p:spPr>
          <a:xfrm xmlns:a="http://schemas.openxmlformats.org/drawingml/2006/main">
            <a:off x="704850" y="2419350"/>
            <a:ext cx="12001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13" b="0">
                <a:solidFill>
                  <a:srgbClr val="65736B"/>
                </a:solidFill>
                <a:latin typeface="Aptos"/>
                <a:ea typeface="Aptos"/>
                <a:cs typeface="Aptos"/>
              </a:defRPr>
            </a:pPr>
            <a:r>
              <a:rPr sz="713" b="0">
                <a:solidFill>
                  <a:srgbClr val="65736B"/>
                </a:solidFill>
                <a:latin typeface="Aptos"/>
                <a:ea typeface="Aptos"/>
                <a:cs typeface="Aptos"/>
              </a:rPr>
              <a:t>input utente</a:t>
            </a:r>
          </a:p>
        </p:txBody>
      </p:sp>
      <p:sp>
        <p:nvSpPr>
          <p:cNvPr id="8" name="">
            <a:extLst xmlns:a="http://schemas.openxmlformats.org/drawingml/2006/main">
              <a:ext uri="{FF2B5EF4-FFF2-40B4-BE49-F238E27FC236}">
                <a16:creationId xmlns:a16="http://schemas.microsoft.com/office/drawing/2014/main" id="{13B471EE-5331-4B10-A188-46BBA64B8AEE}"/>
              </a:ext>
            </a:extLst>
          </p:cNvPr>
          <p:cNvSpPr>
            <a:spLocks xmlns:a="http://schemas.openxmlformats.org/drawingml/2006/main" noGrp="1"/>
          </p:cNvSpPr>
          <p:nvPr/>
        </p:nvSpPr>
        <p:spPr>
          <a:xfrm xmlns:a="http://schemas.openxmlformats.org/drawingml/2006/main">
            <a:off x="2019300" y="2381250"/>
            <a:ext cx="552450" cy="19050"/>
          </a:xfrm>
          <a:prstGeom xmlns:a="http://schemas.openxmlformats.org/drawingml/2006/main" prst="rect">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20894AE0-65EF-446C-932C-A1FF38225818}"/>
              </a:ext>
            </a:extLst>
          </p:cNvPr>
          <p:cNvSpPr>
            <a:spLocks xmlns:a="http://schemas.openxmlformats.org/drawingml/2006/main" noGrp="1"/>
          </p:cNvSpPr>
          <p:nvPr/>
        </p:nvSpPr>
        <p:spPr>
          <a:xfrm xmlns:a="http://schemas.openxmlformats.org/drawingml/2006/main">
            <a:off x="2571750" y="1952625"/>
            <a:ext cx="1714500" cy="876300"/>
          </a:xfrm>
          <a:prstGeom xmlns:a="http://schemas.openxmlformats.org/drawingml/2006/main" prst="roundRect">
            <a:avLst>
              <a:gd name="adj" fmla="val 8696"/>
            </a:avLst>
          </a:prstGeom>
          <a:solidFill xmlns:a="http://schemas.openxmlformats.org/drawingml/2006/main">
            <a:srgbClr val="FFFFFF"/>
          </a:solidFill>
          <a:ln xmlns:a="http://schemas.openxmlformats.org/drawingml/2006/main" w="9525">
            <a:solidFill>
              <a:srgbClr val="B9C3BB"/>
            </a:solidFill>
            <a:prstDash val="solid"/>
          </a:ln>
        </p:spPr>
      </p:sp>
      <p:sp>
        <p:nvSpPr>
          <p:cNvPr id="10" name="">
            <a:extLst xmlns:a="http://schemas.openxmlformats.org/drawingml/2006/main">
              <a:ext uri="{FF2B5EF4-FFF2-40B4-BE49-F238E27FC236}">
                <a16:creationId xmlns:a16="http://schemas.microsoft.com/office/drawing/2014/main" id="{1D78E1B0-7924-498C-873E-0135A5F40E93}"/>
              </a:ext>
            </a:extLst>
          </p:cNvPr>
          <p:cNvSpPr>
            <a:spLocks xmlns:a="http://schemas.openxmlformats.org/drawingml/2006/main" noGrp="1"/>
          </p:cNvSpPr>
          <p:nvPr/>
        </p:nvSpPr>
        <p:spPr>
          <a:xfrm xmlns:a="http://schemas.openxmlformats.org/drawingml/2006/main">
            <a:off x="2686050" y="2095500"/>
            <a:ext cx="14859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17211D"/>
                </a:solidFill>
                <a:latin typeface="Georgia"/>
                <a:ea typeface="Georgia"/>
                <a:cs typeface="Georgia"/>
              </a:defRPr>
            </a:pPr>
            <a:r>
              <a:rPr sz="1125" b="1">
                <a:solidFill>
                  <a:srgbClr val="17211D"/>
                </a:solidFill>
                <a:latin typeface="Georgia"/>
                <a:ea typeface="Georgia"/>
                <a:cs typeface="Georgia"/>
              </a:rPr>
              <a:t>Fashion-CLIP</a:t>
            </a:r>
          </a:p>
        </p:txBody>
      </p:sp>
      <p:sp>
        <p:nvSpPr>
          <p:cNvPr id="11" name="">
            <a:extLst xmlns:a="http://schemas.openxmlformats.org/drawingml/2006/main">
              <a:ext uri="{FF2B5EF4-FFF2-40B4-BE49-F238E27FC236}">
                <a16:creationId xmlns:a16="http://schemas.microsoft.com/office/drawing/2014/main" id="{B9FA8817-2DFC-4218-BDA7-76ACAA26FFA7}"/>
              </a:ext>
            </a:extLst>
          </p:cNvPr>
          <p:cNvSpPr>
            <a:spLocks xmlns:a="http://schemas.openxmlformats.org/drawingml/2006/main" noGrp="1"/>
          </p:cNvSpPr>
          <p:nvPr/>
        </p:nvSpPr>
        <p:spPr>
          <a:xfrm xmlns:a="http://schemas.openxmlformats.org/drawingml/2006/main">
            <a:off x="2686050" y="2419350"/>
            <a:ext cx="14859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13" b="0">
                <a:solidFill>
                  <a:srgbClr val="65736B"/>
                </a:solidFill>
                <a:latin typeface="Aptos"/>
                <a:ea typeface="Aptos"/>
                <a:cs typeface="Aptos"/>
              </a:defRPr>
            </a:pPr>
            <a:r>
              <a:rPr sz="713" b="0">
                <a:solidFill>
                  <a:srgbClr val="65736B"/>
                </a:solidFill>
                <a:latin typeface="Aptos"/>
                <a:ea typeface="Aptos"/>
                <a:cs typeface="Aptos"/>
              </a:rPr>
              <a:t>pre-addestrato · frozen</a:t>
            </a:r>
          </a:p>
        </p:txBody>
      </p:sp>
      <p:sp>
        <p:nvSpPr>
          <p:cNvPr id="12" name="">
            <a:extLst xmlns:a="http://schemas.openxmlformats.org/drawingml/2006/main">
              <a:ext uri="{FF2B5EF4-FFF2-40B4-BE49-F238E27FC236}">
                <a16:creationId xmlns:a16="http://schemas.microsoft.com/office/drawing/2014/main" id="{746002A9-3F6B-46F0-B20B-FB696E0E7770}"/>
              </a:ext>
            </a:extLst>
          </p:cNvPr>
          <p:cNvSpPr>
            <a:spLocks xmlns:a="http://schemas.openxmlformats.org/drawingml/2006/main" noGrp="1"/>
          </p:cNvSpPr>
          <p:nvPr/>
        </p:nvSpPr>
        <p:spPr>
          <a:xfrm xmlns:a="http://schemas.openxmlformats.org/drawingml/2006/main">
            <a:off x="4286250" y="2381250"/>
            <a:ext cx="571500" cy="19050"/>
          </a:xfrm>
          <a:prstGeom xmlns:a="http://schemas.openxmlformats.org/drawingml/2006/main" prst="rect">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2075E204-CE39-4427-8F9A-8565197B7275}"/>
              </a:ext>
            </a:extLst>
          </p:cNvPr>
          <p:cNvSpPr>
            <a:spLocks xmlns:a="http://schemas.openxmlformats.org/drawingml/2006/main" noGrp="1"/>
          </p:cNvSpPr>
          <p:nvPr/>
        </p:nvSpPr>
        <p:spPr>
          <a:xfrm xmlns:a="http://schemas.openxmlformats.org/drawingml/2006/main">
            <a:off x="4857750" y="1952625"/>
            <a:ext cx="1809750" cy="876300"/>
          </a:xfrm>
          <a:prstGeom xmlns:a="http://schemas.openxmlformats.org/drawingml/2006/main" prst="roundRect">
            <a:avLst>
              <a:gd name="adj" fmla="val 8696"/>
            </a:avLst>
          </a:prstGeom>
          <a:solidFill xmlns:a="http://schemas.openxmlformats.org/drawingml/2006/main">
            <a:srgbClr val="FFFFFF"/>
          </a:solidFill>
          <a:ln xmlns:a="http://schemas.openxmlformats.org/drawingml/2006/main" w="9525">
            <a:solidFill>
              <a:srgbClr val="B9C3BB"/>
            </a:solidFill>
            <a:prstDash val="solid"/>
          </a:ln>
        </p:spPr>
      </p:sp>
      <p:sp>
        <p:nvSpPr>
          <p:cNvPr id="14" name="">
            <a:extLst xmlns:a="http://schemas.openxmlformats.org/drawingml/2006/main">
              <a:ext uri="{FF2B5EF4-FFF2-40B4-BE49-F238E27FC236}">
                <a16:creationId xmlns:a16="http://schemas.microsoft.com/office/drawing/2014/main" id="{1D3AAD01-4F9B-4F4D-BCAF-021E7011E763}"/>
              </a:ext>
            </a:extLst>
          </p:cNvPr>
          <p:cNvSpPr>
            <a:spLocks xmlns:a="http://schemas.openxmlformats.org/drawingml/2006/main" noGrp="1"/>
          </p:cNvSpPr>
          <p:nvPr/>
        </p:nvSpPr>
        <p:spPr>
          <a:xfrm xmlns:a="http://schemas.openxmlformats.org/drawingml/2006/main">
            <a:off x="4972050" y="2095500"/>
            <a:ext cx="15811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17211D"/>
                </a:solidFill>
                <a:latin typeface="Georgia"/>
                <a:ea typeface="Georgia"/>
                <a:cs typeface="Georgia"/>
              </a:defRPr>
            </a:pPr>
            <a:r>
              <a:rPr sz="1125" b="1">
                <a:solidFill>
                  <a:srgbClr val="17211D"/>
                </a:solidFill>
                <a:latin typeface="Georgia"/>
                <a:ea typeface="Georgia"/>
                <a:cs typeface="Georgia"/>
              </a:rPr>
              <a:t>Embedding 512D</a:t>
            </a:r>
          </a:p>
        </p:txBody>
      </p:sp>
      <p:sp>
        <p:nvSpPr>
          <p:cNvPr id="15" name="">
            <a:extLst xmlns:a="http://schemas.openxmlformats.org/drawingml/2006/main">
              <a:ext uri="{FF2B5EF4-FFF2-40B4-BE49-F238E27FC236}">
                <a16:creationId xmlns:a16="http://schemas.microsoft.com/office/drawing/2014/main" id="{20568E4E-11A4-4A35-A22C-FAD875313F66}"/>
              </a:ext>
            </a:extLst>
          </p:cNvPr>
          <p:cNvSpPr>
            <a:spLocks xmlns:a="http://schemas.openxmlformats.org/drawingml/2006/main" noGrp="1"/>
          </p:cNvSpPr>
          <p:nvPr/>
        </p:nvSpPr>
        <p:spPr>
          <a:xfrm xmlns:a="http://schemas.openxmlformats.org/drawingml/2006/main">
            <a:off x="4972050" y="2419350"/>
            <a:ext cx="15811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13" b="0">
                <a:solidFill>
                  <a:srgbClr val="65736B"/>
                </a:solidFill>
                <a:latin typeface="Aptos"/>
                <a:ea typeface="Aptos"/>
                <a:cs typeface="Aptos"/>
              </a:defRPr>
            </a:pPr>
            <a:r>
              <a:rPr sz="713" b="0">
                <a:solidFill>
                  <a:srgbClr val="65736B"/>
                </a:solidFill>
                <a:latin typeface="Aptos"/>
                <a:ea typeface="Aptos"/>
                <a:cs typeface="Aptos"/>
              </a:rPr>
              <a:t>vettore visivo</a:t>
            </a:r>
          </a:p>
        </p:txBody>
      </p:sp>
      <p:sp>
        <p:nvSpPr>
          <p:cNvPr id="16" name="">
            <a:extLst xmlns:a="http://schemas.openxmlformats.org/drawingml/2006/main">
              <a:ext uri="{FF2B5EF4-FFF2-40B4-BE49-F238E27FC236}">
                <a16:creationId xmlns:a16="http://schemas.microsoft.com/office/drawing/2014/main" id="{91EDF150-7F79-4781-85A8-DF1B4D063B25}"/>
              </a:ext>
            </a:extLst>
          </p:cNvPr>
          <p:cNvSpPr>
            <a:spLocks xmlns:a="http://schemas.openxmlformats.org/drawingml/2006/main" noGrp="1"/>
          </p:cNvSpPr>
          <p:nvPr/>
        </p:nvSpPr>
        <p:spPr>
          <a:xfrm xmlns:a="http://schemas.openxmlformats.org/drawingml/2006/main">
            <a:off x="6667500" y="2381250"/>
            <a:ext cx="571500" cy="19050"/>
          </a:xfrm>
          <a:prstGeom xmlns:a="http://schemas.openxmlformats.org/drawingml/2006/main" prst="rect">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0B1B1FFB-38CD-4E2E-8F9B-87F9A44CD6C7}"/>
              </a:ext>
            </a:extLst>
          </p:cNvPr>
          <p:cNvSpPr>
            <a:spLocks xmlns:a="http://schemas.openxmlformats.org/drawingml/2006/main" noGrp="1"/>
          </p:cNvSpPr>
          <p:nvPr/>
        </p:nvSpPr>
        <p:spPr>
          <a:xfrm xmlns:a="http://schemas.openxmlformats.org/drawingml/2006/main">
            <a:off x="7239000" y="1952625"/>
            <a:ext cx="1714500" cy="876300"/>
          </a:xfrm>
          <a:prstGeom xmlns:a="http://schemas.openxmlformats.org/drawingml/2006/main" prst="roundRect">
            <a:avLst>
              <a:gd name="adj" fmla="val 8696"/>
            </a:avLst>
          </a:prstGeom>
          <a:solidFill xmlns:a="http://schemas.openxmlformats.org/drawingml/2006/main">
            <a:srgbClr val="123C31"/>
          </a:solidFill>
          <a:ln xmlns:a="http://schemas.openxmlformats.org/drawingml/2006/main" w="9525">
            <a:solidFill>
              <a:srgbClr val="123C31"/>
            </a:solidFill>
            <a:prstDash val="solid"/>
          </a:ln>
        </p:spPr>
      </p:sp>
      <p:sp>
        <p:nvSpPr>
          <p:cNvPr id="18" name="">
            <a:extLst xmlns:a="http://schemas.openxmlformats.org/drawingml/2006/main">
              <a:ext uri="{FF2B5EF4-FFF2-40B4-BE49-F238E27FC236}">
                <a16:creationId xmlns:a16="http://schemas.microsoft.com/office/drawing/2014/main" id="{D3A7BA00-3B5A-4136-85EE-67592BDEB79F}"/>
              </a:ext>
            </a:extLst>
          </p:cNvPr>
          <p:cNvSpPr>
            <a:spLocks xmlns:a="http://schemas.openxmlformats.org/drawingml/2006/main" noGrp="1"/>
          </p:cNvSpPr>
          <p:nvPr/>
        </p:nvSpPr>
        <p:spPr>
          <a:xfrm xmlns:a="http://schemas.openxmlformats.org/drawingml/2006/main">
            <a:off x="7353300" y="2095500"/>
            <a:ext cx="14859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FFFFF"/>
                </a:solidFill>
                <a:latin typeface="Georgia"/>
                <a:ea typeface="Georgia"/>
                <a:cs typeface="Georgia"/>
              </a:defRPr>
            </a:pPr>
            <a:r>
              <a:rPr sz="1125" b="1">
                <a:solidFill>
                  <a:srgbClr val="FFFFFF"/>
                </a:solidFill>
                <a:latin typeface="Georgia"/>
                <a:ea typeface="Georgia"/>
                <a:cs typeface="Georgia"/>
              </a:rPr>
              <a:t>MLP 256→128</a:t>
            </a:r>
          </a:p>
        </p:txBody>
      </p:sp>
      <p:sp>
        <p:nvSpPr>
          <p:cNvPr id="19" name="">
            <a:extLst xmlns:a="http://schemas.openxmlformats.org/drawingml/2006/main">
              <a:ext uri="{FF2B5EF4-FFF2-40B4-BE49-F238E27FC236}">
                <a16:creationId xmlns:a16="http://schemas.microsoft.com/office/drawing/2014/main" id="{97A8DFCB-F219-4EF9-AEE5-B218F2860516}"/>
              </a:ext>
            </a:extLst>
          </p:cNvPr>
          <p:cNvSpPr>
            <a:spLocks xmlns:a="http://schemas.openxmlformats.org/drawingml/2006/main" noGrp="1"/>
          </p:cNvSpPr>
          <p:nvPr/>
        </p:nvSpPr>
        <p:spPr>
          <a:xfrm xmlns:a="http://schemas.openxmlformats.org/drawingml/2006/main">
            <a:off x="7353300" y="2419350"/>
            <a:ext cx="14859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13" b="0">
                <a:solidFill>
                  <a:srgbClr val="DDE5DD"/>
                </a:solidFill>
                <a:latin typeface="Aptos"/>
                <a:ea typeface="Aptos"/>
                <a:cs typeface="Aptos"/>
              </a:defRPr>
            </a:pPr>
            <a:r>
              <a:rPr sz="713" b="0">
                <a:solidFill>
                  <a:srgbClr val="DDE5DD"/>
                </a:solidFill>
                <a:latin typeface="Aptos"/>
                <a:ea typeface="Aptos"/>
                <a:cs typeface="Aptos"/>
              </a:rPr>
              <a:t>164.611 parametri nostri</a:t>
            </a:r>
          </a:p>
        </p:txBody>
      </p:sp>
      <p:sp>
        <p:nvSpPr>
          <p:cNvPr id="20" name="">
            <a:extLst xmlns:a="http://schemas.openxmlformats.org/drawingml/2006/main">
              <a:ext uri="{FF2B5EF4-FFF2-40B4-BE49-F238E27FC236}">
                <a16:creationId xmlns:a16="http://schemas.microsoft.com/office/drawing/2014/main" id="{C043BB4E-345C-4FF8-8848-D6750E9CED6C}"/>
              </a:ext>
            </a:extLst>
          </p:cNvPr>
          <p:cNvSpPr>
            <a:spLocks xmlns:a="http://schemas.openxmlformats.org/drawingml/2006/main" noGrp="1"/>
          </p:cNvSpPr>
          <p:nvPr/>
        </p:nvSpPr>
        <p:spPr>
          <a:xfrm xmlns:a="http://schemas.openxmlformats.org/drawingml/2006/main">
            <a:off x="8953500" y="2381250"/>
            <a:ext cx="666750" cy="19050"/>
          </a:xfrm>
          <a:prstGeom xmlns:a="http://schemas.openxmlformats.org/drawingml/2006/main" prst="rect">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90059DB5-9ED9-41CF-84A7-C59D126CCE6A}"/>
              </a:ext>
            </a:extLst>
          </p:cNvPr>
          <p:cNvSpPr>
            <a:spLocks xmlns:a="http://schemas.openxmlformats.org/drawingml/2006/main" noGrp="1"/>
          </p:cNvSpPr>
          <p:nvPr/>
        </p:nvSpPr>
        <p:spPr>
          <a:xfrm xmlns:a="http://schemas.openxmlformats.org/drawingml/2006/main">
            <a:off x="9620250" y="1952625"/>
            <a:ext cx="1714500" cy="876300"/>
          </a:xfrm>
          <a:prstGeom xmlns:a="http://schemas.openxmlformats.org/drawingml/2006/main" prst="roundRect">
            <a:avLst>
              <a:gd name="adj" fmla="val 8696"/>
            </a:avLst>
          </a:prstGeom>
          <a:solidFill xmlns:a="http://schemas.openxmlformats.org/drawingml/2006/main">
            <a:srgbClr val="FFFFFF"/>
          </a:solidFill>
          <a:ln xmlns:a="http://schemas.openxmlformats.org/drawingml/2006/main" w="9525">
            <a:solidFill>
              <a:srgbClr val="B9C3BB"/>
            </a:solidFill>
            <a:prstDash val="solid"/>
          </a:ln>
        </p:spPr>
      </p:sp>
      <p:sp>
        <p:nvSpPr>
          <p:cNvPr id="22" name="">
            <a:extLst xmlns:a="http://schemas.openxmlformats.org/drawingml/2006/main">
              <a:ext uri="{FF2B5EF4-FFF2-40B4-BE49-F238E27FC236}">
                <a16:creationId xmlns:a16="http://schemas.microsoft.com/office/drawing/2014/main" id="{DF6C9C6A-B006-441D-AD06-BB496397E4B1}"/>
              </a:ext>
            </a:extLst>
          </p:cNvPr>
          <p:cNvSpPr>
            <a:spLocks xmlns:a="http://schemas.openxmlformats.org/drawingml/2006/main" noGrp="1"/>
          </p:cNvSpPr>
          <p:nvPr/>
        </p:nvSpPr>
        <p:spPr>
          <a:xfrm xmlns:a="http://schemas.openxmlformats.org/drawingml/2006/main">
            <a:off x="9734550" y="2095500"/>
            <a:ext cx="14859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17211D"/>
                </a:solidFill>
                <a:latin typeface="Georgia"/>
                <a:ea typeface="Georgia"/>
                <a:cs typeface="Georgia"/>
              </a:defRPr>
            </a:pPr>
            <a:r>
              <a:rPr sz="1125" b="1">
                <a:solidFill>
                  <a:srgbClr val="17211D"/>
                </a:solidFill>
                <a:latin typeface="Georgia"/>
                <a:ea typeface="Georgia"/>
                <a:cs typeface="Georgia"/>
              </a:rPr>
              <a:t>3 stati</a:t>
            </a:r>
          </a:p>
        </p:txBody>
      </p:sp>
      <p:sp>
        <p:nvSpPr>
          <p:cNvPr id="23" name="">
            <a:extLst xmlns:a="http://schemas.openxmlformats.org/drawingml/2006/main">
              <a:ext uri="{FF2B5EF4-FFF2-40B4-BE49-F238E27FC236}">
                <a16:creationId xmlns:a16="http://schemas.microsoft.com/office/drawing/2014/main" id="{785CCB4F-6383-4DD1-B8E1-FD7F279796B2}"/>
              </a:ext>
            </a:extLst>
          </p:cNvPr>
          <p:cNvSpPr>
            <a:spLocks xmlns:a="http://schemas.openxmlformats.org/drawingml/2006/main" noGrp="1"/>
          </p:cNvSpPr>
          <p:nvPr/>
        </p:nvSpPr>
        <p:spPr>
          <a:xfrm xmlns:a="http://schemas.openxmlformats.org/drawingml/2006/main">
            <a:off x="9734550" y="2419350"/>
            <a:ext cx="14859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13" b="0">
                <a:solidFill>
                  <a:srgbClr val="65736B"/>
                </a:solidFill>
                <a:latin typeface="Aptos"/>
                <a:ea typeface="Aptos"/>
                <a:cs typeface="Aptos"/>
              </a:defRPr>
            </a:pPr>
            <a:r>
              <a:rPr sz="713" b="0">
                <a:solidFill>
                  <a:srgbClr val="65736B"/>
                </a:solidFill>
                <a:latin typeface="Aptos"/>
                <a:ea typeface="Aptos"/>
                <a:cs typeface="Aptos"/>
              </a:rPr>
              <a:t>buono · usurato · danneggiato</a:t>
            </a:r>
          </a:p>
        </p:txBody>
      </p:sp>
      <p:sp>
        <p:nvSpPr>
          <p:cNvPr id="24" name="">
            <a:extLst xmlns:a="http://schemas.openxmlformats.org/drawingml/2006/main">
              <a:ext uri="{FF2B5EF4-FFF2-40B4-BE49-F238E27FC236}">
                <a16:creationId xmlns:a16="http://schemas.microsoft.com/office/drawing/2014/main" id="{0D9843E0-C642-41C3-A3D6-3CCC8A438ED2}"/>
              </a:ext>
            </a:extLst>
          </p:cNvPr>
          <p:cNvSpPr>
            <a:spLocks xmlns:a="http://schemas.openxmlformats.org/drawingml/2006/main" noGrp="1"/>
          </p:cNvSpPr>
          <p:nvPr/>
        </p:nvSpPr>
        <p:spPr>
          <a:xfrm xmlns:a="http://schemas.openxmlformats.org/drawingml/2006/main">
            <a:off x="590550" y="3352800"/>
            <a:ext cx="2381250" cy="590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450" b="1">
                <a:solidFill>
                  <a:srgbClr val="2F7D5B"/>
                </a:solidFill>
                <a:latin typeface="Georgia"/>
                <a:ea typeface="Georgia"/>
                <a:cs typeface="Georgia"/>
              </a:defRPr>
            </a:pPr>
            <a:r>
              <a:rPr sz="3450" b="1">
                <a:solidFill>
                  <a:srgbClr val="2F7D5B"/>
                </a:solidFill>
                <a:latin typeface="Georgia"/>
                <a:ea typeface="Georgia"/>
                <a:cs typeface="Georgia"/>
              </a:rPr>
              <a:t>94,0%</a:t>
            </a:r>
          </a:p>
        </p:txBody>
      </p:sp>
      <p:sp>
        <p:nvSpPr>
          <p:cNvPr id="25" name="">
            <a:extLst xmlns:a="http://schemas.openxmlformats.org/drawingml/2006/main">
              <a:ext uri="{FF2B5EF4-FFF2-40B4-BE49-F238E27FC236}">
                <a16:creationId xmlns:a16="http://schemas.microsoft.com/office/drawing/2014/main" id="{79B771DD-9B00-4BB3-AC50-0FD20FBC159A}"/>
              </a:ext>
            </a:extLst>
          </p:cNvPr>
          <p:cNvSpPr>
            <a:spLocks xmlns:a="http://schemas.openxmlformats.org/drawingml/2006/main" noGrp="1"/>
          </p:cNvSpPr>
          <p:nvPr/>
        </p:nvSpPr>
        <p:spPr>
          <a:xfrm xmlns:a="http://schemas.openxmlformats.org/drawingml/2006/main">
            <a:off x="590550" y="3981450"/>
            <a:ext cx="23812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17211D"/>
                </a:solidFill>
                <a:latin typeface="Aptos"/>
                <a:ea typeface="Aptos"/>
                <a:cs typeface="Aptos"/>
              </a:defRPr>
            </a:pPr>
            <a:r>
              <a:rPr sz="900" b="1">
                <a:solidFill>
                  <a:srgbClr val="17211D"/>
                </a:solidFill>
                <a:latin typeface="Aptos"/>
                <a:ea typeface="Aptos"/>
                <a:cs typeface="Aptos"/>
              </a:rPr>
              <a:t>accuracy su holdout locale</a:t>
            </a:r>
          </a:p>
        </p:txBody>
      </p:sp>
      <p:sp>
        <p:nvSpPr>
          <p:cNvPr id="26" name="">
            <a:extLst xmlns:a="http://schemas.openxmlformats.org/drawingml/2006/main">
              <a:ext uri="{FF2B5EF4-FFF2-40B4-BE49-F238E27FC236}">
                <a16:creationId xmlns:a16="http://schemas.microsoft.com/office/drawing/2014/main" id="{FB44CC7D-F874-4553-B4C5-CA2A992E0DA8}"/>
              </a:ext>
            </a:extLst>
          </p:cNvPr>
          <p:cNvSpPr>
            <a:spLocks xmlns:a="http://schemas.openxmlformats.org/drawingml/2006/main" noGrp="1"/>
          </p:cNvSpPr>
          <p:nvPr/>
        </p:nvSpPr>
        <p:spPr>
          <a:xfrm xmlns:a="http://schemas.openxmlformats.org/drawingml/2006/main">
            <a:off x="590550" y="4286250"/>
            <a:ext cx="25717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5736B"/>
                </a:solidFill>
                <a:latin typeface="Aptos"/>
                <a:ea typeface="Aptos"/>
                <a:cs typeface="Aptos"/>
              </a:defRPr>
            </a:pPr>
            <a:r>
              <a:rPr sz="750" b="0">
                <a:solidFill>
                  <a:srgbClr val="65736B"/>
                </a:solidFill>
                <a:latin typeface="Aptos"/>
                <a:ea typeface="Aptos"/>
                <a:cs typeface="Aptos"/>
              </a:rPr>
              <a:t>83 campioni test · 600 immagini totali</a:t>
            </a:r>
          </a:p>
        </p:txBody>
      </p:sp>
      <p:sp>
        <p:nvSpPr>
          <p:cNvPr id="27" name="">
            <a:extLst xmlns:a="http://schemas.openxmlformats.org/drawingml/2006/main">
              <a:ext uri="{FF2B5EF4-FFF2-40B4-BE49-F238E27FC236}">
                <a16:creationId xmlns:a16="http://schemas.microsoft.com/office/drawing/2014/main" id="{213106A2-A91D-488E-ABDA-6855687A9723}"/>
              </a:ext>
            </a:extLst>
          </p:cNvPr>
          <p:cNvSpPr>
            <a:spLocks xmlns:a="http://schemas.openxmlformats.org/drawingml/2006/main" noGrp="1"/>
          </p:cNvSpPr>
          <p:nvPr/>
        </p:nvSpPr>
        <p:spPr>
          <a:xfrm xmlns:a="http://schemas.openxmlformats.org/drawingml/2006/main">
            <a:off x="3714750" y="335280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2F7D5B"/>
                </a:solidFill>
                <a:latin typeface="Aptos"/>
                <a:ea typeface="Aptos"/>
                <a:cs typeface="Aptos"/>
              </a:defRPr>
            </a:pPr>
            <a:r>
              <a:rPr sz="675" b="1">
                <a:solidFill>
                  <a:srgbClr val="2F7D5B"/>
                </a:solidFill>
                <a:latin typeface="Aptos"/>
                <a:ea typeface="Aptos"/>
                <a:cs typeface="Aptos"/>
              </a:rPr>
              <a:t>F1 PER CLASSE</a:t>
            </a:r>
          </a:p>
        </p:txBody>
      </p:sp>
      <p:sp>
        <p:nvSpPr>
          <p:cNvPr id="28" name="">
            <a:extLst xmlns:a="http://schemas.openxmlformats.org/drawingml/2006/main">
              <a:ext uri="{FF2B5EF4-FFF2-40B4-BE49-F238E27FC236}">
                <a16:creationId xmlns:a16="http://schemas.microsoft.com/office/drawing/2014/main" id="{273ED68D-9F1C-4A36-B59D-8BC4BFCC0D71}"/>
              </a:ext>
            </a:extLst>
          </p:cNvPr>
          <p:cNvSpPr>
            <a:spLocks xmlns:a="http://schemas.openxmlformats.org/drawingml/2006/main" noGrp="1"/>
          </p:cNvSpPr>
          <p:nvPr/>
        </p:nvSpPr>
        <p:spPr>
          <a:xfrm xmlns:a="http://schemas.openxmlformats.org/drawingml/2006/main">
            <a:off x="3714750" y="3714750"/>
            <a:ext cx="1666875"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17211D"/>
                </a:solidFill>
                <a:latin typeface="Aptos"/>
                <a:ea typeface="Aptos"/>
                <a:cs typeface="Aptos"/>
              </a:defRPr>
            </a:pPr>
            <a:r>
              <a:rPr sz="825" b="1">
                <a:solidFill>
                  <a:srgbClr val="17211D"/>
                </a:solidFill>
                <a:latin typeface="Aptos"/>
                <a:ea typeface="Aptos"/>
                <a:cs typeface="Aptos"/>
              </a:rPr>
              <a:t>Buono</a:t>
            </a:r>
          </a:p>
        </p:txBody>
      </p:sp>
      <p:sp>
        <p:nvSpPr>
          <p:cNvPr id="29" name="">
            <a:extLst xmlns:a="http://schemas.openxmlformats.org/drawingml/2006/main">
              <a:ext uri="{FF2B5EF4-FFF2-40B4-BE49-F238E27FC236}">
                <a16:creationId xmlns:a16="http://schemas.microsoft.com/office/drawing/2014/main" id="{65BB459F-5A0A-43B2-AC93-F84EB10645D9}"/>
              </a:ext>
            </a:extLst>
          </p:cNvPr>
          <p:cNvSpPr>
            <a:spLocks xmlns:a="http://schemas.openxmlformats.org/drawingml/2006/main" noGrp="1"/>
          </p:cNvSpPr>
          <p:nvPr/>
        </p:nvSpPr>
        <p:spPr>
          <a:xfrm xmlns:a="http://schemas.openxmlformats.org/drawingml/2006/main">
            <a:off x="5476875" y="3762375"/>
            <a:ext cx="3619500" cy="123825"/>
          </a:xfrm>
          <a:prstGeom xmlns:a="http://schemas.openxmlformats.org/drawingml/2006/main" prst="roundRect">
            <a:avLst>
              <a:gd name="adj" fmla="val 50000"/>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30" name="">
            <a:extLst xmlns:a="http://schemas.openxmlformats.org/drawingml/2006/main">
              <a:ext uri="{FF2B5EF4-FFF2-40B4-BE49-F238E27FC236}">
                <a16:creationId xmlns:a16="http://schemas.microsoft.com/office/drawing/2014/main" id="{6F620713-44BD-419B-AA67-87BD0467ADC1}"/>
              </a:ext>
            </a:extLst>
          </p:cNvPr>
          <p:cNvSpPr>
            <a:spLocks xmlns:a="http://schemas.openxmlformats.org/drawingml/2006/main" noGrp="1"/>
          </p:cNvSpPr>
          <p:nvPr/>
        </p:nvSpPr>
        <p:spPr>
          <a:xfrm xmlns:a="http://schemas.openxmlformats.org/drawingml/2006/main">
            <a:off x="5476875" y="3762375"/>
            <a:ext cx="3333560" cy="123825"/>
          </a:xfrm>
          <a:prstGeom xmlns:a="http://schemas.openxmlformats.org/drawingml/2006/main" prst="roundRect">
            <a:avLst>
              <a:gd name="adj" fmla="val 50000"/>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1EEF5E55-89D9-4B92-8EEF-9536DC64FFBC}"/>
              </a:ext>
            </a:extLst>
          </p:cNvPr>
          <p:cNvSpPr>
            <a:spLocks xmlns:a="http://schemas.openxmlformats.org/drawingml/2006/main" noGrp="1"/>
          </p:cNvSpPr>
          <p:nvPr/>
        </p:nvSpPr>
        <p:spPr>
          <a:xfrm xmlns:a="http://schemas.openxmlformats.org/drawingml/2006/main">
            <a:off x="9182100" y="3714750"/>
            <a:ext cx="7239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825" b="1">
                <a:solidFill>
                  <a:srgbClr val="17211D"/>
                </a:solidFill>
                <a:latin typeface="Aptos"/>
                <a:ea typeface="Aptos"/>
                <a:cs typeface="Aptos"/>
              </a:defRPr>
            </a:pPr>
            <a:r>
              <a:rPr sz="825" b="1">
                <a:solidFill>
                  <a:srgbClr val="17211D"/>
                </a:solidFill>
                <a:latin typeface="Aptos"/>
                <a:ea typeface="Aptos"/>
                <a:cs typeface="Aptos"/>
              </a:rPr>
              <a:t>0,921</a:t>
            </a:r>
          </a:p>
        </p:txBody>
      </p:sp>
      <p:sp>
        <p:nvSpPr>
          <p:cNvPr id="32" name="">
            <a:extLst xmlns:a="http://schemas.openxmlformats.org/drawingml/2006/main">
              <a:ext uri="{FF2B5EF4-FFF2-40B4-BE49-F238E27FC236}">
                <a16:creationId xmlns:a16="http://schemas.microsoft.com/office/drawing/2014/main" id="{3B67F5A0-6AD7-4997-A638-0E015D455244}"/>
              </a:ext>
            </a:extLst>
          </p:cNvPr>
          <p:cNvSpPr>
            <a:spLocks xmlns:a="http://schemas.openxmlformats.org/drawingml/2006/main" noGrp="1"/>
          </p:cNvSpPr>
          <p:nvPr/>
        </p:nvSpPr>
        <p:spPr>
          <a:xfrm xmlns:a="http://schemas.openxmlformats.org/drawingml/2006/main">
            <a:off x="3714750" y="4171950"/>
            <a:ext cx="1666875"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17211D"/>
                </a:solidFill>
                <a:latin typeface="Aptos"/>
                <a:ea typeface="Aptos"/>
                <a:cs typeface="Aptos"/>
              </a:defRPr>
            </a:pPr>
            <a:r>
              <a:rPr sz="825" b="1">
                <a:solidFill>
                  <a:srgbClr val="17211D"/>
                </a:solidFill>
                <a:latin typeface="Aptos"/>
                <a:ea typeface="Aptos"/>
                <a:cs typeface="Aptos"/>
              </a:rPr>
              <a:t>Usurato</a:t>
            </a:r>
          </a:p>
        </p:txBody>
      </p:sp>
      <p:sp>
        <p:nvSpPr>
          <p:cNvPr id="33" name="">
            <a:extLst xmlns:a="http://schemas.openxmlformats.org/drawingml/2006/main">
              <a:ext uri="{FF2B5EF4-FFF2-40B4-BE49-F238E27FC236}">
                <a16:creationId xmlns:a16="http://schemas.microsoft.com/office/drawing/2014/main" id="{71CFD35C-85EE-41E4-B451-D0E41E2B727B}"/>
              </a:ext>
            </a:extLst>
          </p:cNvPr>
          <p:cNvSpPr>
            <a:spLocks xmlns:a="http://schemas.openxmlformats.org/drawingml/2006/main" noGrp="1"/>
          </p:cNvSpPr>
          <p:nvPr/>
        </p:nvSpPr>
        <p:spPr>
          <a:xfrm xmlns:a="http://schemas.openxmlformats.org/drawingml/2006/main">
            <a:off x="5476875" y="4219575"/>
            <a:ext cx="3619500" cy="123825"/>
          </a:xfrm>
          <a:prstGeom xmlns:a="http://schemas.openxmlformats.org/drawingml/2006/main" prst="roundRect">
            <a:avLst>
              <a:gd name="adj" fmla="val 50000"/>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34" name="">
            <a:extLst xmlns:a="http://schemas.openxmlformats.org/drawingml/2006/main">
              <a:ext uri="{FF2B5EF4-FFF2-40B4-BE49-F238E27FC236}">
                <a16:creationId xmlns:a16="http://schemas.microsoft.com/office/drawing/2014/main" id="{D02A767B-BE4D-4DF1-BDCA-F5782BC9DC7E}"/>
              </a:ext>
            </a:extLst>
          </p:cNvPr>
          <p:cNvSpPr>
            <a:spLocks xmlns:a="http://schemas.openxmlformats.org/drawingml/2006/main" noGrp="1"/>
          </p:cNvSpPr>
          <p:nvPr/>
        </p:nvSpPr>
        <p:spPr>
          <a:xfrm xmlns:a="http://schemas.openxmlformats.org/drawingml/2006/main">
            <a:off x="5476875" y="4219575"/>
            <a:ext cx="3329940" cy="123825"/>
          </a:xfrm>
          <a:prstGeom xmlns:a="http://schemas.openxmlformats.org/drawingml/2006/main" prst="roundRect">
            <a:avLst>
              <a:gd name="adj" fmla="val 50000"/>
            </a:avLst>
          </a:prstGeom>
          <a:solidFill xmlns:a="http://schemas.openxmlformats.org/drawingml/2006/main">
            <a:srgbClr val="D56E42"/>
          </a:solidFill>
          <a:ln xmlns:a="http://schemas.openxmlformats.org/drawingml/2006/main" w="0">
            <a:solidFill>
              <a:srgbClr val="000000">
                <a:alpha val="0"/>
              </a:srgbClr>
            </a:solidFill>
            <a:prstDash val="solid"/>
          </a:ln>
        </p:spPr>
      </p:sp>
      <p:sp>
        <p:nvSpPr>
          <p:cNvPr id="35" name="">
            <a:extLst xmlns:a="http://schemas.openxmlformats.org/drawingml/2006/main">
              <a:ext uri="{FF2B5EF4-FFF2-40B4-BE49-F238E27FC236}">
                <a16:creationId xmlns:a16="http://schemas.microsoft.com/office/drawing/2014/main" id="{F50690B2-D457-4653-A517-6E1AF8D440D7}"/>
              </a:ext>
            </a:extLst>
          </p:cNvPr>
          <p:cNvSpPr>
            <a:spLocks xmlns:a="http://schemas.openxmlformats.org/drawingml/2006/main" noGrp="1"/>
          </p:cNvSpPr>
          <p:nvPr/>
        </p:nvSpPr>
        <p:spPr>
          <a:xfrm xmlns:a="http://schemas.openxmlformats.org/drawingml/2006/main">
            <a:off x="9182100" y="4171950"/>
            <a:ext cx="7239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825" b="1">
                <a:solidFill>
                  <a:srgbClr val="17211D"/>
                </a:solidFill>
                <a:latin typeface="Aptos"/>
                <a:ea typeface="Aptos"/>
                <a:cs typeface="Aptos"/>
              </a:defRPr>
            </a:pPr>
            <a:r>
              <a:rPr sz="825" b="1">
                <a:solidFill>
                  <a:srgbClr val="17211D"/>
                </a:solidFill>
                <a:latin typeface="Aptos"/>
                <a:ea typeface="Aptos"/>
                <a:cs typeface="Aptos"/>
              </a:rPr>
              <a:t>0,920</a:t>
            </a:r>
          </a:p>
        </p:txBody>
      </p:sp>
      <p:sp>
        <p:nvSpPr>
          <p:cNvPr id="36" name="">
            <a:extLst xmlns:a="http://schemas.openxmlformats.org/drawingml/2006/main">
              <a:ext uri="{FF2B5EF4-FFF2-40B4-BE49-F238E27FC236}">
                <a16:creationId xmlns:a16="http://schemas.microsoft.com/office/drawing/2014/main" id="{5CEC9997-433E-4069-9843-D0A587DD7767}"/>
              </a:ext>
            </a:extLst>
          </p:cNvPr>
          <p:cNvSpPr>
            <a:spLocks xmlns:a="http://schemas.openxmlformats.org/drawingml/2006/main" noGrp="1"/>
          </p:cNvSpPr>
          <p:nvPr/>
        </p:nvSpPr>
        <p:spPr>
          <a:xfrm xmlns:a="http://schemas.openxmlformats.org/drawingml/2006/main">
            <a:off x="3714750" y="4629150"/>
            <a:ext cx="1666875"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17211D"/>
                </a:solidFill>
                <a:latin typeface="Aptos"/>
                <a:ea typeface="Aptos"/>
                <a:cs typeface="Aptos"/>
              </a:defRPr>
            </a:pPr>
            <a:r>
              <a:rPr sz="825" b="1">
                <a:solidFill>
                  <a:srgbClr val="17211D"/>
                </a:solidFill>
                <a:latin typeface="Aptos"/>
                <a:ea typeface="Aptos"/>
                <a:cs typeface="Aptos"/>
              </a:rPr>
              <a:t>Danneggiato</a:t>
            </a:r>
          </a:p>
        </p:txBody>
      </p:sp>
      <p:sp>
        <p:nvSpPr>
          <p:cNvPr id="37" name="">
            <a:extLst xmlns:a="http://schemas.openxmlformats.org/drawingml/2006/main">
              <a:ext uri="{FF2B5EF4-FFF2-40B4-BE49-F238E27FC236}">
                <a16:creationId xmlns:a16="http://schemas.microsoft.com/office/drawing/2014/main" id="{AC7C2DB9-2FA5-4659-9013-0E4E1EA26842}"/>
              </a:ext>
            </a:extLst>
          </p:cNvPr>
          <p:cNvSpPr>
            <a:spLocks xmlns:a="http://schemas.openxmlformats.org/drawingml/2006/main" noGrp="1"/>
          </p:cNvSpPr>
          <p:nvPr/>
        </p:nvSpPr>
        <p:spPr>
          <a:xfrm xmlns:a="http://schemas.openxmlformats.org/drawingml/2006/main">
            <a:off x="5476875" y="4676775"/>
            <a:ext cx="3619500" cy="123825"/>
          </a:xfrm>
          <a:prstGeom xmlns:a="http://schemas.openxmlformats.org/drawingml/2006/main" prst="roundRect">
            <a:avLst>
              <a:gd name="adj" fmla="val 50000"/>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38" name="">
            <a:extLst xmlns:a="http://schemas.openxmlformats.org/drawingml/2006/main">
              <a:ext uri="{FF2B5EF4-FFF2-40B4-BE49-F238E27FC236}">
                <a16:creationId xmlns:a16="http://schemas.microsoft.com/office/drawing/2014/main" id="{3E5BCD70-A5C5-4074-B01C-E2BA47F64E59}"/>
              </a:ext>
            </a:extLst>
          </p:cNvPr>
          <p:cNvSpPr>
            <a:spLocks xmlns:a="http://schemas.openxmlformats.org/drawingml/2006/main" noGrp="1"/>
          </p:cNvSpPr>
          <p:nvPr/>
        </p:nvSpPr>
        <p:spPr>
          <a:xfrm xmlns:a="http://schemas.openxmlformats.org/drawingml/2006/main">
            <a:off x="5476875" y="4676775"/>
            <a:ext cx="3550729" cy="123825"/>
          </a:xfrm>
          <a:prstGeom xmlns:a="http://schemas.openxmlformats.org/drawingml/2006/main" prst="roundRect">
            <a:avLst>
              <a:gd name="adj" fmla="val 50000"/>
            </a:avLst>
          </a:prstGeom>
          <a:solidFill xmlns:a="http://schemas.openxmlformats.org/drawingml/2006/main">
            <a:srgbClr val="123C31"/>
          </a:solidFill>
          <a:ln xmlns:a="http://schemas.openxmlformats.org/drawingml/2006/main" w="0">
            <a:solidFill>
              <a:srgbClr val="000000">
                <a:alpha val="0"/>
              </a:srgbClr>
            </a:solidFill>
            <a:prstDash val="solid"/>
          </a:ln>
        </p:spPr>
      </p:sp>
      <p:sp>
        <p:nvSpPr>
          <p:cNvPr id="39" name="">
            <a:extLst xmlns:a="http://schemas.openxmlformats.org/drawingml/2006/main">
              <a:ext uri="{FF2B5EF4-FFF2-40B4-BE49-F238E27FC236}">
                <a16:creationId xmlns:a16="http://schemas.microsoft.com/office/drawing/2014/main" id="{FA41CC48-C60C-4B7C-9C3D-BB4CEA368122}"/>
              </a:ext>
            </a:extLst>
          </p:cNvPr>
          <p:cNvSpPr>
            <a:spLocks xmlns:a="http://schemas.openxmlformats.org/drawingml/2006/main" noGrp="1"/>
          </p:cNvSpPr>
          <p:nvPr/>
        </p:nvSpPr>
        <p:spPr>
          <a:xfrm xmlns:a="http://schemas.openxmlformats.org/drawingml/2006/main">
            <a:off x="9182100" y="4629150"/>
            <a:ext cx="7239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825" b="1">
                <a:solidFill>
                  <a:srgbClr val="17211D"/>
                </a:solidFill>
                <a:latin typeface="Aptos"/>
                <a:ea typeface="Aptos"/>
                <a:cs typeface="Aptos"/>
              </a:defRPr>
            </a:pPr>
            <a:r>
              <a:rPr sz="825" b="1">
                <a:solidFill>
                  <a:srgbClr val="17211D"/>
                </a:solidFill>
                <a:latin typeface="Aptos"/>
                <a:ea typeface="Aptos"/>
                <a:cs typeface="Aptos"/>
              </a:rPr>
              <a:t>0,981</a:t>
            </a:r>
          </a:p>
        </p:txBody>
      </p:sp>
      <p:sp>
        <p:nvSpPr>
          <p:cNvPr id="40" name="">
            <a:extLst xmlns:a="http://schemas.openxmlformats.org/drawingml/2006/main">
              <a:ext uri="{FF2B5EF4-FFF2-40B4-BE49-F238E27FC236}">
                <a16:creationId xmlns:a16="http://schemas.microsoft.com/office/drawing/2014/main" id="{598893D0-D47C-45B0-841D-0EE08DFF4CB7}"/>
              </a:ext>
            </a:extLst>
          </p:cNvPr>
          <p:cNvSpPr>
            <a:spLocks xmlns:a="http://schemas.openxmlformats.org/drawingml/2006/main" noGrp="1"/>
          </p:cNvSpPr>
          <p:nvPr/>
        </p:nvSpPr>
        <p:spPr>
          <a:xfrm xmlns:a="http://schemas.openxmlformats.org/drawingml/2006/main">
            <a:off x="590550" y="5276850"/>
            <a:ext cx="10629900" cy="628650"/>
          </a:xfrm>
          <a:prstGeom xmlns:a="http://schemas.openxmlformats.org/drawingml/2006/main" prst="roundRect">
            <a:avLst>
              <a:gd name="adj" fmla="val 12121"/>
            </a:avLst>
          </a:prstGeom>
          <a:solidFill xmlns:a="http://schemas.openxmlformats.org/drawingml/2006/main">
            <a:srgbClr val="EAE5DA"/>
          </a:solidFill>
          <a:ln xmlns:a="http://schemas.openxmlformats.org/drawingml/2006/main" w="0">
            <a:solidFill>
              <a:srgbClr val="000000">
                <a:alpha val="0"/>
              </a:srgbClr>
            </a:solidFill>
            <a:prstDash val="solid"/>
          </a:ln>
        </p:spPr>
      </p:sp>
      <p:sp>
        <p:nvSpPr>
          <p:cNvPr id="41" name="">
            <a:extLst xmlns:a="http://schemas.openxmlformats.org/drawingml/2006/main">
              <a:ext uri="{FF2B5EF4-FFF2-40B4-BE49-F238E27FC236}">
                <a16:creationId xmlns:a16="http://schemas.microsoft.com/office/drawing/2014/main" id="{0772BDFB-55AA-43BC-B4C4-9792AA9F21AF}"/>
              </a:ext>
            </a:extLst>
          </p:cNvPr>
          <p:cNvSpPr>
            <a:spLocks xmlns:a="http://schemas.openxmlformats.org/drawingml/2006/main" noGrp="1"/>
          </p:cNvSpPr>
          <p:nvPr/>
        </p:nvSpPr>
        <p:spPr>
          <a:xfrm xmlns:a="http://schemas.openxmlformats.org/drawingml/2006/main">
            <a:off x="800100" y="5457825"/>
            <a:ext cx="1524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D56E42"/>
                </a:solidFill>
                <a:latin typeface="Aptos"/>
                <a:ea typeface="Aptos"/>
                <a:cs typeface="Aptos"/>
              </a:defRPr>
            </a:pPr>
            <a:r>
              <a:rPr sz="825" b="1">
                <a:solidFill>
                  <a:srgbClr val="D56E42"/>
                </a:solidFill>
                <a:latin typeface="Aptos"/>
                <a:ea typeface="Aptos"/>
                <a:cs typeface="Aptos"/>
              </a:rPr>
              <a:t>Limite dichiarato</a:t>
            </a:r>
          </a:p>
        </p:txBody>
      </p:sp>
      <p:sp>
        <p:nvSpPr>
          <p:cNvPr id="42" name="">
            <a:extLst xmlns:a="http://schemas.openxmlformats.org/drawingml/2006/main">
              <a:ext uri="{FF2B5EF4-FFF2-40B4-BE49-F238E27FC236}">
                <a16:creationId xmlns:a16="http://schemas.microsoft.com/office/drawing/2014/main" id="{3924780C-6366-4D7C-8B9F-5B31ED5E0F4C}"/>
              </a:ext>
            </a:extLst>
          </p:cNvPr>
          <p:cNvSpPr>
            <a:spLocks xmlns:a="http://schemas.openxmlformats.org/drawingml/2006/main" noGrp="1"/>
          </p:cNvSpPr>
          <p:nvPr/>
        </p:nvSpPr>
        <p:spPr>
          <a:xfrm xmlns:a="http://schemas.openxmlformats.org/drawingml/2006/main">
            <a:off x="2362200" y="5410200"/>
            <a:ext cx="83820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38" b="0">
                <a:solidFill>
                  <a:srgbClr val="17211D"/>
                </a:solidFill>
                <a:latin typeface="Aptos"/>
                <a:ea typeface="Aptos"/>
                <a:cs typeface="Aptos"/>
              </a:defRPr>
            </a:pPr>
            <a:r>
              <a:rPr sz="938" b="0">
                <a:solidFill>
                  <a:srgbClr val="17211D"/>
                </a:solidFill>
                <a:latin typeface="Aptos"/>
                <a:ea typeface="Aptos"/>
                <a:cs typeface="Aptos"/>
              </a:rPr>
              <a:t>split locale casuale, non validazione esterna; il risultato può sovrastimare la generalizzazione a foto reali.</a:t>
            </a:r>
          </a:p>
        </p:txBody>
      </p:sp>
      <p:sp>
        <p:nvSpPr>
          <p:cNvPr id="43" name="">
            <a:extLst xmlns:a="http://schemas.openxmlformats.org/drawingml/2006/main">
              <a:ext uri="{FF2B5EF4-FFF2-40B4-BE49-F238E27FC236}">
                <a16:creationId xmlns:a16="http://schemas.microsoft.com/office/drawing/2014/main" id="{1515B863-3BD9-4CFF-B208-20D7FAF795B4}"/>
              </a:ext>
            </a:extLst>
          </p:cNvPr>
          <p:cNvSpPr>
            <a:spLocks xmlns:a="http://schemas.openxmlformats.org/drawingml/2006/main" noGrp="1"/>
          </p:cNvSpPr>
          <p:nvPr/>
        </p:nvSpPr>
        <p:spPr>
          <a:xfrm xmlns:a="http://schemas.openxmlformats.org/drawingml/2006/main">
            <a:off x="552450" y="6457950"/>
            <a:ext cx="1108710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44" name="">
            <a:extLst xmlns:a="http://schemas.openxmlformats.org/drawingml/2006/main">
              <a:ext uri="{FF2B5EF4-FFF2-40B4-BE49-F238E27FC236}">
                <a16:creationId xmlns:a16="http://schemas.microsoft.com/office/drawing/2014/main" id="{C945C256-E03E-4E41-B8CE-B6EEE53F8542}"/>
              </a:ext>
            </a:extLst>
          </p:cNvPr>
          <p:cNvSpPr>
            <a:spLocks xmlns:a="http://schemas.openxmlformats.org/drawingml/2006/main" noGrp="1"/>
          </p:cNvSpPr>
          <p:nvPr/>
        </p:nvSpPr>
        <p:spPr>
          <a:xfrm xmlns:a="http://schemas.openxmlformats.org/drawingml/2006/main">
            <a:off x="552450" y="6534150"/>
            <a:ext cx="1000125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63" b="0">
                <a:solidFill>
                  <a:srgbClr val="65736B"/>
                </a:solidFill>
                <a:latin typeface="Aptos"/>
                <a:ea typeface="Aptos"/>
                <a:cs typeface="Aptos"/>
              </a:defRPr>
            </a:pPr>
            <a:r>
              <a:rPr sz="563" b="0">
                <a:solidFill>
                  <a:srgbClr val="65736B"/>
                </a:solidFill>
                <a:latin typeface="Aptos"/>
                <a:ea typeface="Aptos"/>
                <a:cs typeface="Aptos"/>
              </a:rPr>
              <a:t>Checkpoint locale condition_head.pt · eseguito anche in 01_condition_state_mlp.ipynb</a:t>
            </a:r>
          </a:p>
        </p:txBody>
      </p:sp>
      <p:sp>
        <p:nvSpPr>
          <p:cNvPr id="45" name="">
            <a:extLst xmlns:a="http://schemas.openxmlformats.org/drawingml/2006/main">
              <a:ext uri="{FF2B5EF4-FFF2-40B4-BE49-F238E27FC236}">
                <a16:creationId xmlns:a16="http://schemas.microsoft.com/office/drawing/2014/main" id="{410C2C55-64D5-4C54-B20B-11D055EFCBFC}"/>
              </a:ext>
            </a:extLst>
          </p:cNvPr>
          <p:cNvSpPr>
            <a:spLocks xmlns:a="http://schemas.openxmlformats.org/drawingml/2006/main" noGrp="1"/>
          </p:cNvSpPr>
          <p:nvPr/>
        </p:nvSpPr>
        <p:spPr>
          <a:xfrm xmlns:a="http://schemas.openxmlformats.org/drawingml/2006/main">
            <a:off x="11087100" y="650557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65736B"/>
                </a:solidFill>
                <a:latin typeface="Georgia"/>
                <a:ea typeface="Georgia"/>
                <a:cs typeface="Georgia"/>
              </a:defRPr>
            </a:pPr>
            <a:r>
              <a:rPr sz="750" b="1">
                <a:solidFill>
                  <a:srgbClr val="65736B"/>
                </a:solidFill>
                <a:latin typeface="Georgia"/>
                <a:ea typeface="Georgia"/>
                <a:cs typeface="Georgia"/>
              </a:rPr>
              <a:t>06</a:t>
            </a:r>
          </a:p>
        </p:txBody>
      </p:sp>
    </p:spTree>
    <p:extLst>
      <p:ext uri="{BB962C8B-B14F-4D97-AF65-F5344CB8AC3E}">
        <p14:creationId xmlns:p14="http://schemas.microsoft.com/office/powerpoint/2010/main" val="166025784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0FD70EAA-2DC1-4357-9A7F-B1919594977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0E7"/>
          </a:solidFill>
          <a:ln xmlns:a="http://schemas.openxmlformats.org/drawingml/2006/main" w="0">
            <a:solidFill>
              <a:srgbClr val="000000">
                <a:alpha val="0"/>
              </a:srgbClr>
            </a:solidFill>
            <a:prstDash val="solid"/>
          </a:ln>
        </p:spPr>
      </p:sp>
      <p:sp>
        <p:nvSpPr>
          <p:cNvPr id="2" name="kicker-marker">
            <a:extLst xmlns:a="http://schemas.openxmlformats.org/drawingml/2006/main">
              <a:ext uri="{FF2B5EF4-FFF2-40B4-BE49-F238E27FC236}">
                <a16:creationId xmlns:a16="http://schemas.microsoft.com/office/drawing/2014/main" id="{B12C6D5D-16FD-4F7A-BEA0-7FD023E5F522}"/>
              </a:ext>
            </a:extLst>
          </p:cNvPr>
          <p:cNvSpPr>
            <a:spLocks xmlns:a="http://schemas.openxmlformats.org/drawingml/2006/main" noGrp="1"/>
          </p:cNvSpPr>
          <p:nvPr/>
        </p:nvSpPr>
        <p:spPr>
          <a:xfrm xmlns:a="http://schemas.openxmlformats.org/drawingml/2006/main">
            <a:off x="552450" y="438150"/>
            <a:ext cx="95250" cy="9525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3" name="kicker-label">
            <a:extLst xmlns:a="http://schemas.openxmlformats.org/drawingml/2006/main">
              <a:ext uri="{FF2B5EF4-FFF2-40B4-BE49-F238E27FC236}">
                <a16:creationId xmlns:a16="http://schemas.microsoft.com/office/drawing/2014/main" id="{95CF81C2-8921-442A-9279-0EC946B45EF6}"/>
              </a:ext>
            </a:extLst>
          </p:cNvPr>
          <p:cNvSpPr>
            <a:spLocks xmlns:a="http://schemas.openxmlformats.org/drawingml/2006/main" noGrp="1"/>
          </p:cNvSpPr>
          <p:nvPr/>
        </p:nvSpPr>
        <p:spPr>
          <a:xfrm xmlns:a="http://schemas.openxmlformats.org/drawingml/2006/main">
            <a:off x="762000" y="400050"/>
            <a:ext cx="4762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65736B"/>
                </a:solidFill>
                <a:latin typeface="Aptos"/>
                <a:ea typeface="Aptos"/>
                <a:cs typeface="Aptos"/>
              </a:defRPr>
            </a:pPr>
            <a:r>
              <a:rPr sz="675" b="1">
                <a:solidFill>
                  <a:srgbClr val="65736B"/>
                </a:solidFill>
                <a:latin typeface="Aptos"/>
                <a:ea typeface="Aptos"/>
                <a:cs typeface="Aptos"/>
              </a:rPr>
              <a:t>M O D E L L O   2   ·   C L O S E T   G A P S</a:t>
            </a:r>
          </a:p>
        </p:txBody>
      </p:sp>
      <p:sp>
        <p:nvSpPr>
          <p:cNvPr id="4" name="claim-title">
            <a:extLst xmlns:a="http://schemas.openxmlformats.org/drawingml/2006/main">
              <a:ext uri="{FF2B5EF4-FFF2-40B4-BE49-F238E27FC236}">
                <a16:creationId xmlns:a16="http://schemas.microsoft.com/office/drawing/2014/main" id="{492D0874-8F8F-42B2-8B93-2BD72B955DB1}"/>
              </a:ext>
            </a:extLst>
          </p:cNvPr>
          <p:cNvSpPr>
            <a:spLocks xmlns:a="http://schemas.openxmlformats.org/drawingml/2006/main" noGrp="1"/>
          </p:cNvSpPr>
          <p:nvPr/>
        </p:nvSpPr>
        <p:spPr>
          <a:xfrm xmlns:a="http://schemas.openxmlformats.org/drawingml/2006/main">
            <a:off x="552450" y="742950"/>
            <a:ext cx="1066800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625" b="1">
                <a:solidFill>
                  <a:srgbClr val="17211D"/>
                </a:solidFill>
                <a:latin typeface="Georgia"/>
                <a:ea typeface="Georgia"/>
                <a:cs typeface="Georgia"/>
              </a:defRPr>
            </a:pPr>
            <a:r>
              <a:rPr sz="2625" b="1">
                <a:solidFill>
                  <a:srgbClr val="17211D"/>
                </a:solidFill>
                <a:latin typeface="Georgia"/>
                <a:ea typeface="Georgia"/>
                <a:cs typeface="Georgia"/>
              </a:rPr>
              <a:t>La rete dei gap gestisce più risposte insieme—ma oggi impara da regole simulate.</a:t>
            </a:r>
          </a:p>
        </p:txBody>
      </p:sp>
      <p:sp>
        <p:nvSpPr>
          <p:cNvPr id="5" name="">
            <a:extLst xmlns:a="http://schemas.openxmlformats.org/drawingml/2006/main">
              <a:ext uri="{FF2B5EF4-FFF2-40B4-BE49-F238E27FC236}">
                <a16:creationId xmlns:a16="http://schemas.microsoft.com/office/drawing/2014/main" id="{EFDFF7F2-2221-487E-93B7-9E9D1EB01B79}"/>
              </a:ext>
            </a:extLst>
          </p:cNvPr>
          <p:cNvSpPr>
            <a:spLocks xmlns:a="http://schemas.openxmlformats.org/drawingml/2006/main" noGrp="1"/>
          </p:cNvSpPr>
          <p:nvPr/>
        </p:nvSpPr>
        <p:spPr>
          <a:xfrm xmlns:a="http://schemas.openxmlformats.org/drawingml/2006/main">
            <a:off x="552450" y="1905000"/>
            <a:ext cx="3238500" cy="3409950"/>
          </a:xfrm>
          <a:prstGeom xmlns:a="http://schemas.openxmlformats.org/drawingml/2006/main" prst="roundRect">
            <a:avLst>
              <a:gd name="adj" fmla="val 2353"/>
            </a:avLst>
          </a:prstGeom>
          <a:solidFill xmlns:a="http://schemas.openxmlformats.org/drawingml/2006/main">
            <a:srgbClr val="FFFFFF"/>
          </a:solidFill>
          <a:ln xmlns:a="http://schemas.openxmlformats.org/drawingml/2006/main" w="9525">
            <a:solidFill>
              <a:srgbClr val="B9C3BB"/>
            </a:solidFill>
            <a:prstDash val="solid"/>
          </a:ln>
        </p:spPr>
      </p:sp>
      <p:sp>
        <p:nvSpPr>
          <p:cNvPr id="6" name="">
            <a:extLst xmlns:a="http://schemas.openxmlformats.org/drawingml/2006/main">
              <a:ext uri="{FF2B5EF4-FFF2-40B4-BE49-F238E27FC236}">
                <a16:creationId xmlns:a16="http://schemas.microsoft.com/office/drawing/2014/main" id="{EA692E3B-272A-4C25-A324-DA320BB8DC3B}"/>
              </a:ext>
            </a:extLst>
          </p:cNvPr>
          <p:cNvSpPr>
            <a:spLocks xmlns:a="http://schemas.openxmlformats.org/drawingml/2006/main" noGrp="1"/>
          </p:cNvSpPr>
          <p:nvPr/>
        </p:nvSpPr>
        <p:spPr>
          <a:xfrm xmlns:a="http://schemas.openxmlformats.org/drawingml/2006/main">
            <a:off x="781050" y="21145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2F7D5B"/>
                </a:solidFill>
                <a:latin typeface="Aptos"/>
                <a:ea typeface="Aptos"/>
                <a:cs typeface="Aptos"/>
              </a:defRPr>
            </a:pPr>
            <a:r>
              <a:rPr sz="675" b="1">
                <a:solidFill>
                  <a:srgbClr val="2F7D5B"/>
                </a:solidFill>
                <a:latin typeface="Aptos"/>
                <a:ea typeface="Aptos"/>
                <a:cs typeface="Aptos"/>
              </a:rPr>
              <a:t>INPUT AGGREGATO · 14 FEATURE</a:t>
            </a:r>
          </a:p>
        </p:txBody>
      </p:sp>
      <p:sp>
        <p:nvSpPr>
          <p:cNvPr id="7" name="">
            <a:extLst xmlns:a="http://schemas.openxmlformats.org/drawingml/2006/main">
              <a:ext uri="{FF2B5EF4-FFF2-40B4-BE49-F238E27FC236}">
                <a16:creationId xmlns:a16="http://schemas.microsoft.com/office/drawing/2014/main" id="{E6902D8B-6077-4799-A0F7-A562F6343F79}"/>
              </a:ext>
            </a:extLst>
          </p:cNvPr>
          <p:cNvSpPr>
            <a:spLocks xmlns:a="http://schemas.openxmlformats.org/drawingml/2006/main" noGrp="1"/>
          </p:cNvSpPr>
          <p:nvPr/>
        </p:nvSpPr>
        <p:spPr>
          <a:xfrm xmlns:a="http://schemas.openxmlformats.org/drawingml/2006/main">
            <a:off x="781050" y="2552700"/>
            <a:ext cx="2343150" cy="85725"/>
          </a:xfrm>
          <a:prstGeom xmlns:a="http://schemas.openxmlformats.org/drawingml/2006/main" prst="rect">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8" name="">
            <a:extLst xmlns:a="http://schemas.openxmlformats.org/drawingml/2006/main">
              <a:ext uri="{FF2B5EF4-FFF2-40B4-BE49-F238E27FC236}">
                <a16:creationId xmlns:a16="http://schemas.microsoft.com/office/drawing/2014/main" id="{05C9BF69-2B31-452C-BDBF-BAB2E9AFE590}"/>
              </a:ext>
            </a:extLst>
          </p:cNvPr>
          <p:cNvSpPr>
            <a:spLocks xmlns:a="http://schemas.openxmlformats.org/drawingml/2006/main" noGrp="1"/>
          </p:cNvSpPr>
          <p:nvPr/>
        </p:nvSpPr>
        <p:spPr>
          <a:xfrm xmlns:a="http://schemas.openxmlformats.org/drawingml/2006/main">
            <a:off x="781050" y="2552700"/>
            <a:ext cx="685800" cy="85725"/>
          </a:xfrm>
          <a:prstGeom xmlns:a="http://schemas.openxmlformats.org/drawingml/2006/main" prst="rect">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0A07ADB1-3C06-438B-9236-69C00107CCF8}"/>
              </a:ext>
            </a:extLst>
          </p:cNvPr>
          <p:cNvSpPr>
            <a:spLocks xmlns:a="http://schemas.openxmlformats.org/drawingml/2006/main" noGrp="1"/>
          </p:cNvSpPr>
          <p:nvPr/>
        </p:nvSpPr>
        <p:spPr>
          <a:xfrm xmlns:a="http://schemas.openxmlformats.org/drawingml/2006/main">
            <a:off x="781050" y="2686050"/>
            <a:ext cx="2476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65736B"/>
                </a:solidFill>
                <a:latin typeface="Aptos"/>
                <a:ea typeface="Aptos"/>
                <a:cs typeface="Aptos"/>
              </a:defRPr>
            </a:pPr>
            <a:r>
              <a:rPr sz="788" b="0">
                <a:solidFill>
                  <a:srgbClr val="65736B"/>
                </a:solidFill>
                <a:latin typeface="Aptos"/>
                <a:ea typeface="Aptos"/>
                <a:cs typeface="Aptos"/>
              </a:rPr>
              <a:t>conteggi per ruolo</a:t>
            </a:r>
          </a:p>
        </p:txBody>
      </p:sp>
      <p:sp>
        <p:nvSpPr>
          <p:cNvPr id="10" name="">
            <a:extLst xmlns:a="http://schemas.openxmlformats.org/drawingml/2006/main">
              <a:ext uri="{FF2B5EF4-FFF2-40B4-BE49-F238E27FC236}">
                <a16:creationId xmlns:a16="http://schemas.microsoft.com/office/drawing/2014/main" id="{46CD1393-A5A2-4A4B-BD31-3441A66858B5}"/>
              </a:ext>
            </a:extLst>
          </p:cNvPr>
          <p:cNvSpPr>
            <a:spLocks xmlns:a="http://schemas.openxmlformats.org/drawingml/2006/main" noGrp="1"/>
          </p:cNvSpPr>
          <p:nvPr/>
        </p:nvSpPr>
        <p:spPr>
          <a:xfrm xmlns:a="http://schemas.openxmlformats.org/drawingml/2006/main">
            <a:off x="781050" y="2962275"/>
            <a:ext cx="2343150" cy="85725"/>
          </a:xfrm>
          <a:prstGeom xmlns:a="http://schemas.openxmlformats.org/drawingml/2006/main" prst="rect">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11" name="">
            <a:extLst xmlns:a="http://schemas.openxmlformats.org/drawingml/2006/main">
              <a:ext uri="{FF2B5EF4-FFF2-40B4-BE49-F238E27FC236}">
                <a16:creationId xmlns:a16="http://schemas.microsoft.com/office/drawing/2014/main" id="{3D2C2344-636C-476C-B27A-D7357673A8B9}"/>
              </a:ext>
            </a:extLst>
          </p:cNvPr>
          <p:cNvSpPr>
            <a:spLocks xmlns:a="http://schemas.openxmlformats.org/drawingml/2006/main" noGrp="1"/>
          </p:cNvSpPr>
          <p:nvPr/>
        </p:nvSpPr>
        <p:spPr>
          <a:xfrm xmlns:a="http://schemas.openxmlformats.org/drawingml/2006/main">
            <a:off x="781050" y="2962275"/>
            <a:ext cx="923925" cy="85725"/>
          </a:xfrm>
          <a:prstGeom xmlns:a="http://schemas.openxmlformats.org/drawingml/2006/main" prst="rect">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A5763CE4-1C54-4679-AE6F-BBC88C528A30}"/>
              </a:ext>
            </a:extLst>
          </p:cNvPr>
          <p:cNvSpPr>
            <a:spLocks xmlns:a="http://schemas.openxmlformats.org/drawingml/2006/main" noGrp="1"/>
          </p:cNvSpPr>
          <p:nvPr/>
        </p:nvSpPr>
        <p:spPr>
          <a:xfrm xmlns:a="http://schemas.openxmlformats.org/drawingml/2006/main">
            <a:off x="781050" y="3095625"/>
            <a:ext cx="2476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65736B"/>
                </a:solidFill>
                <a:latin typeface="Aptos"/>
                <a:ea typeface="Aptos"/>
                <a:cs typeface="Aptos"/>
              </a:defRPr>
            </a:pPr>
            <a:r>
              <a:rPr sz="788" b="0">
                <a:solidFill>
                  <a:srgbClr val="65736B"/>
                </a:solidFill>
                <a:latin typeface="Aptos"/>
                <a:ea typeface="Aptos"/>
                <a:cs typeface="Aptos"/>
              </a:rPr>
              <a:t>frazioni stagionali</a:t>
            </a:r>
          </a:p>
        </p:txBody>
      </p:sp>
      <p:sp>
        <p:nvSpPr>
          <p:cNvPr id="13" name="">
            <a:extLst xmlns:a="http://schemas.openxmlformats.org/drawingml/2006/main">
              <a:ext uri="{FF2B5EF4-FFF2-40B4-BE49-F238E27FC236}">
                <a16:creationId xmlns:a16="http://schemas.microsoft.com/office/drawing/2014/main" id="{C943E514-DA1E-4531-9478-29BB5DBDC50A}"/>
              </a:ext>
            </a:extLst>
          </p:cNvPr>
          <p:cNvSpPr>
            <a:spLocks xmlns:a="http://schemas.openxmlformats.org/drawingml/2006/main" noGrp="1"/>
          </p:cNvSpPr>
          <p:nvPr/>
        </p:nvSpPr>
        <p:spPr>
          <a:xfrm xmlns:a="http://schemas.openxmlformats.org/drawingml/2006/main">
            <a:off x="781050" y="3371850"/>
            <a:ext cx="2343150" cy="85725"/>
          </a:xfrm>
          <a:prstGeom xmlns:a="http://schemas.openxmlformats.org/drawingml/2006/main" prst="rect">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03582E0B-3EF5-439D-B391-87470CC2B6AB}"/>
              </a:ext>
            </a:extLst>
          </p:cNvPr>
          <p:cNvSpPr>
            <a:spLocks xmlns:a="http://schemas.openxmlformats.org/drawingml/2006/main" noGrp="1"/>
          </p:cNvSpPr>
          <p:nvPr/>
        </p:nvSpPr>
        <p:spPr>
          <a:xfrm xmlns:a="http://schemas.openxmlformats.org/drawingml/2006/main">
            <a:off x="781050" y="3371850"/>
            <a:ext cx="1162050" cy="85725"/>
          </a:xfrm>
          <a:prstGeom xmlns:a="http://schemas.openxmlformats.org/drawingml/2006/main" prst="rect">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15" name="">
            <a:extLst xmlns:a="http://schemas.openxmlformats.org/drawingml/2006/main">
              <a:ext uri="{FF2B5EF4-FFF2-40B4-BE49-F238E27FC236}">
                <a16:creationId xmlns:a16="http://schemas.microsoft.com/office/drawing/2014/main" id="{7DF84554-32CA-4AA4-8749-90462CA17068}"/>
              </a:ext>
            </a:extLst>
          </p:cNvPr>
          <p:cNvSpPr>
            <a:spLocks xmlns:a="http://schemas.openxmlformats.org/drawingml/2006/main" noGrp="1"/>
          </p:cNvSpPr>
          <p:nvPr/>
        </p:nvSpPr>
        <p:spPr>
          <a:xfrm xmlns:a="http://schemas.openxmlformats.org/drawingml/2006/main">
            <a:off x="781050" y="3505200"/>
            <a:ext cx="2476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65736B"/>
                </a:solidFill>
                <a:latin typeface="Aptos"/>
                <a:ea typeface="Aptos"/>
                <a:cs typeface="Aptos"/>
              </a:defRPr>
            </a:pPr>
            <a:r>
              <a:rPr sz="788" b="0">
                <a:solidFill>
                  <a:srgbClr val="65736B"/>
                </a:solidFill>
                <a:latin typeface="Aptos"/>
                <a:ea typeface="Aptos"/>
                <a:cs typeface="Aptos"/>
              </a:rPr>
              <a:t>varietà colori</a:t>
            </a:r>
          </a:p>
        </p:txBody>
      </p:sp>
      <p:sp>
        <p:nvSpPr>
          <p:cNvPr id="16" name="">
            <a:extLst xmlns:a="http://schemas.openxmlformats.org/drawingml/2006/main">
              <a:ext uri="{FF2B5EF4-FFF2-40B4-BE49-F238E27FC236}">
                <a16:creationId xmlns:a16="http://schemas.microsoft.com/office/drawing/2014/main" id="{7905E3B3-32E9-4C41-84C7-233F5DA32FDE}"/>
              </a:ext>
            </a:extLst>
          </p:cNvPr>
          <p:cNvSpPr>
            <a:spLocks xmlns:a="http://schemas.openxmlformats.org/drawingml/2006/main" noGrp="1"/>
          </p:cNvSpPr>
          <p:nvPr/>
        </p:nvSpPr>
        <p:spPr>
          <a:xfrm xmlns:a="http://schemas.openxmlformats.org/drawingml/2006/main">
            <a:off x="781050" y="3781425"/>
            <a:ext cx="2343150" cy="85725"/>
          </a:xfrm>
          <a:prstGeom xmlns:a="http://schemas.openxmlformats.org/drawingml/2006/main" prst="rect">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6A7B3139-76CE-4272-B972-DFAA61624572}"/>
              </a:ext>
            </a:extLst>
          </p:cNvPr>
          <p:cNvSpPr>
            <a:spLocks xmlns:a="http://schemas.openxmlformats.org/drawingml/2006/main" noGrp="1"/>
          </p:cNvSpPr>
          <p:nvPr/>
        </p:nvSpPr>
        <p:spPr>
          <a:xfrm xmlns:a="http://schemas.openxmlformats.org/drawingml/2006/main">
            <a:off x="781050" y="3781425"/>
            <a:ext cx="1400175" cy="85725"/>
          </a:xfrm>
          <a:prstGeom xmlns:a="http://schemas.openxmlformats.org/drawingml/2006/main" prst="rect">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FC699EF0-3E0F-4145-9D1C-4C3148DD1509}"/>
              </a:ext>
            </a:extLst>
          </p:cNvPr>
          <p:cNvSpPr>
            <a:spLocks xmlns:a="http://schemas.openxmlformats.org/drawingml/2006/main" noGrp="1"/>
          </p:cNvSpPr>
          <p:nvPr/>
        </p:nvSpPr>
        <p:spPr>
          <a:xfrm xmlns:a="http://schemas.openxmlformats.org/drawingml/2006/main">
            <a:off x="781050" y="3914775"/>
            <a:ext cx="2476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65736B"/>
                </a:solidFill>
                <a:latin typeface="Aptos"/>
                <a:ea typeface="Aptos"/>
                <a:cs typeface="Aptos"/>
              </a:defRPr>
            </a:pPr>
            <a:r>
              <a:rPr sz="788" b="0">
                <a:solidFill>
                  <a:srgbClr val="65736B"/>
                </a:solidFill>
                <a:latin typeface="Aptos"/>
                <a:ea typeface="Aptos"/>
                <a:cs typeface="Aptos"/>
              </a:rPr>
              <a:t>presenza neutri</a:t>
            </a:r>
          </a:p>
        </p:txBody>
      </p:sp>
      <p:sp>
        <p:nvSpPr>
          <p:cNvPr id="19" name="">
            <a:extLst xmlns:a="http://schemas.openxmlformats.org/drawingml/2006/main">
              <a:ext uri="{FF2B5EF4-FFF2-40B4-BE49-F238E27FC236}">
                <a16:creationId xmlns:a16="http://schemas.microsoft.com/office/drawing/2014/main" id="{C9AF347A-C955-49C1-9FCE-9DC676087A63}"/>
              </a:ext>
            </a:extLst>
          </p:cNvPr>
          <p:cNvSpPr>
            <a:spLocks xmlns:a="http://schemas.openxmlformats.org/drawingml/2006/main" noGrp="1"/>
          </p:cNvSpPr>
          <p:nvPr/>
        </p:nvSpPr>
        <p:spPr>
          <a:xfrm xmlns:a="http://schemas.openxmlformats.org/drawingml/2006/main">
            <a:off x="781050" y="4191000"/>
            <a:ext cx="2343150" cy="85725"/>
          </a:xfrm>
          <a:prstGeom xmlns:a="http://schemas.openxmlformats.org/drawingml/2006/main" prst="rect">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D8760FE4-C6E2-4097-9114-63578E1C89BB}"/>
              </a:ext>
            </a:extLst>
          </p:cNvPr>
          <p:cNvSpPr>
            <a:spLocks xmlns:a="http://schemas.openxmlformats.org/drawingml/2006/main" noGrp="1"/>
          </p:cNvSpPr>
          <p:nvPr/>
        </p:nvSpPr>
        <p:spPr>
          <a:xfrm xmlns:a="http://schemas.openxmlformats.org/drawingml/2006/main">
            <a:off x="781050" y="4191000"/>
            <a:ext cx="1638300" cy="85725"/>
          </a:xfrm>
          <a:prstGeom xmlns:a="http://schemas.openxmlformats.org/drawingml/2006/main" prst="rect">
            <a:avLst/>
          </a:prstGeom>
          <a:solidFill xmlns:a="http://schemas.openxmlformats.org/drawingml/2006/main">
            <a:srgbClr val="466D86"/>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279CAFF5-FA98-4931-8B47-409D7AC0E638}"/>
              </a:ext>
            </a:extLst>
          </p:cNvPr>
          <p:cNvSpPr>
            <a:spLocks xmlns:a="http://schemas.openxmlformats.org/drawingml/2006/main" noGrp="1"/>
          </p:cNvSpPr>
          <p:nvPr/>
        </p:nvSpPr>
        <p:spPr>
          <a:xfrm xmlns:a="http://schemas.openxmlformats.org/drawingml/2006/main">
            <a:off x="781050" y="4324350"/>
            <a:ext cx="2476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65736B"/>
                </a:solidFill>
                <a:latin typeface="Aptos"/>
                <a:ea typeface="Aptos"/>
                <a:cs typeface="Aptos"/>
              </a:defRPr>
            </a:pPr>
            <a:r>
              <a:rPr sz="788" b="0">
                <a:solidFill>
                  <a:srgbClr val="65736B"/>
                </a:solidFill>
                <a:latin typeface="Aptos"/>
                <a:ea typeface="Aptos"/>
                <a:cs typeface="Aptos"/>
              </a:rPr>
              <a:t>ghost ratio</a:t>
            </a:r>
          </a:p>
        </p:txBody>
      </p:sp>
      <p:sp>
        <p:nvSpPr>
          <p:cNvPr id="22" name="">
            <a:extLst xmlns:a="http://schemas.openxmlformats.org/drawingml/2006/main">
              <a:ext uri="{FF2B5EF4-FFF2-40B4-BE49-F238E27FC236}">
                <a16:creationId xmlns:a16="http://schemas.microsoft.com/office/drawing/2014/main" id="{38499BEA-07D5-456C-8A30-2ACD6CE30E19}"/>
              </a:ext>
            </a:extLst>
          </p:cNvPr>
          <p:cNvSpPr>
            <a:spLocks xmlns:a="http://schemas.openxmlformats.org/drawingml/2006/main" noGrp="1"/>
          </p:cNvSpPr>
          <p:nvPr/>
        </p:nvSpPr>
        <p:spPr>
          <a:xfrm xmlns:a="http://schemas.openxmlformats.org/drawingml/2006/main">
            <a:off x="781050" y="4600575"/>
            <a:ext cx="2343150" cy="85725"/>
          </a:xfrm>
          <a:prstGeom xmlns:a="http://schemas.openxmlformats.org/drawingml/2006/main" prst="rect">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BE72D03D-7AFE-481B-9591-B0533E9620C0}"/>
              </a:ext>
            </a:extLst>
          </p:cNvPr>
          <p:cNvSpPr>
            <a:spLocks xmlns:a="http://schemas.openxmlformats.org/drawingml/2006/main" noGrp="1"/>
          </p:cNvSpPr>
          <p:nvPr/>
        </p:nvSpPr>
        <p:spPr>
          <a:xfrm xmlns:a="http://schemas.openxmlformats.org/drawingml/2006/main">
            <a:off x="781050" y="4600575"/>
            <a:ext cx="1876425" cy="85725"/>
          </a:xfrm>
          <a:prstGeom xmlns:a="http://schemas.openxmlformats.org/drawingml/2006/main" prst="rect">
            <a:avLst/>
          </a:prstGeom>
          <a:solidFill xmlns:a="http://schemas.openxmlformats.org/drawingml/2006/main">
            <a:srgbClr val="466D86"/>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1E3C34C7-77B9-4745-A49F-5D0BC2CECAD4}"/>
              </a:ext>
            </a:extLst>
          </p:cNvPr>
          <p:cNvSpPr>
            <a:spLocks xmlns:a="http://schemas.openxmlformats.org/drawingml/2006/main" noGrp="1"/>
          </p:cNvSpPr>
          <p:nvPr/>
        </p:nvSpPr>
        <p:spPr>
          <a:xfrm xmlns:a="http://schemas.openxmlformats.org/drawingml/2006/main">
            <a:off x="781050" y="4733925"/>
            <a:ext cx="2476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65736B"/>
                </a:solidFill>
                <a:latin typeface="Aptos"/>
                <a:ea typeface="Aptos"/>
                <a:cs typeface="Aptos"/>
              </a:defRPr>
            </a:pPr>
            <a:r>
              <a:rPr sz="788" b="0">
                <a:solidFill>
                  <a:srgbClr val="65736B"/>
                </a:solidFill>
                <a:latin typeface="Aptos"/>
                <a:ea typeface="Aptos"/>
                <a:cs typeface="Aptos"/>
              </a:rPr>
              <a:t>totale capi</a:t>
            </a:r>
          </a:p>
        </p:txBody>
      </p:sp>
      <p:sp>
        <p:nvSpPr>
          <p:cNvPr id="25" name="">
            <a:extLst xmlns:a="http://schemas.openxmlformats.org/drawingml/2006/main">
              <a:ext uri="{FF2B5EF4-FFF2-40B4-BE49-F238E27FC236}">
                <a16:creationId xmlns:a16="http://schemas.microsoft.com/office/drawing/2014/main" id="{97BC46CC-B509-41CD-A948-043156F758FD}"/>
              </a:ext>
            </a:extLst>
          </p:cNvPr>
          <p:cNvSpPr>
            <a:spLocks xmlns:a="http://schemas.openxmlformats.org/drawingml/2006/main" noGrp="1"/>
          </p:cNvSpPr>
          <p:nvPr/>
        </p:nvSpPr>
        <p:spPr>
          <a:xfrm xmlns:a="http://schemas.openxmlformats.org/drawingml/2006/main">
            <a:off x="4343400" y="2438400"/>
            <a:ext cx="2095500" cy="2038350"/>
          </a:xfrm>
          <a:prstGeom xmlns:a="http://schemas.openxmlformats.org/drawingml/2006/main" prst="roundRect">
            <a:avLst>
              <a:gd name="adj" fmla="val 3738"/>
            </a:avLst>
          </a:prstGeom>
          <a:solidFill xmlns:a="http://schemas.openxmlformats.org/drawingml/2006/main">
            <a:srgbClr val="123C31"/>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7FD02C0D-ED21-4754-9F8A-55068DC8750B}"/>
              </a:ext>
            </a:extLst>
          </p:cNvPr>
          <p:cNvSpPr>
            <a:spLocks xmlns:a="http://schemas.openxmlformats.org/drawingml/2006/main" noGrp="1"/>
          </p:cNvSpPr>
          <p:nvPr/>
        </p:nvSpPr>
        <p:spPr>
          <a:xfrm xmlns:a="http://schemas.openxmlformats.org/drawingml/2006/main">
            <a:off x="4629150" y="2724150"/>
            <a:ext cx="1524000" cy="495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2550" b="1">
                <a:solidFill>
                  <a:srgbClr val="FFFFFF"/>
                </a:solidFill>
                <a:latin typeface="Georgia"/>
                <a:ea typeface="Georgia"/>
                <a:cs typeface="Georgia"/>
              </a:defRPr>
            </a:pPr>
            <a:r>
              <a:rPr sz="2550" b="1">
                <a:solidFill>
                  <a:srgbClr val="FFFFFF"/>
                </a:solidFill>
                <a:latin typeface="Georgia"/>
                <a:ea typeface="Georgia"/>
                <a:cs typeface="Georgia"/>
              </a:rPr>
              <a:t>MLP</a:t>
            </a:r>
          </a:p>
        </p:txBody>
      </p:sp>
      <p:sp>
        <p:nvSpPr>
          <p:cNvPr id="27" name="">
            <a:extLst xmlns:a="http://schemas.openxmlformats.org/drawingml/2006/main">
              <a:ext uri="{FF2B5EF4-FFF2-40B4-BE49-F238E27FC236}">
                <a16:creationId xmlns:a16="http://schemas.microsoft.com/office/drawing/2014/main" id="{ADC8A0DC-E123-44C4-880E-9C1B2E355255}"/>
              </a:ext>
            </a:extLst>
          </p:cNvPr>
          <p:cNvSpPr>
            <a:spLocks xmlns:a="http://schemas.openxmlformats.org/drawingml/2006/main" noGrp="1"/>
          </p:cNvSpPr>
          <p:nvPr/>
        </p:nvSpPr>
        <p:spPr>
          <a:xfrm xmlns:a="http://schemas.openxmlformats.org/drawingml/2006/main">
            <a:off x="4629150" y="3314700"/>
            <a:ext cx="15240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050" b="1">
                <a:solidFill>
                  <a:srgbClr val="B9D94A"/>
                </a:solidFill>
                <a:latin typeface="Aptos"/>
                <a:ea typeface="Aptos"/>
                <a:cs typeface="Aptos"/>
              </a:defRPr>
            </a:pPr>
            <a:r>
              <a:rPr sz="1050" b="1">
                <a:solidFill>
                  <a:srgbClr val="B9D94A"/>
                </a:solidFill>
                <a:latin typeface="Aptos"/>
                <a:ea typeface="Aptos"/>
                <a:cs typeface="Aptos"/>
              </a:rPr>
              <a:t>14 → 64 → 32 → 6</a:t>
            </a:r>
          </a:p>
        </p:txBody>
      </p:sp>
      <p:sp>
        <p:nvSpPr>
          <p:cNvPr id="28" name="">
            <a:extLst xmlns:a="http://schemas.openxmlformats.org/drawingml/2006/main">
              <a:ext uri="{FF2B5EF4-FFF2-40B4-BE49-F238E27FC236}">
                <a16:creationId xmlns:a16="http://schemas.microsoft.com/office/drawing/2014/main" id="{590F0F80-C63D-458D-A91B-AA62ECC15D26}"/>
              </a:ext>
            </a:extLst>
          </p:cNvPr>
          <p:cNvSpPr>
            <a:spLocks xmlns:a="http://schemas.openxmlformats.org/drawingml/2006/main" noGrp="1"/>
          </p:cNvSpPr>
          <p:nvPr/>
        </p:nvSpPr>
        <p:spPr>
          <a:xfrm xmlns:a="http://schemas.openxmlformats.org/drawingml/2006/main">
            <a:off x="4629150" y="3733800"/>
            <a:ext cx="152400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25" b="0">
                <a:solidFill>
                  <a:srgbClr val="DDE5DD"/>
                </a:solidFill>
                <a:latin typeface="Aptos"/>
                <a:ea typeface="Aptos"/>
                <a:cs typeface="Aptos"/>
              </a:defRPr>
            </a:pPr>
            <a:r>
              <a:rPr sz="825" b="0">
                <a:solidFill>
                  <a:srgbClr val="DDE5DD"/>
                </a:solidFill>
                <a:latin typeface="Aptos"/>
                <a:ea typeface="Aptos"/>
                <a:cs typeface="Aptos"/>
              </a:rPr>
              <a:t>sigmoid indipendenti</a:t>
            </a:r>
          </a:p>
          <a:p xmlns:a="http://schemas.openxmlformats.org/drawingml/2006/main">
            <a:pPr algn="ctr">
              <a:defRPr sz="825" b="0">
                <a:solidFill>
                  <a:srgbClr val="DDE5DD"/>
                </a:solidFill>
                <a:latin typeface="Aptos"/>
                <a:ea typeface="Aptos"/>
                <a:cs typeface="Aptos"/>
              </a:defRPr>
            </a:pPr>
            <a:r>
              <a:rPr sz="825" b="0">
                <a:solidFill>
                  <a:srgbClr val="DDE5DD"/>
                </a:solidFill>
                <a:latin typeface="Aptos"/>
                <a:ea typeface="Aptos"/>
                <a:cs typeface="Aptos"/>
              </a:rPr>
              <a:t>3.238 parametri</a:t>
            </a:r>
          </a:p>
        </p:txBody>
      </p:sp>
      <p:sp>
        <p:nvSpPr>
          <p:cNvPr id="29" name="">
            <a:extLst xmlns:a="http://schemas.openxmlformats.org/drawingml/2006/main">
              <a:ext uri="{FF2B5EF4-FFF2-40B4-BE49-F238E27FC236}">
                <a16:creationId xmlns:a16="http://schemas.microsoft.com/office/drawing/2014/main" id="{6F1A7802-9FC1-4A88-A089-3555BD6FD49C}"/>
              </a:ext>
            </a:extLst>
          </p:cNvPr>
          <p:cNvSpPr>
            <a:spLocks xmlns:a="http://schemas.openxmlformats.org/drawingml/2006/main" noGrp="1"/>
          </p:cNvSpPr>
          <p:nvPr/>
        </p:nvSpPr>
        <p:spPr>
          <a:xfrm xmlns:a="http://schemas.openxmlformats.org/drawingml/2006/main">
            <a:off x="3790950" y="3448050"/>
            <a:ext cx="552450" cy="28575"/>
          </a:xfrm>
          <a:prstGeom xmlns:a="http://schemas.openxmlformats.org/drawingml/2006/main" prst="rect">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30" name="">
            <a:extLst xmlns:a="http://schemas.openxmlformats.org/drawingml/2006/main">
              <a:ext uri="{FF2B5EF4-FFF2-40B4-BE49-F238E27FC236}">
                <a16:creationId xmlns:a16="http://schemas.microsoft.com/office/drawing/2014/main" id="{C9F9917C-B3B9-49E2-8460-AE8BFF0C3B89}"/>
              </a:ext>
            </a:extLst>
          </p:cNvPr>
          <p:cNvSpPr>
            <a:spLocks xmlns:a="http://schemas.openxmlformats.org/drawingml/2006/main" noGrp="1"/>
          </p:cNvSpPr>
          <p:nvPr/>
        </p:nvSpPr>
        <p:spPr>
          <a:xfrm xmlns:a="http://schemas.openxmlformats.org/drawingml/2006/main">
            <a:off x="6438900" y="3448050"/>
            <a:ext cx="552450" cy="28575"/>
          </a:xfrm>
          <a:prstGeom xmlns:a="http://schemas.openxmlformats.org/drawingml/2006/main" prst="rect">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495178E1-B0F8-4A8A-A1E3-1C9852058C75}"/>
              </a:ext>
            </a:extLst>
          </p:cNvPr>
          <p:cNvSpPr>
            <a:spLocks xmlns:a="http://schemas.openxmlformats.org/drawingml/2006/main" noGrp="1"/>
          </p:cNvSpPr>
          <p:nvPr/>
        </p:nvSpPr>
        <p:spPr>
          <a:xfrm xmlns:a="http://schemas.openxmlformats.org/drawingml/2006/main">
            <a:off x="6991350" y="1905000"/>
            <a:ext cx="4648200" cy="3409950"/>
          </a:xfrm>
          <a:prstGeom xmlns:a="http://schemas.openxmlformats.org/drawingml/2006/main" prst="roundRect">
            <a:avLst>
              <a:gd name="adj" fmla="val 2235"/>
            </a:avLst>
          </a:prstGeom>
          <a:solidFill xmlns:a="http://schemas.openxmlformats.org/drawingml/2006/main">
            <a:srgbClr val="FFFFFF"/>
          </a:solidFill>
          <a:ln xmlns:a="http://schemas.openxmlformats.org/drawingml/2006/main" w="9525">
            <a:solidFill>
              <a:srgbClr val="B9C3BB"/>
            </a:solidFill>
            <a:prstDash val="solid"/>
          </a:ln>
        </p:spPr>
      </p:sp>
      <p:sp>
        <p:nvSpPr>
          <p:cNvPr id="32" name="">
            <a:extLst xmlns:a="http://schemas.openxmlformats.org/drawingml/2006/main">
              <a:ext uri="{FF2B5EF4-FFF2-40B4-BE49-F238E27FC236}">
                <a16:creationId xmlns:a16="http://schemas.microsoft.com/office/drawing/2014/main" id="{4D1758F9-3803-4399-A62E-BAAC3798F2F3}"/>
              </a:ext>
            </a:extLst>
          </p:cNvPr>
          <p:cNvSpPr>
            <a:spLocks xmlns:a="http://schemas.openxmlformats.org/drawingml/2006/main" noGrp="1"/>
          </p:cNvSpPr>
          <p:nvPr/>
        </p:nvSpPr>
        <p:spPr>
          <a:xfrm xmlns:a="http://schemas.openxmlformats.org/drawingml/2006/main">
            <a:off x="7239000" y="21145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2F7D5B"/>
                </a:solidFill>
                <a:latin typeface="Aptos"/>
                <a:ea typeface="Aptos"/>
                <a:cs typeface="Aptos"/>
              </a:defRPr>
            </a:pPr>
            <a:r>
              <a:rPr sz="675" b="1">
                <a:solidFill>
                  <a:srgbClr val="2F7D5B"/>
                </a:solidFill>
                <a:latin typeface="Aptos"/>
                <a:ea typeface="Aptos"/>
                <a:cs typeface="Aptos"/>
              </a:rPr>
              <a:t>OUTPUT MULTI-LABEL · 6 PROBABILITÀ</a:t>
            </a:r>
          </a:p>
        </p:txBody>
      </p:sp>
      <p:sp>
        <p:nvSpPr>
          <p:cNvPr id="33" name="">
            <a:extLst xmlns:a="http://schemas.openxmlformats.org/drawingml/2006/main">
              <a:ext uri="{FF2B5EF4-FFF2-40B4-BE49-F238E27FC236}">
                <a16:creationId xmlns:a16="http://schemas.microsoft.com/office/drawing/2014/main" id="{02DF076C-BE55-419B-A6CC-E2106A7BA30F}"/>
              </a:ext>
            </a:extLst>
          </p:cNvPr>
          <p:cNvSpPr>
            <a:spLocks xmlns:a="http://schemas.openxmlformats.org/drawingml/2006/main" noGrp="1"/>
          </p:cNvSpPr>
          <p:nvPr/>
        </p:nvSpPr>
        <p:spPr>
          <a:xfrm xmlns:a="http://schemas.openxmlformats.org/drawingml/2006/main">
            <a:off x="7239000" y="2552700"/>
            <a:ext cx="171450" cy="17145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34" name="">
            <a:extLst xmlns:a="http://schemas.openxmlformats.org/drawingml/2006/main">
              <a:ext uri="{FF2B5EF4-FFF2-40B4-BE49-F238E27FC236}">
                <a16:creationId xmlns:a16="http://schemas.microsoft.com/office/drawing/2014/main" id="{7F90D478-A28F-4F0E-9FCF-55A08980BD06}"/>
              </a:ext>
            </a:extLst>
          </p:cNvPr>
          <p:cNvSpPr>
            <a:spLocks xmlns:a="http://schemas.openxmlformats.org/drawingml/2006/main" noGrp="1"/>
          </p:cNvSpPr>
          <p:nvPr/>
        </p:nvSpPr>
        <p:spPr>
          <a:xfrm xmlns:a="http://schemas.openxmlformats.org/drawingml/2006/main">
            <a:off x="7524750" y="2533650"/>
            <a:ext cx="16573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1">
                <a:solidFill>
                  <a:srgbClr val="17211D"/>
                </a:solidFill>
                <a:latin typeface="Aptos"/>
                <a:ea typeface="Aptos"/>
                <a:cs typeface="Aptos"/>
              </a:defRPr>
            </a:pPr>
            <a:r>
              <a:rPr sz="863" b="1">
                <a:solidFill>
                  <a:srgbClr val="17211D"/>
                </a:solidFill>
                <a:latin typeface="Aptos"/>
                <a:ea typeface="Aptos"/>
                <a:cs typeface="Aptos"/>
              </a:rPr>
              <a:t>capospalla</a:t>
            </a:r>
          </a:p>
        </p:txBody>
      </p:sp>
      <p:sp>
        <p:nvSpPr>
          <p:cNvPr id="35" name="">
            <a:extLst xmlns:a="http://schemas.openxmlformats.org/drawingml/2006/main">
              <a:ext uri="{FF2B5EF4-FFF2-40B4-BE49-F238E27FC236}">
                <a16:creationId xmlns:a16="http://schemas.microsoft.com/office/drawing/2014/main" id="{32296E19-0EA0-4304-97E4-F83D9C21D142}"/>
              </a:ext>
            </a:extLst>
          </p:cNvPr>
          <p:cNvSpPr>
            <a:spLocks xmlns:a="http://schemas.openxmlformats.org/drawingml/2006/main" noGrp="1"/>
          </p:cNvSpPr>
          <p:nvPr/>
        </p:nvSpPr>
        <p:spPr>
          <a:xfrm xmlns:a="http://schemas.openxmlformats.org/drawingml/2006/main">
            <a:off x="9334500" y="2552700"/>
            <a:ext cx="171450" cy="17145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9E8FFE5A-6A0E-4218-8199-464194E23B64}"/>
              </a:ext>
            </a:extLst>
          </p:cNvPr>
          <p:cNvSpPr>
            <a:spLocks xmlns:a="http://schemas.openxmlformats.org/drawingml/2006/main" noGrp="1"/>
          </p:cNvSpPr>
          <p:nvPr/>
        </p:nvSpPr>
        <p:spPr>
          <a:xfrm xmlns:a="http://schemas.openxmlformats.org/drawingml/2006/main">
            <a:off x="9620250" y="2533650"/>
            <a:ext cx="16573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1">
                <a:solidFill>
                  <a:srgbClr val="17211D"/>
                </a:solidFill>
                <a:latin typeface="Aptos"/>
                <a:ea typeface="Aptos"/>
                <a:cs typeface="Aptos"/>
              </a:defRPr>
            </a:pPr>
            <a:r>
              <a:rPr sz="863" b="1">
                <a:solidFill>
                  <a:srgbClr val="17211D"/>
                </a:solidFill>
                <a:latin typeface="Aptos"/>
                <a:ea typeface="Aptos"/>
                <a:cs typeface="Aptos"/>
              </a:rPr>
              <a:t>scarpe</a:t>
            </a:r>
          </a:p>
        </p:txBody>
      </p:sp>
      <p:sp>
        <p:nvSpPr>
          <p:cNvPr id="37" name="">
            <a:extLst xmlns:a="http://schemas.openxmlformats.org/drawingml/2006/main">
              <a:ext uri="{FF2B5EF4-FFF2-40B4-BE49-F238E27FC236}">
                <a16:creationId xmlns:a16="http://schemas.microsoft.com/office/drawing/2014/main" id="{5922A333-7D28-4458-A94A-0BAFD157ADCE}"/>
              </a:ext>
            </a:extLst>
          </p:cNvPr>
          <p:cNvSpPr>
            <a:spLocks xmlns:a="http://schemas.openxmlformats.org/drawingml/2006/main" noGrp="1"/>
          </p:cNvSpPr>
          <p:nvPr/>
        </p:nvSpPr>
        <p:spPr>
          <a:xfrm xmlns:a="http://schemas.openxmlformats.org/drawingml/2006/main">
            <a:off x="7239000" y="3181350"/>
            <a:ext cx="171450" cy="17145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38" name="">
            <a:extLst xmlns:a="http://schemas.openxmlformats.org/drawingml/2006/main">
              <a:ext uri="{FF2B5EF4-FFF2-40B4-BE49-F238E27FC236}">
                <a16:creationId xmlns:a16="http://schemas.microsoft.com/office/drawing/2014/main" id="{44C0796E-7023-4878-A522-911016A40CB5}"/>
              </a:ext>
            </a:extLst>
          </p:cNvPr>
          <p:cNvSpPr>
            <a:spLocks xmlns:a="http://schemas.openxmlformats.org/drawingml/2006/main" noGrp="1"/>
          </p:cNvSpPr>
          <p:nvPr/>
        </p:nvSpPr>
        <p:spPr>
          <a:xfrm xmlns:a="http://schemas.openxmlformats.org/drawingml/2006/main">
            <a:off x="7524750" y="3162300"/>
            <a:ext cx="16573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1">
                <a:solidFill>
                  <a:srgbClr val="17211D"/>
                </a:solidFill>
                <a:latin typeface="Aptos"/>
                <a:ea typeface="Aptos"/>
                <a:cs typeface="Aptos"/>
              </a:defRPr>
            </a:pPr>
            <a:r>
              <a:rPr sz="863" b="1">
                <a:solidFill>
                  <a:srgbClr val="17211D"/>
                </a:solidFill>
                <a:latin typeface="Aptos"/>
                <a:ea typeface="Aptos"/>
                <a:cs typeface="Aptos"/>
              </a:rPr>
              <a:t>formale</a:t>
            </a:r>
          </a:p>
        </p:txBody>
      </p:sp>
      <p:sp>
        <p:nvSpPr>
          <p:cNvPr id="39" name="">
            <a:extLst xmlns:a="http://schemas.openxmlformats.org/drawingml/2006/main">
              <a:ext uri="{FF2B5EF4-FFF2-40B4-BE49-F238E27FC236}">
                <a16:creationId xmlns:a16="http://schemas.microsoft.com/office/drawing/2014/main" id="{AC884735-8069-46C1-A25A-8E2BAD7E366E}"/>
              </a:ext>
            </a:extLst>
          </p:cNvPr>
          <p:cNvSpPr>
            <a:spLocks xmlns:a="http://schemas.openxmlformats.org/drawingml/2006/main" noGrp="1"/>
          </p:cNvSpPr>
          <p:nvPr/>
        </p:nvSpPr>
        <p:spPr>
          <a:xfrm xmlns:a="http://schemas.openxmlformats.org/drawingml/2006/main">
            <a:off x="9334500" y="3181350"/>
            <a:ext cx="171450" cy="17145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40" name="">
            <a:extLst xmlns:a="http://schemas.openxmlformats.org/drawingml/2006/main">
              <a:ext uri="{FF2B5EF4-FFF2-40B4-BE49-F238E27FC236}">
                <a16:creationId xmlns:a16="http://schemas.microsoft.com/office/drawing/2014/main" id="{367672FB-633E-4647-8BF2-D2A46CCEEF9D}"/>
              </a:ext>
            </a:extLst>
          </p:cNvPr>
          <p:cNvSpPr>
            <a:spLocks xmlns:a="http://schemas.openxmlformats.org/drawingml/2006/main" noGrp="1"/>
          </p:cNvSpPr>
          <p:nvPr/>
        </p:nvSpPr>
        <p:spPr>
          <a:xfrm xmlns:a="http://schemas.openxmlformats.org/drawingml/2006/main">
            <a:off x="9620250" y="3162300"/>
            <a:ext cx="16573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1">
                <a:solidFill>
                  <a:srgbClr val="17211D"/>
                </a:solidFill>
                <a:latin typeface="Aptos"/>
                <a:ea typeface="Aptos"/>
                <a:cs typeface="Aptos"/>
              </a:defRPr>
            </a:pPr>
            <a:r>
              <a:rPr sz="863" b="1">
                <a:solidFill>
                  <a:srgbClr val="17211D"/>
                </a:solidFill>
                <a:latin typeface="Aptos"/>
                <a:ea typeface="Aptos"/>
                <a:cs typeface="Aptos"/>
              </a:rPr>
              <a:t>invernale</a:t>
            </a:r>
          </a:p>
        </p:txBody>
      </p:sp>
      <p:sp>
        <p:nvSpPr>
          <p:cNvPr id="41" name="">
            <a:extLst xmlns:a="http://schemas.openxmlformats.org/drawingml/2006/main">
              <a:ext uri="{FF2B5EF4-FFF2-40B4-BE49-F238E27FC236}">
                <a16:creationId xmlns:a16="http://schemas.microsoft.com/office/drawing/2014/main" id="{34B2EFDF-2BC7-44D5-9C4B-962764D5D270}"/>
              </a:ext>
            </a:extLst>
          </p:cNvPr>
          <p:cNvSpPr>
            <a:spLocks xmlns:a="http://schemas.openxmlformats.org/drawingml/2006/main" noGrp="1"/>
          </p:cNvSpPr>
          <p:nvPr/>
        </p:nvSpPr>
        <p:spPr>
          <a:xfrm xmlns:a="http://schemas.openxmlformats.org/drawingml/2006/main">
            <a:off x="7239000" y="3810000"/>
            <a:ext cx="171450" cy="171450"/>
          </a:xfrm>
          <a:prstGeom xmlns:a="http://schemas.openxmlformats.org/drawingml/2006/main" prst="ellipse">
            <a:avLst/>
          </a:prstGeom>
          <a:solidFill xmlns:a="http://schemas.openxmlformats.org/drawingml/2006/main">
            <a:srgbClr val="D56E42"/>
          </a:solidFill>
          <a:ln xmlns:a="http://schemas.openxmlformats.org/drawingml/2006/main" w="0">
            <a:solidFill>
              <a:srgbClr val="000000">
                <a:alpha val="0"/>
              </a:srgbClr>
            </a:solidFill>
            <a:prstDash val="solid"/>
          </a:ln>
        </p:spPr>
      </p:sp>
      <p:sp>
        <p:nvSpPr>
          <p:cNvPr id="42" name="">
            <a:extLst xmlns:a="http://schemas.openxmlformats.org/drawingml/2006/main">
              <a:ext uri="{FF2B5EF4-FFF2-40B4-BE49-F238E27FC236}">
                <a16:creationId xmlns:a16="http://schemas.microsoft.com/office/drawing/2014/main" id="{C4374DB9-793B-4FEA-8BBF-6F55983962AC}"/>
              </a:ext>
            </a:extLst>
          </p:cNvPr>
          <p:cNvSpPr>
            <a:spLocks xmlns:a="http://schemas.openxmlformats.org/drawingml/2006/main" noGrp="1"/>
          </p:cNvSpPr>
          <p:nvPr/>
        </p:nvSpPr>
        <p:spPr>
          <a:xfrm xmlns:a="http://schemas.openxmlformats.org/drawingml/2006/main">
            <a:off x="7524750" y="3790950"/>
            <a:ext cx="16573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1">
                <a:solidFill>
                  <a:srgbClr val="17211D"/>
                </a:solidFill>
                <a:latin typeface="Aptos"/>
                <a:ea typeface="Aptos"/>
                <a:cs typeface="Aptos"/>
              </a:defRPr>
            </a:pPr>
            <a:r>
              <a:rPr sz="863" b="1">
                <a:solidFill>
                  <a:srgbClr val="17211D"/>
                </a:solidFill>
                <a:latin typeface="Aptos"/>
                <a:ea typeface="Aptos"/>
                <a:cs typeface="Aptos"/>
              </a:rPr>
              <a:t>troppe t-shirt</a:t>
            </a:r>
          </a:p>
        </p:txBody>
      </p:sp>
      <p:sp>
        <p:nvSpPr>
          <p:cNvPr id="43" name="">
            <a:extLst xmlns:a="http://schemas.openxmlformats.org/drawingml/2006/main">
              <a:ext uri="{FF2B5EF4-FFF2-40B4-BE49-F238E27FC236}">
                <a16:creationId xmlns:a16="http://schemas.microsoft.com/office/drawing/2014/main" id="{E4E64A18-105B-481E-BA78-B89CE8FAD75F}"/>
              </a:ext>
            </a:extLst>
          </p:cNvPr>
          <p:cNvSpPr>
            <a:spLocks xmlns:a="http://schemas.openxmlformats.org/drawingml/2006/main" noGrp="1"/>
          </p:cNvSpPr>
          <p:nvPr/>
        </p:nvSpPr>
        <p:spPr>
          <a:xfrm xmlns:a="http://schemas.openxmlformats.org/drawingml/2006/main">
            <a:off x="9334500" y="3810000"/>
            <a:ext cx="171450" cy="17145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44" name="">
            <a:extLst xmlns:a="http://schemas.openxmlformats.org/drawingml/2006/main">
              <a:ext uri="{FF2B5EF4-FFF2-40B4-BE49-F238E27FC236}">
                <a16:creationId xmlns:a16="http://schemas.microsoft.com/office/drawing/2014/main" id="{4208C976-F9CE-4EC2-95C2-3AE9D5FF1120}"/>
              </a:ext>
            </a:extLst>
          </p:cNvPr>
          <p:cNvSpPr>
            <a:spLocks xmlns:a="http://schemas.openxmlformats.org/drawingml/2006/main" noGrp="1"/>
          </p:cNvSpPr>
          <p:nvPr/>
        </p:nvSpPr>
        <p:spPr>
          <a:xfrm xmlns:a="http://schemas.openxmlformats.org/drawingml/2006/main">
            <a:off x="9620250" y="3790950"/>
            <a:ext cx="16573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1">
                <a:solidFill>
                  <a:srgbClr val="17211D"/>
                </a:solidFill>
                <a:latin typeface="Aptos"/>
                <a:ea typeface="Aptos"/>
                <a:cs typeface="Aptos"/>
              </a:defRPr>
            </a:pPr>
            <a:r>
              <a:rPr sz="863" b="1">
                <a:solidFill>
                  <a:srgbClr val="17211D"/>
                </a:solidFill>
                <a:latin typeface="Aptos"/>
                <a:ea typeface="Aptos"/>
                <a:cs typeface="Aptos"/>
              </a:rPr>
              <a:t>varietà colori</a:t>
            </a:r>
          </a:p>
        </p:txBody>
      </p:sp>
      <p:sp>
        <p:nvSpPr>
          <p:cNvPr id="45" name="">
            <a:extLst xmlns:a="http://schemas.openxmlformats.org/drawingml/2006/main">
              <a:ext uri="{FF2B5EF4-FFF2-40B4-BE49-F238E27FC236}">
                <a16:creationId xmlns:a16="http://schemas.microsoft.com/office/drawing/2014/main" id="{AC345814-CA98-4E33-AB5A-08249DAD0D8D}"/>
              </a:ext>
            </a:extLst>
          </p:cNvPr>
          <p:cNvSpPr>
            <a:spLocks xmlns:a="http://schemas.openxmlformats.org/drawingml/2006/main" noGrp="1"/>
          </p:cNvSpPr>
          <p:nvPr/>
        </p:nvSpPr>
        <p:spPr>
          <a:xfrm xmlns:a="http://schemas.openxmlformats.org/drawingml/2006/main">
            <a:off x="7239000" y="4495800"/>
            <a:ext cx="400050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46" name="">
            <a:extLst xmlns:a="http://schemas.openxmlformats.org/drawingml/2006/main">
              <a:ext uri="{FF2B5EF4-FFF2-40B4-BE49-F238E27FC236}">
                <a16:creationId xmlns:a16="http://schemas.microsoft.com/office/drawing/2014/main" id="{BCE51FE9-5C86-4BE2-B1D9-C2A7955C6297}"/>
              </a:ext>
            </a:extLst>
          </p:cNvPr>
          <p:cNvSpPr>
            <a:spLocks xmlns:a="http://schemas.openxmlformats.org/drawingml/2006/main" noGrp="1"/>
          </p:cNvSpPr>
          <p:nvPr/>
        </p:nvSpPr>
        <p:spPr>
          <a:xfrm xmlns:a="http://schemas.openxmlformats.org/drawingml/2006/main">
            <a:off x="7239000" y="4667250"/>
            <a:ext cx="10477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65736B"/>
                </a:solidFill>
                <a:latin typeface="Aptos"/>
                <a:ea typeface="Aptos"/>
                <a:cs typeface="Aptos"/>
              </a:defRPr>
            </a:pPr>
            <a:r>
              <a:rPr sz="750" b="1">
                <a:solidFill>
                  <a:srgbClr val="65736B"/>
                </a:solidFill>
                <a:latin typeface="Aptos"/>
                <a:ea typeface="Aptos"/>
                <a:cs typeface="Aptos"/>
              </a:rPr>
              <a:t>Micro-F1</a:t>
            </a:r>
          </a:p>
        </p:txBody>
      </p:sp>
      <p:sp>
        <p:nvSpPr>
          <p:cNvPr id="47" name="">
            <a:extLst xmlns:a="http://schemas.openxmlformats.org/drawingml/2006/main">
              <a:ext uri="{FF2B5EF4-FFF2-40B4-BE49-F238E27FC236}">
                <a16:creationId xmlns:a16="http://schemas.microsoft.com/office/drawing/2014/main" id="{2245063F-3D94-43BC-A2D8-D189016E0425}"/>
              </a:ext>
            </a:extLst>
          </p:cNvPr>
          <p:cNvSpPr>
            <a:spLocks xmlns:a="http://schemas.openxmlformats.org/drawingml/2006/main" noGrp="1"/>
          </p:cNvSpPr>
          <p:nvPr/>
        </p:nvSpPr>
        <p:spPr>
          <a:xfrm xmlns:a="http://schemas.openxmlformats.org/drawingml/2006/main">
            <a:off x="7239000" y="4895850"/>
            <a:ext cx="10477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17211D"/>
                </a:solidFill>
                <a:latin typeface="Georgia"/>
                <a:ea typeface="Georgia"/>
                <a:cs typeface="Georgia"/>
              </a:defRPr>
            </a:pPr>
            <a:r>
              <a:rPr sz="1650" b="1">
                <a:solidFill>
                  <a:srgbClr val="17211D"/>
                </a:solidFill>
                <a:latin typeface="Georgia"/>
                <a:ea typeface="Georgia"/>
                <a:cs typeface="Georgia"/>
              </a:rPr>
              <a:t>0,943</a:t>
            </a:r>
          </a:p>
        </p:txBody>
      </p:sp>
      <p:sp>
        <p:nvSpPr>
          <p:cNvPr id="48" name="">
            <a:extLst xmlns:a="http://schemas.openxmlformats.org/drawingml/2006/main">
              <a:ext uri="{FF2B5EF4-FFF2-40B4-BE49-F238E27FC236}">
                <a16:creationId xmlns:a16="http://schemas.microsoft.com/office/drawing/2014/main" id="{785AAD89-7611-46AC-A671-6FF1A354F03F}"/>
              </a:ext>
            </a:extLst>
          </p:cNvPr>
          <p:cNvSpPr>
            <a:spLocks xmlns:a="http://schemas.openxmlformats.org/drawingml/2006/main" noGrp="1"/>
          </p:cNvSpPr>
          <p:nvPr/>
        </p:nvSpPr>
        <p:spPr>
          <a:xfrm xmlns:a="http://schemas.openxmlformats.org/drawingml/2006/main">
            <a:off x="8572500" y="4667250"/>
            <a:ext cx="10477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65736B"/>
                </a:solidFill>
                <a:latin typeface="Aptos"/>
                <a:ea typeface="Aptos"/>
                <a:cs typeface="Aptos"/>
              </a:defRPr>
            </a:pPr>
            <a:r>
              <a:rPr sz="750" b="1">
                <a:solidFill>
                  <a:srgbClr val="65736B"/>
                </a:solidFill>
                <a:latin typeface="Aptos"/>
                <a:ea typeface="Aptos"/>
                <a:cs typeface="Aptos"/>
              </a:rPr>
              <a:t>Macro-F1</a:t>
            </a:r>
          </a:p>
        </p:txBody>
      </p:sp>
      <p:sp>
        <p:nvSpPr>
          <p:cNvPr id="49" name="">
            <a:extLst xmlns:a="http://schemas.openxmlformats.org/drawingml/2006/main">
              <a:ext uri="{FF2B5EF4-FFF2-40B4-BE49-F238E27FC236}">
                <a16:creationId xmlns:a16="http://schemas.microsoft.com/office/drawing/2014/main" id="{32267F0F-CF4D-4805-B2DB-4EF206FBA79A}"/>
              </a:ext>
            </a:extLst>
          </p:cNvPr>
          <p:cNvSpPr>
            <a:spLocks xmlns:a="http://schemas.openxmlformats.org/drawingml/2006/main" noGrp="1"/>
          </p:cNvSpPr>
          <p:nvPr/>
        </p:nvSpPr>
        <p:spPr>
          <a:xfrm xmlns:a="http://schemas.openxmlformats.org/drawingml/2006/main">
            <a:off x="8572500" y="4895850"/>
            <a:ext cx="10477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17211D"/>
                </a:solidFill>
                <a:latin typeface="Georgia"/>
                <a:ea typeface="Georgia"/>
                <a:cs typeface="Georgia"/>
              </a:defRPr>
            </a:pPr>
            <a:r>
              <a:rPr sz="1650" b="1">
                <a:solidFill>
                  <a:srgbClr val="17211D"/>
                </a:solidFill>
                <a:latin typeface="Georgia"/>
                <a:ea typeface="Georgia"/>
                <a:cs typeface="Georgia"/>
              </a:rPr>
              <a:t>0,932</a:t>
            </a:r>
          </a:p>
        </p:txBody>
      </p:sp>
      <p:sp>
        <p:nvSpPr>
          <p:cNvPr id="50" name="">
            <a:extLst xmlns:a="http://schemas.openxmlformats.org/drawingml/2006/main">
              <a:ext uri="{FF2B5EF4-FFF2-40B4-BE49-F238E27FC236}">
                <a16:creationId xmlns:a16="http://schemas.microsoft.com/office/drawing/2014/main" id="{9B9E1881-AE76-448F-BFFF-A7EA16AC6382}"/>
              </a:ext>
            </a:extLst>
          </p:cNvPr>
          <p:cNvSpPr>
            <a:spLocks xmlns:a="http://schemas.openxmlformats.org/drawingml/2006/main" noGrp="1"/>
          </p:cNvSpPr>
          <p:nvPr/>
        </p:nvSpPr>
        <p:spPr>
          <a:xfrm xmlns:a="http://schemas.openxmlformats.org/drawingml/2006/main">
            <a:off x="9906000" y="4667250"/>
            <a:ext cx="11430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65736B"/>
                </a:solidFill>
                <a:latin typeface="Aptos"/>
                <a:ea typeface="Aptos"/>
                <a:cs typeface="Aptos"/>
              </a:defRPr>
            </a:pPr>
            <a:r>
              <a:rPr sz="750" b="1">
                <a:solidFill>
                  <a:srgbClr val="65736B"/>
                </a:solidFill>
                <a:latin typeface="Aptos"/>
                <a:ea typeface="Aptos"/>
                <a:cs typeface="Aptos"/>
              </a:rPr>
              <a:t>Subset acc.</a:t>
            </a:r>
          </a:p>
        </p:txBody>
      </p:sp>
      <p:sp>
        <p:nvSpPr>
          <p:cNvPr id="51" name="">
            <a:extLst xmlns:a="http://schemas.openxmlformats.org/drawingml/2006/main">
              <a:ext uri="{FF2B5EF4-FFF2-40B4-BE49-F238E27FC236}">
                <a16:creationId xmlns:a16="http://schemas.microsoft.com/office/drawing/2014/main" id="{D95E4D1A-E054-4F93-9A23-54A7176D4689}"/>
              </a:ext>
            </a:extLst>
          </p:cNvPr>
          <p:cNvSpPr>
            <a:spLocks xmlns:a="http://schemas.openxmlformats.org/drawingml/2006/main" noGrp="1"/>
          </p:cNvSpPr>
          <p:nvPr/>
        </p:nvSpPr>
        <p:spPr>
          <a:xfrm xmlns:a="http://schemas.openxmlformats.org/drawingml/2006/main">
            <a:off x="9906000" y="4895850"/>
            <a:ext cx="11430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17211D"/>
                </a:solidFill>
                <a:latin typeface="Georgia"/>
                <a:ea typeface="Georgia"/>
                <a:cs typeface="Georgia"/>
              </a:defRPr>
            </a:pPr>
            <a:r>
              <a:rPr sz="1650" b="1">
                <a:solidFill>
                  <a:srgbClr val="17211D"/>
                </a:solidFill>
                <a:latin typeface="Georgia"/>
                <a:ea typeface="Georgia"/>
                <a:cs typeface="Georgia"/>
              </a:rPr>
              <a:t>0,779</a:t>
            </a:r>
          </a:p>
        </p:txBody>
      </p:sp>
      <p:sp>
        <p:nvSpPr>
          <p:cNvPr id="52" name="">
            <a:extLst xmlns:a="http://schemas.openxmlformats.org/drawingml/2006/main">
              <a:ext uri="{FF2B5EF4-FFF2-40B4-BE49-F238E27FC236}">
                <a16:creationId xmlns:a16="http://schemas.microsoft.com/office/drawing/2014/main" id="{68B7FC33-AB27-48F0-9C52-FADD87DC162F}"/>
              </a:ext>
            </a:extLst>
          </p:cNvPr>
          <p:cNvSpPr>
            <a:spLocks xmlns:a="http://schemas.openxmlformats.org/drawingml/2006/main" noGrp="1"/>
          </p:cNvSpPr>
          <p:nvPr/>
        </p:nvSpPr>
        <p:spPr>
          <a:xfrm xmlns:a="http://schemas.openxmlformats.org/drawingml/2006/main">
            <a:off x="552450" y="5676900"/>
            <a:ext cx="110871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25" b="0">
                <a:solidFill>
                  <a:srgbClr val="65736B"/>
                </a:solidFill>
                <a:latin typeface="Aptos"/>
                <a:ea typeface="Aptos"/>
                <a:cs typeface="Aptos"/>
              </a:defRPr>
            </a:pPr>
            <a:r>
              <a:rPr sz="825" b="0">
                <a:solidFill>
                  <a:srgbClr val="65736B"/>
                </a:solidFill>
                <a:latin typeface="Aptos"/>
                <a:ea typeface="Aptos"/>
                <a:cs typeface="Aptos"/>
              </a:rPr>
              <a:t>5.000 guardaroba simulati · le label derivano da regole esperte + rumore: è proof-of-concept, non verità universale.</a:t>
            </a:r>
          </a:p>
        </p:txBody>
      </p:sp>
      <p:sp>
        <p:nvSpPr>
          <p:cNvPr id="53" name="">
            <a:extLst xmlns:a="http://schemas.openxmlformats.org/drawingml/2006/main">
              <a:ext uri="{FF2B5EF4-FFF2-40B4-BE49-F238E27FC236}">
                <a16:creationId xmlns:a16="http://schemas.microsoft.com/office/drawing/2014/main" id="{9FD56156-8047-4B08-AD27-DFDDCDC700FA}"/>
              </a:ext>
            </a:extLst>
          </p:cNvPr>
          <p:cNvSpPr>
            <a:spLocks xmlns:a="http://schemas.openxmlformats.org/drawingml/2006/main" noGrp="1"/>
          </p:cNvSpPr>
          <p:nvPr/>
        </p:nvSpPr>
        <p:spPr>
          <a:xfrm xmlns:a="http://schemas.openxmlformats.org/drawingml/2006/main">
            <a:off x="552450" y="6457950"/>
            <a:ext cx="1108710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54" name="">
            <a:extLst xmlns:a="http://schemas.openxmlformats.org/drawingml/2006/main">
              <a:ext uri="{FF2B5EF4-FFF2-40B4-BE49-F238E27FC236}">
                <a16:creationId xmlns:a16="http://schemas.microsoft.com/office/drawing/2014/main" id="{F26C93FC-6F38-461D-A3EC-C2835E4B7DCD}"/>
              </a:ext>
            </a:extLst>
          </p:cNvPr>
          <p:cNvSpPr>
            <a:spLocks xmlns:a="http://schemas.openxmlformats.org/drawingml/2006/main" noGrp="1"/>
          </p:cNvSpPr>
          <p:nvPr/>
        </p:nvSpPr>
        <p:spPr>
          <a:xfrm xmlns:a="http://schemas.openxmlformats.org/drawingml/2006/main">
            <a:off x="552450" y="6534150"/>
            <a:ext cx="1000125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63" b="0">
                <a:solidFill>
                  <a:srgbClr val="65736B"/>
                </a:solidFill>
                <a:latin typeface="Aptos"/>
                <a:ea typeface="Aptos"/>
                <a:cs typeface="Aptos"/>
              </a:defRPr>
            </a:pPr>
            <a:r>
              <a:rPr sz="563" b="0">
                <a:solidFill>
                  <a:srgbClr val="65736B"/>
                </a:solidFill>
                <a:latin typeface="Aptos"/>
                <a:ea typeface="Aptos"/>
                <a:cs typeface="Aptos"/>
              </a:rPr>
              <a:t>Checkpoint gap_model.pt · 02_wardrobe_gap_mlp.ipynb</a:t>
            </a:r>
          </a:p>
        </p:txBody>
      </p:sp>
      <p:sp>
        <p:nvSpPr>
          <p:cNvPr id="55" name="">
            <a:extLst xmlns:a="http://schemas.openxmlformats.org/drawingml/2006/main">
              <a:ext uri="{FF2B5EF4-FFF2-40B4-BE49-F238E27FC236}">
                <a16:creationId xmlns:a16="http://schemas.microsoft.com/office/drawing/2014/main" id="{BDAF190C-D19A-48ED-9408-3906B7C4503F}"/>
              </a:ext>
            </a:extLst>
          </p:cNvPr>
          <p:cNvSpPr>
            <a:spLocks xmlns:a="http://schemas.openxmlformats.org/drawingml/2006/main" noGrp="1"/>
          </p:cNvSpPr>
          <p:nvPr/>
        </p:nvSpPr>
        <p:spPr>
          <a:xfrm xmlns:a="http://schemas.openxmlformats.org/drawingml/2006/main">
            <a:off x="11087100" y="650557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65736B"/>
                </a:solidFill>
                <a:latin typeface="Georgia"/>
                <a:ea typeface="Georgia"/>
                <a:cs typeface="Georgia"/>
              </a:defRPr>
            </a:pPr>
            <a:r>
              <a:rPr sz="750" b="1">
                <a:solidFill>
                  <a:srgbClr val="65736B"/>
                </a:solidFill>
                <a:latin typeface="Georgia"/>
                <a:ea typeface="Georgia"/>
                <a:cs typeface="Georgia"/>
              </a:rPr>
              <a:t>07</a:t>
            </a:r>
          </a:p>
        </p:txBody>
      </p:sp>
    </p:spTree>
    <p:extLst>
      <p:ext uri="{BB962C8B-B14F-4D97-AF65-F5344CB8AC3E}">
        <p14:creationId xmlns:p14="http://schemas.microsoft.com/office/powerpoint/2010/main" val="192091130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526F10FE-D39A-431C-92F5-8E2BEEE5670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0E7"/>
          </a:solidFill>
          <a:ln xmlns:a="http://schemas.openxmlformats.org/drawingml/2006/main" w="0">
            <a:solidFill>
              <a:srgbClr val="000000">
                <a:alpha val="0"/>
              </a:srgbClr>
            </a:solidFill>
            <a:prstDash val="solid"/>
          </a:ln>
        </p:spPr>
      </p:sp>
      <p:sp>
        <p:nvSpPr>
          <p:cNvPr id="2" name="kicker-marker">
            <a:extLst xmlns:a="http://schemas.openxmlformats.org/drawingml/2006/main">
              <a:ext uri="{FF2B5EF4-FFF2-40B4-BE49-F238E27FC236}">
                <a16:creationId xmlns:a16="http://schemas.microsoft.com/office/drawing/2014/main" id="{C982EB6C-EAEE-42FD-B054-F911E3D1B3AD}"/>
              </a:ext>
            </a:extLst>
          </p:cNvPr>
          <p:cNvSpPr>
            <a:spLocks xmlns:a="http://schemas.openxmlformats.org/drawingml/2006/main" noGrp="1"/>
          </p:cNvSpPr>
          <p:nvPr/>
        </p:nvSpPr>
        <p:spPr>
          <a:xfrm xmlns:a="http://schemas.openxmlformats.org/drawingml/2006/main">
            <a:off x="552450" y="438150"/>
            <a:ext cx="95250" cy="9525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3" name="kicker-label">
            <a:extLst xmlns:a="http://schemas.openxmlformats.org/drawingml/2006/main">
              <a:ext uri="{FF2B5EF4-FFF2-40B4-BE49-F238E27FC236}">
                <a16:creationId xmlns:a16="http://schemas.microsoft.com/office/drawing/2014/main" id="{96EF1E60-528D-47F1-AD75-D7627A0C680D}"/>
              </a:ext>
            </a:extLst>
          </p:cNvPr>
          <p:cNvSpPr>
            <a:spLocks xmlns:a="http://schemas.openxmlformats.org/drawingml/2006/main" noGrp="1"/>
          </p:cNvSpPr>
          <p:nvPr/>
        </p:nvSpPr>
        <p:spPr>
          <a:xfrm xmlns:a="http://schemas.openxmlformats.org/drawingml/2006/main">
            <a:off x="762000" y="400050"/>
            <a:ext cx="4762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65736B"/>
                </a:solidFill>
                <a:latin typeface="Aptos"/>
                <a:ea typeface="Aptos"/>
                <a:cs typeface="Aptos"/>
              </a:defRPr>
            </a:pPr>
            <a:r>
              <a:rPr sz="675" b="1">
                <a:solidFill>
                  <a:srgbClr val="65736B"/>
                </a:solidFill>
                <a:latin typeface="Aptos"/>
                <a:ea typeface="Aptos"/>
                <a:cs typeface="Aptos"/>
              </a:rPr>
              <a:t>O U T F I T   R E C O M M E N D E R   ·   C O N F I N E   O N E S T O</a:t>
            </a:r>
          </a:p>
        </p:txBody>
      </p:sp>
      <p:sp>
        <p:nvSpPr>
          <p:cNvPr id="4" name="claim-title">
            <a:extLst xmlns:a="http://schemas.openxmlformats.org/drawingml/2006/main">
              <a:ext uri="{FF2B5EF4-FFF2-40B4-BE49-F238E27FC236}">
                <a16:creationId xmlns:a16="http://schemas.microsoft.com/office/drawing/2014/main" id="{94D10EE4-6774-43DB-B78F-CCFFE8D8A9C4}"/>
              </a:ext>
            </a:extLst>
          </p:cNvPr>
          <p:cNvSpPr>
            <a:spLocks xmlns:a="http://schemas.openxmlformats.org/drawingml/2006/main" noGrp="1"/>
          </p:cNvSpPr>
          <p:nvPr/>
        </p:nvSpPr>
        <p:spPr>
          <a:xfrm xmlns:a="http://schemas.openxmlformats.org/drawingml/2006/main">
            <a:off x="552450" y="742950"/>
            <a:ext cx="1066800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700" b="1">
                <a:solidFill>
                  <a:srgbClr val="17211D"/>
                </a:solidFill>
                <a:latin typeface="Georgia"/>
                <a:ea typeface="Georgia"/>
                <a:cs typeface="Georgia"/>
              </a:defRPr>
            </a:pPr>
            <a:r>
              <a:rPr sz="2700" b="1">
                <a:solidFill>
                  <a:srgbClr val="17211D"/>
                </a:solidFill>
                <a:latin typeface="Georgia"/>
                <a:ea typeface="Georgia"/>
                <a:cs typeface="Georgia"/>
              </a:rPr>
              <a:t>L’outfit di oggi è una decisione pesata con feedback—non un modello addestrato.</a:t>
            </a:r>
          </a:p>
        </p:txBody>
      </p:sp>
      <p:sp>
        <p:nvSpPr>
          <p:cNvPr id="5" name="">
            <a:extLst xmlns:a="http://schemas.openxmlformats.org/drawingml/2006/main">
              <a:ext uri="{FF2B5EF4-FFF2-40B4-BE49-F238E27FC236}">
                <a16:creationId xmlns:a16="http://schemas.microsoft.com/office/drawing/2014/main" id="{D22560B9-5201-4C21-B104-9676416764D9}"/>
              </a:ext>
            </a:extLst>
          </p:cNvPr>
          <p:cNvSpPr>
            <a:spLocks xmlns:a="http://schemas.openxmlformats.org/drawingml/2006/main" noGrp="1"/>
          </p:cNvSpPr>
          <p:nvPr/>
        </p:nvSpPr>
        <p:spPr>
          <a:xfrm xmlns:a="http://schemas.openxmlformats.org/drawingml/2006/main">
            <a:off x="8820150" y="438150"/>
            <a:ext cx="2476500" cy="266700"/>
          </a:xfrm>
          <a:prstGeom xmlns:a="http://schemas.openxmlformats.org/drawingml/2006/main" prst="roundRect">
            <a:avLst>
              <a:gd name="adj" fmla="val 28571"/>
            </a:avLst>
          </a:prstGeom>
          <a:solidFill xmlns:a="http://schemas.openxmlformats.org/drawingml/2006/main">
            <a:srgbClr val="EAE5DA"/>
          </a:solidFill>
          <a:ln xmlns:a="http://schemas.openxmlformats.org/drawingml/2006/main" w="0">
            <a:solidFill>
              <a:srgbClr val="000000">
                <a:alpha val="0"/>
              </a:srgbClr>
            </a:solidFill>
            <a:prstDash val="solid"/>
          </a:ln>
        </p:spPr>
      </p:sp>
      <p:sp>
        <p:nvSpPr>
          <p:cNvPr id="6" name="">
            <a:extLst xmlns:a="http://schemas.openxmlformats.org/drawingml/2006/main">
              <a:ext uri="{FF2B5EF4-FFF2-40B4-BE49-F238E27FC236}">
                <a16:creationId xmlns:a16="http://schemas.microsoft.com/office/drawing/2014/main" id="{D7062638-FC0A-472C-AFE6-6E05124F7BAF}"/>
              </a:ext>
            </a:extLst>
          </p:cNvPr>
          <p:cNvSpPr>
            <a:spLocks xmlns:a="http://schemas.openxmlformats.org/drawingml/2006/main" noGrp="1"/>
          </p:cNvSpPr>
          <p:nvPr/>
        </p:nvSpPr>
        <p:spPr>
          <a:xfrm xmlns:a="http://schemas.openxmlformats.org/drawingml/2006/main">
            <a:off x="8915400" y="457200"/>
            <a:ext cx="2286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675" b="1">
                <a:solidFill>
                  <a:srgbClr val="D56E42"/>
                </a:solidFill>
                <a:latin typeface="Aptos"/>
                <a:ea typeface="Aptos"/>
                <a:cs typeface="Aptos"/>
              </a:defRPr>
            </a:pPr>
            <a:r>
              <a:rPr sz="675" b="1">
                <a:solidFill>
                  <a:srgbClr val="D56E42"/>
                </a:solidFill>
                <a:latin typeface="Aptos"/>
                <a:ea typeface="Aptos"/>
                <a:cs typeface="Aptos"/>
              </a:rPr>
              <a:t>RULE-BASED · NO TRAINING</a:t>
            </a:r>
          </a:p>
        </p:txBody>
      </p:sp>
      <p:sp>
        <p:nvSpPr>
          <p:cNvPr id="7" name="">
            <a:extLst xmlns:a="http://schemas.openxmlformats.org/drawingml/2006/main">
              <a:ext uri="{FF2B5EF4-FFF2-40B4-BE49-F238E27FC236}">
                <a16:creationId xmlns:a16="http://schemas.microsoft.com/office/drawing/2014/main" id="{34B7D576-C599-4583-83DB-31A5CFCAED35}"/>
              </a:ext>
            </a:extLst>
          </p:cNvPr>
          <p:cNvSpPr>
            <a:spLocks xmlns:a="http://schemas.openxmlformats.org/drawingml/2006/main" noGrp="1"/>
          </p:cNvSpPr>
          <p:nvPr/>
        </p:nvSpPr>
        <p:spPr>
          <a:xfrm xmlns:a="http://schemas.openxmlformats.org/drawingml/2006/main">
            <a:off x="552450" y="2000250"/>
            <a:ext cx="14287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550" b="1">
                <a:solidFill>
                  <a:srgbClr val="123C31"/>
                </a:solidFill>
                <a:latin typeface="Georgia"/>
                <a:ea typeface="Georgia"/>
                <a:cs typeface="Georgia"/>
              </a:defRPr>
            </a:pPr>
            <a:r>
              <a:rPr sz="2550" b="1">
                <a:solidFill>
                  <a:srgbClr val="123C31"/>
                </a:solidFill>
                <a:latin typeface="Georgia"/>
                <a:ea typeface="Georgia"/>
                <a:cs typeface="Georgia"/>
              </a:rPr>
              <a:t>score</a:t>
            </a:r>
          </a:p>
        </p:txBody>
      </p:sp>
      <p:sp>
        <p:nvSpPr>
          <p:cNvPr id="8" name="">
            <a:extLst xmlns:a="http://schemas.openxmlformats.org/drawingml/2006/main">
              <a:ext uri="{FF2B5EF4-FFF2-40B4-BE49-F238E27FC236}">
                <a16:creationId xmlns:a16="http://schemas.microsoft.com/office/drawing/2014/main" id="{EDCE2C8C-3F62-4BF1-AA0F-268741A355D2}"/>
              </a:ext>
            </a:extLst>
          </p:cNvPr>
          <p:cNvSpPr>
            <a:spLocks xmlns:a="http://schemas.openxmlformats.org/drawingml/2006/main" noGrp="1"/>
          </p:cNvSpPr>
          <p:nvPr/>
        </p:nvSpPr>
        <p:spPr>
          <a:xfrm xmlns:a="http://schemas.openxmlformats.org/drawingml/2006/main">
            <a:off x="1981200" y="2000250"/>
            <a:ext cx="4000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2250" b="1">
                <a:solidFill>
                  <a:srgbClr val="17211D"/>
                </a:solidFill>
                <a:latin typeface="Georgia"/>
                <a:ea typeface="Georgia"/>
                <a:cs typeface="Georgia"/>
              </a:defRPr>
            </a:pPr>
            <a:r>
              <a:rPr sz="2250" b="1">
                <a:solidFill>
                  <a:srgbClr val="17211D"/>
                </a:solidFill>
                <a:latin typeface="Georgia"/>
                <a:ea typeface="Georgia"/>
                <a:cs typeface="Georgia"/>
              </a:rPr>
              <a:t>=</a:t>
            </a:r>
          </a:p>
        </p:txBody>
      </p:sp>
      <p:sp>
        <p:nvSpPr>
          <p:cNvPr id="9" name="">
            <a:extLst xmlns:a="http://schemas.openxmlformats.org/drawingml/2006/main">
              <a:ext uri="{FF2B5EF4-FFF2-40B4-BE49-F238E27FC236}">
                <a16:creationId xmlns:a16="http://schemas.microsoft.com/office/drawing/2014/main" id="{E9BCBEE7-C91B-459D-AAAC-186BB2EE579E}"/>
              </a:ext>
            </a:extLst>
          </p:cNvPr>
          <p:cNvSpPr>
            <a:spLocks xmlns:a="http://schemas.openxmlformats.org/drawingml/2006/main" noGrp="1"/>
          </p:cNvSpPr>
          <p:nvPr/>
        </p:nvSpPr>
        <p:spPr>
          <a:xfrm xmlns:a="http://schemas.openxmlformats.org/drawingml/2006/main">
            <a:off x="2571750" y="2000250"/>
            <a:ext cx="20002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75" b="1">
                <a:solidFill>
                  <a:srgbClr val="17211D"/>
                </a:solidFill>
                <a:latin typeface="Georgia"/>
                <a:ea typeface="Georgia"/>
                <a:cs typeface="Georgia"/>
              </a:defRPr>
            </a:pPr>
            <a:r>
              <a:rPr sz="1875" b="1">
                <a:solidFill>
                  <a:srgbClr val="17211D"/>
                </a:solidFill>
                <a:latin typeface="Georgia"/>
                <a:ea typeface="Georgia"/>
                <a:cs typeface="Georgia"/>
              </a:rPr>
              <a:t>0,55 colore</a:t>
            </a:r>
          </a:p>
        </p:txBody>
      </p:sp>
      <p:sp>
        <p:nvSpPr>
          <p:cNvPr id="10" name="">
            <a:extLst xmlns:a="http://schemas.openxmlformats.org/drawingml/2006/main">
              <a:ext uri="{FF2B5EF4-FFF2-40B4-BE49-F238E27FC236}">
                <a16:creationId xmlns:a16="http://schemas.microsoft.com/office/drawing/2014/main" id="{AD72629D-9E3B-483C-97FA-8C73284D4F8F}"/>
              </a:ext>
            </a:extLst>
          </p:cNvPr>
          <p:cNvSpPr>
            <a:spLocks xmlns:a="http://schemas.openxmlformats.org/drawingml/2006/main" noGrp="1"/>
          </p:cNvSpPr>
          <p:nvPr/>
        </p:nvSpPr>
        <p:spPr>
          <a:xfrm xmlns:a="http://schemas.openxmlformats.org/drawingml/2006/main">
            <a:off x="4572000" y="2000250"/>
            <a:ext cx="34290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950" b="0">
                <a:solidFill>
                  <a:srgbClr val="17211D"/>
                </a:solidFill>
                <a:latin typeface="Aptos"/>
                <a:ea typeface="Aptos"/>
                <a:cs typeface="Aptos"/>
              </a:defRPr>
            </a:pPr>
            <a:r>
              <a:rPr sz="1950" b="0">
                <a:solidFill>
                  <a:srgbClr val="17211D"/>
                </a:solidFill>
                <a:latin typeface="Aptos"/>
                <a:ea typeface="Aptos"/>
                <a:cs typeface="Aptos"/>
              </a:rPr>
              <a:t>+</a:t>
            </a:r>
          </a:p>
        </p:txBody>
      </p:sp>
      <p:sp>
        <p:nvSpPr>
          <p:cNvPr id="11" name="">
            <a:extLst xmlns:a="http://schemas.openxmlformats.org/drawingml/2006/main">
              <a:ext uri="{FF2B5EF4-FFF2-40B4-BE49-F238E27FC236}">
                <a16:creationId xmlns:a16="http://schemas.microsoft.com/office/drawing/2014/main" id="{0940EE58-2682-4DCD-81B3-1785133A0230}"/>
              </a:ext>
            </a:extLst>
          </p:cNvPr>
          <p:cNvSpPr>
            <a:spLocks xmlns:a="http://schemas.openxmlformats.org/drawingml/2006/main" noGrp="1"/>
          </p:cNvSpPr>
          <p:nvPr/>
        </p:nvSpPr>
        <p:spPr>
          <a:xfrm xmlns:a="http://schemas.openxmlformats.org/drawingml/2006/main">
            <a:off x="5029200" y="2000250"/>
            <a:ext cx="20002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75" b="1">
                <a:solidFill>
                  <a:srgbClr val="17211D"/>
                </a:solidFill>
                <a:latin typeface="Georgia"/>
                <a:ea typeface="Georgia"/>
                <a:cs typeface="Georgia"/>
              </a:defRPr>
            </a:pPr>
            <a:r>
              <a:rPr sz="1875" b="1">
                <a:solidFill>
                  <a:srgbClr val="17211D"/>
                </a:solidFill>
                <a:latin typeface="Georgia"/>
                <a:ea typeface="Georgia"/>
                <a:cs typeface="Georgia"/>
              </a:rPr>
              <a:t>0,35 meteo</a:t>
            </a:r>
          </a:p>
        </p:txBody>
      </p:sp>
      <p:sp>
        <p:nvSpPr>
          <p:cNvPr id="12" name="">
            <a:extLst xmlns:a="http://schemas.openxmlformats.org/drawingml/2006/main">
              <a:ext uri="{FF2B5EF4-FFF2-40B4-BE49-F238E27FC236}">
                <a16:creationId xmlns:a16="http://schemas.microsoft.com/office/drawing/2014/main" id="{CE65B445-EF43-461B-A761-A50CE244DD57}"/>
              </a:ext>
            </a:extLst>
          </p:cNvPr>
          <p:cNvSpPr>
            <a:spLocks xmlns:a="http://schemas.openxmlformats.org/drawingml/2006/main" noGrp="1"/>
          </p:cNvSpPr>
          <p:nvPr/>
        </p:nvSpPr>
        <p:spPr>
          <a:xfrm xmlns:a="http://schemas.openxmlformats.org/drawingml/2006/main">
            <a:off x="7029450" y="2000250"/>
            <a:ext cx="34290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950" b="0">
                <a:solidFill>
                  <a:srgbClr val="17211D"/>
                </a:solidFill>
                <a:latin typeface="Aptos"/>
                <a:ea typeface="Aptos"/>
                <a:cs typeface="Aptos"/>
              </a:defRPr>
            </a:pPr>
            <a:r>
              <a:rPr sz="1950" b="0">
                <a:solidFill>
                  <a:srgbClr val="17211D"/>
                </a:solidFill>
                <a:latin typeface="Aptos"/>
                <a:ea typeface="Aptos"/>
                <a:cs typeface="Aptos"/>
              </a:rPr>
              <a:t>+</a:t>
            </a:r>
          </a:p>
        </p:txBody>
      </p:sp>
      <p:sp>
        <p:nvSpPr>
          <p:cNvPr id="13" name="">
            <a:extLst xmlns:a="http://schemas.openxmlformats.org/drawingml/2006/main">
              <a:ext uri="{FF2B5EF4-FFF2-40B4-BE49-F238E27FC236}">
                <a16:creationId xmlns:a16="http://schemas.microsoft.com/office/drawing/2014/main" id="{4D601056-08F4-4684-8970-CA0CD42D4293}"/>
              </a:ext>
            </a:extLst>
          </p:cNvPr>
          <p:cNvSpPr>
            <a:spLocks xmlns:a="http://schemas.openxmlformats.org/drawingml/2006/main" noGrp="1"/>
          </p:cNvSpPr>
          <p:nvPr/>
        </p:nvSpPr>
        <p:spPr>
          <a:xfrm xmlns:a="http://schemas.openxmlformats.org/drawingml/2006/main">
            <a:off x="7486650" y="2000250"/>
            <a:ext cx="209550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75" b="1">
                <a:solidFill>
                  <a:srgbClr val="17211D"/>
                </a:solidFill>
                <a:latin typeface="Georgia"/>
                <a:ea typeface="Georgia"/>
                <a:cs typeface="Georgia"/>
              </a:defRPr>
            </a:pPr>
            <a:r>
              <a:rPr sz="1875" b="1">
                <a:solidFill>
                  <a:srgbClr val="17211D"/>
                </a:solidFill>
                <a:latin typeface="Georgia"/>
                <a:ea typeface="Georgia"/>
                <a:cs typeface="Georgia"/>
              </a:rPr>
              <a:t>bonus ghost</a:t>
            </a:r>
          </a:p>
        </p:txBody>
      </p:sp>
      <p:sp>
        <p:nvSpPr>
          <p:cNvPr id="14" name="">
            <a:extLst xmlns:a="http://schemas.openxmlformats.org/drawingml/2006/main">
              <a:ext uri="{FF2B5EF4-FFF2-40B4-BE49-F238E27FC236}">
                <a16:creationId xmlns:a16="http://schemas.microsoft.com/office/drawing/2014/main" id="{0EA97AEA-9121-40E5-9EB4-25B3E2EBD4F4}"/>
              </a:ext>
            </a:extLst>
          </p:cNvPr>
          <p:cNvSpPr>
            <a:spLocks xmlns:a="http://schemas.openxmlformats.org/drawingml/2006/main" noGrp="1"/>
          </p:cNvSpPr>
          <p:nvPr/>
        </p:nvSpPr>
        <p:spPr>
          <a:xfrm xmlns:a="http://schemas.openxmlformats.org/drawingml/2006/main">
            <a:off x="9582150" y="2000250"/>
            <a:ext cx="34290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950" b="0">
                <a:solidFill>
                  <a:srgbClr val="17211D"/>
                </a:solidFill>
                <a:latin typeface="Aptos"/>
                <a:ea typeface="Aptos"/>
                <a:cs typeface="Aptos"/>
              </a:defRPr>
            </a:pPr>
            <a:r>
              <a:rPr sz="1950" b="0">
                <a:solidFill>
                  <a:srgbClr val="17211D"/>
                </a:solidFill>
                <a:latin typeface="Aptos"/>
                <a:ea typeface="Aptos"/>
                <a:cs typeface="Aptos"/>
              </a:rPr>
              <a:t>+</a:t>
            </a:r>
          </a:p>
        </p:txBody>
      </p:sp>
      <p:sp>
        <p:nvSpPr>
          <p:cNvPr id="15" name="">
            <a:extLst xmlns:a="http://schemas.openxmlformats.org/drawingml/2006/main">
              <a:ext uri="{FF2B5EF4-FFF2-40B4-BE49-F238E27FC236}">
                <a16:creationId xmlns:a16="http://schemas.microsoft.com/office/drawing/2014/main" id="{12E91B2E-4BC8-47D6-98F6-13E9BC80A101}"/>
              </a:ext>
            </a:extLst>
          </p:cNvPr>
          <p:cNvSpPr>
            <a:spLocks xmlns:a="http://schemas.openxmlformats.org/drawingml/2006/main" noGrp="1"/>
          </p:cNvSpPr>
          <p:nvPr/>
        </p:nvSpPr>
        <p:spPr>
          <a:xfrm xmlns:a="http://schemas.openxmlformats.org/drawingml/2006/main">
            <a:off x="10039350" y="2000250"/>
            <a:ext cx="14287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75" b="1">
                <a:solidFill>
                  <a:srgbClr val="17211D"/>
                </a:solidFill>
                <a:latin typeface="Georgia"/>
                <a:ea typeface="Georgia"/>
                <a:cs typeface="Georgia"/>
              </a:defRPr>
            </a:pPr>
            <a:r>
              <a:rPr sz="1875" b="1">
                <a:solidFill>
                  <a:srgbClr val="17211D"/>
                </a:solidFill>
                <a:latin typeface="Georgia"/>
                <a:ea typeface="Georgia"/>
                <a:cs typeface="Georgia"/>
              </a:rPr>
              <a:t>feedback</a:t>
            </a:r>
          </a:p>
        </p:txBody>
      </p:sp>
      <p:sp>
        <p:nvSpPr>
          <p:cNvPr id="16" name="">
            <a:extLst xmlns:a="http://schemas.openxmlformats.org/drawingml/2006/main">
              <a:ext uri="{FF2B5EF4-FFF2-40B4-BE49-F238E27FC236}">
                <a16:creationId xmlns:a16="http://schemas.microsoft.com/office/drawing/2014/main" id="{12432A57-9813-41BB-9035-DB0B9FE70F6D}"/>
              </a:ext>
            </a:extLst>
          </p:cNvPr>
          <p:cNvSpPr>
            <a:spLocks xmlns:a="http://schemas.openxmlformats.org/drawingml/2006/main" noGrp="1"/>
          </p:cNvSpPr>
          <p:nvPr/>
        </p:nvSpPr>
        <p:spPr>
          <a:xfrm xmlns:a="http://schemas.openxmlformats.org/drawingml/2006/main">
            <a:off x="552450" y="2838450"/>
            <a:ext cx="1066800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6DB5AA3D-3B88-4C49-8437-6220D45F113D}"/>
              </a:ext>
            </a:extLst>
          </p:cNvPr>
          <p:cNvSpPr>
            <a:spLocks xmlns:a="http://schemas.openxmlformats.org/drawingml/2006/main" noGrp="1"/>
          </p:cNvSpPr>
          <p:nvPr/>
        </p:nvSpPr>
        <p:spPr>
          <a:xfrm xmlns:a="http://schemas.openxmlformats.org/drawingml/2006/main">
            <a:off x="552450" y="3276600"/>
            <a:ext cx="1666875"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17211D"/>
                </a:solidFill>
                <a:latin typeface="Aptos"/>
                <a:ea typeface="Aptos"/>
                <a:cs typeface="Aptos"/>
              </a:defRPr>
            </a:pPr>
            <a:r>
              <a:rPr sz="825" b="1">
                <a:solidFill>
                  <a:srgbClr val="17211D"/>
                </a:solidFill>
                <a:latin typeface="Aptos"/>
                <a:ea typeface="Aptos"/>
                <a:cs typeface="Aptos"/>
              </a:rPr>
              <a:t>Compatibilità colore</a:t>
            </a:r>
          </a:p>
        </p:txBody>
      </p:sp>
      <p:sp>
        <p:nvSpPr>
          <p:cNvPr id="18" name="">
            <a:extLst xmlns:a="http://schemas.openxmlformats.org/drawingml/2006/main">
              <a:ext uri="{FF2B5EF4-FFF2-40B4-BE49-F238E27FC236}">
                <a16:creationId xmlns:a16="http://schemas.microsoft.com/office/drawing/2014/main" id="{F8CAC0DE-1F52-4716-8A79-AB6D8D2742C0}"/>
              </a:ext>
            </a:extLst>
          </p:cNvPr>
          <p:cNvSpPr>
            <a:spLocks xmlns:a="http://schemas.openxmlformats.org/drawingml/2006/main" noGrp="1"/>
          </p:cNvSpPr>
          <p:nvPr/>
        </p:nvSpPr>
        <p:spPr>
          <a:xfrm xmlns:a="http://schemas.openxmlformats.org/drawingml/2006/main">
            <a:off x="2314575" y="3324225"/>
            <a:ext cx="6477000" cy="123825"/>
          </a:xfrm>
          <a:prstGeom xmlns:a="http://schemas.openxmlformats.org/drawingml/2006/main" prst="roundRect">
            <a:avLst>
              <a:gd name="adj" fmla="val 50000"/>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124CF059-8273-4CB3-B1DC-8BBC4C484AD0}"/>
              </a:ext>
            </a:extLst>
          </p:cNvPr>
          <p:cNvSpPr>
            <a:spLocks xmlns:a="http://schemas.openxmlformats.org/drawingml/2006/main" noGrp="1"/>
          </p:cNvSpPr>
          <p:nvPr/>
        </p:nvSpPr>
        <p:spPr>
          <a:xfrm xmlns:a="http://schemas.openxmlformats.org/drawingml/2006/main">
            <a:off x="2314575" y="3324225"/>
            <a:ext cx="3562350" cy="123825"/>
          </a:xfrm>
          <a:prstGeom xmlns:a="http://schemas.openxmlformats.org/drawingml/2006/main" prst="roundRect">
            <a:avLst>
              <a:gd name="adj" fmla="val 50000"/>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86BB15E2-BA96-4B70-8E9F-7717FC652BB1}"/>
              </a:ext>
            </a:extLst>
          </p:cNvPr>
          <p:cNvSpPr>
            <a:spLocks xmlns:a="http://schemas.openxmlformats.org/drawingml/2006/main" noGrp="1"/>
          </p:cNvSpPr>
          <p:nvPr/>
        </p:nvSpPr>
        <p:spPr>
          <a:xfrm xmlns:a="http://schemas.openxmlformats.org/drawingml/2006/main">
            <a:off x="8877300" y="3276600"/>
            <a:ext cx="7239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825" b="1">
                <a:solidFill>
                  <a:srgbClr val="17211D"/>
                </a:solidFill>
                <a:latin typeface="Aptos"/>
                <a:ea typeface="Aptos"/>
                <a:cs typeface="Aptos"/>
              </a:defRPr>
            </a:pPr>
            <a:r>
              <a:rPr sz="825" b="1">
                <a:solidFill>
                  <a:srgbClr val="17211D"/>
                </a:solidFill>
                <a:latin typeface="Aptos"/>
                <a:ea typeface="Aptos"/>
                <a:cs typeface="Aptos"/>
              </a:rPr>
              <a:t>55%</a:t>
            </a:r>
          </a:p>
        </p:txBody>
      </p:sp>
      <p:sp>
        <p:nvSpPr>
          <p:cNvPr id="21" name="">
            <a:extLst xmlns:a="http://schemas.openxmlformats.org/drawingml/2006/main">
              <a:ext uri="{FF2B5EF4-FFF2-40B4-BE49-F238E27FC236}">
                <a16:creationId xmlns:a16="http://schemas.microsoft.com/office/drawing/2014/main" id="{E48C6E27-7CF8-4B89-90B3-A3B02305E389}"/>
              </a:ext>
            </a:extLst>
          </p:cNvPr>
          <p:cNvSpPr>
            <a:spLocks xmlns:a="http://schemas.openxmlformats.org/drawingml/2006/main" noGrp="1"/>
          </p:cNvSpPr>
          <p:nvPr/>
        </p:nvSpPr>
        <p:spPr>
          <a:xfrm xmlns:a="http://schemas.openxmlformats.org/drawingml/2006/main">
            <a:off x="552450" y="3790950"/>
            <a:ext cx="1666875"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17211D"/>
                </a:solidFill>
                <a:latin typeface="Aptos"/>
                <a:ea typeface="Aptos"/>
                <a:cs typeface="Aptos"/>
              </a:defRPr>
            </a:pPr>
            <a:r>
              <a:rPr sz="825" b="1">
                <a:solidFill>
                  <a:srgbClr val="17211D"/>
                </a:solidFill>
                <a:latin typeface="Aptos"/>
                <a:ea typeface="Aptos"/>
                <a:cs typeface="Aptos"/>
              </a:rPr>
              <a:t>Adeguatezza meteo</a:t>
            </a:r>
          </a:p>
        </p:txBody>
      </p:sp>
      <p:sp>
        <p:nvSpPr>
          <p:cNvPr id="22" name="">
            <a:extLst xmlns:a="http://schemas.openxmlformats.org/drawingml/2006/main">
              <a:ext uri="{FF2B5EF4-FFF2-40B4-BE49-F238E27FC236}">
                <a16:creationId xmlns:a16="http://schemas.microsoft.com/office/drawing/2014/main" id="{DC091847-0260-49D9-9F92-CFC48EA2E6CA}"/>
              </a:ext>
            </a:extLst>
          </p:cNvPr>
          <p:cNvSpPr>
            <a:spLocks xmlns:a="http://schemas.openxmlformats.org/drawingml/2006/main" noGrp="1"/>
          </p:cNvSpPr>
          <p:nvPr/>
        </p:nvSpPr>
        <p:spPr>
          <a:xfrm xmlns:a="http://schemas.openxmlformats.org/drawingml/2006/main">
            <a:off x="2314575" y="3838575"/>
            <a:ext cx="6477000" cy="123825"/>
          </a:xfrm>
          <a:prstGeom xmlns:a="http://schemas.openxmlformats.org/drawingml/2006/main" prst="roundRect">
            <a:avLst>
              <a:gd name="adj" fmla="val 50000"/>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C2927C93-034F-4F18-B229-304608138659}"/>
              </a:ext>
            </a:extLst>
          </p:cNvPr>
          <p:cNvSpPr>
            <a:spLocks xmlns:a="http://schemas.openxmlformats.org/drawingml/2006/main" noGrp="1"/>
          </p:cNvSpPr>
          <p:nvPr/>
        </p:nvSpPr>
        <p:spPr>
          <a:xfrm xmlns:a="http://schemas.openxmlformats.org/drawingml/2006/main">
            <a:off x="2314575" y="3838575"/>
            <a:ext cx="2266950" cy="123825"/>
          </a:xfrm>
          <a:prstGeom xmlns:a="http://schemas.openxmlformats.org/drawingml/2006/main" prst="roundRect">
            <a:avLst>
              <a:gd name="adj" fmla="val 50000"/>
            </a:avLst>
          </a:prstGeom>
          <a:solidFill xmlns:a="http://schemas.openxmlformats.org/drawingml/2006/main">
            <a:srgbClr val="466D86"/>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F8EF0F4B-BFA2-424B-857A-003DF1834F6F}"/>
              </a:ext>
            </a:extLst>
          </p:cNvPr>
          <p:cNvSpPr>
            <a:spLocks xmlns:a="http://schemas.openxmlformats.org/drawingml/2006/main" noGrp="1"/>
          </p:cNvSpPr>
          <p:nvPr/>
        </p:nvSpPr>
        <p:spPr>
          <a:xfrm xmlns:a="http://schemas.openxmlformats.org/drawingml/2006/main">
            <a:off x="8877300" y="3790950"/>
            <a:ext cx="7239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825" b="1">
                <a:solidFill>
                  <a:srgbClr val="17211D"/>
                </a:solidFill>
                <a:latin typeface="Aptos"/>
                <a:ea typeface="Aptos"/>
                <a:cs typeface="Aptos"/>
              </a:defRPr>
            </a:pPr>
            <a:r>
              <a:rPr sz="825" b="1">
                <a:solidFill>
                  <a:srgbClr val="17211D"/>
                </a:solidFill>
                <a:latin typeface="Aptos"/>
                <a:ea typeface="Aptos"/>
                <a:cs typeface="Aptos"/>
              </a:rPr>
              <a:t>35%</a:t>
            </a:r>
          </a:p>
        </p:txBody>
      </p:sp>
      <p:sp>
        <p:nvSpPr>
          <p:cNvPr id="25" name="">
            <a:extLst xmlns:a="http://schemas.openxmlformats.org/drawingml/2006/main">
              <a:ext uri="{FF2B5EF4-FFF2-40B4-BE49-F238E27FC236}">
                <a16:creationId xmlns:a16="http://schemas.microsoft.com/office/drawing/2014/main" id="{9EF4244F-38C4-4191-9F58-159614FCA305}"/>
              </a:ext>
            </a:extLst>
          </p:cNvPr>
          <p:cNvSpPr>
            <a:spLocks xmlns:a="http://schemas.openxmlformats.org/drawingml/2006/main" noGrp="1"/>
          </p:cNvSpPr>
          <p:nvPr/>
        </p:nvSpPr>
        <p:spPr>
          <a:xfrm xmlns:a="http://schemas.openxmlformats.org/drawingml/2006/main">
            <a:off x="552450" y="4305300"/>
            <a:ext cx="1666875"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17211D"/>
                </a:solidFill>
                <a:latin typeface="Aptos"/>
                <a:ea typeface="Aptos"/>
                <a:cs typeface="Aptos"/>
              </a:defRPr>
            </a:pPr>
            <a:r>
              <a:rPr sz="825" b="1">
                <a:solidFill>
                  <a:srgbClr val="17211D"/>
                </a:solidFill>
                <a:latin typeface="Aptos"/>
                <a:ea typeface="Aptos"/>
                <a:cs typeface="Aptos"/>
              </a:rPr>
              <a:t>Riscoperta ghost</a:t>
            </a:r>
          </a:p>
        </p:txBody>
      </p:sp>
      <p:sp>
        <p:nvSpPr>
          <p:cNvPr id="26" name="">
            <a:extLst xmlns:a="http://schemas.openxmlformats.org/drawingml/2006/main">
              <a:ext uri="{FF2B5EF4-FFF2-40B4-BE49-F238E27FC236}">
                <a16:creationId xmlns:a16="http://schemas.microsoft.com/office/drawing/2014/main" id="{9CE984B4-D542-4856-9C6A-D59510552A56}"/>
              </a:ext>
            </a:extLst>
          </p:cNvPr>
          <p:cNvSpPr>
            <a:spLocks xmlns:a="http://schemas.openxmlformats.org/drawingml/2006/main" noGrp="1"/>
          </p:cNvSpPr>
          <p:nvPr/>
        </p:nvSpPr>
        <p:spPr>
          <a:xfrm xmlns:a="http://schemas.openxmlformats.org/drawingml/2006/main">
            <a:off x="2314575" y="4352925"/>
            <a:ext cx="6477000" cy="123825"/>
          </a:xfrm>
          <a:prstGeom xmlns:a="http://schemas.openxmlformats.org/drawingml/2006/main" prst="roundRect">
            <a:avLst>
              <a:gd name="adj" fmla="val 50000"/>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6376C6C8-07D1-4C3E-BE2C-42E8CDD9CFE2}"/>
              </a:ext>
            </a:extLst>
          </p:cNvPr>
          <p:cNvSpPr>
            <a:spLocks xmlns:a="http://schemas.openxmlformats.org/drawingml/2006/main" noGrp="1"/>
          </p:cNvSpPr>
          <p:nvPr/>
        </p:nvSpPr>
        <p:spPr>
          <a:xfrm xmlns:a="http://schemas.openxmlformats.org/drawingml/2006/main">
            <a:off x="2314575" y="4352925"/>
            <a:ext cx="971550" cy="123825"/>
          </a:xfrm>
          <a:prstGeom xmlns:a="http://schemas.openxmlformats.org/drawingml/2006/main" prst="roundRect">
            <a:avLst>
              <a:gd name="adj" fmla="val 50000"/>
            </a:avLst>
          </a:prstGeom>
          <a:solidFill xmlns:a="http://schemas.openxmlformats.org/drawingml/2006/main">
            <a:srgbClr val="D56E42"/>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ABC42917-4C2D-4768-9E21-44E3322C83E1}"/>
              </a:ext>
            </a:extLst>
          </p:cNvPr>
          <p:cNvSpPr>
            <a:spLocks xmlns:a="http://schemas.openxmlformats.org/drawingml/2006/main" noGrp="1"/>
          </p:cNvSpPr>
          <p:nvPr/>
        </p:nvSpPr>
        <p:spPr>
          <a:xfrm xmlns:a="http://schemas.openxmlformats.org/drawingml/2006/main">
            <a:off x="8877300" y="4305300"/>
            <a:ext cx="7239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825" b="1">
                <a:solidFill>
                  <a:srgbClr val="17211D"/>
                </a:solidFill>
                <a:latin typeface="Aptos"/>
                <a:ea typeface="Aptos"/>
                <a:cs typeface="Aptos"/>
              </a:defRPr>
            </a:pPr>
            <a:r>
              <a:rPr sz="825" b="1">
                <a:solidFill>
                  <a:srgbClr val="17211D"/>
                </a:solidFill>
                <a:latin typeface="Aptos"/>
                <a:ea typeface="Aptos"/>
                <a:cs typeface="Aptos"/>
              </a:rPr>
              <a:t>fino a +15%</a:t>
            </a:r>
          </a:p>
        </p:txBody>
      </p:sp>
      <p:sp>
        <p:nvSpPr>
          <p:cNvPr id="29" name="">
            <a:extLst xmlns:a="http://schemas.openxmlformats.org/drawingml/2006/main">
              <a:ext uri="{FF2B5EF4-FFF2-40B4-BE49-F238E27FC236}">
                <a16:creationId xmlns:a16="http://schemas.microsoft.com/office/drawing/2014/main" id="{7BF4D2FD-C324-41EB-8F49-8D7952B0C640}"/>
              </a:ext>
            </a:extLst>
          </p:cNvPr>
          <p:cNvSpPr>
            <a:spLocks xmlns:a="http://schemas.openxmlformats.org/drawingml/2006/main" noGrp="1"/>
          </p:cNvSpPr>
          <p:nvPr/>
        </p:nvSpPr>
        <p:spPr>
          <a:xfrm xmlns:a="http://schemas.openxmlformats.org/drawingml/2006/main">
            <a:off x="552450" y="4819650"/>
            <a:ext cx="1666875"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17211D"/>
                </a:solidFill>
                <a:latin typeface="Aptos"/>
                <a:ea typeface="Aptos"/>
                <a:cs typeface="Aptos"/>
              </a:defRPr>
            </a:pPr>
            <a:r>
              <a:rPr sz="825" b="1">
                <a:solidFill>
                  <a:srgbClr val="17211D"/>
                </a:solidFill>
                <a:latin typeface="Aptos"/>
                <a:ea typeface="Aptos"/>
                <a:cs typeface="Aptos"/>
              </a:rPr>
              <a:t>Affinità feedback</a:t>
            </a:r>
          </a:p>
        </p:txBody>
      </p:sp>
      <p:sp>
        <p:nvSpPr>
          <p:cNvPr id="30" name="">
            <a:extLst xmlns:a="http://schemas.openxmlformats.org/drawingml/2006/main">
              <a:ext uri="{FF2B5EF4-FFF2-40B4-BE49-F238E27FC236}">
                <a16:creationId xmlns:a16="http://schemas.microsoft.com/office/drawing/2014/main" id="{ADCE69C5-0C46-46E9-B832-E7796344F994}"/>
              </a:ext>
            </a:extLst>
          </p:cNvPr>
          <p:cNvSpPr>
            <a:spLocks xmlns:a="http://schemas.openxmlformats.org/drawingml/2006/main" noGrp="1"/>
          </p:cNvSpPr>
          <p:nvPr/>
        </p:nvSpPr>
        <p:spPr>
          <a:xfrm xmlns:a="http://schemas.openxmlformats.org/drawingml/2006/main">
            <a:off x="2314575" y="4867275"/>
            <a:ext cx="6477000" cy="123825"/>
          </a:xfrm>
          <a:prstGeom xmlns:a="http://schemas.openxmlformats.org/drawingml/2006/main" prst="roundRect">
            <a:avLst>
              <a:gd name="adj" fmla="val 50000"/>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59B2F832-9F97-4AFC-B8C8-2175C48BA133}"/>
              </a:ext>
            </a:extLst>
          </p:cNvPr>
          <p:cNvSpPr>
            <a:spLocks xmlns:a="http://schemas.openxmlformats.org/drawingml/2006/main" noGrp="1"/>
          </p:cNvSpPr>
          <p:nvPr/>
        </p:nvSpPr>
        <p:spPr>
          <a:xfrm xmlns:a="http://schemas.openxmlformats.org/drawingml/2006/main">
            <a:off x="2314575" y="4867275"/>
            <a:ext cx="259080" cy="123825"/>
          </a:xfrm>
          <a:prstGeom xmlns:a="http://schemas.openxmlformats.org/drawingml/2006/main" prst="roundRect">
            <a:avLst>
              <a:gd name="adj" fmla="val 50000"/>
            </a:avLst>
          </a:prstGeom>
          <a:solidFill xmlns:a="http://schemas.openxmlformats.org/drawingml/2006/main">
            <a:srgbClr val="123C31"/>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7133241C-4015-43F2-ADE0-35BAD8C0054B}"/>
              </a:ext>
            </a:extLst>
          </p:cNvPr>
          <p:cNvSpPr>
            <a:spLocks xmlns:a="http://schemas.openxmlformats.org/drawingml/2006/main" noGrp="1"/>
          </p:cNvSpPr>
          <p:nvPr/>
        </p:nvSpPr>
        <p:spPr>
          <a:xfrm xmlns:a="http://schemas.openxmlformats.org/drawingml/2006/main">
            <a:off x="8877300" y="4819650"/>
            <a:ext cx="7239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825" b="1">
                <a:solidFill>
                  <a:srgbClr val="17211D"/>
                </a:solidFill>
                <a:latin typeface="Aptos"/>
                <a:ea typeface="Aptos"/>
                <a:cs typeface="Aptos"/>
              </a:defRPr>
            </a:pPr>
            <a:r>
              <a:rPr sz="825" b="1">
                <a:solidFill>
                  <a:srgbClr val="17211D"/>
                </a:solidFill>
                <a:latin typeface="Aptos"/>
                <a:ea typeface="Aptos"/>
                <a:cs typeface="Aptos"/>
              </a:rPr>
              <a:t>±4%</a:t>
            </a:r>
          </a:p>
        </p:txBody>
      </p:sp>
      <p:sp>
        <p:nvSpPr>
          <p:cNvPr id="33" name="">
            <a:extLst xmlns:a="http://schemas.openxmlformats.org/drawingml/2006/main">
              <a:ext uri="{FF2B5EF4-FFF2-40B4-BE49-F238E27FC236}">
                <a16:creationId xmlns:a16="http://schemas.microsoft.com/office/drawing/2014/main" id="{D313F0F3-9714-482A-B35F-C6BE554C64E2}"/>
              </a:ext>
            </a:extLst>
          </p:cNvPr>
          <p:cNvSpPr>
            <a:spLocks xmlns:a="http://schemas.openxmlformats.org/drawingml/2006/main" noGrp="1"/>
          </p:cNvSpPr>
          <p:nvPr/>
        </p:nvSpPr>
        <p:spPr>
          <a:xfrm xmlns:a="http://schemas.openxmlformats.org/drawingml/2006/main">
            <a:off x="9858375" y="3219450"/>
            <a:ext cx="1476375" cy="2057400"/>
          </a:xfrm>
          <a:prstGeom xmlns:a="http://schemas.openxmlformats.org/drawingml/2006/main" prst="roundRect">
            <a:avLst>
              <a:gd name="adj" fmla="val 5161"/>
            </a:avLst>
          </a:prstGeom>
          <a:solidFill xmlns:a="http://schemas.openxmlformats.org/drawingml/2006/main">
            <a:srgbClr val="123C31"/>
          </a:solidFill>
          <a:ln xmlns:a="http://schemas.openxmlformats.org/drawingml/2006/main" w="0">
            <a:solidFill>
              <a:srgbClr val="000000">
                <a:alpha val="0"/>
              </a:srgbClr>
            </a:solidFill>
            <a:prstDash val="solid"/>
          </a:ln>
        </p:spPr>
      </p:sp>
      <p:sp>
        <p:nvSpPr>
          <p:cNvPr id="34" name="">
            <a:extLst xmlns:a="http://schemas.openxmlformats.org/drawingml/2006/main">
              <a:ext uri="{FF2B5EF4-FFF2-40B4-BE49-F238E27FC236}">
                <a16:creationId xmlns:a16="http://schemas.microsoft.com/office/drawing/2014/main" id="{00788A69-C2B3-4661-96EA-C9EA67EE4596}"/>
              </a:ext>
            </a:extLst>
          </p:cNvPr>
          <p:cNvSpPr>
            <a:spLocks xmlns:a="http://schemas.openxmlformats.org/drawingml/2006/main" noGrp="1"/>
          </p:cNvSpPr>
          <p:nvPr/>
        </p:nvSpPr>
        <p:spPr>
          <a:xfrm xmlns:a="http://schemas.openxmlformats.org/drawingml/2006/main">
            <a:off x="10029825" y="3429000"/>
            <a:ext cx="1123950" cy="5238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350" b="1">
                <a:solidFill>
                  <a:srgbClr val="B9D94A"/>
                </a:solidFill>
                <a:latin typeface="Georgia"/>
                <a:ea typeface="Georgia"/>
                <a:cs typeface="Georgia"/>
              </a:defRPr>
            </a:pPr>
            <a:r>
              <a:rPr sz="1350" b="1">
                <a:solidFill>
                  <a:srgbClr val="B9D94A"/>
                </a:solidFill>
                <a:latin typeface="Georgia"/>
                <a:ea typeface="Georgia"/>
                <a:cs typeface="Georgia"/>
              </a:rPr>
              <a:t>Cosa</a:t>
            </a:r>
          </a:p>
          <a:p xmlns:a="http://schemas.openxmlformats.org/drawingml/2006/main">
            <a:pPr algn="ctr">
              <a:defRPr sz="1350" b="1">
                <a:solidFill>
                  <a:srgbClr val="B9D94A"/>
                </a:solidFill>
                <a:latin typeface="Georgia"/>
                <a:ea typeface="Georgia"/>
                <a:cs typeface="Georgia"/>
              </a:defRPr>
            </a:pPr>
            <a:r>
              <a:rPr sz="1350" b="1">
                <a:solidFill>
                  <a:srgbClr val="B9D94A"/>
                </a:solidFill>
                <a:latin typeface="Georgia"/>
                <a:ea typeface="Georgia"/>
                <a:cs typeface="Georgia"/>
              </a:rPr>
              <a:t>NON usa</a:t>
            </a:r>
          </a:p>
        </p:txBody>
      </p:sp>
      <p:sp>
        <p:nvSpPr>
          <p:cNvPr id="35" name="">
            <a:extLst xmlns:a="http://schemas.openxmlformats.org/drawingml/2006/main">
              <a:ext uri="{FF2B5EF4-FFF2-40B4-BE49-F238E27FC236}">
                <a16:creationId xmlns:a16="http://schemas.microsoft.com/office/drawing/2014/main" id="{16FF5E6D-EC34-47AC-BC3C-2B6A6A8E066B}"/>
              </a:ext>
            </a:extLst>
          </p:cNvPr>
          <p:cNvSpPr>
            <a:spLocks xmlns:a="http://schemas.openxmlformats.org/drawingml/2006/main" noGrp="1"/>
          </p:cNvSpPr>
          <p:nvPr/>
        </p:nvSpPr>
        <p:spPr>
          <a:xfrm xmlns:a="http://schemas.openxmlformats.org/drawingml/2006/main">
            <a:off x="10029825" y="4171950"/>
            <a:ext cx="1123950" cy="857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825" b="0">
                <a:solidFill>
                  <a:srgbClr val="FFFFFF"/>
                </a:solidFill>
                <a:latin typeface="Aptos"/>
                <a:ea typeface="Aptos"/>
                <a:cs typeface="Aptos"/>
              </a:defRPr>
            </a:pPr>
            <a:r>
              <a:rPr sz="825" b="0">
                <a:solidFill>
                  <a:srgbClr val="FFFFFF"/>
                </a:solidFill>
                <a:latin typeface="Aptos"/>
                <a:ea typeface="Aptos"/>
                <a:cs typeface="Aptos"/>
              </a:rPr>
              <a:t>nessun training</a:t>
            </a:r>
          </a:p>
          <a:p xmlns:a="http://schemas.openxmlformats.org/drawingml/2006/main">
            <a:pPr algn="ctr">
              <a:defRPr sz="825" b="0">
                <a:solidFill>
                  <a:srgbClr val="FFFFFF"/>
                </a:solidFill>
                <a:latin typeface="Aptos"/>
                <a:ea typeface="Aptos"/>
                <a:cs typeface="Aptos"/>
              </a:defRPr>
            </a:pPr>
            <a:r>
              <a:rPr sz="825" b="0">
                <a:solidFill>
                  <a:srgbClr val="FFFFFF"/>
                </a:solidFill>
                <a:latin typeface="Aptos"/>
                <a:ea typeface="Aptos"/>
                <a:cs typeface="Aptos"/>
              </a:rPr>
              <a:t>nessun Chroma</a:t>
            </a:r>
          </a:p>
          <a:p xmlns:a="http://schemas.openxmlformats.org/drawingml/2006/main">
            <a:pPr algn="ctr">
              <a:defRPr sz="825" b="0">
                <a:solidFill>
                  <a:srgbClr val="FFFFFF"/>
                </a:solidFill>
                <a:latin typeface="Aptos"/>
                <a:ea typeface="Aptos"/>
                <a:cs typeface="Aptos"/>
              </a:defRPr>
            </a:pPr>
            <a:r>
              <a:rPr sz="825" b="0">
                <a:solidFill>
                  <a:srgbClr val="FFFFFF"/>
                </a:solidFill>
                <a:latin typeface="Aptos"/>
                <a:ea typeface="Aptos"/>
                <a:cs typeface="Aptos"/>
              </a:rPr>
              <a:t>nessun embedding</a:t>
            </a:r>
          </a:p>
          <a:p xmlns:a="http://schemas.openxmlformats.org/drawingml/2006/main">
            <a:pPr algn="ctr">
              <a:defRPr sz="825" b="0">
                <a:solidFill>
                  <a:srgbClr val="FFFFFF"/>
                </a:solidFill>
                <a:latin typeface="Aptos"/>
                <a:ea typeface="Aptos"/>
                <a:cs typeface="Aptos"/>
              </a:defRPr>
            </a:pPr>
            <a:r>
              <a:rPr sz="825" b="0">
                <a:solidFill>
                  <a:srgbClr val="FFFFFF"/>
                </a:solidFill>
                <a:latin typeface="Aptos"/>
                <a:ea typeface="Aptos"/>
                <a:cs typeface="Aptos"/>
              </a:rPr>
              <a:t>nel ranking attuale</a:t>
            </a:r>
          </a:p>
        </p:txBody>
      </p:sp>
      <p:sp>
        <p:nvSpPr>
          <p:cNvPr id="36" name="">
            <a:extLst xmlns:a="http://schemas.openxmlformats.org/drawingml/2006/main">
              <a:ext uri="{FF2B5EF4-FFF2-40B4-BE49-F238E27FC236}">
                <a16:creationId xmlns:a16="http://schemas.microsoft.com/office/drawing/2014/main" id="{EEE43130-696E-400E-8163-E044CB424E01}"/>
              </a:ext>
            </a:extLst>
          </p:cNvPr>
          <p:cNvSpPr>
            <a:spLocks xmlns:a="http://schemas.openxmlformats.org/drawingml/2006/main" noGrp="1"/>
          </p:cNvSpPr>
          <p:nvPr/>
        </p:nvSpPr>
        <p:spPr>
          <a:xfrm xmlns:a="http://schemas.openxmlformats.org/drawingml/2006/main">
            <a:off x="552450" y="5772150"/>
            <a:ext cx="106680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00" b="0">
                <a:solidFill>
                  <a:srgbClr val="65736B"/>
                </a:solidFill>
                <a:latin typeface="Aptos"/>
                <a:ea typeface="Aptos"/>
                <a:cs typeface="Aptos"/>
              </a:defRPr>
            </a:pPr>
            <a:r>
              <a:rPr sz="900" b="0">
                <a:solidFill>
                  <a:srgbClr val="65736B"/>
                </a:solidFill>
                <a:latin typeface="Aptos"/>
                <a:ea typeface="Aptos"/>
                <a:cs typeface="Aptos"/>
              </a:rPr>
              <a:t>Il feedback personalizza leggermente l’ordinamento; meteo e colore restano dominanti e spiegabili.</a:t>
            </a:r>
          </a:p>
        </p:txBody>
      </p:sp>
      <p:sp>
        <p:nvSpPr>
          <p:cNvPr id="37" name="">
            <a:extLst xmlns:a="http://schemas.openxmlformats.org/drawingml/2006/main">
              <a:ext uri="{FF2B5EF4-FFF2-40B4-BE49-F238E27FC236}">
                <a16:creationId xmlns:a16="http://schemas.microsoft.com/office/drawing/2014/main" id="{4624B005-A5D7-4D7A-80BF-9535E9378B88}"/>
              </a:ext>
            </a:extLst>
          </p:cNvPr>
          <p:cNvSpPr>
            <a:spLocks xmlns:a="http://schemas.openxmlformats.org/drawingml/2006/main" noGrp="1"/>
          </p:cNvSpPr>
          <p:nvPr/>
        </p:nvSpPr>
        <p:spPr>
          <a:xfrm xmlns:a="http://schemas.openxmlformats.org/drawingml/2006/main">
            <a:off x="552450" y="6457950"/>
            <a:ext cx="1108710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38" name="">
            <a:extLst xmlns:a="http://schemas.openxmlformats.org/drawingml/2006/main">
              <a:ext uri="{FF2B5EF4-FFF2-40B4-BE49-F238E27FC236}">
                <a16:creationId xmlns:a16="http://schemas.microsoft.com/office/drawing/2014/main" id="{1A3333AF-EA85-4BFB-A242-286D7A27F520}"/>
              </a:ext>
            </a:extLst>
          </p:cNvPr>
          <p:cNvSpPr>
            <a:spLocks xmlns:a="http://schemas.openxmlformats.org/drawingml/2006/main" noGrp="1"/>
          </p:cNvSpPr>
          <p:nvPr/>
        </p:nvSpPr>
        <p:spPr>
          <a:xfrm xmlns:a="http://schemas.openxmlformats.org/drawingml/2006/main">
            <a:off x="552450" y="6534150"/>
            <a:ext cx="1000125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63" b="0">
                <a:solidFill>
                  <a:srgbClr val="65736B"/>
                </a:solidFill>
                <a:latin typeface="Aptos"/>
                <a:ea typeface="Aptos"/>
                <a:cs typeface="Aptos"/>
              </a:defRPr>
            </a:pPr>
            <a:r>
              <a:rPr sz="563" b="0">
                <a:solidFill>
                  <a:srgbClr val="65736B"/>
                </a:solidFill>
                <a:latin typeface="Aptos"/>
                <a:ea typeface="Aptos"/>
                <a:cs typeface="Aptos"/>
              </a:rPr>
              <a:t>Codice: services/recommender.py · punteggio limitato all’intervallo [0,1]</a:t>
            </a:r>
          </a:p>
        </p:txBody>
      </p:sp>
      <p:sp>
        <p:nvSpPr>
          <p:cNvPr id="39" name="">
            <a:extLst xmlns:a="http://schemas.openxmlformats.org/drawingml/2006/main">
              <a:ext uri="{FF2B5EF4-FFF2-40B4-BE49-F238E27FC236}">
                <a16:creationId xmlns:a16="http://schemas.microsoft.com/office/drawing/2014/main" id="{C873FB88-BF67-4BDD-8944-D18A7281C72B}"/>
              </a:ext>
            </a:extLst>
          </p:cNvPr>
          <p:cNvSpPr>
            <a:spLocks xmlns:a="http://schemas.openxmlformats.org/drawingml/2006/main" noGrp="1"/>
          </p:cNvSpPr>
          <p:nvPr/>
        </p:nvSpPr>
        <p:spPr>
          <a:xfrm xmlns:a="http://schemas.openxmlformats.org/drawingml/2006/main">
            <a:off x="11087100" y="650557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65736B"/>
                </a:solidFill>
                <a:latin typeface="Georgia"/>
                <a:ea typeface="Georgia"/>
                <a:cs typeface="Georgia"/>
              </a:defRPr>
            </a:pPr>
            <a:r>
              <a:rPr sz="750" b="1">
                <a:solidFill>
                  <a:srgbClr val="65736B"/>
                </a:solidFill>
                <a:latin typeface="Georgia"/>
                <a:ea typeface="Georgia"/>
                <a:cs typeface="Georgia"/>
              </a:rPr>
              <a:t>08</a:t>
            </a:r>
          </a:p>
        </p:txBody>
      </p:sp>
    </p:spTree>
    <p:extLst>
      <p:ext uri="{BB962C8B-B14F-4D97-AF65-F5344CB8AC3E}">
        <p14:creationId xmlns:p14="http://schemas.microsoft.com/office/powerpoint/2010/main" val="30782754"/>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27916CD2-BA30-4813-BBA8-483136EC881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23C31"/>
          </a:solidFill>
          <a:ln xmlns:a="http://schemas.openxmlformats.org/drawingml/2006/main" w="0">
            <a:solidFill>
              <a:srgbClr val="000000">
                <a:alpha val="0"/>
              </a:srgbClr>
            </a:solidFill>
            <a:prstDash val="solid"/>
          </a:ln>
        </p:spPr>
      </p:sp>
      <p:sp>
        <p:nvSpPr>
          <p:cNvPr id="2" name="kicker-marker">
            <a:extLst xmlns:a="http://schemas.openxmlformats.org/drawingml/2006/main">
              <a:ext uri="{FF2B5EF4-FFF2-40B4-BE49-F238E27FC236}">
                <a16:creationId xmlns:a16="http://schemas.microsoft.com/office/drawing/2014/main" id="{AA6B7D7F-ED71-47A3-BAE9-8A62963AB9FC}"/>
              </a:ext>
            </a:extLst>
          </p:cNvPr>
          <p:cNvSpPr>
            <a:spLocks xmlns:a="http://schemas.openxmlformats.org/drawingml/2006/main" noGrp="1"/>
          </p:cNvSpPr>
          <p:nvPr/>
        </p:nvSpPr>
        <p:spPr>
          <a:xfrm xmlns:a="http://schemas.openxmlformats.org/drawingml/2006/main">
            <a:off x="552450" y="438150"/>
            <a:ext cx="95250" cy="95250"/>
          </a:xfrm>
          <a:prstGeom xmlns:a="http://schemas.openxmlformats.org/drawingml/2006/main" prst="ellipse">
            <a:avLst/>
          </a:prstGeom>
          <a:solidFill xmlns:a="http://schemas.openxmlformats.org/drawingml/2006/main">
            <a:srgbClr val="B9D94A"/>
          </a:solidFill>
          <a:ln xmlns:a="http://schemas.openxmlformats.org/drawingml/2006/main" w="0">
            <a:solidFill>
              <a:srgbClr val="000000">
                <a:alpha val="0"/>
              </a:srgbClr>
            </a:solidFill>
            <a:prstDash val="solid"/>
          </a:ln>
        </p:spPr>
      </p:sp>
      <p:sp>
        <p:nvSpPr>
          <p:cNvPr id="3" name="kicker-label">
            <a:extLst xmlns:a="http://schemas.openxmlformats.org/drawingml/2006/main">
              <a:ext uri="{FF2B5EF4-FFF2-40B4-BE49-F238E27FC236}">
                <a16:creationId xmlns:a16="http://schemas.microsoft.com/office/drawing/2014/main" id="{53332A29-0FC8-4A71-8A7C-01E109198651}"/>
              </a:ext>
            </a:extLst>
          </p:cNvPr>
          <p:cNvSpPr>
            <a:spLocks xmlns:a="http://schemas.openxmlformats.org/drawingml/2006/main" noGrp="1"/>
          </p:cNvSpPr>
          <p:nvPr/>
        </p:nvSpPr>
        <p:spPr>
          <a:xfrm xmlns:a="http://schemas.openxmlformats.org/drawingml/2006/main">
            <a:off x="762000" y="400050"/>
            <a:ext cx="4762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DDE5DD"/>
                </a:solidFill>
                <a:latin typeface="Aptos"/>
                <a:ea typeface="Aptos"/>
                <a:cs typeface="Aptos"/>
              </a:defRPr>
            </a:pPr>
            <a:r>
              <a:rPr sz="675" b="1">
                <a:solidFill>
                  <a:srgbClr val="DDE5DD"/>
                </a:solidFill>
                <a:latin typeface="Aptos"/>
                <a:ea typeface="Aptos"/>
                <a:cs typeface="Aptos"/>
              </a:rPr>
              <a:t>G R E E N   I M P A C T   ·   T R A S P A R E N Z A</a:t>
            </a:r>
          </a:p>
        </p:txBody>
      </p:sp>
      <p:sp>
        <p:nvSpPr>
          <p:cNvPr id="4" name="claim-title">
            <a:extLst xmlns:a="http://schemas.openxmlformats.org/drawingml/2006/main">
              <a:ext uri="{FF2B5EF4-FFF2-40B4-BE49-F238E27FC236}">
                <a16:creationId xmlns:a16="http://schemas.microsoft.com/office/drawing/2014/main" id="{736C448A-CD17-444E-B78C-238AFAF2F1E2}"/>
              </a:ext>
            </a:extLst>
          </p:cNvPr>
          <p:cNvSpPr>
            <a:spLocks xmlns:a="http://schemas.openxmlformats.org/drawingml/2006/main" noGrp="1"/>
          </p:cNvSpPr>
          <p:nvPr/>
        </p:nvSpPr>
        <p:spPr>
          <a:xfrm xmlns:a="http://schemas.openxmlformats.org/drawingml/2006/main">
            <a:off x="552450" y="742950"/>
            <a:ext cx="1066800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700" b="1">
                <a:solidFill>
                  <a:srgbClr val="FFFFFF"/>
                </a:solidFill>
                <a:latin typeface="Georgia"/>
                <a:ea typeface="Georgia"/>
                <a:cs typeface="Georgia"/>
              </a:defRPr>
            </a:pPr>
            <a:r>
              <a:rPr sz="2700" b="1">
                <a:solidFill>
                  <a:srgbClr val="FFFFFF"/>
                </a:solidFill>
                <a:latin typeface="Georgia"/>
                <a:ea typeface="Georgia"/>
                <a:cs typeface="Georgia"/>
              </a:rPr>
              <a:t>L’impatto verde è utile solo se lo chiamiamo per quello che è: una stima di scenario.</a:t>
            </a:r>
          </a:p>
        </p:txBody>
      </p:sp>
      <p:sp>
        <p:nvSpPr>
          <p:cNvPr id="5" name="">
            <a:extLst xmlns:a="http://schemas.openxmlformats.org/drawingml/2006/main">
              <a:ext uri="{FF2B5EF4-FFF2-40B4-BE49-F238E27FC236}">
                <a16:creationId xmlns:a16="http://schemas.microsoft.com/office/drawing/2014/main" id="{CEAD1F7C-7356-4F49-8877-F89F62F8E8F5}"/>
              </a:ext>
            </a:extLst>
          </p:cNvPr>
          <p:cNvSpPr>
            <a:spLocks xmlns:a="http://schemas.openxmlformats.org/drawingml/2006/main" noGrp="1"/>
          </p:cNvSpPr>
          <p:nvPr/>
        </p:nvSpPr>
        <p:spPr>
          <a:xfrm xmlns:a="http://schemas.openxmlformats.org/drawingml/2006/main">
            <a:off x="723900" y="2133600"/>
            <a:ext cx="21907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00" b="1">
                <a:solidFill>
                  <a:srgbClr val="DDE5DD"/>
                </a:solidFill>
                <a:latin typeface="Aptos"/>
                <a:ea typeface="Aptos"/>
                <a:cs typeface="Aptos"/>
              </a:defRPr>
            </a:pPr>
            <a:r>
              <a:rPr sz="1200" b="1">
                <a:solidFill>
                  <a:srgbClr val="DDE5DD"/>
                </a:solidFill>
                <a:latin typeface="Aptos"/>
                <a:ea typeface="Aptos"/>
                <a:cs typeface="Aptos"/>
              </a:rPr>
              <a:t>media categoria</a:t>
            </a:r>
          </a:p>
        </p:txBody>
      </p:sp>
      <p:sp>
        <p:nvSpPr>
          <p:cNvPr id="6" name="">
            <a:extLst xmlns:a="http://schemas.openxmlformats.org/drawingml/2006/main">
              <a:ext uri="{FF2B5EF4-FFF2-40B4-BE49-F238E27FC236}">
                <a16:creationId xmlns:a16="http://schemas.microsoft.com/office/drawing/2014/main" id="{5692D545-2CDC-40BC-A1E3-C03039583A3F}"/>
              </a:ext>
            </a:extLst>
          </p:cNvPr>
          <p:cNvSpPr>
            <a:spLocks xmlns:a="http://schemas.openxmlformats.org/drawingml/2006/main" noGrp="1"/>
          </p:cNvSpPr>
          <p:nvPr/>
        </p:nvSpPr>
        <p:spPr>
          <a:xfrm xmlns:a="http://schemas.openxmlformats.org/drawingml/2006/main">
            <a:off x="2990850" y="2095500"/>
            <a:ext cx="4572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2100" b="1">
                <a:solidFill>
                  <a:srgbClr val="B9D94A"/>
                </a:solidFill>
                <a:latin typeface="Georgia"/>
                <a:ea typeface="Georgia"/>
                <a:cs typeface="Georgia"/>
              </a:defRPr>
            </a:pPr>
            <a:r>
              <a:rPr sz="2100" b="1">
                <a:solidFill>
                  <a:srgbClr val="B9D94A"/>
                </a:solidFill>
                <a:latin typeface="Georgia"/>
                <a:ea typeface="Georgia"/>
                <a:cs typeface="Georgia"/>
              </a:rPr>
              <a:t>×</a:t>
            </a:r>
          </a:p>
        </p:txBody>
      </p:sp>
      <p:sp>
        <p:nvSpPr>
          <p:cNvPr id="7" name="">
            <a:extLst xmlns:a="http://schemas.openxmlformats.org/drawingml/2006/main">
              <a:ext uri="{FF2B5EF4-FFF2-40B4-BE49-F238E27FC236}">
                <a16:creationId xmlns:a16="http://schemas.microsoft.com/office/drawing/2014/main" id="{E489DB6F-C0E6-4FDC-8066-9FE26FF4D14C}"/>
              </a:ext>
            </a:extLst>
          </p:cNvPr>
          <p:cNvSpPr>
            <a:spLocks xmlns:a="http://schemas.openxmlformats.org/drawingml/2006/main" noGrp="1"/>
          </p:cNvSpPr>
          <p:nvPr/>
        </p:nvSpPr>
        <p:spPr>
          <a:xfrm xmlns:a="http://schemas.openxmlformats.org/drawingml/2006/main">
            <a:off x="3524250" y="2133600"/>
            <a:ext cx="21907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00" b="1">
                <a:solidFill>
                  <a:srgbClr val="DDE5DD"/>
                </a:solidFill>
                <a:latin typeface="Aptos"/>
                <a:ea typeface="Aptos"/>
                <a:cs typeface="Aptos"/>
              </a:defRPr>
            </a:pPr>
            <a:r>
              <a:rPr sz="1200" b="1">
                <a:solidFill>
                  <a:srgbClr val="DDE5DD"/>
                </a:solidFill>
                <a:latin typeface="Aptos"/>
                <a:ea typeface="Aptos"/>
                <a:cs typeface="Aptos"/>
              </a:rPr>
              <a:t>fattore azione</a:t>
            </a:r>
          </a:p>
        </p:txBody>
      </p:sp>
      <p:sp>
        <p:nvSpPr>
          <p:cNvPr id="8" name="">
            <a:extLst xmlns:a="http://schemas.openxmlformats.org/drawingml/2006/main">
              <a:ext uri="{FF2B5EF4-FFF2-40B4-BE49-F238E27FC236}">
                <a16:creationId xmlns:a16="http://schemas.microsoft.com/office/drawing/2014/main" id="{B8937E42-EF69-4479-B673-D9629C80BBF8}"/>
              </a:ext>
            </a:extLst>
          </p:cNvPr>
          <p:cNvSpPr>
            <a:spLocks xmlns:a="http://schemas.openxmlformats.org/drawingml/2006/main" noGrp="1"/>
          </p:cNvSpPr>
          <p:nvPr/>
        </p:nvSpPr>
        <p:spPr>
          <a:xfrm xmlns:a="http://schemas.openxmlformats.org/drawingml/2006/main">
            <a:off x="5791200" y="2095500"/>
            <a:ext cx="4572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2100" b="1">
                <a:solidFill>
                  <a:srgbClr val="B9D94A"/>
                </a:solidFill>
                <a:latin typeface="Georgia"/>
                <a:ea typeface="Georgia"/>
                <a:cs typeface="Georgia"/>
              </a:defRPr>
            </a:pPr>
            <a:r>
              <a:rPr sz="2100" b="1">
                <a:solidFill>
                  <a:srgbClr val="B9D94A"/>
                </a:solidFill>
                <a:latin typeface="Georgia"/>
                <a:ea typeface="Georgia"/>
                <a:cs typeface="Georgia"/>
              </a:rPr>
              <a:t>=</a:t>
            </a:r>
          </a:p>
        </p:txBody>
      </p:sp>
      <p:sp>
        <p:nvSpPr>
          <p:cNvPr id="9" name="">
            <a:extLst xmlns:a="http://schemas.openxmlformats.org/drawingml/2006/main">
              <a:ext uri="{FF2B5EF4-FFF2-40B4-BE49-F238E27FC236}">
                <a16:creationId xmlns:a16="http://schemas.microsoft.com/office/drawing/2014/main" id="{A417E313-EB1F-4BE7-B9AA-738A68149F44}"/>
              </a:ext>
            </a:extLst>
          </p:cNvPr>
          <p:cNvSpPr>
            <a:spLocks xmlns:a="http://schemas.openxmlformats.org/drawingml/2006/main" noGrp="1"/>
          </p:cNvSpPr>
          <p:nvPr/>
        </p:nvSpPr>
        <p:spPr>
          <a:xfrm xmlns:a="http://schemas.openxmlformats.org/drawingml/2006/main">
            <a:off x="6324600" y="2038350"/>
            <a:ext cx="285750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2100" b="1">
                <a:solidFill>
                  <a:srgbClr val="FFFFFF"/>
                </a:solidFill>
                <a:latin typeface="Georgia"/>
                <a:ea typeface="Georgia"/>
                <a:cs typeface="Georgia"/>
              </a:defRPr>
            </a:pPr>
            <a:r>
              <a:rPr sz="2100" b="1">
                <a:solidFill>
                  <a:srgbClr val="FFFFFF"/>
                </a:solidFill>
                <a:latin typeface="Georgia"/>
                <a:ea typeface="Georgia"/>
                <a:cs typeface="Georgia"/>
              </a:rPr>
              <a:t>CO₂eq stimata</a:t>
            </a:r>
          </a:p>
        </p:txBody>
      </p:sp>
      <p:sp>
        <p:nvSpPr>
          <p:cNvPr id="10" name="">
            <a:extLst xmlns:a="http://schemas.openxmlformats.org/drawingml/2006/main">
              <a:ext uri="{FF2B5EF4-FFF2-40B4-BE49-F238E27FC236}">
                <a16:creationId xmlns:a16="http://schemas.microsoft.com/office/drawing/2014/main" id="{4DD7DEDB-CE4F-4366-A842-E3EB9E3F2EF0}"/>
              </a:ext>
            </a:extLst>
          </p:cNvPr>
          <p:cNvSpPr>
            <a:spLocks xmlns:a="http://schemas.openxmlformats.org/drawingml/2006/main" noGrp="1"/>
          </p:cNvSpPr>
          <p:nvPr/>
        </p:nvSpPr>
        <p:spPr>
          <a:xfrm xmlns:a="http://schemas.openxmlformats.org/drawingml/2006/main">
            <a:off x="723900" y="2724150"/>
            <a:ext cx="8458200" cy="1143000"/>
          </a:xfrm>
          <a:prstGeom xmlns:a="http://schemas.openxmlformats.org/drawingml/2006/main" prst="roundRect">
            <a:avLst>
              <a:gd name="adj" fmla="val 6667"/>
            </a:avLst>
          </a:prstGeom>
          <a:solidFill xmlns:a="http://schemas.openxmlformats.org/drawingml/2006/main">
            <a:srgbClr val="1B4A3C"/>
          </a:solidFill>
          <a:ln xmlns:a="http://schemas.openxmlformats.org/drawingml/2006/main" w="9525">
            <a:solidFill>
              <a:srgbClr val="4D786A"/>
            </a:solidFill>
            <a:prstDash val="solid"/>
          </a:ln>
        </p:spPr>
      </p:sp>
      <p:sp>
        <p:nvSpPr>
          <p:cNvPr id="11" name="">
            <a:extLst xmlns:a="http://schemas.openxmlformats.org/drawingml/2006/main">
              <a:ext uri="{FF2B5EF4-FFF2-40B4-BE49-F238E27FC236}">
                <a16:creationId xmlns:a16="http://schemas.microsoft.com/office/drawing/2014/main" id="{7943DFD4-F639-4494-8044-2954E811B29E}"/>
              </a:ext>
            </a:extLst>
          </p:cNvPr>
          <p:cNvSpPr>
            <a:spLocks xmlns:a="http://schemas.openxmlformats.org/drawingml/2006/main" noGrp="1"/>
          </p:cNvSpPr>
          <p:nvPr/>
        </p:nvSpPr>
        <p:spPr>
          <a:xfrm xmlns:a="http://schemas.openxmlformats.org/drawingml/2006/main">
            <a:off x="952500" y="2914650"/>
            <a:ext cx="16192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B9D94A"/>
                </a:solidFill>
                <a:latin typeface="Aptos"/>
                <a:ea typeface="Aptos"/>
                <a:cs typeface="Aptos"/>
              </a:defRPr>
            </a:pPr>
            <a:r>
              <a:rPr sz="675" b="1">
                <a:solidFill>
                  <a:srgbClr val="B9D94A"/>
                </a:solidFill>
                <a:latin typeface="Aptos"/>
                <a:ea typeface="Aptos"/>
                <a:cs typeface="Aptos"/>
              </a:rPr>
              <a:t>ESEMPIO INTERNO</a:t>
            </a:r>
          </a:p>
        </p:txBody>
      </p:sp>
      <p:sp>
        <p:nvSpPr>
          <p:cNvPr id="12" name="">
            <a:extLst xmlns:a="http://schemas.openxmlformats.org/drawingml/2006/main">
              <a:ext uri="{FF2B5EF4-FFF2-40B4-BE49-F238E27FC236}">
                <a16:creationId xmlns:a16="http://schemas.microsoft.com/office/drawing/2014/main" id="{C22793BB-B4F7-4F23-BAB3-90FDD3CCEB03}"/>
              </a:ext>
            </a:extLst>
          </p:cNvPr>
          <p:cNvSpPr>
            <a:spLocks xmlns:a="http://schemas.openxmlformats.org/drawingml/2006/main" noGrp="1"/>
          </p:cNvSpPr>
          <p:nvPr/>
        </p:nvSpPr>
        <p:spPr>
          <a:xfrm xmlns:a="http://schemas.openxmlformats.org/drawingml/2006/main">
            <a:off x="952500" y="3238500"/>
            <a:ext cx="18097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725" b="1">
                <a:solidFill>
                  <a:srgbClr val="FFFFFF"/>
                </a:solidFill>
                <a:latin typeface="Georgia"/>
                <a:ea typeface="Georgia"/>
                <a:cs typeface="Georgia"/>
              </a:defRPr>
            </a:pPr>
            <a:r>
              <a:rPr sz="1725" b="1">
                <a:solidFill>
                  <a:srgbClr val="FFFFFF"/>
                </a:solidFill>
                <a:latin typeface="Georgia"/>
                <a:ea typeface="Georgia"/>
                <a:cs typeface="Georgia"/>
              </a:rPr>
              <a:t>Jeans 32 kg</a:t>
            </a:r>
          </a:p>
        </p:txBody>
      </p:sp>
      <p:sp>
        <p:nvSpPr>
          <p:cNvPr id="13" name="">
            <a:extLst xmlns:a="http://schemas.openxmlformats.org/drawingml/2006/main">
              <a:ext uri="{FF2B5EF4-FFF2-40B4-BE49-F238E27FC236}">
                <a16:creationId xmlns:a16="http://schemas.microsoft.com/office/drawing/2014/main" id="{E4300F7D-9763-4FAB-9D6A-27638A84BBAF}"/>
              </a:ext>
            </a:extLst>
          </p:cNvPr>
          <p:cNvSpPr>
            <a:spLocks xmlns:a="http://schemas.openxmlformats.org/drawingml/2006/main" noGrp="1"/>
          </p:cNvSpPr>
          <p:nvPr/>
        </p:nvSpPr>
        <p:spPr>
          <a:xfrm xmlns:a="http://schemas.openxmlformats.org/drawingml/2006/main">
            <a:off x="3276600" y="3238500"/>
            <a:ext cx="23812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725" b="1">
                <a:solidFill>
                  <a:srgbClr val="FFFFFF"/>
                </a:solidFill>
                <a:latin typeface="Georgia"/>
                <a:ea typeface="Georgia"/>
                <a:cs typeface="Georgia"/>
              </a:defRPr>
            </a:pPr>
            <a:r>
              <a:rPr sz="1725" b="1">
                <a:solidFill>
                  <a:srgbClr val="FFFFFF"/>
                </a:solidFill>
                <a:latin typeface="Georgia"/>
                <a:ea typeface="Georgia"/>
                <a:cs typeface="Georgia"/>
              </a:rPr>
              <a:t>× 70% riparazione</a:t>
            </a:r>
          </a:p>
        </p:txBody>
      </p:sp>
      <p:sp>
        <p:nvSpPr>
          <p:cNvPr id="14" name="">
            <a:extLst xmlns:a="http://schemas.openxmlformats.org/drawingml/2006/main">
              <a:ext uri="{FF2B5EF4-FFF2-40B4-BE49-F238E27FC236}">
                <a16:creationId xmlns:a16="http://schemas.microsoft.com/office/drawing/2014/main" id="{C5B3D48E-9D28-4295-9B1E-E46CEB9579F6}"/>
              </a:ext>
            </a:extLst>
          </p:cNvPr>
          <p:cNvSpPr>
            <a:spLocks xmlns:a="http://schemas.openxmlformats.org/drawingml/2006/main" noGrp="1"/>
          </p:cNvSpPr>
          <p:nvPr/>
        </p:nvSpPr>
        <p:spPr>
          <a:xfrm xmlns:a="http://schemas.openxmlformats.org/drawingml/2006/main">
            <a:off x="6172200" y="3181350"/>
            <a:ext cx="266700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00" b="1">
                <a:solidFill>
                  <a:srgbClr val="B9D94A"/>
                </a:solidFill>
                <a:latin typeface="Georgia"/>
                <a:ea typeface="Georgia"/>
                <a:cs typeface="Georgia"/>
              </a:defRPr>
            </a:pPr>
            <a:r>
              <a:rPr sz="2100" b="1">
                <a:solidFill>
                  <a:srgbClr val="B9D94A"/>
                </a:solidFill>
                <a:latin typeface="Georgia"/>
                <a:ea typeface="Georgia"/>
                <a:cs typeface="Georgia"/>
              </a:rPr>
              <a:t>= 22,4 kg CO₂eq</a:t>
            </a:r>
          </a:p>
        </p:txBody>
      </p:sp>
      <p:sp>
        <p:nvSpPr>
          <p:cNvPr id="15" name="">
            <a:extLst xmlns:a="http://schemas.openxmlformats.org/drawingml/2006/main">
              <a:ext uri="{FF2B5EF4-FFF2-40B4-BE49-F238E27FC236}">
                <a16:creationId xmlns:a16="http://schemas.microsoft.com/office/drawing/2014/main" id="{76DAB2B9-1ED1-49C9-B394-5790586947B8}"/>
              </a:ext>
            </a:extLst>
          </p:cNvPr>
          <p:cNvSpPr>
            <a:spLocks xmlns:a="http://schemas.openxmlformats.org/drawingml/2006/main" noGrp="1"/>
          </p:cNvSpPr>
          <p:nvPr/>
        </p:nvSpPr>
        <p:spPr>
          <a:xfrm xmlns:a="http://schemas.openxmlformats.org/drawingml/2006/main">
            <a:off x="9620250" y="2152650"/>
            <a:ext cx="1143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DDE5DD"/>
                </a:solidFill>
                <a:latin typeface="Aptos"/>
                <a:ea typeface="Aptos"/>
                <a:cs typeface="Aptos"/>
              </a:defRPr>
            </a:pPr>
            <a:r>
              <a:rPr sz="900" b="1">
                <a:solidFill>
                  <a:srgbClr val="DDE5DD"/>
                </a:solidFill>
                <a:latin typeface="Aptos"/>
                <a:ea typeface="Aptos"/>
                <a:cs typeface="Aptos"/>
              </a:rPr>
              <a:t>Riuso</a:t>
            </a:r>
          </a:p>
        </p:txBody>
      </p:sp>
      <p:sp>
        <p:nvSpPr>
          <p:cNvPr id="16" name="">
            <a:extLst xmlns:a="http://schemas.openxmlformats.org/drawingml/2006/main">
              <a:ext uri="{FF2B5EF4-FFF2-40B4-BE49-F238E27FC236}">
                <a16:creationId xmlns:a16="http://schemas.microsoft.com/office/drawing/2014/main" id="{288C699C-3433-4FEF-962C-E422C6E5EDC3}"/>
              </a:ext>
            </a:extLst>
          </p:cNvPr>
          <p:cNvSpPr>
            <a:spLocks xmlns:a="http://schemas.openxmlformats.org/drawingml/2006/main" noGrp="1"/>
          </p:cNvSpPr>
          <p:nvPr/>
        </p:nvSpPr>
        <p:spPr>
          <a:xfrm xmlns:a="http://schemas.openxmlformats.org/drawingml/2006/main">
            <a:off x="9620250" y="2419350"/>
            <a:ext cx="14287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B9D94A"/>
                </a:solidFill>
                <a:latin typeface="Georgia"/>
                <a:ea typeface="Georgia"/>
                <a:cs typeface="Georgia"/>
              </a:defRPr>
            </a:pPr>
            <a:r>
              <a:rPr sz="2250" b="1">
                <a:solidFill>
                  <a:srgbClr val="B9D94A"/>
                </a:solidFill>
                <a:latin typeface="Georgia"/>
                <a:ea typeface="Georgia"/>
                <a:cs typeface="Georgia"/>
              </a:rPr>
              <a:t>100%</a:t>
            </a:r>
          </a:p>
        </p:txBody>
      </p:sp>
      <p:sp>
        <p:nvSpPr>
          <p:cNvPr id="17" name="">
            <a:extLst xmlns:a="http://schemas.openxmlformats.org/drawingml/2006/main">
              <a:ext uri="{FF2B5EF4-FFF2-40B4-BE49-F238E27FC236}">
                <a16:creationId xmlns:a16="http://schemas.microsoft.com/office/drawing/2014/main" id="{593686BC-7B74-4AE5-9D95-58CAD4E90DDA}"/>
              </a:ext>
            </a:extLst>
          </p:cNvPr>
          <p:cNvSpPr>
            <a:spLocks xmlns:a="http://schemas.openxmlformats.org/drawingml/2006/main" noGrp="1"/>
          </p:cNvSpPr>
          <p:nvPr/>
        </p:nvSpPr>
        <p:spPr>
          <a:xfrm xmlns:a="http://schemas.openxmlformats.org/drawingml/2006/main">
            <a:off x="9620250" y="3067050"/>
            <a:ext cx="1143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DDE5DD"/>
                </a:solidFill>
                <a:latin typeface="Aptos"/>
                <a:ea typeface="Aptos"/>
                <a:cs typeface="Aptos"/>
              </a:defRPr>
            </a:pPr>
            <a:r>
              <a:rPr sz="900" b="1">
                <a:solidFill>
                  <a:srgbClr val="DDE5DD"/>
                </a:solidFill>
                <a:latin typeface="Aptos"/>
                <a:ea typeface="Aptos"/>
                <a:cs typeface="Aptos"/>
              </a:rPr>
              <a:t>Riparazione</a:t>
            </a:r>
          </a:p>
        </p:txBody>
      </p:sp>
      <p:sp>
        <p:nvSpPr>
          <p:cNvPr id="18" name="">
            <a:extLst xmlns:a="http://schemas.openxmlformats.org/drawingml/2006/main">
              <a:ext uri="{FF2B5EF4-FFF2-40B4-BE49-F238E27FC236}">
                <a16:creationId xmlns:a16="http://schemas.microsoft.com/office/drawing/2014/main" id="{651EF93E-8E8B-448B-B0ED-DAD3D98D5795}"/>
              </a:ext>
            </a:extLst>
          </p:cNvPr>
          <p:cNvSpPr>
            <a:spLocks xmlns:a="http://schemas.openxmlformats.org/drawingml/2006/main" noGrp="1"/>
          </p:cNvSpPr>
          <p:nvPr/>
        </p:nvSpPr>
        <p:spPr>
          <a:xfrm xmlns:a="http://schemas.openxmlformats.org/drawingml/2006/main">
            <a:off x="9620250" y="3333750"/>
            <a:ext cx="14287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FFFFFF"/>
                </a:solidFill>
                <a:latin typeface="Georgia"/>
                <a:ea typeface="Georgia"/>
                <a:cs typeface="Georgia"/>
              </a:defRPr>
            </a:pPr>
            <a:r>
              <a:rPr sz="2250" b="1">
                <a:solidFill>
                  <a:srgbClr val="FFFFFF"/>
                </a:solidFill>
                <a:latin typeface="Georgia"/>
                <a:ea typeface="Georgia"/>
                <a:cs typeface="Georgia"/>
              </a:rPr>
              <a:t>70%</a:t>
            </a:r>
          </a:p>
        </p:txBody>
      </p:sp>
      <p:sp>
        <p:nvSpPr>
          <p:cNvPr id="19" name="">
            <a:extLst xmlns:a="http://schemas.openxmlformats.org/drawingml/2006/main">
              <a:ext uri="{FF2B5EF4-FFF2-40B4-BE49-F238E27FC236}">
                <a16:creationId xmlns:a16="http://schemas.microsoft.com/office/drawing/2014/main" id="{7460A064-C200-4788-BED4-21B9CA073E54}"/>
              </a:ext>
            </a:extLst>
          </p:cNvPr>
          <p:cNvSpPr>
            <a:spLocks xmlns:a="http://schemas.openxmlformats.org/drawingml/2006/main" noGrp="1"/>
          </p:cNvSpPr>
          <p:nvPr/>
        </p:nvSpPr>
        <p:spPr>
          <a:xfrm xmlns:a="http://schemas.openxmlformats.org/drawingml/2006/main">
            <a:off x="9620250" y="3981450"/>
            <a:ext cx="1143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DDE5DD"/>
                </a:solidFill>
                <a:latin typeface="Aptos"/>
                <a:ea typeface="Aptos"/>
                <a:cs typeface="Aptos"/>
              </a:defRPr>
            </a:pPr>
            <a:r>
              <a:rPr sz="900" b="1">
                <a:solidFill>
                  <a:srgbClr val="DDE5DD"/>
                </a:solidFill>
                <a:latin typeface="Aptos"/>
                <a:ea typeface="Aptos"/>
                <a:cs typeface="Aptos"/>
              </a:rPr>
              <a:t>Riciclo</a:t>
            </a:r>
          </a:p>
        </p:txBody>
      </p:sp>
      <p:sp>
        <p:nvSpPr>
          <p:cNvPr id="20" name="">
            <a:extLst xmlns:a="http://schemas.openxmlformats.org/drawingml/2006/main">
              <a:ext uri="{FF2B5EF4-FFF2-40B4-BE49-F238E27FC236}">
                <a16:creationId xmlns:a16="http://schemas.microsoft.com/office/drawing/2014/main" id="{DC103EB0-9533-44AD-8F22-7557B5F87AA5}"/>
              </a:ext>
            </a:extLst>
          </p:cNvPr>
          <p:cNvSpPr>
            <a:spLocks xmlns:a="http://schemas.openxmlformats.org/drawingml/2006/main" noGrp="1"/>
          </p:cNvSpPr>
          <p:nvPr/>
        </p:nvSpPr>
        <p:spPr>
          <a:xfrm xmlns:a="http://schemas.openxmlformats.org/drawingml/2006/main">
            <a:off x="9620250" y="4248150"/>
            <a:ext cx="14287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FFFFFF"/>
                </a:solidFill>
                <a:latin typeface="Georgia"/>
                <a:ea typeface="Georgia"/>
                <a:cs typeface="Georgia"/>
              </a:defRPr>
            </a:pPr>
            <a:r>
              <a:rPr sz="2250" b="1">
                <a:solidFill>
                  <a:srgbClr val="FFFFFF"/>
                </a:solidFill>
                <a:latin typeface="Georgia"/>
                <a:ea typeface="Georgia"/>
                <a:cs typeface="Georgia"/>
              </a:rPr>
              <a:t>30%</a:t>
            </a:r>
          </a:p>
        </p:txBody>
      </p:sp>
      <p:sp>
        <p:nvSpPr>
          <p:cNvPr id="21" name="">
            <a:extLst xmlns:a="http://schemas.openxmlformats.org/drawingml/2006/main">
              <a:ext uri="{FF2B5EF4-FFF2-40B4-BE49-F238E27FC236}">
                <a16:creationId xmlns:a16="http://schemas.microsoft.com/office/drawing/2014/main" id="{5E2680C1-8054-4186-BC65-9A787DEA3218}"/>
              </a:ext>
            </a:extLst>
          </p:cNvPr>
          <p:cNvSpPr>
            <a:spLocks xmlns:a="http://schemas.openxmlformats.org/drawingml/2006/main" noGrp="1"/>
          </p:cNvSpPr>
          <p:nvPr/>
        </p:nvSpPr>
        <p:spPr>
          <a:xfrm xmlns:a="http://schemas.openxmlformats.org/drawingml/2006/main">
            <a:off x="723900" y="4324350"/>
            <a:ext cx="8458200" cy="9525"/>
          </a:xfrm>
          <a:prstGeom xmlns:a="http://schemas.openxmlformats.org/drawingml/2006/main" prst="rect">
            <a:avLst/>
          </a:prstGeom>
          <a:solidFill xmlns:a="http://schemas.openxmlformats.org/drawingml/2006/main">
            <a:srgbClr val="4D786A"/>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00888A4B-EA44-43BB-A865-F88A80807DA5}"/>
              </a:ext>
            </a:extLst>
          </p:cNvPr>
          <p:cNvSpPr>
            <a:spLocks xmlns:a="http://schemas.openxmlformats.org/drawingml/2006/main" noGrp="1"/>
          </p:cNvSpPr>
          <p:nvPr/>
        </p:nvSpPr>
        <p:spPr>
          <a:xfrm xmlns:a="http://schemas.openxmlformats.org/drawingml/2006/main">
            <a:off x="800100" y="4629150"/>
            <a:ext cx="133350" cy="133350"/>
          </a:xfrm>
          <a:prstGeom xmlns:a="http://schemas.openxmlformats.org/drawingml/2006/main" prst="ellipse">
            <a:avLst/>
          </a:prstGeom>
          <a:solidFill xmlns:a="http://schemas.openxmlformats.org/drawingml/2006/main">
            <a:srgbClr val="D56E42"/>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5CB72B8A-C00C-4E7C-96F1-C7F761358B05}"/>
              </a:ext>
            </a:extLst>
          </p:cNvPr>
          <p:cNvSpPr>
            <a:spLocks xmlns:a="http://schemas.openxmlformats.org/drawingml/2006/main" noGrp="1"/>
          </p:cNvSpPr>
          <p:nvPr/>
        </p:nvSpPr>
        <p:spPr>
          <a:xfrm xmlns:a="http://schemas.openxmlformats.org/drawingml/2006/main">
            <a:off x="1047750" y="4572000"/>
            <a:ext cx="61912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FFFFFF"/>
                </a:solidFill>
                <a:latin typeface="Aptos"/>
                <a:ea typeface="Aptos"/>
                <a:cs typeface="Aptos"/>
              </a:defRPr>
            </a:pPr>
            <a:r>
              <a:rPr sz="975" b="0">
                <a:solidFill>
                  <a:srgbClr val="FFFFFF"/>
                </a:solidFill>
                <a:latin typeface="Aptos"/>
                <a:ea typeface="Aptos"/>
                <a:cs typeface="Aptos"/>
              </a:rPr>
              <a:t>non è CO₂ misurata</a:t>
            </a:r>
          </a:p>
        </p:txBody>
      </p:sp>
      <p:sp>
        <p:nvSpPr>
          <p:cNvPr id="24" name="">
            <a:extLst xmlns:a="http://schemas.openxmlformats.org/drawingml/2006/main">
              <a:ext uri="{FF2B5EF4-FFF2-40B4-BE49-F238E27FC236}">
                <a16:creationId xmlns:a16="http://schemas.microsoft.com/office/drawing/2014/main" id="{6387F5BD-0720-46B1-A2BA-29B60A2691CB}"/>
              </a:ext>
            </a:extLst>
          </p:cNvPr>
          <p:cNvSpPr>
            <a:spLocks xmlns:a="http://schemas.openxmlformats.org/drawingml/2006/main" noGrp="1"/>
          </p:cNvSpPr>
          <p:nvPr/>
        </p:nvSpPr>
        <p:spPr>
          <a:xfrm xmlns:a="http://schemas.openxmlformats.org/drawingml/2006/main">
            <a:off x="800100" y="5029200"/>
            <a:ext cx="133350" cy="133350"/>
          </a:xfrm>
          <a:prstGeom xmlns:a="http://schemas.openxmlformats.org/drawingml/2006/main" prst="ellipse">
            <a:avLst/>
          </a:prstGeom>
          <a:solidFill xmlns:a="http://schemas.openxmlformats.org/drawingml/2006/main">
            <a:srgbClr val="D56E42"/>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7C0376D5-1731-472B-9467-5F3F145C031D}"/>
              </a:ext>
            </a:extLst>
          </p:cNvPr>
          <p:cNvSpPr>
            <a:spLocks xmlns:a="http://schemas.openxmlformats.org/drawingml/2006/main" noGrp="1"/>
          </p:cNvSpPr>
          <p:nvPr/>
        </p:nvSpPr>
        <p:spPr>
          <a:xfrm xmlns:a="http://schemas.openxmlformats.org/drawingml/2006/main">
            <a:off x="1047750" y="4972050"/>
            <a:ext cx="61912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FFFFFF"/>
                </a:solidFill>
                <a:latin typeface="Aptos"/>
                <a:ea typeface="Aptos"/>
                <a:cs typeface="Aptos"/>
              </a:defRPr>
            </a:pPr>
            <a:r>
              <a:rPr sz="975" b="0">
                <a:solidFill>
                  <a:srgbClr val="FFFFFF"/>
                </a:solidFill>
                <a:latin typeface="Aptos"/>
                <a:ea typeface="Aptos"/>
                <a:cs typeface="Aptos"/>
              </a:rPr>
              <a:t>non è una LCA per materiale</a:t>
            </a:r>
          </a:p>
        </p:txBody>
      </p:sp>
      <p:sp>
        <p:nvSpPr>
          <p:cNvPr id="26" name="">
            <a:extLst xmlns:a="http://schemas.openxmlformats.org/drawingml/2006/main">
              <a:ext uri="{FF2B5EF4-FFF2-40B4-BE49-F238E27FC236}">
                <a16:creationId xmlns:a16="http://schemas.microsoft.com/office/drawing/2014/main" id="{0CEA1AC7-E750-44EB-A06D-AFEA19004413}"/>
              </a:ext>
            </a:extLst>
          </p:cNvPr>
          <p:cNvSpPr>
            <a:spLocks xmlns:a="http://schemas.openxmlformats.org/drawingml/2006/main" noGrp="1"/>
          </p:cNvSpPr>
          <p:nvPr/>
        </p:nvSpPr>
        <p:spPr>
          <a:xfrm xmlns:a="http://schemas.openxmlformats.org/drawingml/2006/main">
            <a:off x="800100" y="5429250"/>
            <a:ext cx="133350" cy="133350"/>
          </a:xfrm>
          <a:prstGeom xmlns:a="http://schemas.openxmlformats.org/drawingml/2006/main" prst="ellipse">
            <a:avLst/>
          </a:prstGeom>
          <a:solidFill xmlns:a="http://schemas.openxmlformats.org/drawingml/2006/main">
            <a:srgbClr val="D56E42"/>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8A3FE60D-D8AF-4C03-A859-08A117708250}"/>
              </a:ext>
            </a:extLst>
          </p:cNvPr>
          <p:cNvSpPr>
            <a:spLocks xmlns:a="http://schemas.openxmlformats.org/drawingml/2006/main" noGrp="1"/>
          </p:cNvSpPr>
          <p:nvPr/>
        </p:nvSpPr>
        <p:spPr>
          <a:xfrm xmlns:a="http://schemas.openxmlformats.org/drawingml/2006/main">
            <a:off x="1047750" y="5372100"/>
            <a:ext cx="61912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FFFFFF"/>
                </a:solidFill>
                <a:latin typeface="Aptos"/>
                <a:ea typeface="Aptos"/>
                <a:cs typeface="Aptos"/>
              </a:defRPr>
            </a:pPr>
            <a:r>
              <a:rPr sz="975" b="0">
                <a:solidFill>
                  <a:srgbClr val="FFFFFF"/>
                </a:solidFill>
                <a:latin typeface="Aptos"/>
                <a:ea typeface="Aptos"/>
                <a:cs typeface="Aptos"/>
              </a:rPr>
              <a:t>dipende dall’ipotesi di sostituzione</a:t>
            </a:r>
          </a:p>
        </p:txBody>
      </p:sp>
      <p:sp>
        <p:nvSpPr>
          <p:cNvPr id="28" name="">
            <a:extLst xmlns:a="http://schemas.openxmlformats.org/drawingml/2006/main">
              <a:ext uri="{FF2B5EF4-FFF2-40B4-BE49-F238E27FC236}">
                <a16:creationId xmlns:a16="http://schemas.microsoft.com/office/drawing/2014/main" id="{26DFF6A4-FC99-4590-BDEF-3D352CE0E3AD}"/>
              </a:ext>
            </a:extLst>
          </p:cNvPr>
          <p:cNvSpPr>
            <a:spLocks xmlns:a="http://schemas.openxmlformats.org/drawingml/2006/main" noGrp="1"/>
          </p:cNvSpPr>
          <p:nvPr/>
        </p:nvSpPr>
        <p:spPr>
          <a:xfrm xmlns:a="http://schemas.openxmlformats.org/drawingml/2006/main">
            <a:off x="7429500" y="4762500"/>
            <a:ext cx="38100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75" b="1">
                <a:solidFill>
                  <a:srgbClr val="DDE5DD"/>
                </a:solidFill>
                <a:latin typeface="Georgia"/>
                <a:ea typeface="Georgia"/>
                <a:cs typeface="Georgia"/>
              </a:defRPr>
            </a:pPr>
            <a:r>
              <a:rPr sz="1275" b="1">
                <a:solidFill>
                  <a:srgbClr val="DDE5DD"/>
                </a:solidFill>
                <a:latin typeface="Georgia"/>
                <a:ea typeface="Georgia"/>
                <a:cs typeface="Georgia"/>
              </a:rPr>
              <a:t>La UI usa sempre “CO₂eq evitata stimata” e rende visibile l’azione che l’ha generata.</a:t>
            </a:r>
          </a:p>
        </p:txBody>
      </p:sp>
      <p:sp>
        <p:nvSpPr>
          <p:cNvPr id="29" name="">
            <a:extLst xmlns:a="http://schemas.openxmlformats.org/drawingml/2006/main">
              <a:ext uri="{FF2B5EF4-FFF2-40B4-BE49-F238E27FC236}">
                <a16:creationId xmlns:a16="http://schemas.microsoft.com/office/drawing/2014/main" id="{6C15BF92-A7CA-43C7-8CB1-2D47B0B3E1F2}"/>
              </a:ext>
            </a:extLst>
          </p:cNvPr>
          <p:cNvSpPr>
            <a:spLocks xmlns:a="http://schemas.openxmlformats.org/drawingml/2006/main" noGrp="1"/>
          </p:cNvSpPr>
          <p:nvPr/>
        </p:nvSpPr>
        <p:spPr>
          <a:xfrm xmlns:a="http://schemas.openxmlformats.org/drawingml/2006/main">
            <a:off x="552450" y="6457950"/>
            <a:ext cx="11087100" cy="9525"/>
          </a:xfrm>
          <a:prstGeom xmlns:a="http://schemas.openxmlformats.org/drawingml/2006/main" prst="rect">
            <a:avLst/>
          </a:prstGeom>
          <a:solidFill xmlns:a="http://schemas.openxmlformats.org/drawingml/2006/main">
            <a:srgbClr val="3F685A"/>
          </a:solidFill>
          <a:ln xmlns:a="http://schemas.openxmlformats.org/drawingml/2006/main" w="0">
            <a:solidFill>
              <a:srgbClr val="000000">
                <a:alpha val="0"/>
              </a:srgbClr>
            </a:solidFill>
            <a:prstDash val="solid"/>
          </a:ln>
        </p:spPr>
      </p:sp>
      <p:sp>
        <p:nvSpPr>
          <p:cNvPr id="30" name="">
            <a:extLst xmlns:a="http://schemas.openxmlformats.org/drawingml/2006/main">
              <a:ext uri="{FF2B5EF4-FFF2-40B4-BE49-F238E27FC236}">
                <a16:creationId xmlns:a16="http://schemas.microsoft.com/office/drawing/2014/main" id="{1CE3F6E2-1153-4CB0-AC47-DCA72755E088}"/>
              </a:ext>
            </a:extLst>
          </p:cNvPr>
          <p:cNvSpPr>
            <a:spLocks xmlns:a="http://schemas.openxmlformats.org/drawingml/2006/main" noGrp="1"/>
          </p:cNvSpPr>
          <p:nvPr/>
        </p:nvSpPr>
        <p:spPr>
          <a:xfrm xmlns:a="http://schemas.openxmlformats.org/drawingml/2006/main">
            <a:off x="552450" y="6534150"/>
            <a:ext cx="1000125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63" b="0">
                <a:solidFill>
                  <a:srgbClr val="86A396"/>
                </a:solidFill>
                <a:latin typeface="Aptos"/>
                <a:ea typeface="Aptos"/>
                <a:cs typeface="Aptos"/>
              </a:defRPr>
            </a:pPr>
            <a:r>
              <a:rPr sz="563" b="0">
                <a:solidFill>
                  <a:srgbClr val="86A396"/>
                </a:solidFill>
                <a:latin typeface="Aptos"/>
                <a:ea typeface="Aptos"/>
                <a:cs typeface="Aptos"/>
              </a:rPr>
              <a:t>Proxy di prodotto: services/circular.py · medie indicative + fattori di scenario</a:t>
            </a:r>
          </a:p>
        </p:txBody>
      </p:sp>
      <p:sp>
        <p:nvSpPr>
          <p:cNvPr id="31" name="">
            <a:extLst xmlns:a="http://schemas.openxmlformats.org/drawingml/2006/main">
              <a:ext uri="{FF2B5EF4-FFF2-40B4-BE49-F238E27FC236}">
                <a16:creationId xmlns:a16="http://schemas.microsoft.com/office/drawing/2014/main" id="{E21286C4-8193-4F6D-8E9C-03FF351E3D02}"/>
              </a:ext>
            </a:extLst>
          </p:cNvPr>
          <p:cNvSpPr>
            <a:spLocks xmlns:a="http://schemas.openxmlformats.org/drawingml/2006/main" noGrp="1"/>
          </p:cNvSpPr>
          <p:nvPr/>
        </p:nvSpPr>
        <p:spPr>
          <a:xfrm xmlns:a="http://schemas.openxmlformats.org/drawingml/2006/main">
            <a:off x="11087100" y="650557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86A396"/>
                </a:solidFill>
                <a:latin typeface="Georgia"/>
                <a:ea typeface="Georgia"/>
                <a:cs typeface="Georgia"/>
              </a:defRPr>
            </a:pPr>
            <a:r>
              <a:rPr sz="750" b="1">
                <a:solidFill>
                  <a:srgbClr val="86A396"/>
                </a:solidFill>
                <a:latin typeface="Georgia"/>
                <a:ea typeface="Georgia"/>
                <a:cs typeface="Georgia"/>
              </a:rPr>
              <a:t>09</a:t>
            </a:r>
          </a:p>
        </p:txBody>
      </p:sp>
    </p:spTree>
    <p:extLst>
      <p:ext uri="{BB962C8B-B14F-4D97-AF65-F5344CB8AC3E}">
        <p14:creationId xmlns:p14="http://schemas.microsoft.com/office/powerpoint/2010/main" val="1052326297"/>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E62E3723-0A50-40F5-B8F1-198489C8AE2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0E7"/>
          </a:solidFill>
          <a:ln xmlns:a="http://schemas.openxmlformats.org/drawingml/2006/main" w="0">
            <a:solidFill>
              <a:srgbClr val="000000">
                <a:alpha val="0"/>
              </a:srgbClr>
            </a:solidFill>
            <a:prstDash val="solid"/>
          </a:ln>
        </p:spPr>
      </p:sp>
      <p:sp>
        <p:nvSpPr>
          <p:cNvPr id="2" name="kicker-marker">
            <a:extLst xmlns:a="http://schemas.openxmlformats.org/drawingml/2006/main">
              <a:ext uri="{FF2B5EF4-FFF2-40B4-BE49-F238E27FC236}">
                <a16:creationId xmlns:a16="http://schemas.microsoft.com/office/drawing/2014/main" id="{3812DC95-65A4-4716-BDBF-14E5ED48A1C3}"/>
              </a:ext>
            </a:extLst>
          </p:cNvPr>
          <p:cNvSpPr>
            <a:spLocks xmlns:a="http://schemas.openxmlformats.org/drawingml/2006/main" noGrp="1"/>
          </p:cNvSpPr>
          <p:nvPr/>
        </p:nvSpPr>
        <p:spPr>
          <a:xfrm xmlns:a="http://schemas.openxmlformats.org/drawingml/2006/main">
            <a:off x="552450" y="438150"/>
            <a:ext cx="95250" cy="9525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3" name="kicker-label">
            <a:extLst xmlns:a="http://schemas.openxmlformats.org/drawingml/2006/main">
              <a:ext uri="{FF2B5EF4-FFF2-40B4-BE49-F238E27FC236}">
                <a16:creationId xmlns:a16="http://schemas.microsoft.com/office/drawing/2014/main" id="{A12F8EF2-014E-47A5-8D73-FACD4A7E851F}"/>
              </a:ext>
            </a:extLst>
          </p:cNvPr>
          <p:cNvSpPr>
            <a:spLocks xmlns:a="http://schemas.openxmlformats.org/drawingml/2006/main" noGrp="1"/>
          </p:cNvSpPr>
          <p:nvPr/>
        </p:nvSpPr>
        <p:spPr>
          <a:xfrm xmlns:a="http://schemas.openxmlformats.org/drawingml/2006/main">
            <a:off x="762000" y="400050"/>
            <a:ext cx="4762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65736B"/>
                </a:solidFill>
                <a:latin typeface="Aptos"/>
                <a:ea typeface="Aptos"/>
                <a:cs typeface="Aptos"/>
              </a:defRPr>
            </a:pPr>
            <a:r>
              <a:rPr sz="675" b="1">
                <a:solidFill>
                  <a:srgbClr val="65736B"/>
                </a:solidFill>
                <a:latin typeface="Aptos"/>
                <a:ea typeface="Aptos"/>
                <a:cs typeface="Aptos"/>
              </a:rPr>
              <a:t>T E S I   T E C N I C A</a:t>
            </a:r>
          </a:p>
        </p:txBody>
      </p:sp>
      <p:sp>
        <p:nvSpPr>
          <p:cNvPr id="4" name="claim-title">
            <a:extLst xmlns:a="http://schemas.openxmlformats.org/drawingml/2006/main">
              <a:ext uri="{FF2B5EF4-FFF2-40B4-BE49-F238E27FC236}">
                <a16:creationId xmlns:a16="http://schemas.microsoft.com/office/drawing/2014/main" id="{3EDF350D-6BE7-4A97-9C3C-C3DE2494A503}"/>
              </a:ext>
            </a:extLst>
          </p:cNvPr>
          <p:cNvSpPr>
            <a:spLocks xmlns:a="http://schemas.openxmlformats.org/drawingml/2006/main" noGrp="1"/>
          </p:cNvSpPr>
          <p:nvPr/>
        </p:nvSpPr>
        <p:spPr>
          <a:xfrm xmlns:a="http://schemas.openxmlformats.org/drawingml/2006/main">
            <a:off x="552450" y="742950"/>
            <a:ext cx="1066800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7211D"/>
                </a:solidFill>
                <a:latin typeface="Georgia"/>
                <a:ea typeface="Georgia"/>
                <a:cs typeface="Georgia"/>
              </a:defRPr>
            </a:pPr>
            <a:r>
              <a:rPr sz="2850" b="1">
                <a:solidFill>
                  <a:srgbClr val="17211D"/>
                </a:solidFill>
                <a:latin typeface="Georgia"/>
                <a:ea typeface="Georgia"/>
                <a:cs typeface="Georgia"/>
              </a:rPr>
              <a:t>La scelta AI più forte è sapere quando non addestrare un modello.</a:t>
            </a:r>
          </a:p>
        </p:txBody>
      </p:sp>
      <p:sp>
        <p:nvSpPr>
          <p:cNvPr id="5" name="">
            <a:extLst xmlns:a="http://schemas.openxmlformats.org/drawingml/2006/main">
              <a:ext uri="{FF2B5EF4-FFF2-40B4-BE49-F238E27FC236}">
                <a16:creationId xmlns:a16="http://schemas.microsoft.com/office/drawing/2014/main" id="{78C522EA-E723-45AA-AB6C-03E98B7549A4}"/>
              </a:ext>
            </a:extLst>
          </p:cNvPr>
          <p:cNvSpPr>
            <a:spLocks xmlns:a="http://schemas.openxmlformats.org/drawingml/2006/main" noGrp="1"/>
          </p:cNvSpPr>
          <p:nvPr/>
        </p:nvSpPr>
        <p:spPr>
          <a:xfrm xmlns:a="http://schemas.openxmlformats.org/drawingml/2006/main">
            <a:off x="552450" y="2000250"/>
            <a:ext cx="171450" cy="171450"/>
          </a:xfrm>
          <a:prstGeom xmlns:a="http://schemas.openxmlformats.org/drawingml/2006/main" prst="ellipse">
            <a:avLst/>
          </a:prstGeom>
          <a:solidFill xmlns:a="http://schemas.openxmlformats.org/drawingml/2006/main">
            <a:srgbClr val="466D86"/>
          </a:solidFill>
          <a:ln xmlns:a="http://schemas.openxmlformats.org/drawingml/2006/main" w="0">
            <a:solidFill>
              <a:srgbClr val="000000">
                <a:alpha val="0"/>
              </a:srgbClr>
            </a:solidFill>
            <a:prstDash val="solid"/>
          </a:ln>
        </p:spPr>
      </p:sp>
      <p:sp>
        <p:nvSpPr>
          <p:cNvPr id="6" name="">
            <a:extLst xmlns:a="http://schemas.openxmlformats.org/drawingml/2006/main">
              <a:ext uri="{FF2B5EF4-FFF2-40B4-BE49-F238E27FC236}">
                <a16:creationId xmlns:a16="http://schemas.microsoft.com/office/drawing/2014/main" id="{97AE8F80-5196-44DA-BB27-2B455CB66F33}"/>
              </a:ext>
            </a:extLst>
          </p:cNvPr>
          <p:cNvSpPr>
            <a:spLocks xmlns:a="http://schemas.openxmlformats.org/drawingml/2006/main" noGrp="1"/>
          </p:cNvSpPr>
          <p:nvPr/>
        </p:nvSpPr>
        <p:spPr>
          <a:xfrm xmlns:a="http://schemas.openxmlformats.org/drawingml/2006/main">
            <a:off x="838200" y="1962150"/>
            <a:ext cx="2171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466D86"/>
                </a:solidFill>
                <a:latin typeface="Aptos"/>
                <a:ea typeface="Aptos"/>
                <a:cs typeface="Aptos"/>
              </a:defRPr>
            </a:pPr>
            <a:r>
              <a:rPr sz="675" b="1">
                <a:solidFill>
                  <a:srgbClr val="466D86"/>
                </a:solidFill>
                <a:latin typeface="Aptos"/>
                <a:ea typeface="Aptos"/>
                <a:cs typeface="Aptos"/>
              </a:rPr>
              <a:t>PRE-ADDESTRATO</a:t>
            </a:r>
          </a:p>
        </p:txBody>
      </p:sp>
      <p:sp>
        <p:nvSpPr>
          <p:cNvPr id="7" name="">
            <a:extLst xmlns:a="http://schemas.openxmlformats.org/drawingml/2006/main">
              <a:ext uri="{FF2B5EF4-FFF2-40B4-BE49-F238E27FC236}">
                <a16:creationId xmlns:a16="http://schemas.microsoft.com/office/drawing/2014/main" id="{F556471C-D392-4F64-A6D1-600263EC6758}"/>
              </a:ext>
            </a:extLst>
          </p:cNvPr>
          <p:cNvSpPr>
            <a:spLocks xmlns:a="http://schemas.openxmlformats.org/drawingml/2006/main" noGrp="1"/>
          </p:cNvSpPr>
          <p:nvPr/>
        </p:nvSpPr>
        <p:spPr>
          <a:xfrm xmlns:a="http://schemas.openxmlformats.org/drawingml/2006/main">
            <a:off x="552450" y="2476500"/>
            <a:ext cx="2333625"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00" b="1">
                <a:solidFill>
                  <a:srgbClr val="17211D"/>
                </a:solidFill>
                <a:latin typeface="Georgia"/>
                <a:ea typeface="Georgia"/>
                <a:cs typeface="Georgia"/>
              </a:defRPr>
            </a:pPr>
            <a:r>
              <a:rPr sz="1800" b="1">
                <a:solidFill>
                  <a:srgbClr val="17211D"/>
                </a:solidFill>
                <a:latin typeface="Georgia"/>
                <a:ea typeface="Georgia"/>
                <a:cs typeface="Georgia"/>
              </a:rPr>
              <a:t>Fashion-CLIP</a:t>
            </a:r>
          </a:p>
        </p:txBody>
      </p:sp>
      <p:sp>
        <p:nvSpPr>
          <p:cNvPr id="8" name="">
            <a:extLst xmlns:a="http://schemas.openxmlformats.org/drawingml/2006/main">
              <a:ext uri="{FF2B5EF4-FFF2-40B4-BE49-F238E27FC236}">
                <a16:creationId xmlns:a16="http://schemas.microsoft.com/office/drawing/2014/main" id="{657A7CA3-4097-4F33-A6A6-1CD29E63B0C1}"/>
              </a:ext>
            </a:extLst>
          </p:cNvPr>
          <p:cNvSpPr>
            <a:spLocks xmlns:a="http://schemas.openxmlformats.org/drawingml/2006/main" noGrp="1"/>
          </p:cNvSpPr>
          <p:nvPr/>
        </p:nvSpPr>
        <p:spPr>
          <a:xfrm xmlns:a="http://schemas.openxmlformats.org/drawingml/2006/main">
            <a:off x="552450" y="3105150"/>
            <a:ext cx="2333625" cy="685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65736B"/>
                </a:solidFill>
                <a:latin typeface="Aptos"/>
                <a:ea typeface="Aptos"/>
                <a:cs typeface="Aptos"/>
              </a:defRPr>
            </a:pPr>
            <a:r>
              <a:rPr sz="975" b="0">
                <a:solidFill>
                  <a:srgbClr val="65736B"/>
                </a:solidFill>
                <a:latin typeface="Aptos"/>
                <a:ea typeface="Aptos"/>
                <a:cs typeface="Aptos"/>
              </a:rPr>
              <a:t>riconoscere categoria</a:t>
            </a:r>
          </a:p>
          <a:p xmlns:a="http://schemas.openxmlformats.org/drawingml/2006/main">
            <a:pPr algn="l">
              <a:defRPr sz="975" b="0">
                <a:solidFill>
                  <a:srgbClr val="65736B"/>
                </a:solidFill>
                <a:latin typeface="Aptos"/>
                <a:ea typeface="Aptos"/>
                <a:cs typeface="Aptos"/>
              </a:defRPr>
            </a:pPr>
            <a:r>
              <a:rPr sz="975" b="0">
                <a:solidFill>
                  <a:srgbClr val="65736B"/>
                </a:solidFill>
                <a:latin typeface="Aptos"/>
                <a:ea typeface="Aptos"/>
                <a:cs typeface="Aptos"/>
              </a:rPr>
              <a:t>e creare embedding</a:t>
            </a:r>
          </a:p>
        </p:txBody>
      </p:sp>
      <p:sp>
        <p:nvSpPr>
          <p:cNvPr id="9" name="">
            <a:extLst xmlns:a="http://schemas.openxmlformats.org/drawingml/2006/main">
              <a:ext uri="{FF2B5EF4-FFF2-40B4-BE49-F238E27FC236}">
                <a16:creationId xmlns:a16="http://schemas.microsoft.com/office/drawing/2014/main" id="{F1F602E1-1F2A-42FC-965A-674EDB754B93}"/>
              </a:ext>
            </a:extLst>
          </p:cNvPr>
          <p:cNvSpPr>
            <a:spLocks xmlns:a="http://schemas.openxmlformats.org/drawingml/2006/main" noGrp="1"/>
          </p:cNvSpPr>
          <p:nvPr/>
        </p:nvSpPr>
        <p:spPr>
          <a:xfrm xmlns:a="http://schemas.openxmlformats.org/drawingml/2006/main">
            <a:off x="552450" y="4057650"/>
            <a:ext cx="209550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10" name="">
            <a:extLst xmlns:a="http://schemas.openxmlformats.org/drawingml/2006/main">
              <a:ext uri="{FF2B5EF4-FFF2-40B4-BE49-F238E27FC236}">
                <a16:creationId xmlns:a16="http://schemas.microsoft.com/office/drawing/2014/main" id="{7F68C03D-1C1B-46B7-A0EE-9F7FF0E38661}"/>
              </a:ext>
            </a:extLst>
          </p:cNvPr>
          <p:cNvSpPr>
            <a:spLocks xmlns:a="http://schemas.openxmlformats.org/drawingml/2006/main" noGrp="1"/>
          </p:cNvSpPr>
          <p:nvPr/>
        </p:nvSpPr>
        <p:spPr>
          <a:xfrm xmlns:a="http://schemas.openxmlformats.org/drawingml/2006/main">
            <a:off x="552450" y="4248150"/>
            <a:ext cx="20955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466D86"/>
                </a:solidFill>
                <a:latin typeface="Aptos"/>
                <a:ea typeface="Aptos"/>
                <a:cs typeface="Aptos"/>
              </a:defRPr>
            </a:pPr>
            <a:r>
              <a:rPr sz="825" b="1">
                <a:solidFill>
                  <a:srgbClr val="466D86"/>
                </a:solidFill>
                <a:latin typeface="Aptos"/>
                <a:ea typeface="Aptos"/>
                <a:cs typeface="Aptos"/>
              </a:rPr>
              <a:t>inference</a:t>
            </a:r>
          </a:p>
        </p:txBody>
      </p:sp>
      <p:sp>
        <p:nvSpPr>
          <p:cNvPr id="11" name="">
            <a:extLst xmlns:a="http://schemas.openxmlformats.org/drawingml/2006/main">
              <a:ext uri="{FF2B5EF4-FFF2-40B4-BE49-F238E27FC236}">
                <a16:creationId xmlns:a16="http://schemas.microsoft.com/office/drawing/2014/main" id="{2B708FBE-3253-4861-84A2-18AFDA68EAF3}"/>
              </a:ext>
            </a:extLst>
          </p:cNvPr>
          <p:cNvSpPr>
            <a:spLocks xmlns:a="http://schemas.openxmlformats.org/drawingml/2006/main" noGrp="1"/>
          </p:cNvSpPr>
          <p:nvPr/>
        </p:nvSpPr>
        <p:spPr>
          <a:xfrm xmlns:a="http://schemas.openxmlformats.org/drawingml/2006/main">
            <a:off x="552450" y="4572000"/>
            <a:ext cx="2095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65736B"/>
                </a:solidFill>
                <a:latin typeface="Aptos"/>
                <a:ea typeface="Aptos"/>
                <a:cs typeface="Aptos"/>
              </a:defRPr>
            </a:pPr>
            <a:r>
              <a:rPr sz="788" b="0">
                <a:solidFill>
                  <a:srgbClr val="65736B"/>
                </a:solidFill>
                <a:latin typeface="Aptos"/>
                <a:ea typeface="Aptos"/>
                <a:cs typeface="Aptos"/>
              </a:rPr>
              <a:t>zero-shot</a:t>
            </a:r>
          </a:p>
        </p:txBody>
      </p:sp>
      <p:sp>
        <p:nvSpPr>
          <p:cNvPr id="12" name="">
            <a:extLst xmlns:a="http://schemas.openxmlformats.org/drawingml/2006/main">
              <a:ext uri="{FF2B5EF4-FFF2-40B4-BE49-F238E27FC236}">
                <a16:creationId xmlns:a16="http://schemas.microsoft.com/office/drawing/2014/main" id="{8ADA17B9-A2C9-495F-B3F0-5F254609A011}"/>
              </a:ext>
            </a:extLst>
          </p:cNvPr>
          <p:cNvSpPr>
            <a:spLocks xmlns:a="http://schemas.openxmlformats.org/drawingml/2006/main" noGrp="1"/>
          </p:cNvSpPr>
          <p:nvPr/>
        </p:nvSpPr>
        <p:spPr>
          <a:xfrm xmlns:a="http://schemas.openxmlformats.org/drawingml/2006/main">
            <a:off x="3105150" y="1962150"/>
            <a:ext cx="9525" cy="3390900"/>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C500CAF5-62F1-4D50-89FE-0F305DEF2EE1}"/>
              </a:ext>
            </a:extLst>
          </p:cNvPr>
          <p:cNvSpPr>
            <a:spLocks xmlns:a="http://schemas.openxmlformats.org/drawingml/2006/main" noGrp="1"/>
          </p:cNvSpPr>
          <p:nvPr/>
        </p:nvSpPr>
        <p:spPr>
          <a:xfrm xmlns:a="http://schemas.openxmlformats.org/drawingml/2006/main">
            <a:off x="3333750" y="2000250"/>
            <a:ext cx="171450" cy="17145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AF8E88AD-D9EB-471D-B6D9-41F5B7DE647F}"/>
              </a:ext>
            </a:extLst>
          </p:cNvPr>
          <p:cNvSpPr>
            <a:spLocks xmlns:a="http://schemas.openxmlformats.org/drawingml/2006/main" noGrp="1"/>
          </p:cNvSpPr>
          <p:nvPr/>
        </p:nvSpPr>
        <p:spPr>
          <a:xfrm xmlns:a="http://schemas.openxmlformats.org/drawingml/2006/main">
            <a:off x="3619500" y="1962150"/>
            <a:ext cx="2171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2F7D5B"/>
                </a:solidFill>
                <a:latin typeface="Aptos"/>
                <a:ea typeface="Aptos"/>
                <a:cs typeface="Aptos"/>
              </a:defRPr>
            </a:pPr>
            <a:r>
              <a:rPr sz="675" b="1">
                <a:solidFill>
                  <a:srgbClr val="2F7D5B"/>
                </a:solidFill>
                <a:latin typeface="Aptos"/>
                <a:ea typeface="Aptos"/>
                <a:cs typeface="Aptos"/>
              </a:rPr>
              <a:t>ALLENATO DA NOI</a:t>
            </a:r>
          </a:p>
        </p:txBody>
      </p:sp>
      <p:sp>
        <p:nvSpPr>
          <p:cNvPr id="15" name="">
            <a:extLst xmlns:a="http://schemas.openxmlformats.org/drawingml/2006/main">
              <a:ext uri="{FF2B5EF4-FFF2-40B4-BE49-F238E27FC236}">
                <a16:creationId xmlns:a16="http://schemas.microsoft.com/office/drawing/2014/main" id="{DE67DEA3-8B51-4035-8727-F3F5E2ACCC82}"/>
              </a:ext>
            </a:extLst>
          </p:cNvPr>
          <p:cNvSpPr>
            <a:spLocks xmlns:a="http://schemas.openxmlformats.org/drawingml/2006/main" noGrp="1"/>
          </p:cNvSpPr>
          <p:nvPr/>
        </p:nvSpPr>
        <p:spPr>
          <a:xfrm xmlns:a="http://schemas.openxmlformats.org/drawingml/2006/main">
            <a:off x="3333750" y="2476500"/>
            <a:ext cx="2333625"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00" b="1">
                <a:solidFill>
                  <a:srgbClr val="17211D"/>
                </a:solidFill>
                <a:latin typeface="Georgia"/>
                <a:ea typeface="Georgia"/>
                <a:cs typeface="Georgia"/>
              </a:defRPr>
            </a:pPr>
            <a:r>
              <a:rPr sz="1800" b="1">
                <a:solidFill>
                  <a:srgbClr val="17211D"/>
                </a:solidFill>
                <a:latin typeface="Georgia"/>
                <a:ea typeface="Georgia"/>
                <a:cs typeface="Georgia"/>
              </a:rPr>
              <a:t>2 MLP</a:t>
            </a:r>
          </a:p>
        </p:txBody>
      </p:sp>
      <p:sp>
        <p:nvSpPr>
          <p:cNvPr id="16" name="">
            <a:extLst xmlns:a="http://schemas.openxmlformats.org/drawingml/2006/main">
              <a:ext uri="{FF2B5EF4-FFF2-40B4-BE49-F238E27FC236}">
                <a16:creationId xmlns:a16="http://schemas.microsoft.com/office/drawing/2014/main" id="{E70AA0D5-A7AB-4E48-9119-ABF0E22C1E0C}"/>
              </a:ext>
            </a:extLst>
          </p:cNvPr>
          <p:cNvSpPr>
            <a:spLocks xmlns:a="http://schemas.openxmlformats.org/drawingml/2006/main" noGrp="1"/>
          </p:cNvSpPr>
          <p:nvPr/>
        </p:nvSpPr>
        <p:spPr>
          <a:xfrm xmlns:a="http://schemas.openxmlformats.org/drawingml/2006/main">
            <a:off x="3333750" y="3105150"/>
            <a:ext cx="2333625" cy="685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65736B"/>
                </a:solidFill>
                <a:latin typeface="Aptos"/>
                <a:ea typeface="Aptos"/>
                <a:cs typeface="Aptos"/>
              </a:defRPr>
            </a:pPr>
            <a:r>
              <a:rPr sz="975" b="0">
                <a:solidFill>
                  <a:srgbClr val="65736B"/>
                </a:solidFill>
                <a:latin typeface="Aptos"/>
                <a:ea typeface="Aptos"/>
                <a:cs typeface="Aptos"/>
              </a:rPr>
              <a:t>stato del capo</a:t>
            </a:r>
          </a:p>
          <a:p xmlns:a="http://schemas.openxmlformats.org/drawingml/2006/main">
            <a:pPr algn="l">
              <a:defRPr sz="975" b="0">
                <a:solidFill>
                  <a:srgbClr val="65736B"/>
                </a:solidFill>
                <a:latin typeface="Aptos"/>
                <a:ea typeface="Aptos"/>
                <a:cs typeface="Aptos"/>
              </a:defRPr>
            </a:pPr>
            <a:r>
              <a:rPr sz="975" b="0">
                <a:solidFill>
                  <a:srgbClr val="65736B"/>
                </a:solidFill>
                <a:latin typeface="Aptos"/>
                <a:ea typeface="Aptos"/>
                <a:cs typeface="Aptos"/>
              </a:rPr>
              <a:t>+ gap multi-label</a:t>
            </a:r>
          </a:p>
        </p:txBody>
      </p:sp>
      <p:sp>
        <p:nvSpPr>
          <p:cNvPr id="17" name="">
            <a:extLst xmlns:a="http://schemas.openxmlformats.org/drawingml/2006/main">
              <a:ext uri="{FF2B5EF4-FFF2-40B4-BE49-F238E27FC236}">
                <a16:creationId xmlns:a16="http://schemas.microsoft.com/office/drawing/2014/main" id="{4CA432BE-3930-4764-9599-260B0701FC82}"/>
              </a:ext>
            </a:extLst>
          </p:cNvPr>
          <p:cNvSpPr>
            <a:spLocks xmlns:a="http://schemas.openxmlformats.org/drawingml/2006/main" noGrp="1"/>
          </p:cNvSpPr>
          <p:nvPr/>
        </p:nvSpPr>
        <p:spPr>
          <a:xfrm xmlns:a="http://schemas.openxmlformats.org/drawingml/2006/main">
            <a:off x="3333750" y="4057650"/>
            <a:ext cx="209550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B074F6EC-469F-4F87-A7A4-339B085CD7F1}"/>
              </a:ext>
            </a:extLst>
          </p:cNvPr>
          <p:cNvSpPr>
            <a:spLocks xmlns:a="http://schemas.openxmlformats.org/drawingml/2006/main" noGrp="1"/>
          </p:cNvSpPr>
          <p:nvPr/>
        </p:nvSpPr>
        <p:spPr>
          <a:xfrm xmlns:a="http://schemas.openxmlformats.org/drawingml/2006/main">
            <a:off x="3333750" y="4248150"/>
            <a:ext cx="20955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2F7D5B"/>
                </a:solidFill>
                <a:latin typeface="Aptos"/>
                <a:ea typeface="Aptos"/>
                <a:cs typeface="Aptos"/>
              </a:defRPr>
            </a:pPr>
            <a:r>
              <a:rPr sz="825" b="1">
                <a:solidFill>
                  <a:srgbClr val="2F7D5B"/>
                </a:solidFill>
                <a:latin typeface="Aptos"/>
                <a:ea typeface="Aptos"/>
                <a:cs typeface="Aptos"/>
              </a:rPr>
              <a:t>pesi salvati</a:t>
            </a:r>
          </a:p>
        </p:txBody>
      </p:sp>
      <p:sp>
        <p:nvSpPr>
          <p:cNvPr id="19" name="">
            <a:extLst xmlns:a="http://schemas.openxmlformats.org/drawingml/2006/main">
              <a:ext uri="{FF2B5EF4-FFF2-40B4-BE49-F238E27FC236}">
                <a16:creationId xmlns:a16="http://schemas.microsoft.com/office/drawing/2014/main" id="{18685292-7286-40BB-AA19-A722577B16A6}"/>
              </a:ext>
            </a:extLst>
          </p:cNvPr>
          <p:cNvSpPr>
            <a:spLocks xmlns:a="http://schemas.openxmlformats.org/drawingml/2006/main" noGrp="1"/>
          </p:cNvSpPr>
          <p:nvPr/>
        </p:nvSpPr>
        <p:spPr>
          <a:xfrm xmlns:a="http://schemas.openxmlformats.org/drawingml/2006/main">
            <a:off x="3333750" y="4572000"/>
            <a:ext cx="2095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65736B"/>
                </a:solidFill>
                <a:latin typeface="Aptos"/>
                <a:ea typeface="Aptos"/>
                <a:cs typeface="Aptos"/>
              </a:defRPr>
            </a:pPr>
            <a:r>
              <a:rPr sz="788" b="0">
                <a:solidFill>
                  <a:srgbClr val="65736B"/>
                </a:solidFill>
                <a:latin typeface="Aptos"/>
                <a:ea typeface="Aptos"/>
                <a:cs typeface="Aptos"/>
              </a:rPr>
              <a:t>e notebook riproducibili</a:t>
            </a:r>
          </a:p>
        </p:txBody>
      </p:sp>
      <p:sp>
        <p:nvSpPr>
          <p:cNvPr id="20" name="">
            <a:extLst xmlns:a="http://schemas.openxmlformats.org/drawingml/2006/main">
              <a:ext uri="{FF2B5EF4-FFF2-40B4-BE49-F238E27FC236}">
                <a16:creationId xmlns:a16="http://schemas.microsoft.com/office/drawing/2014/main" id="{C9BA308A-ACB7-4A4A-ADD6-F24E4145B357}"/>
              </a:ext>
            </a:extLst>
          </p:cNvPr>
          <p:cNvSpPr>
            <a:spLocks xmlns:a="http://schemas.openxmlformats.org/drawingml/2006/main" noGrp="1"/>
          </p:cNvSpPr>
          <p:nvPr/>
        </p:nvSpPr>
        <p:spPr>
          <a:xfrm xmlns:a="http://schemas.openxmlformats.org/drawingml/2006/main">
            <a:off x="5886450" y="1962150"/>
            <a:ext cx="9525" cy="3390900"/>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551FB13C-F67F-46CF-AC77-1067BABB1974}"/>
              </a:ext>
            </a:extLst>
          </p:cNvPr>
          <p:cNvSpPr>
            <a:spLocks xmlns:a="http://schemas.openxmlformats.org/drawingml/2006/main" noGrp="1"/>
          </p:cNvSpPr>
          <p:nvPr/>
        </p:nvSpPr>
        <p:spPr>
          <a:xfrm xmlns:a="http://schemas.openxmlformats.org/drawingml/2006/main">
            <a:off x="6115050" y="2000250"/>
            <a:ext cx="171450" cy="171450"/>
          </a:xfrm>
          <a:prstGeom xmlns:a="http://schemas.openxmlformats.org/drawingml/2006/main" prst="ellipse">
            <a:avLst/>
          </a:prstGeom>
          <a:solidFill xmlns:a="http://schemas.openxmlformats.org/drawingml/2006/main">
            <a:srgbClr val="D56E42"/>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3E3ECC38-988D-42F1-B3A0-E067E7B84A31}"/>
              </a:ext>
            </a:extLst>
          </p:cNvPr>
          <p:cNvSpPr>
            <a:spLocks xmlns:a="http://schemas.openxmlformats.org/drawingml/2006/main" noGrp="1"/>
          </p:cNvSpPr>
          <p:nvPr/>
        </p:nvSpPr>
        <p:spPr>
          <a:xfrm xmlns:a="http://schemas.openxmlformats.org/drawingml/2006/main">
            <a:off x="6400800" y="1962150"/>
            <a:ext cx="2171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D56E42"/>
                </a:solidFill>
                <a:latin typeface="Aptos"/>
                <a:ea typeface="Aptos"/>
                <a:cs typeface="Aptos"/>
              </a:defRPr>
            </a:pPr>
            <a:r>
              <a:rPr sz="675" b="1">
                <a:solidFill>
                  <a:srgbClr val="D56E42"/>
                </a:solidFill>
                <a:latin typeface="Aptos"/>
                <a:ea typeface="Aptos"/>
                <a:cs typeface="Aptos"/>
              </a:rPr>
              <a:t>REGOLE</a:t>
            </a:r>
          </a:p>
        </p:txBody>
      </p:sp>
      <p:sp>
        <p:nvSpPr>
          <p:cNvPr id="23" name="">
            <a:extLst xmlns:a="http://schemas.openxmlformats.org/drawingml/2006/main">
              <a:ext uri="{FF2B5EF4-FFF2-40B4-BE49-F238E27FC236}">
                <a16:creationId xmlns:a16="http://schemas.microsoft.com/office/drawing/2014/main" id="{8ECE1701-47A0-4165-B615-2DD13C7B9DD5}"/>
              </a:ext>
            </a:extLst>
          </p:cNvPr>
          <p:cNvSpPr>
            <a:spLocks xmlns:a="http://schemas.openxmlformats.org/drawingml/2006/main" noGrp="1"/>
          </p:cNvSpPr>
          <p:nvPr/>
        </p:nvSpPr>
        <p:spPr>
          <a:xfrm xmlns:a="http://schemas.openxmlformats.org/drawingml/2006/main">
            <a:off x="6115050" y="2476500"/>
            <a:ext cx="2333625"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00" b="1">
                <a:solidFill>
                  <a:srgbClr val="17211D"/>
                </a:solidFill>
                <a:latin typeface="Georgia"/>
                <a:ea typeface="Georgia"/>
                <a:cs typeface="Georgia"/>
              </a:defRPr>
            </a:pPr>
            <a:r>
              <a:rPr sz="1800" b="1">
                <a:solidFill>
                  <a:srgbClr val="17211D"/>
                </a:solidFill>
                <a:latin typeface="Georgia"/>
                <a:ea typeface="Georgia"/>
                <a:cs typeface="Georgia"/>
              </a:rPr>
              <a:t>logiche trasparenti</a:t>
            </a:r>
          </a:p>
        </p:txBody>
      </p:sp>
      <p:sp>
        <p:nvSpPr>
          <p:cNvPr id="24" name="">
            <a:extLst xmlns:a="http://schemas.openxmlformats.org/drawingml/2006/main">
              <a:ext uri="{FF2B5EF4-FFF2-40B4-BE49-F238E27FC236}">
                <a16:creationId xmlns:a16="http://schemas.microsoft.com/office/drawing/2014/main" id="{28C3FF1E-B0D5-4A42-975A-5051616B9B60}"/>
              </a:ext>
            </a:extLst>
          </p:cNvPr>
          <p:cNvSpPr>
            <a:spLocks xmlns:a="http://schemas.openxmlformats.org/drawingml/2006/main" noGrp="1"/>
          </p:cNvSpPr>
          <p:nvPr/>
        </p:nvSpPr>
        <p:spPr>
          <a:xfrm xmlns:a="http://schemas.openxmlformats.org/drawingml/2006/main">
            <a:off x="6115050" y="3105150"/>
            <a:ext cx="2333625" cy="685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65736B"/>
                </a:solidFill>
                <a:latin typeface="Aptos"/>
                <a:ea typeface="Aptos"/>
                <a:cs typeface="Aptos"/>
              </a:defRPr>
            </a:pPr>
            <a:r>
              <a:rPr sz="975" b="0">
                <a:solidFill>
                  <a:srgbClr val="65736B"/>
                </a:solidFill>
                <a:latin typeface="Aptos"/>
                <a:ea typeface="Aptos"/>
                <a:cs typeface="Aptos"/>
              </a:rPr>
              <a:t>ghost · outfit · CPW</a:t>
            </a:r>
          </a:p>
          <a:p xmlns:a="http://schemas.openxmlformats.org/drawingml/2006/main">
            <a:pPr algn="l">
              <a:defRPr sz="975" b="0">
                <a:solidFill>
                  <a:srgbClr val="65736B"/>
                </a:solidFill>
                <a:latin typeface="Aptos"/>
                <a:ea typeface="Aptos"/>
                <a:cs typeface="Aptos"/>
              </a:defRPr>
            </a:pPr>
            <a:r>
              <a:rPr sz="975" b="0">
                <a:solidFill>
                  <a:srgbClr val="65736B"/>
                </a:solidFill>
                <a:latin typeface="Aptos"/>
                <a:ea typeface="Aptos"/>
                <a:cs typeface="Aptos"/>
              </a:rPr>
              <a:t>+ CO₂ proxy</a:t>
            </a:r>
          </a:p>
        </p:txBody>
      </p:sp>
      <p:sp>
        <p:nvSpPr>
          <p:cNvPr id="25" name="">
            <a:extLst xmlns:a="http://schemas.openxmlformats.org/drawingml/2006/main">
              <a:ext uri="{FF2B5EF4-FFF2-40B4-BE49-F238E27FC236}">
                <a16:creationId xmlns:a16="http://schemas.microsoft.com/office/drawing/2014/main" id="{7E386F5E-16B7-4062-AFD8-E6F63BDC4FDC}"/>
              </a:ext>
            </a:extLst>
          </p:cNvPr>
          <p:cNvSpPr>
            <a:spLocks xmlns:a="http://schemas.openxmlformats.org/drawingml/2006/main" noGrp="1"/>
          </p:cNvSpPr>
          <p:nvPr/>
        </p:nvSpPr>
        <p:spPr>
          <a:xfrm xmlns:a="http://schemas.openxmlformats.org/drawingml/2006/main">
            <a:off x="6115050" y="4057650"/>
            <a:ext cx="209550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FDCE1FA6-7CCD-4D6D-A325-98DE7D1A44DE}"/>
              </a:ext>
            </a:extLst>
          </p:cNvPr>
          <p:cNvSpPr>
            <a:spLocks xmlns:a="http://schemas.openxmlformats.org/drawingml/2006/main" noGrp="1"/>
          </p:cNvSpPr>
          <p:nvPr/>
        </p:nvSpPr>
        <p:spPr>
          <a:xfrm xmlns:a="http://schemas.openxmlformats.org/drawingml/2006/main">
            <a:off x="6115050" y="4248150"/>
            <a:ext cx="20955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D56E42"/>
                </a:solidFill>
                <a:latin typeface="Aptos"/>
                <a:ea typeface="Aptos"/>
                <a:cs typeface="Aptos"/>
              </a:defRPr>
            </a:pPr>
            <a:r>
              <a:rPr sz="825" b="1">
                <a:solidFill>
                  <a:srgbClr val="D56E42"/>
                </a:solidFill>
                <a:latin typeface="Aptos"/>
                <a:ea typeface="Aptos"/>
                <a:cs typeface="Aptos"/>
              </a:rPr>
              <a:t>nessun fit</a:t>
            </a:r>
          </a:p>
        </p:txBody>
      </p:sp>
      <p:sp>
        <p:nvSpPr>
          <p:cNvPr id="27" name="">
            <a:extLst xmlns:a="http://schemas.openxmlformats.org/drawingml/2006/main">
              <a:ext uri="{FF2B5EF4-FFF2-40B4-BE49-F238E27FC236}">
                <a16:creationId xmlns:a16="http://schemas.microsoft.com/office/drawing/2014/main" id="{6663CA98-90E3-432E-8E54-C66B52F1D5B5}"/>
              </a:ext>
            </a:extLst>
          </p:cNvPr>
          <p:cNvSpPr>
            <a:spLocks xmlns:a="http://schemas.openxmlformats.org/drawingml/2006/main" noGrp="1"/>
          </p:cNvSpPr>
          <p:nvPr/>
        </p:nvSpPr>
        <p:spPr>
          <a:xfrm xmlns:a="http://schemas.openxmlformats.org/drawingml/2006/main">
            <a:off x="6115050" y="4572000"/>
            <a:ext cx="2095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65736B"/>
                </a:solidFill>
                <a:latin typeface="Aptos"/>
                <a:ea typeface="Aptos"/>
                <a:cs typeface="Aptos"/>
              </a:defRPr>
            </a:pPr>
            <a:r>
              <a:rPr sz="788" b="0">
                <a:solidFill>
                  <a:srgbClr val="65736B"/>
                </a:solidFill>
                <a:latin typeface="Aptos"/>
                <a:ea typeface="Aptos"/>
                <a:cs typeface="Aptos"/>
              </a:rPr>
              <a:t>calcoli auditabili</a:t>
            </a:r>
          </a:p>
        </p:txBody>
      </p:sp>
      <p:sp>
        <p:nvSpPr>
          <p:cNvPr id="28" name="">
            <a:extLst xmlns:a="http://schemas.openxmlformats.org/drawingml/2006/main">
              <a:ext uri="{FF2B5EF4-FFF2-40B4-BE49-F238E27FC236}">
                <a16:creationId xmlns:a16="http://schemas.microsoft.com/office/drawing/2014/main" id="{8D9F34BF-8DDC-41DB-B764-CBC382265257}"/>
              </a:ext>
            </a:extLst>
          </p:cNvPr>
          <p:cNvSpPr>
            <a:spLocks xmlns:a="http://schemas.openxmlformats.org/drawingml/2006/main" noGrp="1"/>
          </p:cNvSpPr>
          <p:nvPr/>
        </p:nvSpPr>
        <p:spPr>
          <a:xfrm xmlns:a="http://schemas.openxmlformats.org/drawingml/2006/main">
            <a:off x="8667750" y="1962150"/>
            <a:ext cx="9525" cy="3390900"/>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956F9E07-C963-4987-8069-17DF26D7310F}"/>
              </a:ext>
            </a:extLst>
          </p:cNvPr>
          <p:cNvSpPr>
            <a:spLocks xmlns:a="http://schemas.openxmlformats.org/drawingml/2006/main" noGrp="1"/>
          </p:cNvSpPr>
          <p:nvPr/>
        </p:nvSpPr>
        <p:spPr>
          <a:xfrm xmlns:a="http://schemas.openxmlformats.org/drawingml/2006/main">
            <a:off x="8896350" y="2000250"/>
            <a:ext cx="171450" cy="171450"/>
          </a:xfrm>
          <a:prstGeom xmlns:a="http://schemas.openxmlformats.org/drawingml/2006/main" prst="ellipse">
            <a:avLst/>
          </a:prstGeom>
          <a:solidFill xmlns:a="http://schemas.openxmlformats.org/drawingml/2006/main">
            <a:srgbClr val="123C31"/>
          </a:solidFill>
          <a:ln xmlns:a="http://schemas.openxmlformats.org/drawingml/2006/main" w="0">
            <a:solidFill>
              <a:srgbClr val="000000">
                <a:alpha val="0"/>
              </a:srgbClr>
            </a:solidFill>
            <a:prstDash val="solid"/>
          </a:ln>
        </p:spPr>
      </p:sp>
      <p:sp>
        <p:nvSpPr>
          <p:cNvPr id="30" name="">
            <a:extLst xmlns:a="http://schemas.openxmlformats.org/drawingml/2006/main">
              <a:ext uri="{FF2B5EF4-FFF2-40B4-BE49-F238E27FC236}">
                <a16:creationId xmlns:a16="http://schemas.microsoft.com/office/drawing/2014/main" id="{819D339C-C5DA-4D9F-A159-36816B058B58}"/>
              </a:ext>
            </a:extLst>
          </p:cNvPr>
          <p:cNvSpPr>
            <a:spLocks xmlns:a="http://schemas.openxmlformats.org/drawingml/2006/main" noGrp="1"/>
          </p:cNvSpPr>
          <p:nvPr/>
        </p:nvSpPr>
        <p:spPr>
          <a:xfrm xmlns:a="http://schemas.openxmlformats.org/drawingml/2006/main">
            <a:off x="9182100" y="1962150"/>
            <a:ext cx="2171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123C31"/>
                </a:solidFill>
                <a:latin typeface="Aptos"/>
                <a:ea typeface="Aptos"/>
                <a:cs typeface="Aptos"/>
              </a:defRPr>
            </a:pPr>
            <a:r>
              <a:rPr sz="675" b="1">
                <a:solidFill>
                  <a:srgbClr val="123C31"/>
                </a:solidFill>
                <a:latin typeface="Aptos"/>
                <a:ea typeface="Aptos"/>
                <a:cs typeface="Aptos"/>
              </a:rPr>
              <a:t>GENERATIVO</a:t>
            </a:r>
          </a:p>
        </p:txBody>
      </p:sp>
      <p:sp>
        <p:nvSpPr>
          <p:cNvPr id="31" name="">
            <a:extLst xmlns:a="http://schemas.openxmlformats.org/drawingml/2006/main">
              <a:ext uri="{FF2B5EF4-FFF2-40B4-BE49-F238E27FC236}">
                <a16:creationId xmlns:a16="http://schemas.microsoft.com/office/drawing/2014/main" id="{065DFE92-6261-44B3-A0D4-A7F50C074110}"/>
              </a:ext>
            </a:extLst>
          </p:cNvPr>
          <p:cNvSpPr>
            <a:spLocks xmlns:a="http://schemas.openxmlformats.org/drawingml/2006/main" noGrp="1"/>
          </p:cNvSpPr>
          <p:nvPr/>
        </p:nvSpPr>
        <p:spPr>
          <a:xfrm xmlns:a="http://schemas.openxmlformats.org/drawingml/2006/main">
            <a:off x="8896350" y="2476500"/>
            <a:ext cx="2333625"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00" b="1">
                <a:solidFill>
                  <a:srgbClr val="17211D"/>
                </a:solidFill>
                <a:latin typeface="Georgia"/>
                <a:ea typeface="Georgia"/>
                <a:cs typeface="Georgia"/>
              </a:defRPr>
            </a:pPr>
            <a:r>
              <a:rPr sz="1800" b="1">
                <a:solidFill>
                  <a:srgbClr val="17211D"/>
                </a:solidFill>
                <a:latin typeface="Georgia"/>
                <a:ea typeface="Georgia"/>
                <a:cs typeface="Georgia"/>
              </a:rPr>
              <a:t>LLM + diffusion</a:t>
            </a:r>
          </a:p>
        </p:txBody>
      </p:sp>
      <p:sp>
        <p:nvSpPr>
          <p:cNvPr id="32" name="">
            <a:extLst xmlns:a="http://schemas.openxmlformats.org/drawingml/2006/main">
              <a:ext uri="{FF2B5EF4-FFF2-40B4-BE49-F238E27FC236}">
                <a16:creationId xmlns:a16="http://schemas.microsoft.com/office/drawing/2014/main" id="{C787138D-0AF1-404C-8231-72C1B920CE0A}"/>
              </a:ext>
            </a:extLst>
          </p:cNvPr>
          <p:cNvSpPr>
            <a:spLocks xmlns:a="http://schemas.openxmlformats.org/drawingml/2006/main" noGrp="1"/>
          </p:cNvSpPr>
          <p:nvPr/>
        </p:nvSpPr>
        <p:spPr>
          <a:xfrm xmlns:a="http://schemas.openxmlformats.org/drawingml/2006/main">
            <a:off x="8896350" y="3105150"/>
            <a:ext cx="2333625" cy="685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65736B"/>
                </a:solidFill>
                <a:latin typeface="Aptos"/>
                <a:ea typeface="Aptos"/>
                <a:cs typeface="Aptos"/>
              </a:defRPr>
            </a:pPr>
            <a:r>
              <a:rPr sz="975" b="0">
                <a:solidFill>
                  <a:srgbClr val="65736B"/>
                </a:solidFill>
                <a:latin typeface="Aptos"/>
                <a:ea typeface="Aptos"/>
                <a:cs typeface="Aptos"/>
              </a:rPr>
              <a:t>testi, coach, try-on</a:t>
            </a:r>
          </a:p>
          <a:p xmlns:a="http://schemas.openxmlformats.org/drawingml/2006/main">
            <a:pPr algn="l">
              <a:defRPr sz="975" b="0">
                <a:solidFill>
                  <a:srgbClr val="65736B"/>
                </a:solidFill>
                <a:latin typeface="Aptos"/>
                <a:ea typeface="Aptos"/>
                <a:cs typeface="Aptos"/>
              </a:defRPr>
            </a:pPr>
            <a:r>
              <a:rPr sz="975" b="0">
                <a:solidFill>
                  <a:srgbClr val="65736B"/>
                </a:solidFill>
                <a:latin typeface="Aptos"/>
                <a:ea typeface="Aptos"/>
                <a:cs typeface="Aptos"/>
              </a:rPr>
              <a:t>(opzionali)</a:t>
            </a:r>
          </a:p>
        </p:txBody>
      </p:sp>
      <p:sp>
        <p:nvSpPr>
          <p:cNvPr id="33" name="">
            <a:extLst xmlns:a="http://schemas.openxmlformats.org/drawingml/2006/main">
              <a:ext uri="{FF2B5EF4-FFF2-40B4-BE49-F238E27FC236}">
                <a16:creationId xmlns:a16="http://schemas.microsoft.com/office/drawing/2014/main" id="{86B88437-1358-4832-B01B-CDDFB1140DDB}"/>
              </a:ext>
            </a:extLst>
          </p:cNvPr>
          <p:cNvSpPr>
            <a:spLocks xmlns:a="http://schemas.openxmlformats.org/drawingml/2006/main" noGrp="1"/>
          </p:cNvSpPr>
          <p:nvPr/>
        </p:nvSpPr>
        <p:spPr>
          <a:xfrm xmlns:a="http://schemas.openxmlformats.org/drawingml/2006/main">
            <a:off x="8896350" y="4057650"/>
            <a:ext cx="209550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34" name="">
            <a:extLst xmlns:a="http://schemas.openxmlformats.org/drawingml/2006/main">
              <a:ext uri="{FF2B5EF4-FFF2-40B4-BE49-F238E27FC236}">
                <a16:creationId xmlns:a16="http://schemas.microsoft.com/office/drawing/2014/main" id="{2531CD1D-F3E0-4395-98FD-585A02C8D7C6}"/>
              </a:ext>
            </a:extLst>
          </p:cNvPr>
          <p:cNvSpPr>
            <a:spLocks xmlns:a="http://schemas.openxmlformats.org/drawingml/2006/main" noGrp="1"/>
          </p:cNvSpPr>
          <p:nvPr/>
        </p:nvSpPr>
        <p:spPr>
          <a:xfrm xmlns:a="http://schemas.openxmlformats.org/drawingml/2006/main">
            <a:off x="8896350" y="4248150"/>
            <a:ext cx="20955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123C31"/>
                </a:solidFill>
                <a:latin typeface="Aptos"/>
                <a:ea typeface="Aptos"/>
                <a:cs typeface="Aptos"/>
              </a:defRPr>
            </a:pPr>
            <a:r>
              <a:rPr sz="825" b="1">
                <a:solidFill>
                  <a:srgbClr val="123C31"/>
                </a:solidFill>
                <a:latin typeface="Aptos"/>
                <a:ea typeface="Aptos"/>
                <a:cs typeface="Aptos"/>
              </a:rPr>
              <a:t>modelli esterni</a:t>
            </a:r>
          </a:p>
        </p:txBody>
      </p:sp>
      <p:sp>
        <p:nvSpPr>
          <p:cNvPr id="35" name="">
            <a:extLst xmlns:a="http://schemas.openxmlformats.org/drawingml/2006/main">
              <a:ext uri="{FF2B5EF4-FFF2-40B4-BE49-F238E27FC236}">
                <a16:creationId xmlns:a16="http://schemas.microsoft.com/office/drawing/2014/main" id="{E4736407-B600-463F-88ED-36129E2DFC17}"/>
              </a:ext>
            </a:extLst>
          </p:cNvPr>
          <p:cNvSpPr>
            <a:spLocks xmlns:a="http://schemas.openxmlformats.org/drawingml/2006/main" noGrp="1"/>
          </p:cNvSpPr>
          <p:nvPr/>
        </p:nvSpPr>
        <p:spPr>
          <a:xfrm xmlns:a="http://schemas.openxmlformats.org/drawingml/2006/main">
            <a:off x="8896350" y="4572000"/>
            <a:ext cx="2095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88" b="0">
                <a:solidFill>
                  <a:srgbClr val="65736B"/>
                </a:solidFill>
                <a:latin typeface="Aptos"/>
                <a:ea typeface="Aptos"/>
                <a:cs typeface="Aptos"/>
              </a:defRPr>
            </a:pPr>
            <a:r>
              <a:rPr sz="788" b="0">
                <a:solidFill>
                  <a:srgbClr val="65736B"/>
                </a:solidFill>
                <a:latin typeface="Aptos"/>
                <a:ea typeface="Aptos"/>
                <a:cs typeface="Aptos"/>
              </a:rPr>
              <a:t>fallback se assenti</a:t>
            </a:r>
          </a:p>
        </p:txBody>
      </p:sp>
      <p:sp>
        <p:nvSpPr>
          <p:cNvPr id="36" name="">
            <a:extLst xmlns:a="http://schemas.openxmlformats.org/drawingml/2006/main">
              <a:ext uri="{FF2B5EF4-FFF2-40B4-BE49-F238E27FC236}">
                <a16:creationId xmlns:a16="http://schemas.microsoft.com/office/drawing/2014/main" id="{C245EA43-D51E-4377-9F62-45D0817DDA35}"/>
              </a:ext>
            </a:extLst>
          </p:cNvPr>
          <p:cNvSpPr>
            <a:spLocks xmlns:a="http://schemas.openxmlformats.org/drawingml/2006/main" noGrp="1"/>
          </p:cNvSpPr>
          <p:nvPr/>
        </p:nvSpPr>
        <p:spPr>
          <a:xfrm xmlns:a="http://schemas.openxmlformats.org/drawingml/2006/main">
            <a:off x="552450" y="5562600"/>
            <a:ext cx="10668000" cy="495300"/>
          </a:xfrm>
          <a:prstGeom xmlns:a="http://schemas.openxmlformats.org/drawingml/2006/main" prst="roundRect">
            <a:avLst>
              <a:gd name="adj" fmla="val 15385"/>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404AFB16-0BD2-4343-A40C-3D0A21BB5F71}"/>
              </a:ext>
            </a:extLst>
          </p:cNvPr>
          <p:cNvSpPr>
            <a:spLocks xmlns:a="http://schemas.openxmlformats.org/drawingml/2006/main" noGrp="1"/>
          </p:cNvSpPr>
          <p:nvPr/>
        </p:nvSpPr>
        <p:spPr>
          <a:xfrm xmlns:a="http://schemas.openxmlformats.org/drawingml/2006/main">
            <a:off x="819150" y="5676900"/>
            <a:ext cx="101346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050" b="1">
                <a:solidFill>
                  <a:srgbClr val="17211D"/>
                </a:solidFill>
                <a:latin typeface="Georgia"/>
                <a:ea typeface="Georgia"/>
                <a:cs typeface="Georgia"/>
              </a:defRPr>
            </a:pPr>
            <a:r>
              <a:rPr sz="1050" b="1">
                <a:solidFill>
                  <a:srgbClr val="17211D"/>
                </a:solidFill>
                <a:latin typeface="Georgia"/>
                <a:ea typeface="Georgia"/>
                <a:cs typeface="Georgia"/>
              </a:rPr>
              <a:t>Principio: il modello serve solo quando riduce un’incertezza che una formula esplicita non può risolvere meglio.</a:t>
            </a:r>
          </a:p>
        </p:txBody>
      </p:sp>
      <p:sp>
        <p:nvSpPr>
          <p:cNvPr id="38" name="">
            <a:extLst xmlns:a="http://schemas.openxmlformats.org/drawingml/2006/main">
              <a:ext uri="{FF2B5EF4-FFF2-40B4-BE49-F238E27FC236}">
                <a16:creationId xmlns:a16="http://schemas.microsoft.com/office/drawing/2014/main" id="{560D14AB-D15C-4683-AB1D-2B6610CF4C59}"/>
              </a:ext>
            </a:extLst>
          </p:cNvPr>
          <p:cNvSpPr>
            <a:spLocks xmlns:a="http://schemas.openxmlformats.org/drawingml/2006/main" noGrp="1"/>
          </p:cNvSpPr>
          <p:nvPr/>
        </p:nvSpPr>
        <p:spPr>
          <a:xfrm xmlns:a="http://schemas.openxmlformats.org/drawingml/2006/main">
            <a:off x="552450" y="6457950"/>
            <a:ext cx="1108710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39" name="">
            <a:extLst xmlns:a="http://schemas.openxmlformats.org/drawingml/2006/main">
              <a:ext uri="{FF2B5EF4-FFF2-40B4-BE49-F238E27FC236}">
                <a16:creationId xmlns:a16="http://schemas.microsoft.com/office/drawing/2014/main" id="{977D3F77-524F-446F-835E-64857753B629}"/>
              </a:ext>
            </a:extLst>
          </p:cNvPr>
          <p:cNvSpPr>
            <a:spLocks xmlns:a="http://schemas.openxmlformats.org/drawingml/2006/main" noGrp="1"/>
          </p:cNvSpPr>
          <p:nvPr/>
        </p:nvSpPr>
        <p:spPr>
          <a:xfrm xmlns:a="http://schemas.openxmlformats.org/drawingml/2006/main">
            <a:off x="552450" y="6534150"/>
            <a:ext cx="1000125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63" b="0">
                <a:solidFill>
                  <a:srgbClr val="65736B"/>
                </a:solidFill>
                <a:latin typeface="Aptos"/>
                <a:ea typeface="Aptos"/>
                <a:cs typeface="Aptos"/>
              </a:defRPr>
            </a:pPr>
            <a:r>
              <a:rPr sz="563" b="0">
                <a:solidFill>
                  <a:srgbClr val="65736B"/>
                </a:solidFill>
                <a:latin typeface="Aptos"/>
                <a:ea typeface="Aptos"/>
                <a:cs typeface="Aptos"/>
              </a:rPr>
              <a:t>Confine tecnico verificato nel repository · luglio 2026</a:t>
            </a:r>
          </a:p>
        </p:txBody>
      </p:sp>
      <p:sp>
        <p:nvSpPr>
          <p:cNvPr id="40" name="">
            <a:extLst xmlns:a="http://schemas.openxmlformats.org/drawingml/2006/main">
              <a:ext uri="{FF2B5EF4-FFF2-40B4-BE49-F238E27FC236}">
                <a16:creationId xmlns:a16="http://schemas.microsoft.com/office/drawing/2014/main" id="{94477288-3279-4C25-9F15-D1E056459DF5}"/>
              </a:ext>
            </a:extLst>
          </p:cNvPr>
          <p:cNvSpPr>
            <a:spLocks xmlns:a="http://schemas.openxmlformats.org/drawingml/2006/main" noGrp="1"/>
          </p:cNvSpPr>
          <p:nvPr/>
        </p:nvSpPr>
        <p:spPr>
          <a:xfrm xmlns:a="http://schemas.openxmlformats.org/drawingml/2006/main">
            <a:off x="11087100" y="650557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65736B"/>
                </a:solidFill>
                <a:latin typeface="Georgia"/>
                <a:ea typeface="Georgia"/>
                <a:cs typeface="Georgia"/>
              </a:defRPr>
            </a:pPr>
            <a:r>
              <a:rPr sz="750" b="1">
                <a:solidFill>
                  <a:srgbClr val="65736B"/>
                </a:solidFill>
                <a:latin typeface="Georgia"/>
                <a:ea typeface="Georgia"/>
                <a:cs typeface="Georgia"/>
              </a:rPr>
              <a:t>10</a:t>
            </a:r>
          </a:p>
        </p:txBody>
      </p:sp>
    </p:spTree>
    <p:extLst>
      <p:ext uri="{BB962C8B-B14F-4D97-AF65-F5344CB8AC3E}">
        <p14:creationId xmlns:p14="http://schemas.microsoft.com/office/powerpoint/2010/main" val="433830477"/>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092E72AB-3853-4FFF-B662-A80FAE0BA71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0E7"/>
          </a:solidFill>
          <a:ln xmlns:a="http://schemas.openxmlformats.org/drawingml/2006/main" w="0">
            <a:solidFill>
              <a:srgbClr val="000000">
                <a:alpha val="0"/>
              </a:srgbClr>
            </a:solidFill>
            <a:prstDash val="solid"/>
          </a:ln>
        </p:spPr>
      </p:sp>
      <p:sp>
        <p:nvSpPr>
          <p:cNvPr id="2" name="kicker-marker">
            <a:extLst xmlns:a="http://schemas.openxmlformats.org/drawingml/2006/main">
              <a:ext uri="{FF2B5EF4-FFF2-40B4-BE49-F238E27FC236}">
                <a16:creationId xmlns:a16="http://schemas.microsoft.com/office/drawing/2014/main" id="{AC91F1FA-7BA2-48AB-8C77-ADDF47E64E4A}"/>
              </a:ext>
            </a:extLst>
          </p:cNvPr>
          <p:cNvSpPr>
            <a:spLocks xmlns:a="http://schemas.openxmlformats.org/drawingml/2006/main" noGrp="1"/>
          </p:cNvSpPr>
          <p:nvPr/>
        </p:nvSpPr>
        <p:spPr>
          <a:xfrm xmlns:a="http://schemas.openxmlformats.org/drawingml/2006/main">
            <a:off x="552450" y="438150"/>
            <a:ext cx="95250" cy="9525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3" name="kicker-label">
            <a:extLst xmlns:a="http://schemas.openxmlformats.org/drawingml/2006/main">
              <a:ext uri="{FF2B5EF4-FFF2-40B4-BE49-F238E27FC236}">
                <a16:creationId xmlns:a16="http://schemas.microsoft.com/office/drawing/2014/main" id="{C1FECF3D-68BF-4C03-B8B0-2340ED05B8E0}"/>
              </a:ext>
            </a:extLst>
          </p:cNvPr>
          <p:cNvSpPr>
            <a:spLocks xmlns:a="http://schemas.openxmlformats.org/drawingml/2006/main" noGrp="1"/>
          </p:cNvSpPr>
          <p:nvPr/>
        </p:nvSpPr>
        <p:spPr>
          <a:xfrm xmlns:a="http://schemas.openxmlformats.org/drawingml/2006/main">
            <a:off x="762000" y="400050"/>
            <a:ext cx="4762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65736B"/>
                </a:solidFill>
                <a:latin typeface="Aptos"/>
                <a:ea typeface="Aptos"/>
                <a:cs typeface="Aptos"/>
              </a:defRPr>
            </a:pPr>
            <a:r>
              <a:rPr sz="675" b="1">
                <a:solidFill>
                  <a:srgbClr val="65736B"/>
                </a:solidFill>
                <a:latin typeface="Aptos"/>
                <a:ea typeface="Aptos"/>
                <a:cs typeface="Aptos"/>
              </a:rPr>
              <a:t>A R C H I T E T T U R A   ·   A P I   F I R S T</a:t>
            </a:r>
          </a:p>
        </p:txBody>
      </p:sp>
      <p:sp>
        <p:nvSpPr>
          <p:cNvPr id="4" name="claim-title">
            <a:extLst xmlns:a="http://schemas.openxmlformats.org/drawingml/2006/main">
              <a:ext uri="{FF2B5EF4-FFF2-40B4-BE49-F238E27FC236}">
                <a16:creationId xmlns:a16="http://schemas.microsoft.com/office/drawing/2014/main" id="{36029353-7186-4059-819A-CC9EE79C772D}"/>
              </a:ext>
            </a:extLst>
          </p:cNvPr>
          <p:cNvSpPr>
            <a:spLocks xmlns:a="http://schemas.openxmlformats.org/drawingml/2006/main" noGrp="1"/>
          </p:cNvSpPr>
          <p:nvPr/>
        </p:nvSpPr>
        <p:spPr>
          <a:xfrm xmlns:a="http://schemas.openxmlformats.org/drawingml/2006/main">
            <a:off x="552450" y="742950"/>
            <a:ext cx="1066800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700" b="1">
                <a:solidFill>
                  <a:srgbClr val="17211D"/>
                </a:solidFill>
                <a:latin typeface="Georgia"/>
                <a:ea typeface="Georgia"/>
                <a:cs typeface="Georgia"/>
              </a:defRPr>
            </a:pPr>
            <a:r>
              <a:rPr sz="2700" b="1">
                <a:solidFill>
                  <a:srgbClr val="17211D"/>
                </a:solidFill>
                <a:latin typeface="Georgia"/>
                <a:ea typeface="Georgia"/>
                <a:cs typeface="Georgia"/>
              </a:rPr>
              <a:t>Separare client, logica e inferenza rende il prototipo spiegabile—e già estendibile.</a:t>
            </a:r>
          </a:p>
        </p:txBody>
      </p:sp>
      <p:sp>
        <p:nvSpPr>
          <p:cNvPr id="5" name="">
            <a:extLst xmlns:a="http://schemas.openxmlformats.org/drawingml/2006/main">
              <a:ext uri="{FF2B5EF4-FFF2-40B4-BE49-F238E27FC236}">
                <a16:creationId xmlns:a16="http://schemas.microsoft.com/office/drawing/2014/main" id="{5E728E9A-60DF-4E18-89A5-E7323771BB13}"/>
              </a:ext>
            </a:extLst>
          </p:cNvPr>
          <p:cNvSpPr>
            <a:spLocks xmlns:a="http://schemas.openxmlformats.org/drawingml/2006/main" noGrp="1"/>
          </p:cNvSpPr>
          <p:nvPr/>
        </p:nvSpPr>
        <p:spPr>
          <a:xfrm xmlns:a="http://schemas.openxmlformats.org/drawingml/2006/main">
            <a:off x="552450" y="1981200"/>
            <a:ext cx="2190750" cy="2895600"/>
          </a:xfrm>
          <a:prstGeom xmlns:a="http://schemas.openxmlformats.org/drawingml/2006/main" prst="roundRect">
            <a:avLst>
              <a:gd name="adj" fmla="val 3478"/>
            </a:avLst>
          </a:prstGeom>
          <a:solidFill xmlns:a="http://schemas.openxmlformats.org/drawingml/2006/main">
            <a:srgbClr val="FFFFFF"/>
          </a:solidFill>
          <a:ln xmlns:a="http://schemas.openxmlformats.org/drawingml/2006/main" w="9525">
            <a:solidFill>
              <a:srgbClr val="B9C3BB"/>
            </a:solidFill>
            <a:prstDash val="solid"/>
          </a:ln>
        </p:spPr>
      </p:sp>
      <p:sp>
        <p:nvSpPr>
          <p:cNvPr id="6" name="">
            <a:extLst xmlns:a="http://schemas.openxmlformats.org/drawingml/2006/main">
              <a:ext uri="{FF2B5EF4-FFF2-40B4-BE49-F238E27FC236}">
                <a16:creationId xmlns:a16="http://schemas.microsoft.com/office/drawing/2014/main" id="{7E4AED70-5756-49ED-92B3-9902FF2B887F}"/>
              </a:ext>
            </a:extLst>
          </p:cNvPr>
          <p:cNvSpPr>
            <a:spLocks xmlns:a="http://schemas.openxmlformats.org/drawingml/2006/main" noGrp="1"/>
          </p:cNvSpPr>
          <p:nvPr/>
        </p:nvSpPr>
        <p:spPr>
          <a:xfrm xmlns:a="http://schemas.openxmlformats.org/drawingml/2006/main">
            <a:off x="723900" y="2171700"/>
            <a:ext cx="18478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675" b="1">
                <a:solidFill>
                  <a:srgbClr val="2F7D5B"/>
                </a:solidFill>
                <a:latin typeface="Aptos"/>
                <a:ea typeface="Aptos"/>
                <a:cs typeface="Aptos"/>
              </a:defRPr>
            </a:pPr>
            <a:r>
              <a:rPr sz="675" b="1">
                <a:solidFill>
                  <a:srgbClr val="2F7D5B"/>
                </a:solidFill>
                <a:latin typeface="Aptos"/>
                <a:ea typeface="Aptos"/>
                <a:cs typeface="Aptos"/>
              </a:rPr>
              <a:t>CLIENT</a:t>
            </a:r>
          </a:p>
        </p:txBody>
      </p:sp>
      <p:sp>
        <p:nvSpPr>
          <p:cNvPr id="7" name="">
            <a:extLst xmlns:a="http://schemas.openxmlformats.org/drawingml/2006/main">
              <a:ext uri="{FF2B5EF4-FFF2-40B4-BE49-F238E27FC236}">
                <a16:creationId xmlns:a16="http://schemas.microsoft.com/office/drawing/2014/main" id="{64F90CDB-5398-4372-A5D7-6E5C9CD79078}"/>
              </a:ext>
            </a:extLst>
          </p:cNvPr>
          <p:cNvSpPr>
            <a:spLocks xmlns:a="http://schemas.openxmlformats.org/drawingml/2006/main" noGrp="1"/>
          </p:cNvSpPr>
          <p:nvPr/>
        </p:nvSpPr>
        <p:spPr>
          <a:xfrm xmlns:a="http://schemas.openxmlformats.org/drawingml/2006/main">
            <a:off x="723900" y="2686050"/>
            <a:ext cx="1847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17211D"/>
                </a:solidFill>
                <a:latin typeface="Georgia"/>
                <a:ea typeface="Georgia"/>
                <a:cs typeface="Georgia"/>
              </a:defRPr>
            </a:pPr>
            <a:r>
              <a:rPr sz="1125" b="1">
                <a:solidFill>
                  <a:srgbClr val="17211D"/>
                </a:solidFill>
                <a:latin typeface="Georgia"/>
                <a:ea typeface="Georgia"/>
                <a:cs typeface="Georgia"/>
              </a:rPr>
              <a:t>React + TypeScript</a:t>
            </a:r>
          </a:p>
        </p:txBody>
      </p:sp>
      <p:sp>
        <p:nvSpPr>
          <p:cNvPr id="8" name="">
            <a:extLst xmlns:a="http://schemas.openxmlformats.org/drawingml/2006/main">
              <a:ext uri="{FF2B5EF4-FFF2-40B4-BE49-F238E27FC236}">
                <a16:creationId xmlns:a16="http://schemas.microsoft.com/office/drawing/2014/main" id="{DED7F6AC-607F-4489-9373-C7D5ED208EB1}"/>
              </a:ext>
            </a:extLst>
          </p:cNvPr>
          <p:cNvSpPr>
            <a:spLocks xmlns:a="http://schemas.openxmlformats.org/drawingml/2006/main" noGrp="1"/>
          </p:cNvSpPr>
          <p:nvPr/>
        </p:nvSpPr>
        <p:spPr>
          <a:xfrm xmlns:a="http://schemas.openxmlformats.org/drawingml/2006/main">
            <a:off x="952500" y="3162300"/>
            <a:ext cx="1390650" cy="9525"/>
          </a:xfrm>
          <a:prstGeom xmlns:a="http://schemas.openxmlformats.org/drawingml/2006/main" prst="rect">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A07942A0-2E93-4CF1-B878-7D385E6BCA44}"/>
              </a:ext>
            </a:extLst>
          </p:cNvPr>
          <p:cNvSpPr>
            <a:spLocks xmlns:a="http://schemas.openxmlformats.org/drawingml/2006/main" noGrp="1"/>
          </p:cNvSpPr>
          <p:nvPr/>
        </p:nvSpPr>
        <p:spPr>
          <a:xfrm xmlns:a="http://schemas.openxmlformats.org/drawingml/2006/main">
            <a:off x="723900" y="3238500"/>
            <a:ext cx="1847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0">
                <a:solidFill>
                  <a:srgbClr val="17211D"/>
                </a:solidFill>
                <a:latin typeface="Aptos"/>
                <a:ea typeface="Aptos"/>
                <a:cs typeface="Aptos"/>
              </a:defRPr>
            </a:pPr>
            <a:r>
              <a:rPr sz="1125" b="0">
                <a:solidFill>
                  <a:srgbClr val="17211D"/>
                </a:solidFill>
                <a:latin typeface="Aptos"/>
                <a:ea typeface="Aptos"/>
                <a:cs typeface="Aptos"/>
              </a:rPr>
              <a:t>responsive web</a:t>
            </a:r>
          </a:p>
        </p:txBody>
      </p:sp>
      <p:sp>
        <p:nvSpPr>
          <p:cNvPr id="10" name="">
            <a:extLst xmlns:a="http://schemas.openxmlformats.org/drawingml/2006/main">
              <a:ext uri="{FF2B5EF4-FFF2-40B4-BE49-F238E27FC236}">
                <a16:creationId xmlns:a16="http://schemas.microsoft.com/office/drawing/2014/main" id="{35C5E4F2-1E84-476E-AC60-309D614E4A27}"/>
              </a:ext>
            </a:extLst>
          </p:cNvPr>
          <p:cNvSpPr>
            <a:spLocks xmlns:a="http://schemas.openxmlformats.org/drawingml/2006/main" noGrp="1"/>
          </p:cNvSpPr>
          <p:nvPr/>
        </p:nvSpPr>
        <p:spPr>
          <a:xfrm xmlns:a="http://schemas.openxmlformats.org/drawingml/2006/main">
            <a:off x="952500" y="3714750"/>
            <a:ext cx="1390650" cy="9525"/>
          </a:xfrm>
          <a:prstGeom xmlns:a="http://schemas.openxmlformats.org/drawingml/2006/main" prst="rect">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11" name="">
            <a:extLst xmlns:a="http://schemas.openxmlformats.org/drawingml/2006/main">
              <a:ext uri="{FF2B5EF4-FFF2-40B4-BE49-F238E27FC236}">
                <a16:creationId xmlns:a16="http://schemas.microsoft.com/office/drawing/2014/main" id="{F4090780-C290-4E32-9D6A-B7AF7E7DD5E6}"/>
              </a:ext>
            </a:extLst>
          </p:cNvPr>
          <p:cNvSpPr>
            <a:spLocks xmlns:a="http://schemas.openxmlformats.org/drawingml/2006/main" noGrp="1"/>
          </p:cNvSpPr>
          <p:nvPr/>
        </p:nvSpPr>
        <p:spPr>
          <a:xfrm xmlns:a="http://schemas.openxmlformats.org/drawingml/2006/main">
            <a:off x="723900" y="3790950"/>
            <a:ext cx="1847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0">
                <a:solidFill>
                  <a:srgbClr val="17211D"/>
                </a:solidFill>
                <a:latin typeface="Aptos"/>
                <a:ea typeface="Aptos"/>
                <a:cs typeface="Aptos"/>
              </a:defRPr>
            </a:pPr>
            <a:r>
              <a:rPr sz="1125" b="0">
                <a:solidFill>
                  <a:srgbClr val="17211D"/>
                </a:solidFill>
                <a:latin typeface="Aptos"/>
                <a:ea typeface="Aptos"/>
                <a:cs typeface="Aptos"/>
              </a:rPr>
              <a:t>camera upload</a:t>
            </a:r>
          </a:p>
        </p:txBody>
      </p:sp>
      <p:sp>
        <p:nvSpPr>
          <p:cNvPr id="12" name="">
            <a:extLst xmlns:a="http://schemas.openxmlformats.org/drawingml/2006/main">
              <a:ext uri="{FF2B5EF4-FFF2-40B4-BE49-F238E27FC236}">
                <a16:creationId xmlns:a16="http://schemas.microsoft.com/office/drawing/2014/main" id="{FD42F454-4DB4-418A-9F0A-7CE1016744FF}"/>
              </a:ext>
            </a:extLst>
          </p:cNvPr>
          <p:cNvSpPr>
            <a:spLocks xmlns:a="http://schemas.openxmlformats.org/drawingml/2006/main" noGrp="1"/>
          </p:cNvSpPr>
          <p:nvPr/>
        </p:nvSpPr>
        <p:spPr>
          <a:xfrm xmlns:a="http://schemas.openxmlformats.org/drawingml/2006/main">
            <a:off x="2743200" y="3429000"/>
            <a:ext cx="400050" cy="28575"/>
          </a:xfrm>
          <a:prstGeom xmlns:a="http://schemas.openxmlformats.org/drawingml/2006/main" prst="rect">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D4D3539A-3CD0-4BAF-A137-6251BFC2FCA2}"/>
              </a:ext>
            </a:extLst>
          </p:cNvPr>
          <p:cNvSpPr>
            <a:spLocks xmlns:a="http://schemas.openxmlformats.org/drawingml/2006/main" noGrp="1"/>
          </p:cNvSpPr>
          <p:nvPr/>
        </p:nvSpPr>
        <p:spPr>
          <a:xfrm xmlns:a="http://schemas.openxmlformats.org/drawingml/2006/main">
            <a:off x="2952750" y="3362325"/>
            <a:ext cx="152400" cy="15240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367D7550-8353-4A23-8FA6-49CED2B1CC36}"/>
              </a:ext>
            </a:extLst>
          </p:cNvPr>
          <p:cNvSpPr>
            <a:spLocks xmlns:a="http://schemas.openxmlformats.org/drawingml/2006/main" noGrp="1"/>
          </p:cNvSpPr>
          <p:nvPr/>
        </p:nvSpPr>
        <p:spPr>
          <a:xfrm xmlns:a="http://schemas.openxmlformats.org/drawingml/2006/main">
            <a:off x="3143250" y="1981200"/>
            <a:ext cx="2190750" cy="2895600"/>
          </a:xfrm>
          <a:prstGeom xmlns:a="http://schemas.openxmlformats.org/drawingml/2006/main" prst="roundRect">
            <a:avLst>
              <a:gd name="adj" fmla="val 3478"/>
            </a:avLst>
          </a:prstGeom>
          <a:solidFill xmlns:a="http://schemas.openxmlformats.org/drawingml/2006/main">
            <a:srgbClr val="123C31"/>
          </a:solidFill>
          <a:ln xmlns:a="http://schemas.openxmlformats.org/drawingml/2006/main" w="9525">
            <a:solidFill>
              <a:srgbClr val="123C31"/>
            </a:solidFill>
            <a:prstDash val="solid"/>
          </a:ln>
        </p:spPr>
      </p:sp>
      <p:sp>
        <p:nvSpPr>
          <p:cNvPr id="15" name="">
            <a:extLst xmlns:a="http://schemas.openxmlformats.org/drawingml/2006/main">
              <a:ext uri="{FF2B5EF4-FFF2-40B4-BE49-F238E27FC236}">
                <a16:creationId xmlns:a16="http://schemas.microsoft.com/office/drawing/2014/main" id="{E753AA33-5674-4819-BD72-32C663DAE270}"/>
              </a:ext>
            </a:extLst>
          </p:cNvPr>
          <p:cNvSpPr>
            <a:spLocks xmlns:a="http://schemas.openxmlformats.org/drawingml/2006/main" noGrp="1"/>
          </p:cNvSpPr>
          <p:nvPr/>
        </p:nvSpPr>
        <p:spPr>
          <a:xfrm xmlns:a="http://schemas.openxmlformats.org/drawingml/2006/main">
            <a:off x="3314700" y="2171700"/>
            <a:ext cx="18478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675" b="1">
                <a:solidFill>
                  <a:srgbClr val="B9D94A"/>
                </a:solidFill>
                <a:latin typeface="Aptos"/>
                <a:ea typeface="Aptos"/>
                <a:cs typeface="Aptos"/>
              </a:defRPr>
            </a:pPr>
            <a:r>
              <a:rPr sz="675" b="1">
                <a:solidFill>
                  <a:srgbClr val="B9D94A"/>
                </a:solidFill>
                <a:latin typeface="Aptos"/>
                <a:ea typeface="Aptos"/>
                <a:cs typeface="Aptos"/>
              </a:rPr>
              <a:t>API</a:t>
            </a:r>
          </a:p>
        </p:txBody>
      </p:sp>
      <p:sp>
        <p:nvSpPr>
          <p:cNvPr id="16" name="">
            <a:extLst xmlns:a="http://schemas.openxmlformats.org/drawingml/2006/main">
              <a:ext uri="{FF2B5EF4-FFF2-40B4-BE49-F238E27FC236}">
                <a16:creationId xmlns:a16="http://schemas.microsoft.com/office/drawing/2014/main" id="{E8AD1D71-A5F6-452E-BE8F-4A766086C8B9}"/>
              </a:ext>
            </a:extLst>
          </p:cNvPr>
          <p:cNvSpPr>
            <a:spLocks xmlns:a="http://schemas.openxmlformats.org/drawingml/2006/main" noGrp="1"/>
          </p:cNvSpPr>
          <p:nvPr/>
        </p:nvSpPr>
        <p:spPr>
          <a:xfrm xmlns:a="http://schemas.openxmlformats.org/drawingml/2006/main">
            <a:off x="3314700" y="2686050"/>
            <a:ext cx="1847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FFFFF"/>
                </a:solidFill>
                <a:latin typeface="Georgia"/>
                <a:ea typeface="Georgia"/>
                <a:cs typeface="Georgia"/>
              </a:defRPr>
            </a:pPr>
            <a:r>
              <a:rPr sz="1125" b="1">
                <a:solidFill>
                  <a:srgbClr val="FFFFFF"/>
                </a:solidFill>
                <a:latin typeface="Georgia"/>
                <a:ea typeface="Georgia"/>
                <a:cs typeface="Georgia"/>
              </a:rPr>
              <a:t>FastAPI /api/v1</a:t>
            </a:r>
          </a:p>
        </p:txBody>
      </p:sp>
      <p:sp>
        <p:nvSpPr>
          <p:cNvPr id="17" name="">
            <a:extLst xmlns:a="http://schemas.openxmlformats.org/drawingml/2006/main">
              <a:ext uri="{FF2B5EF4-FFF2-40B4-BE49-F238E27FC236}">
                <a16:creationId xmlns:a16="http://schemas.microsoft.com/office/drawing/2014/main" id="{D00ED659-E954-40CA-9D43-D5A5DE97E251}"/>
              </a:ext>
            </a:extLst>
          </p:cNvPr>
          <p:cNvSpPr>
            <a:spLocks xmlns:a="http://schemas.openxmlformats.org/drawingml/2006/main" noGrp="1"/>
          </p:cNvSpPr>
          <p:nvPr/>
        </p:nvSpPr>
        <p:spPr>
          <a:xfrm xmlns:a="http://schemas.openxmlformats.org/drawingml/2006/main">
            <a:off x="3543300" y="3162300"/>
            <a:ext cx="1390650" cy="9525"/>
          </a:xfrm>
          <a:prstGeom xmlns:a="http://schemas.openxmlformats.org/drawingml/2006/main" prst="rect">
            <a:avLst/>
          </a:prstGeom>
          <a:solidFill xmlns:a="http://schemas.openxmlformats.org/drawingml/2006/main">
            <a:srgbClr val="547B6D"/>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FB958106-311D-4627-B3BC-A410565BF790}"/>
              </a:ext>
            </a:extLst>
          </p:cNvPr>
          <p:cNvSpPr>
            <a:spLocks xmlns:a="http://schemas.openxmlformats.org/drawingml/2006/main" noGrp="1"/>
          </p:cNvSpPr>
          <p:nvPr/>
        </p:nvSpPr>
        <p:spPr>
          <a:xfrm xmlns:a="http://schemas.openxmlformats.org/drawingml/2006/main">
            <a:off x="3314700" y="3238500"/>
            <a:ext cx="1847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0">
                <a:solidFill>
                  <a:srgbClr val="FFFFFF"/>
                </a:solidFill>
                <a:latin typeface="Aptos"/>
                <a:ea typeface="Aptos"/>
                <a:cs typeface="Aptos"/>
              </a:defRPr>
            </a:pPr>
            <a:r>
              <a:rPr sz="1125" b="0">
                <a:solidFill>
                  <a:srgbClr val="FFFFFF"/>
                </a:solidFill>
                <a:latin typeface="Aptos"/>
                <a:ea typeface="Aptos"/>
                <a:cs typeface="Aptos"/>
              </a:rPr>
              <a:t>Pydantic schemas</a:t>
            </a:r>
          </a:p>
        </p:txBody>
      </p:sp>
      <p:sp>
        <p:nvSpPr>
          <p:cNvPr id="19" name="">
            <a:extLst xmlns:a="http://schemas.openxmlformats.org/drawingml/2006/main">
              <a:ext uri="{FF2B5EF4-FFF2-40B4-BE49-F238E27FC236}">
                <a16:creationId xmlns:a16="http://schemas.microsoft.com/office/drawing/2014/main" id="{8B4850D6-6B33-4954-B035-ADBDE42B29DD}"/>
              </a:ext>
            </a:extLst>
          </p:cNvPr>
          <p:cNvSpPr>
            <a:spLocks xmlns:a="http://schemas.openxmlformats.org/drawingml/2006/main" noGrp="1"/>
          </p:cNvSpPr>
          <p:nvPr/>
        </p:nvSpPr>
        <p:spPr>
          <a:xfrm xmlns:a="http://schemas.openxmlformats.org/drawingml/2006/main">
            <a:off x="3543300" y="3714750"/>
            <a:ext cx="1390650" cy="9525"/>
          </a:xfrm>
          <a:prstGeom xmlns:a="http://schemas.openxmlformats.org/drawingml/2006/main" prst="rect">
            <a:avLst/>
          </a:prstGeom>
          <a:solidFill xmlns:a="http://schemas.openxmlformats.org/drawingml/2006/main">
            <a:srgbClr val="547B6D"/>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8A38A295-45D1-49BC-883A-64088FFE6DF4}"/>
              </a:ext>
            </a:extLst>
          </p:cNvPr>
          <p:cNvSpPr>
            <a:spLocks xmlns:a="http://schemas.openxmlformats.org/drawingml/2006/main" noGrp="1"/>
          </p:cNvSpPr>
          <p:nvPr/>
        </p:nvSpPr>
        <p:spPr>
          <a:xfrm xmlns:a="http://schemas.openxmlformats.org/drawingml/2006/main">
            <a:off x="3314700" y="3790950"/>
            <a:ext cx="1847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0">
                <a:solidFill>
                  <a:srgbClr val="FFFFFF"/>
                </a:solidFill>
                <a:latin typeface="Aptos"/>
                <a:ea typeface="Aptos"/>
                <a:cs typeface="Aptos"/>
              </a:defRPr>
            </a:pPr>
            <a:r>
              <a:rPr sz="1125" b="0">
                <a:solidFill>
                  <a:srgbClr val="FFFFFF"/>
                </a:solidFill>
                <a:latin typeface="Aptos"/>
                <a:ea typeface="Aptos"/>
                <a:cs typeface="Aptos"/>
              </a:rPr>
              <a:t>error contracts</a:t>
            </a:r>
          </a:p>
        </p:txBody>
      </p:sp>
      <p:sp>
        <p:nvSpPr>
          <p:cNvPr id="21" name="">
            <a:extLst xmlns:a="http://schemas.openxmlformats.org/drawingml/2006/main">
              <a:ext uri="{FF2B5EF4-FFF2-40B4-BE49-F238E27FC236}">
                <a16:creationId xmlns:a16="http://schemas.microsoft.com/office/drawing/2014/main" id="{DF6EE38E-23EB-4876-8127-9540BB3CB304}"/>
              </a:ext>
            </a:extLst>
          </p:cNvPr>
          <p:cNvSpPr>
            <a:spLocks xmlns:a="http://schemas.openxmlformats.org/drawingml/2006/main" noGrp="1"/>
          </p:cNvSpPr>
          <p:nvPr/>
        </p:nvSpPr>
        <p:spPr>
          <a:xfrm xmlns:a="http://schemas.openxmlformats.org/drawingml/2006/main">
            <a:off x="5334000" y="3429000"/>
            <a:ext cx="400050" cy="28575"/>
          </a:xfrm>
          <a:prstGeom xmlns:a="http://schemas.openxmlformats.org/drawingml/2006/main" prst="rect">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2A4A69CE-239B-4325-9989-7C0DD09311E3}"/>
              </a:ext>
            </a:extLst>
          </p:cNvPr>
          <p:cNvSpPr>
            <a:spLocks xmlns:a="http://schemas.openxmlformats.org/drawingml/2006/main" noGrp="1"/>
          </p:cNvSpPr>
          <p:nvPr/>
        </p:nvSpPr>
        <p:spPr>
          <a:xfrm xmlns:a="http://schemas.openxmlformats.org/drawingml/2006/main">
            <a:off x="5543550" y="3362325"/>
            <a:ext cx="152400" cy="15240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B205C037-1EC9-4D3F-A641-21D3593FFFF4}"/>
              </a:ext>
            </a:extLst>
          </p:cNvPr>
          <p:cNvSpPr>
            <a:spLocks xmlns:a="http://schemas.openxmlformats.org/drawingml/2006/main" noGrp="1"/>
          </p:cNvSpPr>
          <p:nvPr/>
        </p:nvSpPr>
        <p:spPr>
          <a:xfrm xmlns:a="http://schemas.openxmlformats.org/drawingml/2006/main">
            <a:off x="5734050" y="1981200"/>
            <a:ext cx="2190750" cy="2895600"/>
          </a:xfrm>
          <a:prstGeom xmlns:a="http://schemas.openxmlformats.org/drawingml/2006/main" prst="roundRect">
            <a:avLst>
              <a:gd name="adj" fmla="val 3478"/>
            </a:avLst>
          </a:prstGeom>
          <a:solidFill xmlns:a="http://schemas.openxmlformats.org/drawingml/2006/main">
            <a:srgbClr val="FFFFFF"/>
          </a:solidFill>
          <a:ln xmlns:a="http://schemas.openxmlformats.org/drawingml/2006/main" w="9525">
            <a:solidFill>
              <a:srgbClr val="B9C3BB"/>
            </a:solidFill>
            <a:prstDash val="solid"/>
          </a:ln>
        </p:spPr>
      </p:sp>
      <p:sp>
        <p:nvSpPr>
          <p:cNvPr id="24" name="">
            <a:extLst xmlns:a="http://schemas.openxmlformats.org/drawingml/2006/main">
              <a:ext uri="{FF2B5EF4-FFF2-40B4-BE49-F238E27FC236}">
                <a16:creationId xmlns:a16="http://schemas.microsoft.com/office/drawing/2014/main" id="{82B9683E-C88F-41D6-8F91-87E02FA52611}"/>
              </a:ext>
            </a:extLst>
          </p:cNvPr>
          <p:cNvSpPr>
            <a:spLocks xmlns:a="http://schemas.openxmlformats.org/drawingml/2006/main" noGrp="1"/>
          </p:cNvSpPr>
          <p:nvPr/>
        </p:nvSpPr>
        <p:spPr>
          <a:xfrm xmlns:a="http://schemas.openxmlformats.org/drawingml/2006/main">
            <a:off x="5905500" y="2171700"/>
            <a:ext cx="18478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675" b="1">
                <a:solidFill>
                  <a:srgbClr val="2F7D5B"/>
                </a:solidFill>
                <a:latin typeface="Aptos"/>
                <a:ea typeface="Aptos"/>
                <a:cs typeface="Aptos"/>
              </a:defRPr>
            </a:pPr>
            <a:r>
              <a:rPr sz="675" b="1">
                <a:solidFill>
                  <a:srgbClr val="2F7D5B"/>
                </a:solidFill>
                <a:latin typeface="Aptos"/>
                <a:ea typeface="Aptos"/>
                <a:cs typeface="Aptos"/>
              </a:rPr>
              <a:t>SERVIZI</a:t>
            </a:r>
          </a:p>
        </p:txBody>
      </p:sp>
      <p:sp>
        <p:nvSpPr>
          <p:cNvPr id="25" name="">
            <a:extLst xmlns:a="http://schemas.openxmlformats.org/drawingml/2006/main">
              <a:ext uri="{FF2B5EF4-FFF2-40B4-BE49-F238E27FC236}">
                <a16:creationId xmlns:a16="http://schemas.microsoft.com/office/drawing/2014/main" id="{5510A75D-4F67-4F95-94EC-74C15E8FD49D}"/>
              </a:ext>
            </a:extLst>
          </p:cNvPr>
          <p:cNvSpPr>
            <a:spLocks xmlns:a="http://schemas.openxmlformats.org/drawingml/2006/main" noGrp="1"/>
          </p:cNvSpPr>
          <p:nvPr/>
        </p:nvSpPr>
        <p:spPr>
          <a:xfrm xmlns:a="http://schemas.openxmlformats.org/drawingml/2006/main">
            <a:off x="5905500" y="2686050"/>
            <a:ext cx="1847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17211D"/>
                </a:solidFill>
                <a:latin typeface="Georgia"/>
                <a:ea typeface="Georgia"/>
                <a:cs typeface="Georgia"/>
              </a:defRPr>
            </a:pPr>
            <a:r>
              <a:rPr sz="1125" b="1">
                <a:solidFill>
                  <a:srgbClr val="17211D"/>
                </a:solidFill>
                <a:latin typeface="Georgia"/>
                <a:ea typeface="Georgia"/>
                <a:cs typeface="Georgia"/>
              </a:rPr>
              <a:t>wear · stats · gap</a:t>
            </a:r>
          </a:p>
        </p:txBody>
      </p:sp>
      <p:sp>
        <p:nvSpPr>
          <p:cNvPr id="26" name="">
            <a:extLst xmlns:a="http://schemas.openxmlformats.org/drawingml/2006/main">
              <a:ext uri="{FF2B5EF4-FFF2-40B4-BE49-F238E27FC236}">
                <a16:creationId xmlns:a16="http://schemas.microsoft.com/office/drawing/2014/main" id="{945CFD0C-0EB9-42E1-A10C-2EADF2D51092}"/>
              </a:ext>
            </a:extLst>
          </p:cNvPr>
          <p:cNvSpPr>
            <a:spLocks xmlns:a="http://schemas.openxmlformats.org/drawingml/2006/main" noGrp="1"/>
          </p:cNvSpPr>
          <p:nvPr/>
        </p:nvSpPr>
        <p:spPr>
          <a:xfrm xmlns:a="http://schemas.openxmlformats.org/drawingml/2006/main">
            <a:off x="6134100" y="3162300"/>
            <a:ext cx="1390650" cy="9525"/>
          </a:xfrm>
          <a:prstGeom xmlns:a="http://schemas.openxmlformats.org/drawingml/2006/main" prst="rect">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A5F79F1E-BEF9-43ED-8493-4E5A775E7F86}"/>
              </a:ext>
            </a:extLst>
          </p:cNvPr>
          <p:cNvSpPr>
            <a:spLocks xmlns:a="http://schemas.openxmlformats.org/drawingml/2006/main" noGrp="1"/>
          </p:cNvSpPr>
          <p:nvPr/>
        </p:nvSpPr>
        <p:spPr>
          <a:xfrm xmlns:a="http://schemas.openxmlformats.org/drawingml/2006/main">
            <a:off x="5905500" y="3238500"/>
            <a:ext cx="1847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0">
                <a:solidFill>
                  <a:srgbClr val="17211D"/>
                </a:solidFill>
                <a:latin typeface="Aptos"/>
                <a:ea typeface="Aptos"/>
                <a:cs typeface="Aptos"/>
              </a:defRPr>
            </a:pPr>
            <a:r>
              <a:rPr sz="1125" b="0">
                <a:solidFill>
                  <a:srgbClr val="17211D"/>
                </a:solidFill>
                <a:latin typeface="Aptos"/>
                <a:ea typeface="Aptos"/>
                <a:cs typeface="Aptos"/>
              </a:rPr>
              <a:t>recommender · circular</a:t>
            </a:r>
          </a:p>
        </p:txBody>
      </p:sp>
      <p:sp>
        <p:nvSpPr>
          <p:cNvPr id="28" name="">
            <a:extLst xmlns:a="http://schemas.openxmlformats.org/drawingml/2006/main">
              <a:ext uri="{FF2B5EF4-FFF2-40B4-BE49-F238E27FC236}">
                <a16:creationId xmlns:a16="http://schemas.microsoft.com/office/drawing/2014/main" id="{08DF6838-E405-4652-ADA7-71BEBE4A4A53}"/>
              </a:ext>
            </a:extLst>
          </p:cNvPr>
          <p:cNvSpPr>
            <a:spLocks xmlns:a="http://schemas.openxmlformats.org/drawingml/2006/main" noGrp="1"/>
          </p:cNvSpPr>
          <p:nvPr/>
        </p:nvSpPr>
        <p:spPr>
          <a:xfrm xmlns:a="http://schemas.openxmlformats.org/drawingml/2006/main">
            <a:off x="6134100" y="3714750"/>
            <a:ext cx="1390650" cy="9525"/>
          </a:xfrm>
          <a:prstGeom xmlns:a="http://schemas.openxmlformats.org/drawingml/2006/main" prst="rect">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42553F4D-FD62-4195-AE52-DB3DB6AFC172}"/>
              </a:ext>
            </a:extLst>
          </p:cNvPr>
          <p:cNvSpPr>
            <a:spLocks xmlns:a="http://schemas.openxmlformats.org/drawingml/2006/main" noGrp="1"/>
          </p:cNvSpPr>
          <p:nvPr/>
        </p:nvSpPr>
        <p:spPr>
          <a:xfrm xmlns:a="http://schemas.openxmlformats.org/drawingml/2006/main">
            <a:off x="5905500" y="3790950"/>
            <a:ext cx="1847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0">
                <a:solidFill>
                  <a:srgbClr val="17211D"/>
                </a:solidFill>
                <a:latin typeface="Aptos"/>
                <a:ea typeface="Aptos"/>
                <a:cs typeface="Aptos"/>
              </a:defRPr>
            </a:pPr>
            <a:r>
              <a:rPr sz="1125" b="0">
                <a:solidFill>
                  <a:srgbClr val="17211D"/>
                </a:solidFill>
                <a:latin typeface="Aptos"/>
                <a:ea typeface="Aptos"/>
                <a:cs typeface="Aptos"/>
              </a:rPr>
              <a:t>LLM / try-on opzionali</a:t>
            </a:r>
          </a:p>
        </p:txBody>
      </p:sp>
      <p:sp>
        <p:nvSpPr>
          <p:cNvPr id="30" name="">
            <a:extLst xmlns:a="http://schemas.openxmlformats.org/drawingml/2006/main">
              <a:ext uri="{FF2B5EF4-FFF2-40B4-BE49-F238E27FC236}">
                <a16:creationId xmlns:a16="http://schemas.microsoft.com/office/drawing/2014/main" id="{9E07E8DB-D1D4-4756-9C1A-4E88205A7B89}"/>
              </a:ext>
            </a:extLst>
          </p:cNvPr>
          <p:cNvSpPr>
            <a:spLocks xmlns:a="http://schemas.openxmlformats.org/drawingml/2006/main" noGrp="1"/>
          </p:cNvSpPr>
          <p:nvPr/>
        </p:nvSpPr>
        <p:spPr>
          <a:xfrm xmlns:a="http://schemas.openxmlformats.org/drawingml/2006/main">
            <a:off x="7924800" y="3429000"/>
            <a:ext cx="400050" cy="28575"/>
          </a:xfrm>
          <a:prstGeom xmlns:a="http://schemas.openxmlformats.org/drawingml/2006/main" prst="rect">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4B24F13D-97FA-482B-B3CE-4CEBAA573A7B}"/>
              </a:ext>
            </a:extLst>
          </p:cNvPr>
          <p:cNvSpPr>
            <a:spLocks xmlns:a="http://schemas.openxmlformats.org/drawingml/2006/main" noGrp="1"/>
          </p:cNvSpPr>
          <p:nvPr/>
        </p:nvSpPr>
        <p:spPr>
          <a:xfrm xmlns:a="http://schemas.openxmlformats.org/drawingml/2006/main">
            <a:off x="8134350" y="3362325"/>
            <a:ext cx="152400" cy="15240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52BBDD96-2911-434E-9182-1C3F9E6E58DD}"/>
              </a:ext>
            </a:extLst>
          </p:cNvPr>
          <p:cNvSpPr>
            <a:spLocks xmlns:a="http://schemas.openxmlformats.org/drawingml/2006/main" noGrp="1"/>
          </p:cNvSpPr>
          <p:nvPr/>
        </p:nvSpPr>
        <p:spPr>
          <a:xfrm xmlns:a="http://schemas.openxmlformats.org/drawingml/2006/main">
            <a:off x="8324850" y="1981200"/>
            <a:ext cx="2190750" cy="2895600"/>
          </a:xfrm>
          <a:prstGeom xmlns:a="http://schemas.openxmlformats.org/drawingml/2006/main" prst="roundRect">
            <a:avLst>
              <a:gd name="adj" fmla="val 3478"/>
            </a:avLst>
          </a:prstGeom>
          <a:solidFill xmlns:a="http://schemas.openxmlformats.org/drawingml/2006/main">
            <a:srgbClr val="FFFFFF"/>
          </a:solidFill>
          <a:ln xmlns:a="http://schemas.openxmlformats.org/drawingml/2006/main" w="9525">
            <a:solidFill>
              <a:srgbClr val="B9C3BB"/>
            </a:solidFill>
            <a:prstDash val="solid"/>
          </a:ln>
        </p:spPr>
      </p:sp>
      <p:sp>
        <p:nvSpPr>
          <p:cNvPr id="33" name="">
            <a:extLst xmlns:a="http://schemas.openxmlformats.org/drawingml/2006/main">
              <a:ext uri="{FF2B5EF4-FFF2-40B4-BE49-F238E27FC236}">
                <a16:creationId xmlns:a16="http://schemas.microsoft.com/office/drawing/2014/main" id="{6CA54DF8-CC70-421D-B7F8-623494044DB7}"/>
              </a:ext>
            </a:extLst>
          </p:cNvPr>
          <p:cNvSpPr>
            <a:spLocks xmlns:a="http://schemas.openxmlformats.org/drawingml/2006/main" noGrp="1"/>
          </p:cNvSpPr>
          <p:nvPr/>
        </p:nvSpPr>
        <p:spPr>
          <a:xfrm xmlns:a="http://schemas.openxmlformats.org/drawingml/2006/main">
            <a:off x="8496300" y="2171700"/>
            <a:ext cx="18478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675" b="1">
                <a:solidFill>
                  <a:srgbClr val="2F7D5B"/>
                </a:solidFill>
                <a:latin typeface="Aptos"/>
                <a:ea typeface="Aptos"/>
                <a:cs typeface="Aptos"/>
              </a:defRPr>
            </a:pPr>
            <a:r>
              <a:rPr sz="675" b="1">
                <a:solidFill>
                  <a:srgbClr val="2F7D5B"/>
                </a:solidFill>
                <a:latin typeface="Aptos"/>
                <a:ea typeface="Aptos"/>
                <a:cs typeface="Aptos"/>
              </a:rPr>
              <a:t>DATI + MODELLI</a:t>
            </a:r>
          </a:p>
        </p:txBody>
      </p:sp>
      <p:sp>
        <p:nvSpPr>
          <p:cNvPr id="34" name="">
            <a:extLst xmlns:a="http://schemas.openxmlformats.org/drawingml/2006/main">
              <a:ext uri="{FF2B5EF4-FFF2-40B4-BE49-F238E27FC236}">
                <a16:creationId xmlns:a16="http://schemas.microsoft.com/office/drawing/2014/main" id="{EC0E9541-5C4B-4F6A-BE3E-6ACF640325EF}"/>
              </a:ext>
            </a:extLst>
          </p:cNvPr>
          <p:cNvSpPr>
            <a:spLocks xmlns:a="http://schemas.openxmlformats.org/drawingml/2006/main" noGrp="1"/>
          </p:cNvSpPr>
          <p:nvPr/>
        </p:nvSpPr>
        <p:spPr>
          <a:xfrm xmlns:a="http://schemas.openxmlformats.org/drawingml/2006/main">
            <a:off x="8496300" y="2686050"/>
            <a:ext cx="1847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17211D"/>
                </a:solidFill>
                <a:latin typeface="Georgia"/>
                <a:ea typeface="Georgia"/>
                <a:cs typeface="Georgia"/>
              </a:defRPr>
            </a:pPr>
            <a:r>
              <a:rPr sz="1125" b="1">
                <a:solidFill>
                  <a:srgbClr val="17211D"/>
                </a:solidFill>
                <a:latin typeface="Georgia"/>
                <a:ea typeface="Georgia"/>
                <a:cs typeface="Georgia"/>
              </a:rPr>
              <a:t>SQLite + filesystem</a:t>
            </a:r>
          </a:p>
        </p:txBody>
      </p:sp>
      <p:sp>
        <p:nvSpPr>
          <p:cNvPr id="35" name="">
            <a:extLst xmlns:a="http://schemas.openxmlformats.org/drawingml/2006/main">
              <a:ext uri="{FF2B5EF4-FFF2-40B4-BE49-F238E27FC236}">
                <a16:creationId xmlns:a16="http://schemas.microsoft.com/office/drawing/2014/main" id="{9D158DC4-5F10-42D2-B6C4-681041A64A21}"/>
              </a:ext>
            </a:extLst>
          </p:cNvPr>
          <p:cNvSpPr>
            <a:spLocks xmlns:a="http://schemas.openxmlformats.org/drawingml/2006/main" noGrp="1"/>
          </p:cNvSpPr>
          <p:nvPr/>
        </p:nvSpPr>
        <p:spPr>
          <a:xfrm xmlns:a="http://schemas.openxmlformats.org/drawingml/2006/main">
            <a:off x="8724900" y="3162300"/>
            <a:ext cx="1390650" cy="9525"/>
          </a:xfrm>
          <a:prstGeom xmlns:a="http://schemas.openxmlformats.org/drawingml/2006/main" prst="rect">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628EE931-0342-4B29-B174-E41AB0AF9574}"/>
              </a:ext>
            </a:extLst>
          </p:cNvPr>
          <p:cNvSpPr>
            <a:spLocks xmlns:a="http://schemas.openxmlformats.org/drawingml/2006/main" noGrp="1"/>
          </p:cNvSpPr>
          <p:nvPr/>
        </p:nvSpPr>
        <p:spPr>
          <a:xfrm xmlns:a="http://schemas.openxmlformats.org/drawingml/2006/main">
            <a:off x="8496300" y="3238500"/>
            <a:ext cx="1847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0">
                <a:solidFill>
                  <a:srgbClr val="17211D"/>
                </a:solidFill>
                <a:latin typeface="Aptos"/>
                <a:ea typeface="Aptos"/>
                <a:cs typeface="Aptos"/>
              </a:defRPr>
            </a:pPr>
            <a:r>
              <a:rPr sz="1125" b="0">
                <a:solidFill>
                  <a:srgbClr val="17211D"/>
                </a:solidFill>
                <a:latin typeface="Aptos"/>
                <a:ea typeface="Aptos"/>
                <a:cs typeface="Aptos"/>
              </a:rPr>
              <a:t>checkpoint PyTorch</a:t>
            </a:r>
          </a:p>
        </p:txBody>
      </p:sp>
      <p:sp>
        <p:nvSpPr>
          <p:cNvPr id="37" name="">
            <a:extLst xmlns:a="http://schemas.openxmlformats.org/drawingml/2006/main">
              <a:ext uri="{FF2B5EF4-FFF2-40B4-BE49-F238E27FC236}">
                <a16:creationId xmlns:a16="http://schemas.microsoft.com/office/drawing/2014/main" id="{67502A7A-2878-4DBA-96C3-13F5AE22ACA3}"/>
              </a:ext>
            </a:extLst>
          </p:cNvPr>
          <p:cNvSpPr>
            <a:spLocks xmlns:a="http://schemas.openxmlformats.org/drawingml/2006/main" noGrp="1"/>
          </p:cNvSpPr>
          <p:nvPr/>
        </p:nvSpPr>
        <p:spPr>
          <a:xfrm xmlns:a="http://schemas.openxmlformats.org/drawingml/2006/main">
            <a:off x="8724900" y="3714750"/>
            <a:ext cx="1390650" cy="9525"/>
          </a:xfrm>
          <a:prstGeom xmlns:a="http://schemas.openxmlformats.org/drawingml/2006/main" prst="rect">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38" name="">
            <a:extLst xmlns:a="http://schemas.openxmlformats.org/drawingml/2006/main">
              <a:ext uri="{FF2B5EF4-FFF2-40B4-BE49-F238E27FC236}">
                <a16:creationId xmlns:a16="http://schemas.microsoft.com/office/drawing/2014/main" id="{1E4C9FB4-2DB2-4862-BA87-E861868CE019}"/>
              </a:ext>
            </a:extLst>
          </p:cNvPr>
          <p:cNvSpPr>
            <a:spLocks xmlns:a="http://schemas.openxmlformats.org/drawingml/2006/main" noGrp="1"/>
          </p:cNvSpPr>
          <p:nvPr/>
        </p:nvSpPr>
        <p:spPr>
          <a:xfrm xmlns:a="http://schemas.openxmlformats.org/drawingml/2006/main">
            <a:off x="8496300" y="3790950"/>
            <a:ext cx="1847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0">
                <a:solidFill>
                  <a:srgbClr val="17211D"/>
                </a:solidFill>
                <a:latin typeface="Aptos"/>
                <a:ea typeface="Aptos"/>
                <a:cs typeface="Aptos"/>
              </a:defRPr>
            </a:pPr>
            <a:r>
              <a:rPr sz="1125" b="0">
                <a:solidFill>
                  <a:srgbClr val="17211D"/>
                </a:solidFill>
                <a:latin typeface="Aptos"/>
                <a:ea typeface="Aptos"/>
                <a:cs typeface="Aptos"/>
              </a:rPr>
              <a:t>Fashion-CLIP</a:t>
            </a:r>
          </a:p>
        </p:txBody>
      </p:sp>
      <p:sp>
        <p:nvSpPr>
          <p:cNvPr id="39" name="">
            <a:extLst xmlns:a="http://schemas.openxmlformats.org/drawingml/2006/main">
              <a:ext uri="{FF2B5EF4-FFF2-40B4-BE49-F238E27FC236}">
                <a16:creationId xmlns:a16="http://schemas.microsoft.com/office/drawing/2014/main" id="{F15DC0A9-2537-45FB-A092-F83E988F9898}"/>
              </a:ext>
            </a:extLst>
          </p:cNvPr>
          <p:cNvSpPr>
            <a:spLocks xmlns:a="http://schemas.openxmlformats.org/drawingml/2006/main" noGrp="1"/>
          </p:cNvSpPr>
          <p:nvPr/>
        </p:nvSpPr>
        <p:spPr>
          <a:xfrm xmlns:a="http://schemas.openxmlformats.org/drawingml/2006/main">
            <a:off x="552450" y="5219700"/>
            <a:ext cx="9963150" cy="685800"/>
          </a:xfrm>
          <a:prstGeom xmlns:a="http://schemas.openxmlformats.org/drawingml/2006/main" prst="roundRect">
            <a:avLst>
              <a:gd name="adj" fmla="val 11111"/>
            </a:avLst>
          </a:prstGeom>
          <a:solidFill xmlns:a="http://schemas.openxmlformats.org/drawingml/2006/main">
            <a:srgbClr val="EAE5DA"/>
          </a:solidFill>
          <a:ln xmlns:a="http://schemas.openxmlformats.org/drawingml/2006/main" w="0">
            <a:solidFill>
              <a:srgbClr val="000000">
                <a:alpha val="0"/>
              </a:srgbClr>
            </a:solidFill>
            <a:prstDash val="solid"/>
          </a:ln>
        </p:spPr>
      </p:sp>
      <p:sp>
        <p:nvSpPr>
          <p:cNvPr id="40" name="">
            <a:extLst xmlns:a="http://schemas.openxmlformats.org/drawingml/2006/main">
              <a:ext uri="{FF2B5EF4-FFF2-40B4-BE49-F238E27FC236}">
                <a16:creationId xmlns:a16="http://schemas.microsoft.com/office/drawing/2014/main" id="{0F35E7D9-3DA1-4200-992D-3F7CC9BDB3B4}"/>
              </a:ext>
            </a:extLst>
          </p:cNvPr>
          <p:cNvSpPr>
            <a:spLocks xmlns:a="http://schemas.openxmlformats.org/drawingml/2006/main" noGrp="1"/>
          </p:cNvSpPr>
          <p:nvPr/>
        </p:nvSpPr>
        <p:spPr>
          <a:xfrm xmlns:a="http://schemas.openxmlformats.org/drawingml/2006/main">
            <a:off x="781050" y="5410200"/>
            <a:ext cx="1428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D56E42"/>
                </a:solidFill>
                <a:latin typeface="Aptos"/>
                <a:ea typeface="Aptos"/>
                <a:cs typeface="Aptos"/>
              </a:defRPr>
            </a:pPr>
            <a:r>
              <a:rPr sz="750" b="1">
                <a:solidFill>
                  <a:srgbClr val="D56E42"/>
                </a:solidFill>
                <a:latin typeface="Aptos"/>
                <a:ea typeface="Aptos"/>
                <a:cs typeface="Aptos"/>
              </a:rPr>
              <a:t>PRIVACY MVP</a:t>
            </a:r>
          </a:p>
        </p:txBody>
      </p:sp>
      <p:sp>
        <p:nvSpPr>
          <p:cNvPr id="41" name="">
            <a:extLst xmlns:a="http://schemas.openxmlformats.org/drawingml/2006/main">
              <a:ext uri="{FF2B5EF4-FFF2-40B4-BE49-F238E27FC236}">
                <a16:creationId xmlns:a16="http://schemas.microsoft.com/office/drawing/2014/main" id="{9F0EFD2E-3539-43DF-BCF2-2D5C3A45A3F8}"/>
              </a:ext>
            </a:extLst>
          </p:cNvPr>
          <p:cNvSpPr>
            <a:spLocks xmlns:a="http://schemas.openxmlformats.org/drawingml/2006/main" noGrp="1"/>
          </p:cNvSpPr>
          <p:nvPr/>
        </p:nvSpPr>
        <p:spPr>
          <a:xfrm xmlns:a="http://schemas.openxmlformats.org/drawingml/2006/main">
            <a:off x="2305050" y="5391150"/>
            <a:ext cx="78105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17211D"/>
                </a:solidFill>
                <a:latin typeface="Georgia"/>
                <a:ea typeface="Georgia"/>
                <a:cs typeface="Georgia"/>
              </a:defRPr>
            </a:pPr>
            <a:r>
              <a:rPr sz="1050" b="1">
                <a:solidFill>
                  <a:srgbClr val="17211D"/>
                </a:solidFill>
                <a:latin typeface="Georgia"/>
                <a:ea typeface="Georgia"/>
                <a:cs typeface="Georgia"/>
              </a:rPr>
              <a:t>single-user · storage locale · nessun account · credenziali AI solo nel backend</a:t>
            </a:r>
          </a:p>
        </p:txBody>
      </p:sp>
      <p:sp>
        <p:nvSpPr>
          <p:cNvPr id="42" name="">
            <a:extLst xmlns:a="http://schemas.openxmlformats.org/drawingml/2006/main">
              <a:ext uri="{FF2B5EF4-FFF2-40B4-BE49-F238E27FC236}">
                <a16:creationId xmlns:a16="http://schemas.microsoft.com/office/drawing/2014/main" id="{46877B97-4BAF-483D-B813-757FF54B8AAF}"/>
              </a:ext>
            </a:extLst>
          </p:cNvPr>
          <p:cNvSpPr>
            <a:spLocks xmlns:a="http://schemas.openxmlformats.org/drawingml/2006/main" noGrp="1"/>
          </p:cNvSpPr>
          <p:nvPr/>
        </p:nvSpPr>
        <p:spPr>
          <a:xfrm xmlns:a="http://schemas.openxmlformats.org/drawingml/2006/main">
            <a:off x="10715625" y="5286375"/>
            <a:ext cx="904875" cy="533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13" b="0">
                <a:solidFill>
                  <a:srgbClr val="65736B"/>
                </a:solidFill>
                <a:latin typeface="Aptos"/>
                <a:ea typeface="Aptos"/>
                <a:cs typeface="Aptos"/>
              </a:defRPr>
            </a:pPr>
            <a:r>
              <a:rPr sz="713" b="0">
                <a:solidFill>
                  <a:srgbClr val="65736B"/>
                </a:solidFill>
                <a:latin typeface="Aptos"/>
                <a:ea typeface="Aptos"/>
                <a:cs typeface="Aptos"/>
              </a:rPr>
              <a:t>Servizi esterni</a:t>
            </a:r>
          </a:p>
          <a:p xmlns:a="http://schemas.openxmlformats.org/drawingml/2006/main">
            <a:pPr algn="ctr">
              <a:defRPr sz="713" b="0">
                <a:solidFill>
                  <a:srgbClr val="65736B"/>
                </a:solidFill>
                <a:latin typeface="Aptos"/>
                <a:ea typeface="Aptos"/>
                <a:cs typeface="Aptos"/>
              </a:defRPr>
            </a:pPr>
            <a:r>
              <a:rPr sz="713" b="0">
                <a:solidFill>
                  <a:srgbClr val="65736B"/>
                </a:solidFill>
                <a:latin typeface="Aptos"/>
                <a:ea typeface="Aptos"/>
                <a:cs typeface="Aptos"/>
              </a:rPr>
              <a:t>solo se configurati</a:t>
            </a:r>
          </a:p>
        </p:txBody>
      </p:sp>
      <p:sp>
        <p:nvSpPr>
          <p:cNvPr id="43" name="">
            <a:extLst xmlns:a="http://schemas.openxmlformats.org/drawingml/2006/main">
              <a:ext uri="{FF2B5EF4-FFF2-40B4-BE49-F238E27FC236}">
                <a16:creationId xmlns:a16="http://schemas.microsoft.com/office/drawing/2014/main" id="{FD420C89-2EE3-4E5B-8E8E-FE14B81BC3AC}"/>
              </a:ext>
            </a:extLst>
          </p:cNvPr>
          <p:cNvSpPr>
            <a:spLocks xmlns:a="http://schemas.openxmlformats.org/drawingml/2006/main" noGrp="1"/>
          </p:cNvSpPr>
          <p:nvPr/>
        </p:nvSpPr>
        <p:spPr>
          <a:xfrm xmlns:a="http://schemas.openxmlformats.org/drawingml/2006/main">
            <a:off x="552450" y="6457950"/>
            <a:ext cx="1108710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44" name="">
            <a:extLst xmlns:a="http://schemas.openxmlformats.org/drawingml/2006/main">
              <a:ext uri="{FF2B5EF4-FFF2-40B4-BE49-F238E27FC236}">
                <a16:creationId xmlns:a16="http://schemas.microsoft.com/office/drawing/2014/main" id="{F33C241F-777E-44FD-915F-BDA579AFF541}"/>
              </a:ext>
            </a:extLst>
          </p:cNvPr>
          <p:cNvSpPr>
            <a:spLocks xmlns:a="http://schemas.openxmlformats.org/drawingml/2006/main" noGrp="1"/>
          </p:cNvSpPr>
          <p:nvPr/>
        </p:nvSpPr>
        <p:spPr>
          <a:xfrm xmlns:a="http://schemas.openxmlformats.org/drawingml/2006/main">
            <a:off x="552450" y="6534150"/>
            <a:ext cx="1000125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63" b="0">
                <a:solidFill>
                  <a:srgbClr val="65736B"/>
                </a:solidFill>
                <a:latin typeface="Aptos"/>
                <a:ea typeface="Aptos"/>
                <a:cs typeface="Aptos"/>
              </a:defRPr>
            </a:pPr>
            <a:r>
              <a:rPr sz="563" b="0">
                <a:solidFill>
                  <a:srgbClr val="65736B"/>
                </a:solidFill>
                <a:latin typeface="Aptos"/>
                <a:ea typeface="Aptos"/>
                <a:cs typeface="Aptos"/>
              </a:rPr>
              <a:t>Stack: React/Vite/TS · FastAPI/SQLAlchemy · SQLite · PyTorch/Transformers</a:t>
            </a:r>
          </a:p>
        </p:txBody>
      </p:sp>
      <p:sp>
        <p:nvSpPr>
          <p:cNvPr id="45" name="">
            <a:extLst xmlns:a="http://schemas.openxmlformats.org/drawingml/2006/main">
              <a:ext uri="{FF2B5EF4-FFF2-40B4-BE49-F238E27FC236}">
                <a16:creationId xmlns:a16="http://schemas.microsoft.com/office/drawing/2014/main" id="{12C10AE0-7C68-47CE-AD99-CA0DA651AC75}"/>
              </a:ext>
            </a:extLst>
          </p:cNvPr>
          <p:cNvSpPr>
            <a:spLocks xmlns:a="http://schemas.openxmlformats.org/drawingml/2006/main" noGrp="1"/>
          </p:cNvSpPr>
          <p:nvPr/>
        </p:nvSpPr>
        <p:spPr>
          <a:xfrm xmlns:a="http://schemas.openxmlformats.org/drawingml/2006/main">
            <a:off x="11087100" y="650557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65736B"/>
                </a:solidFill>
                <a:latin typeface="Georgia"/>
                <a:ea typeface="Georgia"/>
                <a:cs typeface="Georgia"/>
              </a:defRPr>
            </a:pPr>
            <a:r>
              <a:rPr sz="750" b="1">
                <a:solidFill>
                  <a:srgbClr val="65736B"/>
                </a:solidFill>
                <a:latin typeface="Georgia"/>
                <a:ea typeface="Georgia"/>
                <a:cs typeface="Georgia"/>
              </a:rPr>
              <a:t>11</a:t>
            </a:r>
          </a:p>
        </p:txBody>
      </p:sp>
    </p:spTree>
    <p:extLst>
      <p:ext uri="{BB962C8B-B14F-4D97-AF65-F5344CB8AC3E}">
        <p14:creationId xmlns:p14="http://schemas.microsoft.com/office/powerpoint/2010/main" val="1240384732"/>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93C9D502-854F-43EA-9DC8-56189E05F9A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0E7"/>
          </a:solidFill>
          <a:ln xmlns:a="http://schemas.openxmlformats.org/drawingml/2006/main" w="0">
            <a:solidFill>
              <a:srgbClr val="000000">
                <a:alpha val="0"/>
              </a:srgbClr>
            </a:solidFill>
            <a:prstDash val="solid"/>
          </a:ln>
        </p:spPr>
      </p:sp>
      <p:sp>
        <p:nvSpPr>
          <p:cNvPr id="2" name="kicker-marker">
            <a:extLst xmlns:a="http://schemas.openxmlformats.org/drawingml/2006/main">
              <a:ext uri="{FF2B5EF4-FFF2-40B4-BE49-F238E27FC236}">
                <a16:creationId xmlns:a16="http://schemas.microsoft.com/office/drawing/2014/main" id="{C60F4421-1949-4736-B166-535A68E1942F}"/>
              </a:ext>
            </a:extLst>
          </p:cNvPr>
          <p:cNvSpPr>
            <a:spLocks xmlns:a="http://schemas.openxmlformats.org/drawingml/2006/main" noGrp="1"/>
          </p:cNvSpPr>
          <p:nvPr/>
        </p:nvSpPr>
        <p:spPr>
          <a:xfrm xmlns:a="http://schemas.openxmlformats.org/drawingml/2006/main">
            <a:off x="552450" y="438150"/>
            <a:ext cx="95250" cy="9525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3" name="kicker-label">
            <a:extLst xmlns:a="http://schemas.openxmlformats.org/drawingml/2006/main">
              <a:ext uri="{FF2B5EF4-FFF2-40B4-BE49-F238E27FC236}">
                <a16:creationId xmlns:a16="http://schemas.microsoft.com/office/drawing/2014/main" id="{2A436C69-ACE8-48FB-84A8-5710A3E3E96E}"/>
              </a:ext>
            </a:extLst>
          </p:cNvPr>
          <p:cNvSpPr>
            <a:spLocks xmlns:a="http://schemas.openxmlformats.org/drawingml/2006/main" noGrp="1"/>
          </p:cNvSpPr>
          <p:nvPr/>
        </p:nvSpPr>
        <p:spPr>
          <a:xfrm xmlns:a="http://schemas.openxmlformats.org/drawingml/2006/main">
            <a:off x="762000" y="400050"/>
            <a:ext cx="4762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65736B"/>
                </a:solidFill>
                <a:latin typeface="Aptos"/>
                <a:ea typeface="Aptos"/>
                <a:cs typeface="Aptos"/>
              </a:defRPr>
            </a:pPr>
            <a:r>
              <a:rPr sz="675" b="1">
                <a:solidFill>
                  <a:srgbClr val="65736B"/>
                </a:solidFill>
                <a:latin typeface="Aptos"/>
                <a:ea typeface="Aptos"/>
                <a:cs typeface="Aptos"/>
              </a:rPr>
              <a:t>R I P R O D U C I B I L I T À   ·   5   N O T E B O O K   E S E G U I T I</a:t>
            </a:r>
          </a:p>
        </p:txBody>
      </p:sp>
      <p:sp>
        <p:nvSpPr>
          <p:cNvPr id="4" name="claim-title">
            <a:extLst xmlns:a="http://schemas.openxmlformats.org/drawingml/2006/main">
              <a:ext uri="{FF2B5EF4-FFF2-40B4-BE49-F238E27FC236}">
                <a16:creationId xmlns:a16="http://schemas.microsoft.com/office/drawing/2014/main" id="{F1FB93FE-9FFF-4D33-AF48-90B67AE88E60}"/>
              </a:ext>
            </a:extLst>
          </p:cNvPr>
          <p:cNvSpPr>
            <a:spLocks xmlns:a="http://schemas.openxmlformats.org/drawingml/2006/main" noGrp="1"/>
          </p:cNvSpPr>
          <p:nvPr/>
        </p:nvSpPr>
        <p:spPr>
          <a:xfrm xmlns:a="http://schemas.openxmlformats.org/drawingml/2006/main">
            <a:off x="552450" y="742950"/>
            <a:ext cx="1066800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625" b="1">
                <a:solidFill>
                  <a:srgbClr val="17211D"/>
                </a:solidFill>
                <a:latin typeface="Georgia"/>
                <a:ea typeface="Georgia"/>
                <a:cs typeface="Georgia"/>
              </a:defRPr>
            </a:pPr>
            <a:r>
              <a:rPr sz="2625" b="1">
                <a:solidFill>
                  <a:srgbClr val="17211D"/>
                </a:solidFill>
                <a:latin typeface="Georgia"/>
                <a:ea typeface="Georgia"/>
                <a:cs typeface="Georgia"/>
              </a:rPr>
              <a:t>Ogni estimator fittato ha ora un notebook autonomo—e uno status che evita overclaim.</a:t>
            </a:r>
          </a:p>
        </p:txBody>
      </p:sp>
      <p:sp>
        <p:nvSpPr>
          <p:cNvPr id="5" name="">
            <a:extLst xmlns:a="http://schemas.openxmlformats.org/drawingml/2006/main">
              <a:ext uri="{FF2B5EF4-FFF2-40B4-BE49-F238E27FC236}">
                <a16:creationId xmlns:a16="http://schemas.microsoft.com/office/drawing/2014/main" id="{DCC06FAF-92D7-4968-85CC-B681587681A6}"/>
              </a:ext>
            </a:extLst>
          </p:cNvPr>
          <p:cNvSpPr>
            <a:spLocks xmlns:a="http://schemas.openxmlformats.org/drawingml/2006/main" noGrp="1"/>
          </p:cNvSpPr>
          <p:nvPr/>
        </p:nvSpPr>
        <p:spPr>
          <a:xfrm xmlns:a="http://schemas.openxmlformats.org/drawingml/2006/main">
            <a:off x="552450" y="18859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2F7D5B"/>
                </a:solidFill>
                <a:latin typeface="Aptos"/>
                <a:ea typeface="Aptos"/>
                <a:cs typeface="Aptos"/>
              </a:defRPr>
            </a:pPr>
            <a:r>
              <a:rPr sz="675" b="1">
                <a:solidFill>
                  <a:srgbClr val="2F7D5B"/>
                </a:solidFill>
                <a:latin typeface="Aptos"/>
                <a:ea typeface="Aptos"/>
                <a:cs typeface="Aptos"/>
              </a:rPr>
              <a:t>CARICATI DAL PRODOTTO</a:t>
            </a:r>
          </a:p>
        </p:txBody>
      </p:sp>
      <p:sp>
        <p:nvSpPr>
          <p:cNvPr id="6" name="">
            <a:extLst xmlns:a="http://schemas.openxmlformats.org/drawingml/2006/main">
              <a:ext uri="{FF2B5EF4-FFF2-40B4-BE49-F238E27FC236}">
                <a16:creationId xmlns:a16="http://schemas.microsoft.com/office/drawing/2014/main" id="{5CFA2AC9-203E-4069-B635-33BB9F270894}"/>
              </a:ext>
            </a:extLst>
          </p:cNvPr>
          <p:cNvSpPr>
            <a:spLocks xmlns:a="http://schemas.openxmlformats.org/drawingml/2006/main" noGrp="1"/>
          </p:cNvSpPr>
          <p:nvPr/>
        </p:nvSpPr>
        <p:spPr>
          <a:xfrm xmlns:a="http://schemas.openxmlformats.org/drawingml/2006/main">
            <a:off x="552450" y="2209800"/>
            <a:ext cx="11087100" cy="1104900"/>
          </a:xfrm>
          <a:prstGeom xmlns:a="http://schemas.openxmlformats.org/drawingml/2006/main" prst="roundRect">
            <a:avLst>
              <a:gd name="adj" fmla="val 6897"/>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7" name="">
            <a:extLst xmlns:a="http://schemas.openxmlformats.org/drawingml/2006/main">
              <a:ext uri="{FF2B5EF4-FFF2-40B4-BE49-F238E27FC236}">
                <a16:creationId xmlns:a16="http://schemas.microsoft.com/office/drawing/2014/main" id="{7226CF8E-B707-46E0-BDCB-0DF73FCE356F}"/>
              </a:ext>
            </a:extLst>
          </p:cNvPr>
          <p:cNvSpPr>
            <a:spLocks xmlns:a="http://schemas.openxmlformats.org/drawingml/2006/main" noGrp="1"/>
          </p:cNvSpPr>
          <p:nvPr/>
        </p:nvSpPr>
        <p:spPr>
          <a:xfrm xmlns:a="http://schemas.openxmlformats.org/drawingml/2006/main">
            <a:off x="781050" y="2457450"/>
            <a:ext cx="4572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2F7D5B"/>
                </a:solidFill>
                <a:latin typeface="Georgia"/>
                <a:ea typeface="Georgia"/>
                <a:cs typeface="Georgia"/>
              </a:defRPr>
            </a:pPr>
            <a:r>
              <a:rPr sz="1200" b="1">
                <a:solidFill>
                  <a:srgbClr val="2F7D5B"/>
                </a:solidFill>
                <a:latin typeface="Georgia"/>
                <a:ea typeface="Georgia"/>
                <a:cs typeface="Georgia"/>
              </a:rPr>
              <a:t>01</a:t>
            </a:r>
          </a:p>
        </p:txBody>
      </p:sp>
      <p:sp>
        <p:nvSpPr>
          <p:cNvPr id="8" name="">
            <a:extLst xmlns:a="http://schemas.openxmlformats.org/drawingml/2006/main">
              <a:ext uri="{FF2B5EF4-FFF2-40B4-BE49-F238E27FC236}">
                <a16:creationId xmlns:a16="http://schemas.microsoft.com/office/drawing/2014/main" id="{CCB38872-B236-45CD-8A90-2157DC43C4D4}"/>
              </a:ext>
            </a:extLst>
          </p:cNvPr>
          <p:cNvSpPr>
            <a:spLocks xmlns:a="http://schemas.openxmlformats.org/drawingml/2006/main" noGrp="1"/>
          </p:cNvSpPr>
          <p:nvPr/>
        </p:nvSpPr>
        <p:spPr>
          <a:xfrm xmlns:a="http://schemas.openxmlformats.org/drawingml/2006/main">
            <a:off x="1333500" y="2400300"/>
            <a:ext cx="24765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1">
                <a:solidFill>
                  <a:srgbClr val="17211D"/>
                </a:solidFill>
                <a:latin typeface="Georgia"/>
                <a:ea typeface="Georgia"/>
                <a:cs typeface="Georgia"/>
              </a:defRPr>
            </a:pPr>
            <a:r>
              <a:rPr sz="1500" b="1">
                <a:solidFill>
                  <a:srgbClr val="17211D"/>
                </a:solidFill>
                <a:latin typeface="Georgia"/>
                <a:ea typeface="Georgia"/>
                <a:cs typeface="Georgia"/>
              </a:rPr>
              <a:t>Condition MLP</a:t>
            </a:r>
          </a:p>
        </p:txBody>
      </p:sp>
      <p:sp>
        <p:nvSpPr>
          <p:cNvPr id="9" name="">
            <a:extLst xmlns:a="http://schemas.openxmlformats.org/drawingml/2006/main">
              <a:ext uri="{FF2B5EF4-FFF2-40B4-BE49-F238E27FC236}">
                <a16:creationId xmlns:a16="http://schemas.microsoft.com/office/drawing/2014/main" id="{A093647F-EF9C-44C5-80D1-929AAADBF134}"/>
              </a:ext>
            </a:extLst>
          </p:cNvPr>
          <p:cNvSpPr>
            <a:spLocks xmlns:a="http://schemas.openxmlformats.org/drawingml/2006/main" noGrp="1"/>
          </p:cNvSpPr>
          <p:nvPr/>
        </p:nvSpPr>
        <p:spPr>
          <a:xfrm xmlns:a="http://schemas.openxmlformats.org/drawingml/2006/main">
            <a:off x="3905250" y="2400300"/>
            <a:ext cx="20955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2F7D5B"/>
                </a:solidFill>
                <a:latin typeface="Aptos"/>
                <a:ea typeface="Aptos"/>
                <a:cs typeface="Aptos"/>
              </a:defRPr>
            </a:pPr>
            <a:r>
              <a:rPr sz="1200" b="1">
                <a:solidFill>
                  <a:srgbClr val="2F7D5B"/>
                </a:solidFill>
                <a:latin typeface="Aptos"/>
                <a:ea typeface="Aptos"/>
                <a:cs typeface="Aptos"/>
              </a:rPr>
              <a:t>94,0% holdout accuracy</a:t>
            </a:r>
          </a:p>
        </p:txBody>
      </p:sp>
      <p:sp>
        <p:nvSpPr>
          <p:cNvPr id="10" name="">
            <a:extLst xmlns:a="http://schemas.openxmlformats.org/drawingml/2006/main">
              <a:ext uri="{FF2B5EF4-FFF2-40B4-BE49-F238E27FC236}">
                <a16:creationId xmlns:a16="http://schemas.microsoft.com/office/drawing/2014/main" id="{E54DD900-2803-49D3-ADF9-70FAE54D884F}"/>
              </a:ext>
            </a:extLst>
          </p:cNvPr>
          <p:cNvSpPr>
            <a:spLocks xmlns:a="http://schemas.openxmlformats.org/drawingml/2006/main" noGrp="1"/>
          </p:cNvSpPr>
          <p:nvPr/>
        </p:nvSpPr>
        <p:spPr>
          <a:xfrm xmlns:a="http://schemas.openxmlformats.org/drawingml/2006/main">
            <a:off x="6191250" y="2381250"/>
            <a:ext cx="9525" cy="590550"/>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11" name="">
            <a:extLst xmlns:a="http://schemas.openxmlformats.org/drawingml/2006/main">
              <a:ext uri="{FF2B5EF4-FFF2-40B4-BE49-F238E27FC236}">
                <a16:creationId xmlns:a16="http://schemas.microsoft.com/office/drawing/2014/main" id="{397C8D1C-4BC9-4054-B017-7BD6EEB4B666}"/>
              </a:ext>
            </a:extLst>
          </p:cNvPr>
          <p:cNvSpPr>
            <a:spLocks xmlns:a="http://schemas.openxmlformats.org/drawingml/2006/main" noGrp="1"/>
          </p:cNvSpPr>
          <p:nvPr/>
        </p:nvSpPr>
        <p:spPr>
          <a:xfrm xmlns:a="http://schemas.openxmlformats.org/drawingml/2006/main">
            <a:off x="6534150" y="2457450"/>
            <a:ext cx="4572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2F7D5B"/>
                </a:solidFill>
                <a:latin typeface="Georgia"/>
                <a:ea typeface="Georgia"/>
                <a:cs typeface="Georgia"/>
              </a:defRPr>
            </a:pPr>
            <a:r>
              <a:rPr sz="1200" b="1">
                <a:solidFill>
                  <a:srgbClr val="2F7D5B"/>
                </a:solidFill>
                <a:latin typeface="Georgia"/>
                <a:ea typeface="Georgia"/>
                <a:cs typeface="Georgia"/>
              </a:rPr>
              <a:t>02</a:t>
            </a:r>
          </a:p>
        </p:txBody>
      </p:sp>
      <p:sp>
        <p:nvSpPr>
          <p:cNvPr id="12" name="">
            <a:extLst xmlns:a="http://schemas.openxmlformats.org/drawingml/2006/main">
              <a:ext uri="{FF2B5EF4-FFF2-40B4-BE49-F238E27FC236}">
                <a16:creationId xmlns:a16="http://schemas.microsoft.com/office/drawing/2014/main" id="{D13FE88D-1373-44CE-82DE-4046D2B7C70D}"/>
              </a:ext>
            </a:extLst>
          </p:cNvPr>
          <p:cNvSpPr>
            <a:spLocks xmlns:a="http://schemas.openxmlformats.org/drawingml/2006/main" noGrp="1"/>
          </p:cNvSpPr>
          <p:nvPr/>
        </p:nvSpPr>
        <p:spPr>
          <a:xfrm xmlns:a="http://schemas.openxmlformats.org/drawingml/2006/main">
            <a:off x="7086600" y="2400300"/>
            <a:ext cx="20955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1">
                <a:solidFill>
                  <a:srgbClr val="17211D"/>
                </a:solidFill>
                <a:latin typeface="Georgia"/>
                <a:ea typeface="Georgia"/>
                <a:cs typeface="Georgia"/>
              </a:defRPr>
            </a:pPr>
            <a:r>
              <a:rPr sz="1500" b="1">
                <a:solidFill>
                  <a:srgbClr val="17211D"/>
                </a:solidFill>
                <a:latin typeface="Georgia"/>
                <a:ea typeface="Georgia"/>
                <a:cs typeface="Georgia"/>
              </a:rPr>
              <a:t>Gap MLP</a:t>
            </a:r>
          </a:p>
        </p:txBody>
      </p:sp>
      <p:sp>
        <p:nvSpPr>
          <p:cNvPr id="13" name="">
            <a:extLst xmlns:a="http://schemas.openxmlformats.org/drawingml/2006/main">
              <a:ext uri="{FF2B5EF4-FFF2-40B4-BE49-F238E27FC236}">
                <a16:creationId xmlns:a16="http://schemas.microsoft.com/office/drawing/2014/main" id="{874CB630-9A71-4061-A880-A2E50463C483}"/>
              </a:ext>
            </a:extLst>
          </p:cNvPr>
          <p:cNvSpPr>
            <a:spLocks xmlns:a="http://schemas.openxmlformats.org/drawingml/2006/main" noGrp="1"/>
          </p:cNvSpPr>
          <p:nvPr/>
        </p:nvSpPr>
        <p:spPr>
          <a:xfrm xmlns:a="http://schemas.openxmlformats.org/drawingml/2006/main">
            <a:off x="9239250" y="2400300"/>
            <a:ext cx="20002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2F7D5B"/>
                </a:solidFill>
                <a:latin typeface="Aptos"/>
                <a:ea typeface="Aptos"/>
                <a:cs typeface="Aptos"/>
              </a:defRPr>
            </a:pPr>
            <a:r>
              <a:rPr sz="1200" b="1">
                <a:solidFill>
                  <a:srgbClr val="2F7D5B"/>
                </a:solidFill>
                <a:latin typeface="Aptos"/>
                <a:ea typeface="Aptos"/>
                <a:cs typeface="Aptos"/>
              </a:rPr>
              <a:t>macro-F1 0,932</a:t>
            </a:r>
          </a:p>
        </p:txBody>
      </p:sp>
      <p:sp>
        <p:nvSpPr>
          <p:cNvPr id="14" name="">
            <a:extLst xmlns:a="http://schemas.openxmlformats.org/drawingml/2006/main">
              <a:ext uri="{FF2B5EF4-FFF2-40B4-BE49-F238E27FC236}">
                <a16:creationId xmlns:a16="http://schemas.microsoft.com/office/drawing/2014/main" id="{2BA8EBB4-A2FE-4329-9D81-C1F907FB6BF5}"/>
              </a:ext>
            </a:extLst>
          </p:cNvPr>
          <p:cNvSpPr>
            <a:spLocks xmlns:a="http://schemas.openxmlformats.org/drawingml/2006/main" noGrp="1"/>
          </p:cNvSpPr>
          <p:nvPr/>
        </p:nvSpPr>
        <p:spPr>
          <a:xfrm xmlns:a="http://schemas.openxmlformats.org/drawingml/2006/main">
            <a:off x="1333500" y="2857500"/>
            <a:ext cx="37147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5736B"/>
                </a:solidFill>
                <a:latin typeface="Aptos"/>
                <a:ea typeface="Aptos"/>
                <a:cs typeface="Aptos"/>
              </a:defRPr>
            </a:pPr>
            <a:r>
              <a:rPr sz="750" b="0">
                <a:solidFill>
                  <a:srgbClr val="65736B"/>
                </a:solidFill>
                <a:latin typeface="Aptos"/>
                <a:ea typeface="Aptos"/>
                <a:cs typeface="Aptos"/>
              </a:rPr>
              <a:t>dataset ibrido · transfer learning</a:t>
            </a:r>
          </a:p>
        </p:txBody>
      </p:sp>
      <p:sp>
        <p:nvSpPr>
          <p:cNvPr id="15" name="">
            <a:extLst xmlns:a="http://schemas.openxmlformats.org/drawingml/2006/main">
              <a:ext uri="{FF2B5EF4-FFF2-40B4-BE49-F238E27FC236}">
                <a16:creationId xmlns:a16="http://schemas.microsoft.com/office/drawing/2014/main" id="{E91FD484-A3CD-4609-87B7-B3C804D8751E}"/>
              </a:ext>
            </a:extLst>
          </p:cNvPr>
          <p:cNvSpPr>
            <a:spLocks xmlns:a="http://schemas.openxmlformats.org/drawingml/2006/main" noGrp="1"/>
          </p:cNvSpPr>
          <p:nvPr/>
        </p:nvSpPr>
        <p:spPr>
          <a:xfrm xmlns:a="http://schemas.openxmlformats.org/drawingml/2006/main">
            <a:off x="7086600" y="2857500"/>
            <a:ext cx="37147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5736B"/>
                </a:solidFill>
                <a:latin typeface="Aptos"/>
                <a:ea typeface="Aptos"/>
                <a:cs typeface="Aptos"/>
              </a:defRPr>
            </a:pPr>
            <a:r>
              <a:rPr sz="750" b="0">
                <a:solidFill>
                  <a:srgbClr val="65736B"/>
                </a:solidFill>
                <a:latin typeface="Aptos"/>
                <a:ea typeface="Aptos"/>
                <a:cs typeface="Aptos"/>
              </a:rPr>
              <a:t>5.000 guardaroba simulati · multi-label</a:t>
            </a:r>
          </a:p>
        </p:txBody>
      </p:sp>
      <p:sp>
        <p:nvSpPr>
          <p:cNvPr id="16" name="">
            <a:extLst xmlns:a="http://schemas.openxmlformats.org/drawingml/2006/main">
              <a:ext uri="{FF2B5EF4-FFF2-40B4-BE49-F238E27FC236}">
                <a16:creationId xmlns:a16="http://schemas.microsoft.com/office/drawing/2014/main" id="{053FB6EB-1CCE-4E39-B242-BDB05598840E}"/>
              </a:ext>
            </a:extLst>
          </p:cNvPr>
          <p:cNvSpPr>
            <a:spLocks xmlns:a="http://schemas.openxmlformats.org/drawingml/2006/main" noGrp="1"/>
          </p:cNvSpPr>
          <p:nvPr/>
        </p:nvSpPr>
        <p:spPr>
          <a:xfrm xmlns:a="http://schemas.openxmlformats.org/drawingml/2006/main">
            <a:off x="552450" y="37147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D56E42"/>
                </a:solidFill>
                <a:latin typeface="Aptos"/>
                <a:ea typeface="Aptos"/>
                <a:cs typeface="Aptos"/>
              </a:defRPr>
            </a:pPr>
            <a:r>
              <a:rPr sz="675" b="1">
                <a:solidFill>
                  <a:srgbClr val="D56E42"/>
                </a:solidFill>
                <a:latin typeface="Aptos"/>
                <a:ea typeface="Aptos"/>
                <a:cs typeface="Aptos"/>
              </a:rPr>
              <a:t>ESPERIMENTI ACCADEMICI · NON COLLEGATI ALLA UI</a:t>
            </a:r>
          </a:p>
        </p:txBody>
      </p:sp>
      <p:sp>
        <p:nvSpPr>
          <p:cNvPr id="17" name="">
            <a:extLst xmlns:a="http://schemas.openxmlformats.org/drawingml/2006/main">
              <a:ext uri="{FF2B5EF4-FFF2-40B4-BE49-F238E27FC236}">
                <a16:creationId xmlns:a16="http://schemas.microsoft.com/office/drawing/2014/main" id="{52729E4F-031C-4390-9C92-69A82039C953}"/>
              </a:ext>
            </a:extLst>
          </p:cNvPr>
          <p:cNvSpPr>
            <a:spLocks xmlns:a="http://schemas.openxmlformats.org/drawingml/2006/main" noGrp="1"/>
          </p:cNvSpPr>
          <p:nvPr/>
        </p:nvSpPr>
        <p:spPr>
          <a:xfrm xmlns:a="http://schemas.openxmlformats.org/drawingml/2006/main">
            <a:off x="666750" y="4076700"/>
            <a:ext cx="4000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D56E42"/>
                </a:solidFill>
                <a:latin typeface="Georgia"/>
                <a:ea typeface="Georgia"/>
                <a:cs typeface="Georgia"/>
              </a:defRPr>
            </a:pPr>
            <a:r>
              <a:rPr sz="1050" b="1">
                <a:solidFill>
                  <a:srgbClr val="D56E42"/>
                </a:solidFill>
                <a:latin typeface="Georgia"/>
                <a:ea typeface="Georgia"/>
                <a:cs typeface="Georgia"/>
              </a:rPr>
              <a:t>03</a:t>
            </a:r>
          </a:p>
        </p:txBody>
      </p:sp>
      <p:sp>
        <p:nvSpPr>
          <p:cNvPr id="18" name="">
            <a:extLst xmlns:a="http://schemas.openxmlformats.org/drawingml/2006/main">
              <a:ext uri="{FF2B5EF4-FFF2-40B4-BE49-F238E27FC236}">
                <a16:creationId xmlns:a16="http://schemas.microsoft.com/office/drawing/2014/main" id="{C23C9052-3746-48DE-B9EC-0666AC91FE42}"/>
              </a:ext>
            </a:extLst>
          </p:cNvPr>
          <p:cNvSpPr>
            <a:spLocks xmlns:a="http://schemas.openxmlformats.org/drawingml/2006/main" noGrp="1"/>
          </p:cNvSpPr>
          <p:nvPr/>
        </p:nvSpPr>
        <p:spPr>
          <a:xfrm xmlns:a="http://schemas.openxmlformats.org/drawingml/2006/main">
            <a:off x="1200150" y="4057650"/>
            <a:ext cx="20955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7211D"/>
                </a:solidFill>
                <a:latin typeface="Georgia"/>
                <a:ea typeface="Georgia"/>
                <a:cs typeface="Georgia"/>
              </a:defRPr>
            </a:pPr>
            <a:r>
              <a:rPr sz="1275" b="1">
                <a:solidFill>
                  <a:srgbClr val="17211D"/>
                </a:solidFill>
                <a:latin typeface="Georgia"/>
                <a:ea typeface="Georgia"/>
                <a:cs typeface="Georgia"/>
              </a:rPr>
              <a:t>Ghost risk</a:t>
            </a:r>
          </a:p>
        </p:txBody>
      </p:sp>
      <p:sp>
        <p:nvSpPr>
          <p:cNvPr id="19" name="">
            <a:extLst xmlns:a="http://schemas.openxmlformats.org/drawingml/2006/main">
              <a:ext uri="{FF2B5EF4-FFF2-40B4-BE49-F238E27FC236}">
                <a16:creationId xmlns:a16="http://schemas.microsoft.com/office/drawing/2014/main" id="{7D008CDF-D019-4F42-81C2-7BF4C1AD5B4F}"/>
              </a:ext>
            </a:extLst>
          </p:cNvPr>
          <p:cNvSpPr>
            <a:spLocks xmlns:a="http://schemas.openxmlformats.org/drawingml/2006/main" noGrp="1"/>
          </p:cNvSpPr>
          <p:nvPr/>
        </p:nvSpPr>
        <p:spPr>
          <a:xfrm xmlns:a="http://schemas.openxmlformats.org/drawingml/2006/main">
            <a:off x="3524250" y="4076700"/>
            <a:ext cx="23812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65736B"/>
                </a:solidFill>
                <a:latin typeface="Aptos"/>
                <a:ea typeface="Aptos"/>
                <a:cs typeface="Aptos"/>
              </a:defRPr>
            </a:pPr>
            <a:r>
              <a:rPr sz="825" b="1">
                <a:solidFill>
                  <a:srgbClr val="65736B"/>
                </a:solidFill>
                <a:latin typeface="Aptos"/>
                <a:ea typeface="Aptos"/>
                <a:cs typeface="Aptos"/>
              </a:rPr>
              <a:t>LogisticRegression</a:t>
            </a:r>
          </a:p>
        </p:txBody>
      </p:sp>
      <p:sp>
        <p:nvSpPr>
          <p:cNvPr id="20" name="">
            <a:extLst xmlns:a="http://schemas.openxmlformats.org/drawingml/2006/main">
              <a:ext uri="{FF2B5EF4-FFF2-40B4-BE49-F238E27FC236}">
                <a16:creationId xmlns:a16="http://schemas.microsoft.com/office/drawing/2014/main" id="{4CAFFD2F-CA28-48E0-9BBA-C1C6FCC3E832}"/>
              </a:ext>
            </a:extLst>
          </p:cNvPr>
          <p:cNvSpPr>
            <a:spLocks xmlns:a="http://schemas.openxmlformats.org/drawingml/2006/main" noGrp="1"/>
          </p:cNvSpPr>
          <p:nvPr/>
        </p:nvSpPr>
        <p:spPr>
          <a:xfrm xmlns:a="http://schemas.openxmlformats.org/drawingml/2006/main">
            <a:off x="6477000" y="4076700"/>
            <a:ext cx="4095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65736B"/>
                </a:solidFill>
                <a:latin typeface="Aptos"/>
                <a:ea typeface="Aptos"/>
                <a:cs typeface="Aptos"/>
              </a:defRPr>
            </a:pPr>
            <a:r>
              <a:rPr sz="825" b="0">
                <a:solidFill>
                  <a:srgbClr val="65736B"/>
                </a:solidFill>
                <a:latin typeface="Aptos"/>
                <a:ea typeface="Aptos"/>
                <a:cs typeface="Aptos"/>
              </a:rPr>
              <a:t>ROC-AUC 0,713 · sintetico</a:t>
            </a:r>
          </a:p>
        </p:txBody>
      </p:sp>
      <p:sp>
        <p:nvSpPr>
          <p:cNvPr id="21" name="">
            <a:extLst xmlns:a="http://schemas.openxmlformats.org/drawingml/2006/main">
              <a:ext uri="{FF2B5EF4-FFF2-40B4-BE49-F238E27FC236}">
                <a16:creationId xmlns:a16="http://schemas.microsoft.com/office/drawing/2014/main" id="{518F3B27-5ECE-4337-BCB7-5E231EBD02EF}"/>
              </a:ext>
            </a:extLst>
          </p:cNvPr>
          <p:cNvSpPr>
            <a:spLocks xmlns:a="http://schemas.openxmlformats.org/drawingml/2006/main" noGrp="1"/>
          </p:cNvSpPr>
          <p:nvPr/>
        </p:nvSpPr>
        <p:spPr>
          <a:xfrm xmlns:a="http://schemas.openxmlformats.org/drawingml/2006/main">
            <a:off x="1200150" y="4476750"/>
            <a:ext cx="952500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25C358B0-0465-4028-84B6-2C42DD3D75CB}"/>
              </a:ext>
            </a:extLst>
          </p:cNvPr>
          <p:cNvSpPr>
            <a:spLocks xmlns:a="http://schemas.openxmlformats.org/drawingml/2006/main" noGrp="1"/>
          </p:cNvSpPr>
          <p:nvPr/>
        </p:nvSpPr>
        <p:spPr>
          <a:xfrm xmlns:a="http://schemas.openxmlformats.org/drawingml/2006/main">
            <a:off x="666750" y="4686300"/>
            <a:ext cx="4000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D56E42"/>
                </a:solidFill>
                <a:latin typeface="Georgia"/>
                <a:ea typeface="Georgia"/>
                <a:cs typeface="Georgia"/>
              </a:defRPr>
            </a:pPr>
            <a:r>
              <a:rPr sz="1050" b="1">
                <a:solidFill>
                  <a:srgbClr val="D56E42"/>
                </a:solidFill>
                <a:latin typeface="Georgia"/>
                <a:ea typeface="Georgia"/>
                <a:cs typeface="Georgia"/>
              </a:rPr>
              <a:t>04</a:t>
            </a:r>
          </a:p>
        </p:txBody>
      </p:sp>
      <p:sp>
        <p:nvSpPr>
          <p:cNvPr id="23" name="">
            <a:extLst xmlns:a="http://schemas.openxmlformats.org/drawingml/2006/main">
              <a:ext uri="{FF2B5EF4-FFF2-40B4-BE49-F238E27FC236}">
                <a16:creationId xmlns:a16="http://schemas.microsoft.com/office/drawing/2014/main" id="{BB1B0A32-82C3-4E9C-A38A-5A0596406160}"/>
              </a:ext>
            </a:extLst>
          </p:cNvPr>
          <p:cNvSpPr>
            <a:spLocks xmlns:a="http://schemas.openxmlformats.org/drawingml/2006/main" noGrp="1"/>
          </p:cNvSpPr>
          <p:nvPr/>
        </p:nvSpPr>
        <p:spPr>
          <a:xfrm xmlns:a="http://schemas.openxmlformats.org/drawingml/2006/main">
            <a:off x="1200150" y="4667250"/>
            <a:ext cx="20955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7211D"/>
                </a:solidFill>
                <a:latin typeface="Georgia"/>
                <a:ea typeface="Georgia"/>
                <a:cs typeface="Georgia"/>
              </a:defRPr>
            </a:pPr>
            <a:r>
              <a:rPr sz="1275" b="1">
                <a:solidFill>
                  <a:srgbClr val="17211D"/>
                </a:solidFill>
                <a:latin typeface="Georgia"/>
                <a:ea typeface="Georgia"/>
                <a:cs typeface="Georgia"/>
              </a:rPr>
              <a:t>Wear forecast</a:t>
            </a:r>
          </a:p>
        </p:txBody>
      </p:sp>
      <p:sp>
        <p:nvSpPr>
          <p:cNvPr id="24" name="">
            <a:extLst xmlns:a="http://schemas.openxmlformats.org/drawingml/2006/main">
              <a:ext uri="{FF2B5EF4-FFF2-40B4-BE49-F238E27FC236}">
                <a16:creationId xmlns:a16="http://schemas.microsoft.com/office/drawing/2014/main" id="{2A53A4B4-325A-4843-9AA6-688002044571}"/>
              </a:ext>
            </a:extLst>
          </p:cNvPr>
          <p:cNvSpPr>
            <a:spLocks xmlns:a="http://schemas.openxmlformats.org/drawingml/2006/main" noGrp="1"/>
          </p:cNvSpPr>
          <p:nvPr/>
        </p:nvSpPr>
        <p:spPr>
          <a:xfrm xmlns:a="http://schemas.openxmlformats.org/drawingml/2006/main">
            <a:off x="3524250" y="4686300"/>
            <a:ext cx="23812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65736B"/>
                </a:solidFill>
                <a:latin typeface="Aptos"/>
                <a:ea typeface="Aptos"/>
                <a:cs typeface="Aptos"/>
              </a:defRPr>
            </a:pPr>
            <a:r>
              <a:rPr sz="825" b="1">
                <a:solidFill>
                  <a:srgbClr val="65736B"/>
                </a:solidFill>
                <a:latin typeface="Aptos"/>
                <a:ea typeface="Aptos"/>
                <a:cs typeface="Aptos"/>
              </a:rPr>
              <a:t>RandomForest</a:t>
            </a:r>
          </a:p>
        </p:txBody>
      </p:sp>
      <p:sp>
        <p:nvSpPr>
          <p:cNvPr id="25" name="">
            <a:extLst xmlns:a="http://schemas.openxmlformats.org/drawingml/2006/main">
              <a:ext uri="{FF2B5EF4-FFF2-40B4-BE49-F238E27FC236}">
                <a16:creationId xmlns:a16="http://schemas.microsoft.com/office/drawing/2014/main" id="{F4810703-F94B-4778-ACBD-DFCB5413259E}"/>
              </a:ext>
            </a:extLst>
          </p:cNvPr>
          <p:cNvSpPr>
            <a:spLocks xmlns:a="http://schemas.openxmlformats.org/drawingml/2006/main" noGrp="1"/>
          </p:cNvSpPr>
          <p:nvPr/>
        </p:nvSpPr>
        <p:spPr>
          <a:xfrm xmlns:a="http://schemas.openxmlformats.org/drawingml/2006/main">
            <a:off x="6477000" y="4686300"/>
            <a:ext cx="4095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65736B"/>
                </a:solidFill>
                <a:latin typeface="Aptos"/>
                <a:ea typeface="Aptos"/>
                <a:cs typeface="Aptos"/>
              </a:defRPr>
            </a:pPr>
            <a:r>
              <a:rPr sz="825" b="0">
                <a:solidFill>
                  <a:srgbClr val="65736B"/>
                </a:solidFill>
                <a:latin typeface="Aptos"/>
                <a:ea typeface="Aptos"/>
                <a:cs typeface="Aptos"/>
              </a:rPr>
              <a:t>MAE 0,75 · target sintetico</a:t>
            </a:r>
          </a:p>
        </p:txBody>
      </p:sp>
      <p:sp>
        <p:nvSpPr>
          <p:cNvPr id="26" name="">
            <a:extLst xmlns:a="http://schemas.openxmlformats.org/drawingml/2006/main">
              <a:ext uri="{FF2B5EF4-FFF2-40B4-BE49-F238E27FC236}">
                <a16:creationId xmlns:a16="http://schemas.microsoft.com/office/drawing/2014/main" id="{EACB7F66-0F31-4D90-AD03-7086522D4578}"/>
              </a:ext>
            </a:extLst>
          </p:cNvPr>
          <p:cNvSpPr>
            <a:spLocks xmlns:a="http://schemas.openxmlformats.org/drawingml/2006/main" noGrp="1"/>
          </p:cNvSpPr>
          <p:nvPr/>
        </p:nvSpPr>
        <p:spPr>
          <a:xfrm xmlns:a="http://schemas.openxmlformats.org/drawingml/2006/main">
            <a:off x="1200150" y="5086350"/>
            <a:ext cx="952500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1A7611A2-5DD6-43CB-BB52-FF387E296155}"/>
              </a:ext>
            </a:extLst>
          </p:cNvPr>
          <p:cNvSpPr>
            <a:spLocks xmlns:a="http://schemas.openxmlformats.org/drawingml/2006/main" noGrp="1"/>
          </p:cNvSpPr>
          <p:nvPr/>
        </p:nvSpPr>
        <p:spPr>
          <a:xfrm xmlns:a="http://schemas.openxmlformats.org/drawingml/2006/main">
            <a:off x="666750" y="5295900"/>
            <a:ext cx="4000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D56E42"/>
                </a:solidFill>
                <a:latin typeface="Georgia"/>
                <a:ea typeface="Georgia"/>
                <a:cs typeface="Georgia"/>
              </a:defRPr>
            </a:pPr>
            <a:r>
              <a:rPr sz="1050" b="1">
                <a:solidFill>
                  <a:srgbClr val="D56E42"/>
                </a:solidFill>
                <a:latin typeface="Georgia"/>
                <a:ea typeface="Georgia"/>
                <a:cs typeface="Georgia"/>
              </a:rPr>
              <a:t>05</a:t>
            </a:r>
          </a:p>
        </p:txBody>
      </p:sp>
      <p:sp>
        <p:nvSpPr>
          <p:cNvPr id="28" name="">
            <a:extLst xmlns:a="http://schemas.openxmlformats.org/drawingml/2006/main">
              <a:ext uri="{FF2B5EF4-FFF2-40B4-BE49-F238E27FC236}">
                <a16:creationId xmlns:a16="http://schemas.microsoft.com/office/drawing/2014/main" id="{D1168C67-275D-403D-B4BE-4B9C43CA7678}"/>
              </a:ext>
            </a:extLst>
          </p:cNvPr>
          <p:cNvSpPr>
            <a:spLocks xmlns:a="http://schemas.openxmlformats.org/drawingml/2006/main" noGrp="1"/>
          </p:cNvSpPr>
          <p:nvPr/>
        </p:nvSpPr>
        <p:spPr>
          <a:xfrm xmlns:a="http://schemas.openxmlformats.org/drawingml/2006/main">
            <a:off x="1200150" y="5276850"/>
            <a:ext cx="20955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7211D"/>
                </a:solidFill>
                <a:latin typeface="Georgia"/>
                <a:ea typeface="Georgia"/>
                <a:cs typeface="Georgia"/>
              </a:defRPr>
            </a:pPr>
            <a:r>
              <a:rPr sz="1275" b="1">
                <a:solidFill>
                  <a:srgbClr val="17211D"/>
                </a:solidFill>
                <a:latin typeface="Georgia"/>
                <a:ea typeface="Georgia"/>
                <a:cs typeface="Georgia"/>
              </a:rPr>
              <a:t>Style clusters</a:t>
            </a:r>
          </a:p>
        </p:txBody>
      </p:sp>
      <p:sp>
        <p:nvSpPr>
          <p:cNvPr id="29" name="">
            <a:extLst xmlns:a="http://schemas.openxmlformats.org/drawingml/2006/main">
              <a:ext uri="{FF2B5EF4-FFF2-40B4-BE49-F238E27FC236}">
                <a16:creationId xmlns:a16="http://schemas.microsoft.com/office/drawing/2014/main" id="{4D6D2D38-3C06-4719-970B-BB3FA9BA726C}"/>
              </a:ext>
            </a:extLst>
          </p:cNvPr>
          <p:cNvSpPr>
            <a:spLocks xmlns:a="http://schemas.openxmlformats.org/drawingml/2006/main" noGrp="1"/>
          </p:cNvSpPr>
          <p:nvPr/>
        </p:nvSpPr>
        <p:spPr>
          <a:xfrm xmlns:a="http://schemas.openxmlformats.org/drawingml/2006/main">
            <a:off x="3524250" y="5295900"/>
            <a:ext cx="23812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65736B"/>
                </a:solidFill>
                <a:latin typeface="Aptos"/>
                <a:ea typeface="Aptos"/>
                <a:cs typeface="Aptos"/>
              </a:defRPr>
            </a:pPr>
            <a:r>
              <a:rPr sz="825" b="1">
                <a:solidFill>
                  <a:srgbClr val="65736B"/>
                </a:solidFill>
                <a:latin typeface="Aptos"/>
                <a:ea typeface="Aptos"/>
                <a:cs typeface="Aptos"/>
              </a:rPr>
              <a:t>KMeans</a:t>
            </a:r>
          </a:p>
        </p:txBody>
      </p:sp>
      <p:sp>
        <p:nvSpPr>
          <p:cNvPr id="30" name="">
            <a:extLst xmlns:a="http://schemas.openxmlformats.org/drawingml/2006/main">
              <a:ext uri="{FF2B5EF4-FFF2-40B4-BE49-F238E27FC236}">
                <a16:creationId xmlns:a16="http://schemas.microsoft.com/office/drawing/2014/main" id="{6B519818-9B61-4DE2-964E-BC5FDABF49B1}"/>
              </a:ext>
            </a:extLst>
          </p:cNvPr>
          <p:cNvSpPr>
            <a:spLocks xmlns:a="http://schemas.openxmlformats.org/drawingml/2006/main" noGrp="1"/>
          </p:cNvSpPr>
          <p:nvPr/>
        </p:nvSpPr>
        <p:spPr>
          <a:xfrm xmlns:a="http://schemas.openxmlformats.org/drawingml/2006/main">
            <a:off x="6477000" y="5295900"/>
            <a:ext cx="4095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65736B"/>
                </a:solidFill>
                <a:latin typeface="Aptos"/>
                <a:ea typeface="Aptos"/>
                <a:cs typeface="Aptos"/>
              </a:defRPr>
            </a:pPr>
            <a:r>
              <a:rPr sz="825" b="0">
                <a:solidFill>
                  <a:srgbClr val="65736B"/>
                </a:solidFill>
                <a:latin typeface="Aptos"/>
                <a:ea typeface="Aptos"/>
                <a:cs typeface="Aptos"/>
              </a:rPr>
              <a:t>profilazione esplorativa</a:t>
            </a:r>
          </a:p>
        </p:txBody>
      </p:sp>
      <p:sp>
        <p:nvSpPr>
          <p:cNvPr id="31" name="">
            <a:extLst xmlns:a="http://schemas.openxmlformats.org/drawingml/2006/main">
              <a:ext uri="{FF2B5EF4-FFF2-40B4-BE49-F238E27FC236}">
                <a16:creationId xmlns:a16="http://schemas.microsoft.com/office/drawing/2014/main" id="{368D9AB5-B9CF-4E94-9BB5-271FF0209FD7}"/>
              </a:ext>
            </a:extLst>
          </p:cNvPr>
          <p:cNvSpPr>
            <a:spLocks xmlns:a="http://schemas.openxmlformats.org/drawingml/2006/main" noGrp="1"/>
          </p:cNvSpPr>
          <p:nvPr/>
        </p:nvSpPr>
        <p:spPr>
          <a:xfrm xmlns:a="http://schemas.openxmlformats.org/drawingml/2006/main">
            <a:off x="552450" y="6457950"/>
            <a:ext cx="1108710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209B1DCC-4287-43C7-9CF3-0A0ABA24FE1E}"/>
              </a:ext>
            </a:extLst>
          </p:cNvPr>
          <p:cNvSpPr>
            <a:spLocks xmlns:a="http://schemas.openxmlformats.org/drawingml/2006/main" noGrp="1"/>
          </p:cNvSpPr>
          <p:nvPr/>
        </p:nvSpPr>
        <p:spPr>
          <a:xfrm xmlns:a="http://schemas.openxmlformats.org/drawingml/2006/main">
            <a:off x="552450" y="6534150"/>
            <a:ext cx="1000125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63" b="0">
                <a:solidFill>
                  <a:srgbClr val="65736B"/>
                </a:solidFill>
                <a:latin typeface="Aptos"/>
                <a:ea typeface="Aptos"/>
                <a:cs typeface="Aptos"/>
              </a:defRPr>
            </a:pPr>
            <a:r>
              <a:rPr sz="563" b="0">
                <a:solidFill>
                  <a:srgbClr val="65736B"/>
                </a:solidFill>
                <a:latin typeface="Aptos"/>
                <a:ea typeface="Aptos"/>
                <a:cs typeface="Aptos"/>
              </a:rPr>
              <a:t>Deliverable: ml/notebooks/exam/ · tutti eseguiti senza errori</a:t>
            </a:r>
          </a:p>
        </p:txBody>
      </p:sp>
      <p:sp>
        <p:nvSpPr>
          <p:cNvPr id="33" name="">
            <a:extLst xmlns:a="http://schemas.openxmlformats.org/drawingml/2006/main">
              <a:ext uri="{FF2B5EF4-FFF2-40B4-BE49-F238E27FC236}">
                <a16:creationId xmlns:a16="http://schemas.microsoft.com/office/drawing/2014/main" id="{C8EE7CA5-F309-4DE8-B81E-E7F3BB978797}"/>
              </a:ext>
            </a:extLst>
          </p:cNvPr>
          <p:cNvSpPr>
            <a:spLocks xmlns:a="http://schemas.openxmlformats.org/drawingml/2006/main" noGrp="1"/>
          </p:cNvSpPr>
          <p:nvPr/>
        </p:nvSpPr>
        <p:spPr>
          <a:xfrm xmlns:a="http://schemas.openxmlformats.org/drawingml/2006/main">
            <a:off x="11087100" y="650557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65736B"/>
                </a:solidFill>
                <a:latin typeface="Georgia"/>
                <a:ea typeface="Georgia"/>
                <a:cs typeface="Georgia"/>
              </a:defRPr>
            </a:pPr>
            <a:r>
              <a:rPr sz="750" b="1">
                <a:solidFill>
                  <a:srgbClr val="65736B"/>
                </a:solidFill>
                <a:latin typeface="Georgia"/>
                <a:ea typeface="Georgia"/>
                <a:cs typeface="Georgia"/>
              </a:rPr>
              <a:t>12</a:t>
            </a:r>
          </a:p>
        </p:txBody>
      </p:sp>
    </p:spTree>
    <p:extLst>
      <p:ext uri="{BB962C8B-B14F-4D97-AF65-F5344CB8AC3E}">
        <p14:creationId xmlns:p14="http://schemas.microsoft.com/office/powerpoint/2010/main" val="1036596699"/>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163264D4-2136-437E-A98A-7BF2EA0B5DA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0E7"/>
          </a:solidFill>
          <a:ln xmlns:a="http://schemas.openxmlformats.org/drawingml/2006/main" w="0">
            <a:solidFill>
              <a:srgbClr val="000000">
                <a:alpha val="0"/>
              </a:srgbClr>
            </a:solidFill>
            <a:prstDash val="solid"/>
          </a:ln>
        </p:spPr>
      </p:sp>
      <p:sp>
        <p:nvSpPr>
          <p:cNvPr id="2" name="kicker-marker">
            <a:extLst xmlns:a="http://schemas.openxmlformats.org/drawingml/2006/main">
              <a:ext uri="{FF2B5EF4-FFF2-40B4-BE49-F238E27FC236}">
                <a16:creationId xmlns:a16="http://schemas.microsoft.com/office/drawing/2014/main" id="{F3223065-4303-4F0F-8C7D-9AD6D1FD18BF}"/>
              </a:ext>
            </a:extLst>
          </p:cNvPr>
          <p:cNvSpPr>
            <a:spLocks xmlns:a="http://schemas.openxmlformats.org/drawingml/2006/main" noGrp="1"/>
          </p:cNvSpPr>
          <p:nvPr/>
        </p:nvSpPr>
        <p:spPr>
          <a:xfrm xmlns:a="http://schemas.openxmlformats.org/drawingml/2006/main">
            <a:off x="552450" y="438150"/>
            <a:ext cx="95250" cy="9525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3" name="kicker-label">
            <a:extLst xmlns:a="http://schemas.openxmlformats.org/drawingml/2006/main">
              <a:ext uri="{FF2B5EF4-FFF2-40B4-BE49-F238E27FC236}">
                <a16:creationId xmlns:a16="http://schemas.microsoft.com/office/drawing/2014/main" id="{C8C86364-B574-409C-9048-CBA65FB01440}"/>
              </a:ext>
            </a:extLst>
          </p:cNvPr>
          <p:cNvSpPr>
            <a:spLocks xmlns:a="http://schemas.openxmlformats.org/drawingml/2006/main" noGrp="1"/>
          </p:cNvSpPr>
          <p:nvPr/>
        </p:nvSpPr>
        <p:spPr>
          <a:xfrm xmlns:a="http://schemas.openxmlformats.org/drawingml/2006/main">
            <a:off x="762000" y="400050"/>
            <a:ext cx="4762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65736B"/>
                </a:solidFill>
                <a:latin typeface="Aptos"/>
                <a:ea typeface="Aptos"/>
                <a:cs typeface="Aptos"/>
              </a:defRPr>
            </a:pPr>
            <a:r>
              <a:rPr sz="675" b="1">
                <a:solidFill>
                  <a:srgbClr val="65736B"/>
                </a:solidFill>
                <a:latin typeface="Aptos"/>
                <a:ea typeface="Aptos"/>
                <a:cs typeface="Aptos"/>
              </a:rPr>
              <a:t>S M A R T P H O N E   ·   F A T T I B I L I T À</a:t>
            </a:r>
          </a:p>
        </p:txBody>
      </p:sp>
      <p:sp>
        <p:nvSpPr>
          <p:cNvPr id="4" name="claim-title">
            <a:extLst xmlns:a="http://schemas.openxmlformats.org/drawingml/2006/main">
              <a:ext uri="{FF2B5EF4-FFF2-40B4-BE49-F238E27FC236}">
                <a16:creationId xmlns:a16="http://schemas.microsoft.com/office/drawing/2014/main" id="{841796CE-23D5-4540-A7FD-2243E2BEF91E}"/>
              </a:ext>
            </a:extLst>
          </p:cNvPr>
          <p:cNvSpPr>
            <a:spLocks xmlns:a="http://schemas.openxmlformats.org/drawingml/2006/main" noGrp="1"/>
          </p:cNvSpPr>
          <p:nvPr/>
        </p:nvSpPr>
        <p:spPr>
          <a:xfrm xmlns:a="http://schemas.openxmlformats.org/drawingml/2006/main">
            <a:off x="552450" y="742950"/>
            <a:ext cx="1066800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625" b="1">
                <a:solidFill>
                  <a:srgbClr val="17211D"/>
                </a:solidFill>
                <a:latin typeface="Georgia"/>
                <a:ea typeface="Georgia"/>
                <a:cs typeface="Georgia"/>
              </a:defRPr>
            </a:pPr>
            <a:r>
              <a:rPr sz="2625" b="1">
                <a:solidFill>
                  <a:srgbClr val="17211D"/>
                </a:solidFill>
                <a:latin typeface="Georgia"/>
                <a:ea typeface="Georgia"/>
                <a:cs typeface="Georgia"/>
              </a:rPr>
              <a:t>Sì, può diventare un’app: la scelta giusta dipende da quanta “natività” serve davvero.</a:t>
            </a:r>
          </a:p>
        </p:txBody>
      </p:sp>
      <p:sp>
        <p:nvSpPr>
          <p:cNvPr id="5" name="">
            <a:extLst xmlns:a="http://schemas.openxmlformats.org/drawingml/2006/main">
              <a:ext uri="{FF2B5EF4-FFF2-40B4-BE49-F238E27FC236}">
                <a16:creationId xmlns:a16="http://schemas.microsoft.com/office/drawing/2014/main" id="{D47EAD33-2A90-4CCE-8D44-673012B12BE0}"/>
              </a:ext>
            </a:extLst>
          </p:cNvPr>
          <p:cNvSpPr>
            <a:spLocks xmlns:a="http://schemas.openxmlformats.org/drawingml/2006/main" noGrp="1"/>
          </p:cNvSpPr>
          <p:nvPr/>
        </p:nvSpPr>
        <p:spPr>
          <a:xfrm xmlns:a="http://schemas.openxmlformats.org/drawingml/2006/main">
            <a:off x="1200150" y="3219450"/>
            <a:ext cx="9334500" cy="2857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6" name="">
            <a:extLst xmlns:a="http://schemas.openxmlformats.org/drawingml/2006/main">
              <a:ext uri="{FF2B5EF4-FFF2-40B4-BE49-F238E27FC236}">
                <a16:creationId xmlns:a16="http://schemas.microsoft.com/office/drawing/2014/main" id="{ED0AF00A-2604-471E-AE61-C5DE2E61C87B}"/>
              </a:ext>
            </a:extLst>
          </p:cNvPr>
          <p:cNvSpPr>
            <a:spLocks xmlns:a="http://schemas.openxmlformats.org/drawingml/2006/main" noGrp="1"/>
          </p:cNvSpPr>
          <p:nvPr/>
        </p:nvSpPr>
        <p:spPr>
          <a:xfrm xmlns:a="http://schemas.openxmlformats.org/drawingml/2006/main">
            <a:off x="1047750" y="2990850"/>
            <a:ext cx="457200" cy="457200"/>
          </a:xfrm>
          <a:prstGeom xmlns:a="http://schemas.openxmlformats.org/drawingml/2006/main" prst="ellipse">
            <a:avLst/>
          </a:prstGeom>
          <a:solidFill xmlns:a="http://schemas.openxmlformats.org/drawingml/2006/main">
            <a:srgbClr val="123C31"/>
          </a:solidFill>
          <a:ln xmlns:a="http://schemas.openxmlformats.org/drawingml/2006/main" w="0">
            <a:solidFill>
              <a:srgbClr val="000000">
                <a:alpha val="0"/>
              </a:srgbClr>
            </a:solidFill>
            <a:prstDash val="solid"/>
          </a:ln>
        </p:spPr>
      </p:sp>
      <p:sp>
        <p:nvSpPr>
          <p:cNvPr id="7" name="">
            <a:extLst xmlns:a="http://schemas.openxmlformats.org/drawingml/2006/main">
              <a:ext uri="{FF2B5EF4-FFF2-40B4-BE49-F238E27FC236}">
                <a16:creationId xmlns:a16="http://schemas.microsoft.com/office/drawing/2014/main" id="{D91D9F3C-6955-424C-9DC6-557F80AC4BF9}"/>
              </a:ext>
            </a:extLst>
          </p:cNvPr>
          <p:cNvSpPr>
            <a:spLocks xmlns:a="http://schemas.openxmlformats.org/drawingml/2006/main" noGrp="1"/>
          </p:cNvSpPr>
          <p:nvPr/>
        </p:nvSpPr>
        <p:spPr>
          <a:xfrm xmlns:a="http://schemas.openxmlformats.org/drawingml/2006/main">
            <a:off x="1047750" y="3028950"/>
            <a:ext cx="45720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75" b="1">
                <a:solidFill>
                  <a:srgbClr val="FFFFFF"/>
                </a:solidFill>
                <a:latin typeface="Georgia"/>
                <a:ea typeface="Georgia"/>
                <a:cs typeface="Georgia"/>
              </a:defRPr>
            </a:pPr>
            <a:r>
              <a:rPr sz="1275" b="1">
                <a:solidFill>
                  <a:srgbClr val="FFFFFF"/>
                </a:solidFill>
                <a:latin typeface="Georgia"/>
                <a:ea typeface="Georgia"/>
                <a:cs typeface="Georgia"/>
              </a:rPr>
              <a:t>1</a:t>
            </a:r>
          </a:p>
        </p:txBody>
      </p:sp>
      <p:sp>
        <p:nvSpPr>
          <p:cNvPr id="8" name="">
            <a:extLst xmlns:a="http://schemas.openxmlformats.org/drawingml/2006/main">
              <a:ext uri="{FF2B5EF4-FFF2-40B4-BE49-F238E27FC236}">
                <a16:creationId xmlns:a16="http://schemas.microsoft.com/office/drawing/2014/main" id="{EC915781-FE93-4B94-92EE-3A96CE63AB13}"/>
              </a:ext>
            </a:extLst>
          </p:cNvPr>
          <p:cNvSpPr>
            <a:spLocks xmlns:a="http://schemas.openxmlformats.org/drawingml/2006/main" noGrp="1"/>
          </p:cNvSpPr>
          <p:nvPr/>
        </p:nvSpPr>
        <p:spPr>
          <a:xfrm xmlns:a="http://schemas.openxmlformats.org/drawingml/2006/main">
            <a:off x="819150" y="3714750"/>
            <a:ext cx="21907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123C31"/>
                </a:solidFill>
                <a:latin typeface="Aptos"/>
                <a:ea typeface="Aptos"/>
                <a:cs typeface="Aptos"/>
              </a:defRPr>
            </a:pPr>
            <a:r>
              <a:rPr sz="675" b="1">
                <a:solidFill>
                  <a:srgbClr val="123C31"/>
                </a:solidFill>
                <a:latin typeface="Aptos"/>
                <a:ea typeface="Aptos"/>
                <a:cs typeface="Aptos"/>
              </a:rPr>
              <a:t>ORA</a:t>
            </a:r>
          </a:p>
        </p:txBody>
      </p:sp>
      <p:sp>
        <p:nvSpPr>
          <p:cNvPr id="9" name="">
            <a:extLst xmlns:a="http://schemas.openxmlformats.org/drawingml/2006/main">
              <a:ext uri="{FF2B5EF4-FFF2-40B4-BE49-F238E27FC236}">
                <a16:creationId xmlns:a16="http://schemas.microsoft.com/office/drawing/2014/main" id="{C74FF7F3-3483-47E6-A260-DEF01C3B8A1E}"/>
              </a:ext>
            </a:extLst>
          </p:cNvPr>
          <p:cNvSpPr>
            <a:spLocks xmlns:a="http://schemas.openxmlformats.org/drawingml/2006/main" noGrp="1"/>
          </p:cNvSpPr>
          <p:nvPr/>
        </p:nvSpPr>
        <p:spPr>
          <a:xfrm xmlns:a="http://schemas.openxmlformats.org/drawingml/2006/main">
            <a:off x="819150" y="4000500"/>
            <a:ext cx="21907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17211D"/>
                </a:solidFill>
                <a:latin typeface="Georgia"/>
                <a:ea typeface="Georgia"/>
                <a:cs typeface="Georgia"/>
              </a:defRPr>
            </a:pPr>
            <a:r>
              <a:rPr sz="1650" b="1">
                <a:solidFill>
                  <a:srgbClr val="17211D"/>
                </a:solidFill>
                <a:latin typeface="Georgia"/>
                <a:ea typeface="Georgia"/>
                <a:cs typeface="Georgia"/>
              </a:rPr>
              <a:t>Web responsive</a:t>
            </a:r>
          </a:p>
        </p:txBody>
      </p:sp>
      <p:sp>
        <p:nvSpPr>
          <p:cNvPr id="10" name="">
            <a:extLst xmlns:a="http://schemas.openxmlformats.org/drawingml/2006/main">
              <a:ext uri="{FF2B5EF4-FFF2-40B4-BE49-F238E27FC236}">
                <a16:creationId xmlns:a16="http://schemas.microsoft.com/office/drawing/2014/main" id="{46023306-5A34-4581-B298-489329773F97}"/>
              </a:ext>
            </a:extLst>
          </p:cNvPr>
          <p:cNvSpPr>
            <a:spLocks xmlns:a="http://schemas.openxmlformats.org/drawingml/2006/main" noGrp="1"/>
          </p:cNvSpPr>
          <p:nvPr/>
        </p:nvSpPr>
        <p:spPr>
          <a:xfrm xmlns:a="http://schemas.openxmlformats.org/drawingml/2006/main">
            <a:off x="819150" y="4457700"/>
            <a:ext cx="219075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0">
                <a:solidFill>
                  <a:srgbClr val="65736B"/>
                </a:solidFill>
                <a:latin typeface="Aptos"/>
                <a:ea typeface="Aptos"/>
                <a:cs typeface="Aptos"/>
              </a:defRPr>
            </a:pPr>
            <a:r>
              <a:rPr sz="863" b="0">
                <a:solidFill>
                  <a:srgbClr val="65736B"/>
                </a:solidFill>
                <a:latin typeface="Aptos"/>
                <a:ea typeface="Aptos"/>
                <a:cs typeface="Aptos"/>
              </a:rPr>
              <a:t>UI già mobile</a:t>
            </a:r>
          </a:p>
          <a:p xmlns:a="http://schemas.openxmlformats.org/drawingml/2006/main">
            <a:pPr algn="l">
              <a:defRPr sz="863" b="0">
                <a:solidFill>
                  <a:srgbClr val="65736B"/>
                </a:solidFill>
                <a:latin typeface="Aptos"/>
                <a:ea typeface="Aptos"/>
                <a:cs typeface="Aptos"/>
              </a:defRPr>
            </a:pPr>
            <a:r>
              <a:rPr sz="863" b="0">
                <a:solidFill>
                  <a:srgbClr val="65736B"/>
                </a:solidFill>
                <a:latin typeface="Aptos"/>
                <a:ea typeface="Aptos"/>
                <a:cs typeface="Aptos"/>
              </a:rPr>
              <a:t>camera browser</a:t>
            </a:r>
          </a:p>
        </p:txBody>
      </p:sp>
      <p:sp>
        <p:nvSpPr>
          <p:cNvPr id="11" name="">
            <a:extLst xmlns:a="http://schemas.openxmlformats.org/drawingml/2006/main">
              <a:ext uri="{FF2B5EF4-FFF2-40B4-BE49-F238E27FC236}">
                <a16:creationId xmlns:a16="http://schemas.microsoft.com/office/drawing/2014/main" id="{0BC682C5-A958-4843-8804-0DE6840FB89D}"/>
              </a:ext>
            </a:extLst>
          </p:cNvPr>
          <p:cNvSpPr>
            <a:spLocks xmlns:a="http://schemas.openxmlformats.org/drawingml/2006/main" noGrp="1"/>
          </p:cNvSpPr>
          <p:nvPr/>
        </p:nvSpPr>
        <p:spPr>
          <a:xfrm xmlns:a="http://schemas.openxmlformats.org/drawingml/2006/main">
            <a:off x="3848100" y="2990850"/>
            <a:ext cx="457200" cy="45720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55F88E87-83C2-470D-B3F9-2191C2140888}"/>
              </a:ext>
            </a:extLst>
          </p:cNvPr>
          <p:cNvSpPr>
            <a:spLocks xmlns:a="http://schemas.openxmlformats.org/drawingml/2006/main" noGrp="1"/>
          </p:cNvSpPr>
          <p:nvPr/>
        </p:nvSpPr>
        <p:spPr>
          <a:xfrm xmlns:a="http://schemas.openxmlformats.org/drawingml/2006/main">
            <a:off x="3848100" y="3028950"/>
            <a:ext cx="45720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75" b="1">
                <a:solidFill>
                  <a:srgbClr val="FFFFFF"/>
                </a:solidFill>
                <a:latin typeface="Georgia"/>
                <a:ea typeface="Georgia"/>
                <a:cs typeface="Georgia"/>
              </a:defRPr>
            </a:pPr>
            <a:r>
              <a:rPr sz="1275" b="1">
                <a:solidFill>
                  <a:srgbClr val="FFFFFF"/>
                </a:solidFill>
                <a:latin typeface="Georgia"/>
                <a:ea typeface="Georgia"/>
                <a:cs typeface="Georgia"/>
              </a:rPr>
              <a:t>2</a:t>
            </a:r>
          </a:p>
        </p:txBody>
      </p:sp>
      <p:sp>
        <p:nvSpPr>
          <p:cNvPr id="13" name="">
            <a:extLst xmlns:a="http://schemas.openxmlformats.org/drawingml/2006/main">
              <a:ext uri="{FF2B5EF4-FFF2-40B4-BE49-F238E27FC236}">
                <a16:creationId xmlns:a16="http://schemas.microsoft.com/office/drawing/2014/main" id="{32CED32B-36AD-4F69-A832-797F895A7468}"/>
              </a:ext>
            </a:extLst>
          </p:cNvPr>
          <p:cNvSpPr>
            <a:spLocks xmlns:a="http://schemas.openxmlformats.org/drawingml/2006/main" noGrp="1"/>
          </p:cNvSpPr>
          <p:nvPr/>
        </p:nvSpPr>
        <p:spPr>
          <a:xfrm xmlns:a="http://schemas.openxmlformats.org/drawingml/2006/main">
            <a:off x="3619500" y="3714750"/>
            <a:ext cx="21907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2F7D5B"/>
                </a:solidFill>
                <a:latin typeface="Aptos"/>
                <a:ea typeface="Aptos"/>
                <a:cs typeface="Aptos"/>
              </a:defRPr>
            </a:pPr>
            <a:r>
              <a:rPr sz="675" b="1">
                <a:solidFill>
                  <a:srgbClr val="2F7D5B"/>
                </a:solidFill>
                <a:latin typeface="Aptos"/>
                <a:ea typeface="Aptos"/>
                <a:cs typeface="Aptos"/>
              </a:rPr>
              <a:t>PROSSIMO</a:t>
            </a:r>
          </a:p>
        </p:txBody>
      </p:sp>
      <p:sp>
        <p:nvSpPr>
          <p:cNvPr id="14" name="">
            <a:extLst xmlns:a="http://schemas.openxmlformats.org/drawingml/2006/main">
              <a:ext uri="{FF2B5EF4-FFF2-40B4-BE49-F238E27FC236}">
                <a16:creationId xmlns:a16="http://schemas.microsoft.com/office/drawing/2014/main" id="{DD5DEAF2-3D6F-4068-995C-6613A95156E9}"/>
              </a:ext>
            </a:extLst>
          </p:cNvPr>
          <p:cNvSpPr>
            <a:spLocks xmlns:a="http://schemas.openxmlformats.org/drawingml/2006/main" noGrp="1"/>
          </p:cNvSpPr>
          <p:nvPr/>
        </p:nvSpPr>
        <p:spPr>
          <a:xfrm xmlns:a="http://schemas.openxmlformats.org/drawingml/2006/main">
            <a:off x="3619500" y="4000500"/>
            <a:ext cx="21907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17211D"/>
                </a:solidFill>
                <a:latin typeface="Georgia"/>
                <a:ea typeface="Georgia"/>
                <a:cs typeface="Georgia"/>
              </a:defRPr>
            </a:pPr>
            <a:r>
              <a:rPr sz="1650" b="1">
                <a:solidFill>
                  <a:srgbClr val="17211D"/>
                </a:solidFill>
                <a:latin typeface="Georgia"/>
                <a:ea typeface="Georgia"/>
                <a:cs typeface="Georgia"/>
              </a:rPr>
              <a:t>PWA</a:t>
            </a:r>
          </a:p>
        </p:txBody>
      </p:sp>
      <p:sp>
        <p:nvSpPr>
          <p:cNvPr id="15" name="">
            <a:extLst xmlns:a="http://schemas.openxmlformats.org/drawingml/2006/main">
              <a:ext uri="{FF2B5EF4-FFF2-40B4-BE49-F238E27FC236}">
                <a16:creationId xmlns:a16="http://schemas.microsoft.com/office/drawing/2014/main" id="{34DFA4A3-58A4-46DF-A525-AE71ECD79559}"/>
              </a:ext>
            </a:extLst>
          </p:cNvPr>
          <p:cNvSpPr>
            <a:spLocks xmlns:a="http://schemas.openxmlformats.org/drawingml/2006/main" noGrp="1"/>
          </p:cNvSpPr>
          <p:nvPr/>
        </p:nvSpPr>
        <p:spPr>
          <a:xfrm xmlns:a="http://schemas.openxmlformats.org/drawingml/2006/main">
            <a:off x="3619500" y="4457700"/>
            <a:ext cx="219075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0">
                <a:solidFill>
                  <a:srgbClr val="65736B"/>
                </a:solidFill>
                <a:latin typeface="Aptos"/>
                <a:ea typeface="Aptos"/>
                <a:cs typeface="Aptos"/>
              </a:defRPr>
            </a:pPr>
            <a:r>
              <a:rPr sz="863" b="0">
                <a:solidFill>
                  <a:srgbClr val="65736B"/>
                </a:solidFill>
                <a:latin typeface="Aptos"/>
                <a:ea typeface="Aptos"/>
                <a:cs typeface="Aptos"/>
              </a:rPr>
              <a:t>manifest · offline queue</a:t>
            </a:r>
          </a:p>
          <a:p xmlns:a="http://schemas.openxmlformats.org/drawingml/2006/main">
            <a:pPr algn="l">
              <a:defRPr sz="863" b="0">
                <a:solidFill>
                  <a:srgbClr val="65736B"/>
                </a:solidFill>
                <a:latin typeface="Aptos"/>
                <a:ea typeface="Aptos"/>
                <a:cs typeface="Aptos"/>
              </a:defRPr>
            </a:pPr>
            <a:r>
              <a:rPr sz="863" b="0">
                <a:solidFill>
                  <a:srgbClr val="65736B"/>
                </a:solidFill>
                <a:latin typeface="Aptos"/>
                <a:ea typeface="Aptos"/>
                <a:cs typeface="Aptos"/>
              </a:rPr>
              <a:t>installazione</a:t>
            </a:r>
          </a:p>
        </p:txBody>
      </p:sp>
      <p:sp>
        <p:nvSpPr>
          <p:cNvPr id="16" name="">
            <a:extLst xmlns:a="http://schemas.openxmlformats.org/drawingml/2006/main">
              <a:ext uri="{FF2B5EF4-FFF2-40B4-BE49-F238E27FC236}">
                <a16:creationId xmlns:a16="http://schemas.microsoft.com/office/drawing/2014/main" id="{E00B9083-3EA1-446D-8E9F-FDF3E2F2C79E}"/>
              </a:ext>
            </a:extLst>
          </p:cNvPr>
          <p:cNvSpPr>
            <a:spLocks xmlns:a="http://schemas.openxmlformats.org/drawingml/2006/main" noGrp="1"/>
          </p:cNvSpPr>
          <p:nvPr/>
        </p:nvSpPr>
        <p:spPr>
          <a:xfrm xmlns:a="http://schemas.openxmlformats.org/drawingml/2006/main">
            <a:off x="6648450" y="2990850"/>
            <a:ext cx="457200" cy="457200"/>
          </a:xfrm>
          <a:prstGeom xmlns:a="http://schemas.openxmlformats.org/drawingml/2006/main" prst="ellipse">
            <a:avLst/>
          </a:prstGeom>
          <a:solidFill xmlns:a="http://schemas.openxmlformats.org/drawingml/2006/main">
            <a:srgbClr val="466D86"/>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3122715B-49F8-4AFB-9FC0-9E5E462F9B7A}"/>
              </a:ext>
            </a:extLst>
          </p:cNvPr>
          <p:cNvSpPr>
            <a:spLocks xmlns:a="http://schemas.openxmlformats.org/drawingml/2006/main" noGrp="1"/>
          </p:cNvSpPr>
          <p:nvPr/>
        </p:nvSpPr>
        <p:spPr>
          <a:xfrm xmlns:a="http://schemas.openxmlformats.org/drawingml/2006/main">
            <a:off x="6648450" y="3028950"/>
            <a:ext cx="45720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75" b="1">
                <a:solidFill>
                  <a:srgbClr val="FFFFFF"/>
                </a:solidFill>
                <a:latin typeface="Georgia"/>
                <a:ea typeface="Georgia"/>
                <a:cs typeface="Georgia"/>
              </a:defRPr>
            </a:pPr>
            <a:r>
              <a:rPr sz="1275" b="1">
                <a:solidFill>
                  <a:srgbClr val="FFFFFF"/>
                </a:solidFill>
                <a:latin typeface="Georgia"/>
                <a:ea typeface="Georgia"/>
                <a:cs typeface="Georgia"/>
              </a:rPr>
              <a:t>3</a:t>
            </a:r>
          </a:p>
        </p:txBody>
      </p:sp>
      <p:sp>
        <p:nvSpPr>
          <p:cNvPr id="18" name="">
            <a:extLst xmlns:a="http://schemas.openxmlformats.org/drawingml/2006/main">
              <a:ext uri="{FF2B5EF4-FFF2-40B4-BE49-F238E27FC236}">
                <a16:creationId xmlns:a16="http://schemas.microsoft.com/office/drawing/2014/main" id="{87829C77-05C9-4A74-95E3-FD3E13D8BD35}"/>
              </a:ext>
            </a:extLst>
          </p:cNvPr>
          <p:cNvSpPr>
            <a:spLocks xmlns:a="http://schemas.openxmlformats.org/drawingml/2006/main" noGrp="1"/>
          </p:cNvSpPr>
          <p:nvPr/>
        </p:nvSpPr>
        <p:spPr>
          <a:xfrm xmlns:a="http://schemas.openxmlformats.org/drawingml/2006/main">
            <a:off x="6419850" y="3714750"/>
            <a:ext cx="21907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466D86"/>
                </a:solidFill>
                <a:latin typeface="Aptos"/>
                <a:ea typeface="Aptos"/>
                <a:cs typeface="Aptos"/>
              </a:defRPr>
            </a:pPr>
            <a:r>
              <a:rPr sz="675" b="1">
                <a:solidFill>
                  <a:srgbClr val="466D86"/>
                </a:solidFill>
                <a:latin typeface="Aptos"/>
                <a:ea typeface="Aptos"/>
                <a:cs typeface="Aptos"/>
              </a:rPr>
              <a:t>SE SERVE</a:t>
            </a:r>
          </a:p>
        </p:txBody>
      </p:sp>
      <p:sp>
        <p:nvSpPr>
          <p:cNvPr id="19" name="">
            <a:extLst xmlns:a="http://schemas.openxmlformats.org/drawingml/2006/main">
              <a:ext uri="{FF2B5EF4-FFF2-40B4-BE49-F238E27FC236}">
                <a16:creationId xmlns:a16="http://schemas.microsoft.com/office/drawing/2014/main" id="{F97BEABB-22CB-4877-870F-EDCB50C32BD7}"/>
              </a:ext>
            </a:extLst>
          </p:cNvPr>
          <p:cNvSpPr>
            <a:spLocks xmlns:a="http://schemas.openxmlformats.org/drawingml/2006/main" noGrp="1"/>
          </p:cNvSpPr>
          <p:nvPr/>
        </p:nvSpPr>
        <p:spPr>
          <a:xfrm xmlns:a="http://schemas.openxmlformats.org/drawingml/2006/main">
            <a:off x="6419850" y="4000500"/>
            <a:ext cx="21907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17211D"/>
                </a:solidFill>
                <a:latin typeface="Georgia"/>
                <a:ea typeface="Georgia"/>
                <a:cs typeface="Georgia"/>
              </a:defRPr>
            </a:pPr>
            <a:r>
              <a:rPr sz="1650" b="1">
                <a:solidFill>
                  <a:srgbClr val="17211D"/>
                </a:solidFill>
                <a:latin typeface="Georgia"/>
                <a:ea typeface="Georgia"/>
                <a:cs typeface="Georgia"/>
              </a:rPr>
              <a:t>Capacitor</a:t>
            </a:r>
          </a:p>
        </p:txBody>
      </p:sp>
      <p:sp>
        <p:nvSpPr>
          <p:cNvPr id="20" name="">
            <a:extLst xmlns:a="http://schemas.openxmlformats.org/drawingml/2006/main">
              <a:ext uri="{FF2B5EF4-FFF2-40B4-BE49-F238E27FC236}">
                <a16:creationId xmlns:a16="http://schemas.microsoft.com/office/drawing/2014/main" id="{9AB1DD1B-63B5-4590-8D29-80CDD4030305}"/>
              </a:ext>
            </a:extLst>
          </p:cNvPr>
          <p:cNvSpPr>
            <a:spLocks xmlns:a="http://schemas.openxmlformats.org/drawingml/2006/main" noGrp="1"/>
          </p:cNvSpPr>
          <p:nvPr/>
        </p:nvSpPr>
        <p:spPr>
          <a:xfrm xmlns:a="http://schemas.openxmlformats.org/drawingml/2006/main">
            <a:off x="6419850" y="4457700"/>
            <a:ext cx="219075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0">
                <a:solidFill>
                  <a:srgbClr val="65736B"/>
                </a:solidFill>
                <a:latin typeface="Aptos"/>
                <a:ea typeface="Aptos"/>
                <a:cs typeface="Aptos"/>
              </a:defRPr>
            </a:pPr>
            <a:r>
              <a:rPr sz="863" b="0">
                <a:solidFill>
                  <a:srgbClr val="65736B"/>
                </a:solidFill>
                <a:latin typeface="Aptos"/>
                <a:ea typeface="Aptos"/>
                <a:cs typeface="Aptos"/>
              </a:rPr>
              <a:t>riuso UI web</a:t>
            </a:r>
          </a:p>
          <a:p xmlns:a="http://schemas.openxmlformats.org/drawingml/2006/main">
            <a:pPr algn="l">
              <a:defRPr sz="863" b="0">
                <a:solidFill>
                  <a:srgbClr val="65736B"/>
                </a:solidFill>
                <a:latin typeface="Aptos"/>
                <a:ea typeface="Aptos"/>
                <a:cs typeface="Aptos"/>
              </a:defRPr>
            </a:pPr>
            <a:r>
              <a:rPr sz="863" b="0">
                <a:solidFill>
                  <a:srgbClr val="65736B"/>
                </a:solidFill>
                <a:latin typeface="Aptos"/>
                <a:ea typeface="Aptos"/>
                <a:cs typeface="Aptos"/>
              </a:rPr>
              <a:t>plugin nativi</a:t>
            </a:r>
          </a:p>
        </p:txBody>
      </p:sp>
      <p:sp>
        <p:nvSpPr>
          <p:cNvPr id="21" name="">
            <a:extLst xmlns:a="http://schemas.openxmlformats.org/drawingml/2006/main">
              <a:ext uri="{FF2B5EF4-FFF2-40B4-BE49-F238E27FC236}">
                <a16:creationId xmlns:a16="http://schemas.microsoft.com/office/drawing/2014/main" id="{B90F54CE-C51C-462A-9A70-C40AA7262B09}"/>
              </a:ext>
            </a:extLst>
          </p:cNvPr>
          <p:cNvSpPr>
            <a:spLocks xmlns:a="http://schemas.openxmlformats.org/drawingml/2006/main" noGrp="1"/>
          </p:cNvSpPr>
          <p:nvPr/>
        </p:nvSpPr>
        <p:spPr>
          <a:xfrm xmlns:a="http://schemas.openxmlformats.org/drawingml/2006/main">
            <a:off x="9448800" y="2990850"/>
            <a:ext cx="457200" cy="457200"/>
          </a:xfrm>
          <a:prstGeom xmlns:a="http://schemas.openxmlformats.org/drawingml/2006/main" prst="ellipse">
            <a:avLst/>
          </a:prstGeom>
          <a:solidFill xmlns:a="http://schemas.openxmlformats.org/drawingml/2006/main">
            <a:srgbClr val="D56E42"/>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2294F79C-ACD1-48D6-8C8B-FE6265416426}"/>
              </a:ext>
            </a:extLst>
          </p:cNvPr>
          <p:cNvSpPr>
            <a:spLocks xmlns:a="http://schemas.openxmlformats.org/drawingml/2006/main" noGrp="1"/>
          </p:cNvSpPr>
          <p:nvPr/>
        </p:nvSpPr>
        <p:spPr>
          <a:xfrm xmlns:a="http://schemas.openxmlformats.org/drawingml/2006/main">
            <a:off x="9448800" y="3028950"/>
            <a:ext cx="45720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75" b="1">
                <a:solidFill>
                  <a:srgbClr val="FFFFFF"/>
                </a:solidFill>
                <a:latin typeface="Georgia"/>
                <a:ea typeface="Georgia"/>
                <a:cs typeface="Georgia"/>
              </a:defRPr>
            </a:pPr>
            <a:r>
              <a:rPr sz="1275" b="1">
                <a:solidFill>
                  <a:srgbClr val="FFFFFF"/>
                </a:solidFill>
                <a:latin typeface="Georgia"/>
                <a:ea typeface="Georgia"/>
                <a:cs typeface="Georgia"/>
              </a:rPr>
              <a:t>4</a:t>
            </a:r>
          </a:p>
        </p:txBody>
      </p:sp>
      <p:sp>
        <p:nvSpPr>
          <p:cNvPr id="23" name="">
            <a:extLst xmlns:a="http://schemas.openxmlformats.org/drawingml/2006/main">
              <a:ext uri="{FF2B5EF4-FFF2-40B4-BE49-F238E27FC236}">
                <a16:creationId xmlns:a16="http://schemas.microsoft.com/office/drawing/2014/main" id="{B1D9B561-9EC5-487C-B6CE-F4AEA7D37251}"/>
              </a:ext>
            </a:extLst>
          </p:cNvPr>
          <p:cNvSpPr>
            <a:spLocks xmlns:a="http://schemas.openxmlformats.org/drawingml/2006/main" noGrp="1"/>
          </p:cNvSpPr>
          <p:nvPr/>
        </p:nvSpPr>
        <p:spPr>
          <a:xfrm xmlns:a="http://schemas.openxmlformats.org/drawingml/2006/main">
            <a:off x="9220200" y="3714750"/>
            <a:ext cx="21907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D56E42"/>
                </a:solidFill>
                <a:latin typeface="Aptos"/>
                <a:ea typeface="Aptos"/>
                <a:cs typeface="Aptos"/>
              </a:defRPr>
            </a:pPr>
            <a:r>
              <a:rPr sz="675" b="1">
                <a:solidFill>
                  <a:srgbClr val="D56E42"/>
                </a:solidFill>
                <a:latin typeface="Aptos"/>
                <a:ea typeface="Aptos"/>
                <a:cs typeface="Aptos"/>
              </a:rPr>
              <a:t>MOBILE-FIRST</a:t>
            </a:r>
          </a:p>
        </p:txBody>
      </p:sp>
      <p:sp>
        <p:nvSpPr>
          <p:cNvPr id="24" name="">
            <a:extLst xmlns:a="http://schemas.openxmlformats.org/drawingml/2006/main">
              <a:ext uri="{FF2B5EF4-FFF2-40B4-BE49-F238E27FC236}">
                <a16:creationId xmlns:a16="http://schemas.microsoft.com/office/drawing/2014/main" id="{698AE041-7FA8-4070-89B4-1331F6E1E6F4}"/>
              </a:ext>
            </a:extLst>
          </p:cNvPr>
          <p:cNvSpPr>
            <a:spLocks xmlns:a="http://schemas.openxmlformats.org/drawingml/2006/main" noGrp="1"/>
          </p:cNvSpPr>
          <p:nvPr/>
        </p:nvSpPr>
        <p:spPr>
          <a:xfrm xmlns:a="http://schemas.openxmlformats.org/drawingml/2006/main">
            <a:off x="9220200" y="4000500"/>
            <a:ext cx="21907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17211D"/>
                </a:solidFill>
                <a:latin typeface="Georgia"/>
                <a:ea typeface="Georgia"/>
                <a:cs typeface="Georgia"/>
              </a:defRPr>
            </a:pPr>
            <a:r>
              <a:rPr sz="1650" b="1">
                <a:solidFill>
                  <a:srgbClr val="17211D"/>
                </a:solidFill>
                <a:latin typeface="Georgia"/>
                <a:ea typeface="Georgia"/>
                <a:cs typeface="Georgia"/>
              </a:rPr>
              <a:t>Expo / RN</a:t>
            </a:r>
          </a:p>
        </p:txBody>
      </p:sp>
      <p:sp>
        <p:nvSpPr>
          <p:cNvPr id="25" name="">
            <a:extLst xmlns:a="http://schemas.openxmlformats.org/drawingml/2006/main">
              <a:ext uri="{FF2B5EF4-FFF2-40B4-BE49-F238E27FC236}">
                <a16:creationId xmlns:a16="http://schemas.microsoft.com/office/drawing/2014/main" id="{3383DE90-73CC-431F-B56B-C89C93E5E7A3}"/>
              </a:ext>
            </a:extLst>
          </p:cNvPr>
          <p:cNvSpPr>
            <a:spLocks xmlns:a="http://schemas.openxmlformats.org/drawingml/2006/main" noGrp="1"/>
          </p:cNvSpPr>
          <p:nvPr/>
        </p:nvSpPr>
        <p:spPr>
          <a:xfrm xmlns:a="http://schemas.openxmlformats.org/drawingml/2006/main">
            <a:off x="9220200" y="4457700"/>
            <a:ext cx="219075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63" b="0">
                <a:solidFill>
                  <a:srgbClr val="65736B"/>
                </a:solidFill>
                <a:latin typeface="Aptos"/>
                <a:ea typeface="Aptos"/>
                <a:cs typeface="Aptos"/>
              </a:defRPr>
            </a:pPr>
            <a:r>
              <a:rPr sz="863" b="0">
                <a:solidFill>
                  <a:srgbClr val="65736B"/>
                </a:solidFill>
                <a:latin typeface="Aptos"/>
                <a:ea typeface="Aptos"/>
                <a:cs typeface="Aptos"/>
              </a:rPr>
              <a:t>API e tipi riusati</a:t>
            </a:r>
          </a:p>
          <a:p xmlns:a="http://schemas.openxmlformats.org/drawingml/2006/main">
            <a:pPr algn="l">
              <a:defRPr sz="863" b="0">
                <a:solidFill>
                  <a:srgbClr val="65736B"/>
                </a:solidFill>
                <a:latin typeface="Aptos"/>
                <a:ea typeface="Aptos"/>
                <a:cs typeface="Aptos"/>
              </a:defRPr>
            </a:pPr>
            <a:r>
              <a:rPr sz="863" b="0">
                <a:solidFill>
                  <a:srgbClr val="65736B"/>
                </a:solidFill>
                <a:latin typeface="Aptos"/>
                <a:ea typeface="Aptos"/>
                <a:cs typeface="Aptos"/>
              </a:rPr>
              <a:t>UI ricostruita</a:t>
            </a:r>
          </a:p>
        </p:txBody>
      </p:sp>
      <p:sp>
        <p:nvSpPr>
          <p:cNvPr id="26" name="">
            <a:extLst xmlns:a="http://schemas.openxmlformats.org/drawingml/2006/main">
              <a:ext uri="{FF2B5EF4-FFF2-40B4-BE49-F238E27FC236}">
                <a16:creationId xmlns:a16="http://schemas.microsoft.com/office/drawing/2014/main" id="{15876BF0-3361-4260-9B53-B2F41A7CA682}"/>
              </a:ext>
            </a:extLst>
          </p:cNvPr>
          <p:cNvSpPr>
            <a:spLocks xmlns:a="http://schemas.openxmlformats.org/drawingml/2006/main" noGrp="1"/>
          </p:cNvSpPr>
          <p:nvPr/>
        </p:nvSpPr>
        <p:spPr>
          <a:xfrm xmlns:a="http://schemas.openxmlformats.org/drawingml/2006/main">
            <a:off x="552450" y="5448300"/>
            <a:ext cx="11087100" cy="590550"/>
          </a:xfrm>
          <a:prstGeom xmlns:a="http://schemas.openxmlformats.org/drawingml/2006/main" prst="roundRect">
            <a:avLst>
              <a:gd name="adj" fmla="val 12903"/>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5E014EE4-6E3D-438E-956F-990198239D03}"/>
              </a:ext>
            </a:extLst>
          </p:cNvPr>
          <p:cNvSpPr>
            <a:spLocks xmlns:a="http://schemas.openxmlformats.org/drawingml/2006/main" noGrp="1"/>
          </p:cNvSpPr>
          <p:nvPr/>
        </p:nvSpPr>
        <p:spPr>
          <a:xfrm xmlns:a="http://schemas.openxmlformats.org/drawingml/2006/main">
            <a:off x="781050" y="5619750"/>
            <a:ext cx="1428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2F7D5B"/>
                </a:solidFill>
                <a:latin typeface="Aptos"/>
                <a:ea typeface="Aptos"/>
                <a:cs typeface="Aptos"/>
              </a:defRPr>
            </a:pPr>
            <a:r>
              <a:rPr sz="750" b="1">
                <a:solidFill>
                  <a:srgbClr val="2F7D5B"/>
                </a:solidFill>
                <a:latin typeface="Aptos"/>
                <a:ea typeface="Aptos"/>
                <a:cs typeface="Aptos"/>
              </a:rPr>
              <a:t>Raccomandazione</a:t>
            </a:r>
          </a:p>
        </p:txBody>
      </p:sp>
      <p:sp>
        <p:nvSpPr>
          <p:cNvPr id="28" name="">
            <a:extLst xmlns:a="http://schemas.openxmlformats.org/drawingml/2006/main">
              <a:ext uri="{FF2B5EF4-FFF2-40B4-BE49-F238E27FC236}">
                <a16:creationId xmlns:a16="http://schemas.microsoft.com/office/drawing/2014/main" id="{3A27E15E-296F-4317-BD8F-0C1A1CB9598C}"/>
              </a:ext>
            </a:extLst>
          </p:cNvPr>
          <p:cNvSpPr>
            <a:spLocks xmlns:a="http://schemas.openxmlformats.org/drawingml/2006/main" noGrp="1"/>
          </p:cNvSpPr>
          <p:nvPr/>
        </p:nvSpPr>
        <p:spPr>
          <a:xfrm xmlns:a="http://schemas.openxmlformats.org/drawingml/2006/main">
            <a:off x="2305050" y="5562600"/>
            <a:ext cx="88582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13" b="1">
                <a:solidFill>
                  <a:srgbClr val="17211D"/>
                </a:solidFill>
                <a:latin typeface="Georgia"/>
                <a:ea typeface="Georgia"/>
                <a:cs typeface="Georgia"/>
              </a:defRPr>
            </a:pPr>
            <a:r>
              <a:rPr sz="1013" b="1">
                <a:solidFill>
                  <a:srgbClr val="17211D"/>
                </a:solidFill>
                <a:latin typeface="Georgia"/>
                <a:ea typeface="Georgia"/>
                <a:cs typeface="Georgia"/>
              </a:rPr>
              <a:t>PWA prima; Expo solo quando camera nativa, push affidabili, offline-first o App Store diventano requisiti centrali.</a:t>
            </a:r>
          </a:p>
        </p:txBody>
      </p:sp>
      <p:sp>
        <p:nvSpPr>
          <p:cNvPr id="29" name="">
            <a:extLst xmlns:a="http://schemas.openxmlformats.org/drawingml/2006/main">
              <a:ext uri="{FF2B5EF4-FFF2-40B4-BE49-F238E27FC236}">
                <a16:creationId xmlns:a16="http://schemas.microsoft.com/office/drawing/2014/main" id="{DBC58ED4-53AE-4146-9FF7-D9D8CEF8851E}"/>
              </a:ext>
            </a:extLst>
          </p:cNvPr>
          <p:cNvSpPr>
            <a:spLocks xmlns:a="http://schemas.openxmlformats.org/drawingml/2006/main" noGrp="1"/>
          </p:cNvSpPr>
          <p:nvPr/>
        </p:nvSpPr>
        <p:spPr>
          <a:xfrm xmlns:a="http://schemas.openxmlformats.org/drawingml/2006/main">
            <a:off x="552450" y="6457950"/>
            <a:ext cx="1108710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30" name="">
            <a:extLst xmlns:a="http://schemas.openxmlformats.org/drawingml/2006/main">
              <a:ext uri="{FF2B5EF4-FFF2-40B4-BE49-F238E27FC236}">
                <a16:creationId xmlns:a16="http://schemas.microsoft.com/office/drawing/2014/main" id="{AB1C4617-0E50-4AE0-8097-64DC82070DF6}"/>
              </a:ext>
            </a:extLst>
          </p:cNvPr>
          <p:cNvSpPr>
            <a:spLocks xmlns:a="http://schemas.openxmlformats.org/drawingml/2006/main" noGrp="1"/>
          </p:cNvSpPr>
          <p:nvPr/>
        </p:nvSpPr>
        <p:spPr>
          <a:xfrm xmlns:a="http://schemas.openxmlformats.org/drawingml/2006/main">
            <a:off x="552450" y="6534150"/>
            <a:ext cx="1000125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63" b="0">
                <a:solidFill>
                  <a:srgbClr val="65736B"/>
                </a:solidFill>
                <a:latin typeface="Aptos"/>
                <a:ea typeface="Aptos"/>
                <a:cs typeface="Aptos"/>
              </a:defRPr>
            </a:pPr>
            <a:r>
              <a:rPr sz="563" b="0">
                <a:solidFill>
                  <a:srgbClr val="65736B"/>
                </a:solidFill>
                <a:latin typeface="Aptos"/>
                <a:ea typeface="Aptos"/>
                <a:cs typeface="Aptos"/>
              </a:rPr>
              <a:t>Fonti: MDN PWA · Capacitor docs · Expo docs (ImagePicker, SQLite)</a:t>
            </a:r>
          </a:p>
        </p:txBody>
      </p:sp>
      <p:sp>
        <p:nvSpPr>
          <p:cNvPr id="31" name="">
            <a:extLst xmlns:a="http://schemas.openxmlformats.org/drawingml/2006/main">
              <a:ext uri="{FF2B5EF4-FFF2-40B4-BE49-F238E27FC236}">
                <a16:creationId xmlns:a16="http://schemas.microsoft.com/office/drawing/2014/main" id="{497B7401-1AF2-4F8E-A4D4-4ACF3CD1EE40}"/>
              </a:ext>
            </a:extLst>
          </p:cNvPr>
          <p:cNvSpPr>
            <a:spLocks xmlns:a="http://schemas.openxmlformats.org/drawingml/2006/main" noGrp="1"/>
          </p:cNvSpPr>
          <p:nvPr/>
        </p:nvSpPr>
        <p:spPr>
          <a:xfrm xmlns:a="http://schemas.openxmlformats.org/drawingml/2006/main">
            <a:off x="11087100" y="650557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65736B"/>
                </a:solidFill>
                <a:latin typeface="Georgia"/>
                <a:ea typeface="Georgia"/>
                <a:cs typeface="Georgia"/>
              </a:defRPr>
            </a:pPr>
            <a:r>
              <a:rPr sz="750" b="1">
                <a:solidFill>
                  <a:srgbClr val="65736B"/>
                </a:solidFill>
                <a:latin typeface="Georgia"/>
                <a:ea typeface="Georgia"/>
                <a:cs typeface="Georgia"/>
              </a:rPr>
              <a:t>13</a:t>
            </a:r>
          </a:p>
        </p:txBody>
      </p:sp>
    </p:spTree>
    <p:extLst>
      <p:ext uri="{BB962C8B-B14F-4D97-AF65-F5344CB8AC3E}">
        <p14:creationId xmlns:p14="http://schemas.microsoft.com/office/powerpoint/2010/main" val="357530818"/>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7AA77A7C-D2FF-4E67-B505-8E101C9770B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0E7"/>
          </a:solidFill>
          <a:ln xmlns:a="http://schemas.openxmlformats.org/drawingml/2006/main" w="0">
            <a:solidFill>
              <a:srgbClr val="000000">
                <a:alpha val="0"/>
              </a:srgbClr>
            </a:solidFill>
            <a:prstDash val="solid"/>
          </a:ln>
        </p:spPr>
      </p:sp>
      <p:sp>
        <p:nvSpPr>
          <p:cNvPr id="2" name="kicker-marker">
            <a:extLst xmlns:a="http://schemas.openxmlformats.org/drawingml/2006/main">
              <a:ext uri="{FF2B5EF4-FFF2-40B4-BE49-F238E27FC236}">
                <a16:creationId xmlns:a16="http://schemas.microsoft.com/office/drawing/2014/main" id="{A87B6A7F-2A48-45C8-BAB3-E6216E7CA19C}"/>
              </a:ext>
            </a:extLst>
          </p:cNvPr>
          <p:cNvSpPr>
            <a:spLocks xmlns:a="http://schemas.openxmlformats.org/drawingml/2006/main" noGrp="1"/>
          </p:cNvSpPr>
          <p:nvPr/>
        </p:nvSpPr>
        <p:spPr>
          <a:xfrm xmlns:a="http://schemas.openxmlformats.org/drawingml/2006/main">
            <a:off x="552450" y="438150"/>
            <a:ext cx="95250" cy="9525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3" name="kicker-label">
            <a:extLst xmlns:a="http://schemas.openxmlformats.org/drawingml/2006/main">
              <a:ext uri="{FF2B5EF4-FFF2-40B4-BE49-F238E27FC236}">
                <a16:creationId xmlns:a16="http://schemas.microsoft.com/office/drawing/2014/main" id="{1128C158-867E-480E-A6E1-E7205D47922F}"/>
              </a:ext>
            </a:extLst>
          </p:cNvPr>
          <p:cNvSpPr>
            <a:spLocks xmlns:a="http://schemas.openxmlformats.org/drawingml/2006/main" noGrp="1"/>
          </p:cNvSpPr>
          <p:nvPr/>
        </p:nvSpPr>
        <p:spPr>
          <a:xfrm xmlns:a="http://schemas.openxmlformats.org/drawingml/2006/main">
            <a:off x="762000" y="400050"/>
            <a:ext cx="4762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65736B"/>
                </a:solidFill>
                <a:latin typeface="Aptos"/>
                <a:ea typeface="Aptos"/>
                <a:cs typeface="Aptos"/>
              </a:defRPr>
            </a:pPr>
            <a:r>
              <a:rPr sz="675" b="1">
                <a:solidFill>
                  <a:srgbClr val="65736B"/>
                </a:solidFill>
                <a:latin typeface="Aptos"/>
                <a:ea typeface="Aptos"/>
                <a:cs typeface="Aptos"/>
              </a:rPr>
              <a:t>O N E S T À   I N T E L L E T T U A L E   ·   R E A D I N E S S</a:t>
            </a:r>
          </a:p>
        </p:txBody>
      </p:sp>
      <p:sp>
        <p:nvSpPr>
          <p:cNvPr id="4" name="claim-title">
            <a:extLst xmlns:a="http://schemas.openxmlformats.org/drawingml/2006/main">
              <a:ext uri="{FF2B5EF4-FFF2-40B4-BE49-F238E27FC236}">
                <a16:creationId xmlns:a16="http://schemas.microsoft.com/office/drawing/2014/main" id="{F4A16C41-1873-4D31-8897-53B2B4446D2C}"/>
              </a:ext>
            </a:extLst>
          </p:cNvPr>
          <p:cNvSpPr>
            <a:spLocks xmlns:a="http://schemas.openxmlformats.org/drawingml/2006/main" noGrp="1"/>
          </p:cNvSpPr>
          <p:nvPr/>
        </p:nvSpPr>
        <p:spPr>
          <a:xfrm xmlns:a="http://schemas.openxmlformats.org/drawingml/2006/main">
            <a:off x="552450" y="742950"/>
            <a:ext cx="1066800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625" b="1">
                <a:solidFill>
                  <a:srgbClr val="17211D"/>
                </a:solidFill>
                <a:latin typeface="Georgia"/>
                <a:ea typeface="Georgia"/>
                <a:cs typeface="Georgia"/>
              </a:defRPr>
            </a:pPr>
            <a:r>
              <a:rPr sz="2625" b="1">
                <a:solidFill>
                  <a:srgbClr val="17211D"/>
                </a:solidFill>
                <a:latin typeface="Georgia"/>
                <a:ea typeface="Georgia"/>
                <a:cs typeface="Georgia"/>
              </a:rPr>
              <a:t>La produzione richiede dati e governance migliori—non semplicemente un modello più grande.</a:t>
            </a:r>
          </a:p>
        </p:txBody>
      </p:sp>
      <p:sp>
        <p:nvSpPr>
          <p:cNvPr id="5" name="">
            <a:extLst xmlns:a="http://schemas.openxmlformats.org/drawingml/2006/main">
              <a:ext uri="{FF2B5EF4-FFF2-40B4-BE49-F238E27FC236}">
                <a16:creationId xmlns:a16="http://schemas.microsoft.com/office/drawing/2014/main" id="{87A31ECA-A3EB-4ACF-A3CF-DEAE7ED10995}"/>
              </a:ext>
            </a:extLst>
          </p:cNvPr>
          <p:cNvSpPr>
            <a:spLocks xmlns:a="http://schemas.openxmlformats.org/drawingml/2006/main" noGrp="1"/>
          </p:cNvSpPr>
          <p:nvPr/>
        </p:nvSpPr>
        <p:spPr>
          <a:xfrm xmlns:a="http://schemas.openxmlformats.org/drawingml/2006/main">
            <a:off x="552450" y="1924050"/>
            <a:ext cx="20955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D56E42"/>
                </a:solidFill>
                <a:latin typeface="Aptos"/>
                <a:ea typeface="Aptos"/>
                <a:cs typeface="Aptos"/>
              </a:defRPr>
            </a:pPr>
            <a:r>
              <a:rPr sz="675" b="1">
                <a:solidFill>
                  <a:srgbClr val="D56E42"/>
                </a:solidFill>
                <a:latin typeface="Aptos"/>
                <a:ea typeface="Aptos"/>
                <a:cs typeface="Aptos"/>
              </a:rPr>
              <a:t>RISCHIO</a:t>
            </a:r>
          </a:p>
        </p:txBody>
      </p:sp>
      <p:sp>
        <p:nvSpPr>
          <p:cNvPr id="6" name="">
            <a:extLst xmlns:a="http://schemas.openxmlformats.org/drawingml/2006/main">
              <a:ext uri="{FF2B5EF4-FFF2-40B4-BE49-F238E27FC236}">
                <a16:creationId xmlns:a16="http://schemas.microsoft.com/office/drawing/2014/main" id="{971BCFDC-FE88-48ED-9676-270A2E0AFB80}"/>
              </a:ext>
            </a:extLst>
          </p:cNvPr>
          <p:cNvSpPr>
            <a:spLocks xmlns:a="http://schemas.openxmlformats.org/drawingml/2006/main" noGrp="1"/>
          </p:cNvSpPr>
          <p:nvPr/>
        </p:nvSpPr>
        <p:spPr>
          <a:xfrm xmlns:a="http://schemas.openxmlformats.org/drawingml/2006/main">
            <a:off x="3143250" y="1924050"/>
            <a:ext cx="31432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2F7D5B"/>
                </a:solidFill>
                <a:latin typeface="Aptos"/>
                <a:ea typeface="Aptos"/>
                <a:cs typeface="Aptos"/>
              </a:defRPr>
            </a:pPr>
            <a:r>
              <a:rPr sz="675" b="1">
                <a:solidFill>
                  <a:srgbClr val="2F7D5B"/>
                </a:solidFill>
                <a:latin typeface="Aptos"/>
                <a:ea typeface="Aptos"/>
                <a:cs typeface="Aptos"/>
              </a:rPr>
              <a:t>VERITÀ OGGI</a:t>
            </a:r>
          </a:p>
        </p:txBody>
      </p:sp>
      <p:sp>
        <p:nvSpPr>
          <p:cNvPr id="7" name="">
            <a:extLst xmlns:a="http://schemas.openxmlformats.org/drawingml/2006/main">
              <a:ext uri="{FF2B5EF4-FFF2-40B4-BE49-F238E27FC236}">
                <a16:creationId xmlns:a16="http://schemas.microsoft.com/office/drawing/2014/main" id="{29BBFAEC-FC85-4B20-80BF-FF5275FEE3B8}"/>
              </a:ext>
            </a:extLst>
          </p:cNvPr>
          <p:cNvSpPr>
            <a:spLocks xmlns:a="http://schemas.openxmlformats.org/drawingml/2006/main" noGrp="1"/>
          </p:cNvSpPr>
          <p:nvPr/>
        </p:nvSpPr>
        <p:spPr>
          <a:xfrm xmlns:a="http://schemas.openxmlformats.org/drawingml/2006/main">
            <a:off x="6953250" y="1924050"/>
            <a:ext cx="42862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466D86"/>
                </a:solidFill>
                <a:latin typeface="Aptos"/>
                <a:ea typeface="Aptos"/>
                <a:cs typeface="Aptos"/>
              </a:defRPr>
            </a:pPr>
            <a:r>
              <a:rPr sz="675" b="1">
                <a:solidFill>
                  <a:srgbClr val="466D86"/>
                </a:solidFill>
                <a:latin typeface="Aptos"/>
                <a:ea typeface="Aptos"/>
                <a:cs typeface="Aptos"/>
              </a:rPr>
              <a:t>PASSO PRIMA DEL RILASCIO</a:t>
            </a:r>
          </a:p>
        </p:txBody>
      </p:sp>
      <p:sp>
        <p:nvSpPr>
          <p:cNvPr id="8" name="">
            <a:extLst xmlns:a="http://schemas.openxmlformats.org/drawingml/2006/main">
              <a:ext uri="{FF2B5EF4-FFF2-40B4-BE49-F238E27FC236}">
                <a16:creationId xmlns:a16="http://schemas.microsoft.com/office/drawing/2014/main" id="{FD9CA163-D7D3-4CE8-B712-EB7BE3C7FD51}"/>
              </a:ext>
            </a:extLst>
          </p:cNvPr>
          <p:cNvSpPr>
            <a:spLocks xmlns:a="http://schemas.openxmlformats.org/drawingml/2006/main" noGrp="1"/>
          </p:cNvSpPr>
          <p:nvPr/>
        </p:nvSpPr>
        <p:spPr>
          <a:xfrm xmlns:a="http://schemas.openxmlformats.org/drawingml/2006/main">
            <a:off x="552450" y="2209800"/>
            <a:ext cx="1104900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2A385A1E-C032-4E02-9173-A6E552BF1E39}"/>
              </a:ext>
            </a:extLst>
          </p:cNvPr>
          <p:cNvSpPr>
            <a:spLocks xmlns:a="http://schemas.openxmlformats.org/drawingml/2006/main" noGrp="1"/>
          </p:cNvSpPr>
          <p:nvPr/>
        </p:nvSpPr>
        <p:spPr>
          <a:xfrm xmlns:a="http://schemas.openxmlformats.org/drawingml/2006/main">
            <a:off x="552450" y="2324100"/>
            <a:ext cx="20955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17211D"/>
                </a:solidFill>
                <a:latin typeface="Georgia"/>
                <a:ea typeface="Georgia"/>
                <a:cs typeface="Georgia"/>
              </a:defRPr>
            </a:pPr>
            <a:r>
              <a:rPr sz="1200" b="1">
                <a:solidFill>
                  <a:srgbClr val="17211D"/>
                </a:solidFill>
                <a:latin typeface="Georgia"/>
                <a:ea typeface="Georgia"/>
                <a:cs typeface="Georgia"/>
              </a:rPr>
              <a:t>Generalizzazione</a:t>
            </a:r>
          </a:p>
        </p:txBody>
      </p:sp>
      <p:sp>
        <p:nvSpPr>
          <p:cNvPr id="10" name="">
            <a:extLst xmlns:a="http://schemas.openxmlformats.org/drawingml/2006/main">
              <a:ext uri="{FF2B5EF4-FFF2-40B4-BE49-F238E27FC236}">
                <a16:creationId xmlns:a16="http://schemas.microsoft.com/office/drawing/2014/main" id="{DA9392AB-84D2-451D-ADE2-A44F875D12B7}"/>
              </a:ext>
            </a:extLst>
          </p:cNvPr>
          <p:cNvSpPr>
            <a:spLocks xmlns:a="http://schemas.openxmlformats.org/drawingml/2006/main" noGrp="1"/>
          </p:cNvSpPr>
          <p:nvPr/>
        </p:nvSpPr>
        <p:spPr>
          <a:xfrm xmlns:a="http://schemas.openxmlformats.org/drawingml/2006/main">
            <a:off x="3143250" y="2324100"/>
            <a:ext cx="31432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65736B"/>
                </a:solidFill>
                <a:latin typeface="Aptos"/>
                <a:ea typeface="Aptos"/>
                <a:cs typeface="Aptos"/>
              </a:defRPr>
            </a:pPr>
            <a:r>
              <a:rPr sz="900" b="0">
                <a:solidFill>
                  <a:srgbClr val="65736B"/>
                </a:solidFill>
                <a:latin typeface="Aptos"/>
                <a:ea typeface="Aptos"/>
                <a:cs typeface="Aptos"/>
              </a:rPr>
              <a:t>condition: holdout locale</a:t>
            </a:r>
          </a:p>
        </p:txBody>
      </p:sp>
      <p:sp>
        <p:nvSpPr>
          <p:cNvPr id="11" name="">
            <a:extLst xmlns:a="http://schemas.openxmlformats.org/drawingml/2006/main">
              <a:ext uri="{FF2B5EF4-FFF2-40B4-BE49-F238E27FC236}">
                <a16:creationId xmlns:a16="http://schemas.microsoft.com/office/drawing/2014/main" id="{FC4DCEB5-8C00-457A-ABE1-8A53A71E68B4}"/>
              </a:ext>
            </a:extLst>
          </p:cNvPr>
          <p:cNvSpPr>
            <a:spLocks xmlns:a="http://schemas.openxmlformats.org/drawingml/2006/main" noGrp="1"/>
          </p:cNvSpPr>
          <p:nvPr/>
        </p:nvSpPr>
        <p:spPr>
          <a:xfrm xmlns:a="http://schemas.openxmlformats.org/drawingml/2006/main">
            <a:off x="6953250" y="2324100"/>
            <a:ext cx="41910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17211D"/>
                </a:solidFill>
                <a:latin typeface="Aptos"/>
                <a:ea typeface="Aptos"/>
                <a:cs typeface="Aptos"/>
              </a:defRPr>
            </a:pPr>
            <a:r>
              <a:rPr sz="900" b="1">
                <a:solidFill>
                  <a:srgbClr val="17211D"/>
                </a:solidFill>
                <a:latin typeface="Aptos"/>
                <a:ea typeface="Aptos"/>
                <a:cs typeface="Aptos"/>
              </a:rPr>
              <a:t>split per sorgente + test esterno</a:t>
            </a:r>
          </a:p>
        </p:txBody>
      </p:sp>
      <p:sp>
        <p:nvSpPr>
          <p:cNvPr id="12" name="">
            <a:extLst xmlns:a="http://schemas.openxmlformats.org/drawingml/2006/main">
              <a:ext uri="{FF2B5EF4-FFF2-40B4-BE49-F238E27FC236}">
                <a16:creationId xmlns:a16="http://schemas.microsoft.com/office/drawing/2014/main" id="{23943630-1918-4345-985F-9E9E98FFE83F}"/>
              </a:ext>
            </a:extLst>
          </p:cNvPr>
          <p:cNvSpPr>
            <a:spLocks xmlns:a="http://schemas.openxmlformats.org/drawingml/2006/main" noGrp="1"/>
          </p:cNvSpPr>
          <p:nvPr/>
        </p:nvSpPr>
        <p:spPr>
          <a:xfrm xmlns:a="http://schemas.openxmlformats.org/drawingml/2006/main">
            <a:off x="552450" y="2952750"/>
            <a:ext cx="1104900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66375466-7E19-40CE-852D-03D5684635B7}"/>
              </a:ext>
            </a:extLst>
          </p:cNvPr>
          <p:cNvSpPr>
            <a:spLocks xmlns:a="http://schemas.openxmlformats.org/drawingml/2006/main" noGrp="1"/>
          </p:cNvSpPr>
          <p:nvPr/>
        </p:nvSpPr>
        <p:spPr>
          <a:xfrm xmlns:a="http://schemas.openxmlformats.org/drawingml/2006/main">
            <a:off x="552450" y="3067050"/>
            <a:ext cx="20955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17211D"/>
                </a:solidFill>
                <a:latin typeface="Georgia"/>
                <a:ea typeface="Georgia"/>
                <a:cs typeface="Georgia"/>
              </a:defRPr>
            </a:pPr>
            <a:r>
              <a:rPr sz="1200" b="1">
                <a:solidFill>
                  <a:srgbClr val="17211D"/>
                </a:solidFill>
                <a:latin typeface="Georgia"/>
                <a:ea typeface="Georgia"/>
                <a:cs typeface="Georgia"/>
              </a:rPr>
              <a:t>Gap normativi</a:t>
            </a:r>
          </a:p>
        </p:txBody>
      </p:sp>
      <p:sp>
        <p:nvSpPr>
          <p:cNvPr id="14" name="">
            <a:extLst xmlns:a="http://schemas.openxmlformats.org/drawingml/2006/main">
              <a:ext uri="{FF2B5EF4-FFF2-40B4-BE49-F238E27FC236}">
                <a16:creationId xmlns:a16="http://schemas.microsoft.com/office/drawing/2014/main" id="{A90B0038-8293-433A-A1DF-7A86E25CE983}"/>
              </a:ext>
            </a:extLst>
          </p:cNvPr>
          <p:cNvSpPr>
            <a:spLocks xmlns:a="http://schemas.openxmlformats.org/drawingml/2006/main" noGrp="1"/>
          </p:cNvSpPr>
          <p:nvPr/>
        </p:nvSpPr>
        <p:spPr>
          <a:xfrm xmlns:a="http://schemas.openxmlformats.org/drawingml/2006/main">
            <a:off x="3143250" y="3067050"/>
            <a:ext cx="31432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65736B"/>
                </a:solidFill>
                <a:latin typeface="Aptos"/>
                <a:ea typeface="Aptos"/>
                <a:cs typeface="Aptos"/>
              </a:defRPr>
            </a:pPr>
            <a:r>
              <a:rPr sz="900" b="0">
                <a:solidFill>
                  <a:srgbClr val="65736B"/>
                </a:solidFill>
                <a:latin typeface="Aptos"/>
                <a:ea typeface="Aptos"/>
                <a:cs typeface="Aptos"/>
              </a:rPr>
              <a:t>label da regole simulate</a:t>
            </a:r>
          </a:p>
        </p:txBody>
      </p:sp>
      <p:sp>
        <p:nvSpPr>
          <p:cNvPr id="15" name="">
            <a:extLst xmlns:a="http://schemas.openxmlformats.org/drawingml/2006/main">
              <a:ext uri="{FF2B5EF4-FFF2-40B4-BE49-F238E27FC236}">
                <a16:creationId xmlns:a16="http://schemas.microsoft.com/office/drawing/2014/main" id="{D3C2A730-7DC1-424A-A9F3-A4DF2F472AEA}"/>
              </a:ext>
            </a:extLst>
          </p:cNvPr>
          <p:cNvSpPr>
            <a:spLocks xmlns:a="http://schemas.openxmlformats.org/drawingml/2006/main" noGrp="1"/>
          </p:cNvSpPr>
          <p:nvPr/>
        </p:nvSpPr>
        <p:spPr>
          <a:xfrm xmlns:a="http://schemas.openxmlformats.org/drawingml/2006/main">
            <a:off x="6953250" y="3067050"/>
            <a:ext cx="41910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17211D"/>
                </a:solidFill>
                <a:latin typeface="Aptos"/>
                <a:ea typeface="Aptos"/>
                <a:cs typeface="Aptos"/>
              </a:defRPr>
            </a:pPr>
            <a:r>
              <a:rPr sz="900" b="1">
                <a:solidFill>
                  <a:srgbClr val="17211D"/>
                </a:solidFill>
                <a:latin typeface="Aptos"/>
                <a:ea typeface="Aptos"/>
                <a:cs typeface="Aptos"/>
              </a:rPr>
              <a:t>feedback reale + audit dei bias</a:t>
            </a:r>
          </a:p>
        </p:txBody>
      </p:sp>
      <p:sp>
        <p:nvSpPr>
          <p:cNvPr id="16" name="">
            <a:extLst xmlns:a="http://schemas.openxmlformats.org/drawingml/2006/main">
              <a:ext uri="{FF2B5EF4-FFF2-40B4-BE49-F238E27FC236}">
                <a16:creationId xmlns:a16="http://schemas.microsoft.com/office/drawing/2014/main" id="{66209AAD-9A88-4AAC-B734-9F3E9997C0BF}"/>
              </a:ext>
            </a:extLst>
          </p:cNvPr>
          <p:cNvSpPr>
            <a:spLocks xmlns:a="http://schemas.openxmlformats.org/drawingml/2006/main" noGrp="1"/>
          </p:cNvSpPr>
          <p:nvPr/>
        </p:nvSpPr>
        <p:spPr>
          <a:xfrm xmlns:a="http://schemas.openxmlformats.org/drawingml/2006/main">
            <a:off x="552450" y="3695700"/>
            <a:ext cx="1104900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115A9119-AE5C-4C44-8311-579C29EB0B92}"/>
              </a:ext>
            </a:extLst>
          </p:cNvPr>
          <p:cNvSpPr>
            <a:spLocks xmlns:a="http://schemas.openxmlformats.org/drawingml/2006/main" noGrp="1"/>
          </p:cNvSpPr>
          <p:nvPr/>
        </p:nvSpPr>
        <p:spPr>
          <a:xfrm xmlns:a="http://schemas.openxmlformats.org/drawingml/2006/main">
            <a:off x="552450" y="3810000"/>
            <a:ext cx="20955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17211D"/>
                </a:solidFill>
                <a:latin typeface="Georgia"/>
                <a:ea typeface="Georgia"/>
                <a:cs typeface="Georgia"/>
              </a:defRPr>
            </a:pPr>
            <a:r>
              <a:rPr sz="1200" b="1">
                <a:solidFill>
                  <a:srgbClr val="17211D"/>
                </a:solidFill>
                <a:latin typeface="Georgia"/>
                <a:ea typeface="Georgia"/>
                <a:cs typeface="Georgia"/>
              </a:rPr>
              <a:t>Green impact</a:t>
            </a:r>
          </a:p>
        </p:txBody>
      </p:sp>
      <p:sp>
        <p:nvSpPr>
          <p:cNvPr id="18" name="">
            <a:extLst xmlns:a="http://schemas.openxmlformats.org/drawingml/2006/main">
              <a:ext uri="{FF2B5EF4-FFF2-40B4-BE49-F238E27FC236}">
                <a16:creationId xmlns:a16="http://schemas.microsoft.com/office/drawing/2014/main" id="{E7A61DF8-BEE5-4478-8AAB-A0073D200453}"/>
              </a:ext>
            </a:extLst>
          </p:cNvPr>
          <p:cNvSpPr>
            <a:spLocks xmlns:a="http://schemas.openxmlformats.org/drawingml/2006/main" noGrp="1"/>
          </p:cNvSpPr>
          <p:nvPr/>
        </p:nvSpPr>
        <p:spPr>
          <a:xfrm xmlns:a="http://schemas.openxmlformats.org/drawingml/2006/main">
            <a:off x="3143250" y="3810000"/>
            <a:ext cx="31432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65736B"/>
                </a:solidFill>
                <a:latin typeface="Aptos"/>
                <a:ea typeface="Aptos"/>
                <a:cs typeface="Aptos"/>
              </a:defRPr>
            </a:pPr>
            <a:r>
              <a:rPr sz="900" b="0">
                <a:solidFill>
                  <a:srgbClr val="65736B"/>
                </a:solidFill>
                <a:latin typeface="Aptos"/>
                <a:ea typeface="Aptos"/>
                <a:cs typeface="Aptos"/>
              </a:rPr>
              <a:t>proxy per categoria/azione</a:t>
            </a:r>
          </a:p>
        </p:txBody>
      </p:sp>
      <p:sp>
        <p:nvSpPr>
          <p:cNvPr id="19" name="">
            <a:extLst xmlns:a="http://schemas.openxmlformats.org/drawingml/2006/main">
              <a:ext uri="{FF2B5EF4-FFF2-40B4-BE49-F238E27FC236}">
                <a16:creationId xmlns:a16="http://schemas.microsoft.com/office/drawing/2014/main" id="{5659342C-1E30-499B-A56E-494C95164C3A}"/>
              </a:ext>
            </a:extLst>
          </p:cNvPr>
          <p:cNvSpPr>
            <a:spLocks xmlns:a="http://schemas.openxmlformats.org/drawingml/2006/main" noGrp="1"/>
          </p:cNvSpPr>
          <p:nvPr/>
        </p:nvSpPr>
        <p:spPr>
          <a:xfrm xmlns:a="http://schemas.openxmlformats.org/drawingml/2006/main">
            <a:off x="6953250" y="3810000"/>
            <a:ext cx="41910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17211D"/>
                </a:solidFill>
                <a:latin typeface="Aptos"/>
                <a:ea typeface="Aptos"/>
                <a:cs typeface="Aptos"/>
              </a:defRPr>
            </a:pPr>
            <a:r>
              <a:rPr sz="900" b="1">
                <a:solidFill>
                  <a:srgbClr val="17211D"/>
                </a:solidFill>
                <a:latin typeface="Aptos"/>
                <a:ea typeface="Aptos"/>
                <a:cs typeface="Aptos"/>
              </a:rPr>
              <a:t>LCA per materiale + range d’incertezza</a:t>
            </a:r>
          </a:p>
        </p:txBody>
      </p:sp>
      <p:sp>
        <p:nvSpPr>
          <p:cNvPr id="20" name="">
            <a:extLst xmlns:a="http://schemas.openxmlformats.org/drawingml/2006/main">
              <a:ext uri="{FF2B5EF4-FFF2-40B4-BE49-F238E27FC236}">
                <a16:creationId xmlns:a16="http://schemas.microsoft.com/office/drawing/2014/main" id="{D8709A7A-38D4-4D83-8DFC-AC7E4642E235}"/>
              </a:ext>
            </a:extLst>
          </p:cNvPr>
          <p:cNvSpPr>
            <a:spLocks xmlns:a="http://schemas.openxmlformats.org/drawingml/2006/main" noGrp="1"/>
          </p:cNvSpPr>
          <p:nvPr/>
        </p:nvSpPr>
        <p:spPr>
          <a:xfrm xmlns:a="http://schemas.openxmlformats.org/drawingml/2006/main">
            <a:off x="552450" y="4438650"/>
            <a:ext cx="1104900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04800239-958B-47E3-90D2-6D563B03EF3A}"/>
              </a:ext>
            </a:extLst>
          </p:cNvPr>
          <p:cNvSpPr>
            <a:spLocks xmlns:a="http://schemas.openxmlformats.org/drawingml/2006/main" noGrp="1"/>
          </p:cNvSpPr>
          <p:nvPr/>
        </p:nvSpPr>
        <p:spPr>
          <a:xfrm xmlns:a="http://schemas.openxmlformats.org/drawingml/2006/main">
            <a:off x="552450" y="4552950"/>
            <a:ext cx="20955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17211D"/>
                </a:solidFill>
                <a:latin typeface="Georgia"/>
                <a:ea typeface="Georgia"/>
                <a:cs typeface="Georgia"/>
              </a:defRPr>
            </a:pPr>
            <a:r>
              <a:rPr sz="1200" b="1">
                <a:solidFill>
                  <a:srgbClr val="17211D"/>
                </a:solidFill>
                <a:latin typeface="Georgia"/>
                <a:ea typeface="Georgia"/>
                <a:cs typeface="Georgia"/>
              </a:rPr>
              <a:t>Privacy</a:t>
            </a:r>
          </a:p>
        </p:txBody>
      </p:sp>
      <p:sp>
        <p:nvSpPr>
          <p:cNvPr id="22" name="">
            <a:extLst xmlns:a="http://schemas.openxmlformats.org/drawingml/2006/main">
              <a:ext uri="{FF2B5EF4-FFF2-40B4-BE49-F238E27FC236}">
                <a16:creationId xmlns:a16="http://schemas.microsoft.com/office/drawing/2014/main" id="{C3A10D41-B24F-4BC6-87F2-7E048218F4DF}"/>
              </a:ext>
            </a:extLst>
          </p:cNvPr>
          <p:cNvSpPr>
            <a:spLocks xmlns:a="http://schemas.openxmlformats.org/drawingml/2006/main" noGrp="1"/>
          </p:cNvSpPr>
          <p:nvPr/>
        </p:nvSpPr>
        <p:spPr>
          <a:xfrm xmlns:a="http://schemas.openxmlformats.org/drawingml/2006/main">
            <a:off x="3143250" y="4552950"/>
            <a:ext cx="31432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65736B"/>
                </a:solidFill>
                <a:latin typeface="Aptos"/>
                <a:ea typeface="Aptos"/>
                <a:cs typeface="Aptos"/>
              </a:defRPr>
            </a:pPr>
            <a:r>
              <a:rPr sz="900" b="0">
                <a:solidFill>
                  <a:srgbClr val="65736B"/>
                </a:solidFill>
                <a:latin typeface="Aptos"/>
                <a:ea typeface="Aptos"/>
                <a:cs typeface="Aptos"/>
              </a:rPr>
              <a:t>single-user e foto locali</a:t>
            </a:r>
          </a:p>
        </p:txBody>
      </p:sp>
      <p:sp>
        <p:nvSpPr>
          <p:cNvPr id="23" name="">
            <a:extLst xmlns:a="http://schemas.openxmlformats.org/drawingml/2006/main">
              <a:ext uri="{FF2B5EF4-FFF2-40B4-BE49-F238E27FC236}">
                <a16:creationId xmlns:a16="http://schemas.microsoft.com/office/drawing/2014/main" id="{73A9D75F-482C-4B58-A101-9829B44610BE}"/>
              </a:ext>
            </a:extLst>
          </p:cNvPr>
          <p:cNvSpPr>
            <a:spLocks xmlns:a="http://schemas.openxmlformats.org/drawingml/2006/main" noGrp="1"/>
          </p:cNvSpPr>
          <p:nvPr/>
        </p:nvSpPr>
        <p:spPr>
          <a:xfrm xmlns:a="http://schemas.openxmlformats.org/drawingml/2006/main">
            <a:off x="6953250" y="4552950"/>
            <a:ext cx="41910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17211D"/>
                </a:solidFill>
                <a:latin typeface="Aptos"/>
                <a:ea typeface="Aptos"/>
                <a:cs typeface="Aptos"/>
              </a:defRPr>
            </a:pPr>
            <a:r>
              <a:rPr sz="900" b="1">
                <a:solidFill>
                  <a:srgbClr val="17211D"/>
                </a:solidFill>
                <a:latin typeface="Aptos"/>
                <a:ea typeface="Aptos"/>
                <a:cs typeface="Aptos"/>
              </a:rPr>
              <a:t>auth, cifratura, retention, DPIA/GDPR</a:t>
            </a:r>
          </a:p>
        </p:txBody>
      </p:sp>
      <p:sp>
        <p:nvSpPr>
          <p:cNvPr id="24" name="">
            <a:extLst xmlns:a="http://schemas.openxmlformats.org/drawingml/2006/main">
              <a:ext uri="{FF2B5EF4-FFF2-40B4-BE49-F238E27FC236}">
                <a16:creationId xmlns:a16="http://schemas.microsoft.com/office/drawing/2014/main" id="{F2AF79F7-B360-4786-902D-888768D36D3E}"/>
              </a:ext>
            </a:extLst>
          </p:cNvPr>
          <p:cNvSpPr>
            <a:spLocks xmlns:a="http://schemas.openxmlformats.org/drawingml/2006/main" noGrp="1"/>
          </p:cNvSpPr>
          <p:nvPr/>
        </p:nvSpPr>
        <p:spPr>
          <a:xfrm xmlns:a="http://schemas.openxmlformats.org/drawingml/2006/main">
            <a:off x="552450" y="5181600"/>
            <a:ext cx="1104900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5674C199-D0D3-47FA-86AA-E44D66138A34}"/>
              </a:ext>
            </a:extLst>
          </p:cNvPr>
          <p:cNvSpPr>
            <a:spLocks xmlns:a="http://schemas.openxmlformats.org/drawingml/2006/main" noGrp="1"/>
          </p:cNvSpPr>
          <p:nvPr/>
        </p:nvSpPr>
        <p:spPr>
          <a:xfrm xmlns:a="http://schemas.openxmlformats.org/drawingml/2006/main">
            <a:off x="552450" y="5295900"/>
            <a:ext cx="20955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17211D"/>
                </a:solidFill>
                <a:latin typeface="Georgia"/>
                <a:ea typeface="Georgia"/>
                <a:cs typeface="Georgia"/>
              </a:defRPr>
            </a:pPr>
            <a:r>
              <a:rPr sz="1200" b="1">
                <a:solidFill>
                  <a:srgbClr val="17211D"/>
                </a:solidFill>
                <a:latin typeface="Georgia"/>
                <a:ea typeface="Georgia"/>
                <a:cs typeface="Georgia"/>
              </a:rPr>
              <a:t>Scalabilità</a:t>
            </a:r>
          </a:p>
        </p:txBody>
      </p:sp>
      <p:sp>
        <p:nvSpPr>
          <p:cNvPr id="26" name="">
            <a:extLst xmlns:a="http://schemas.openxmlformats.org/drawingml/2006/main">
              <a:ext uri="{FF2B5EF4-FFF2-40B4-BE49-F238E27FC236}">
                <a16:creationId xmlns:a16="http://schemas.microsoft.com/office/drawing/2014/main" id="{2E5B56B3-B40F-4631-B604-B4B077A02F64}"/>
              </a:ext>
            </a:extLst>
          </p:cNvPr>
          <p:cNvSpPr>
            <a:spLocks xmlns:a="http://schemas.openxmlformats.org/drawingml/2006/main" noGrp="1"/>
          </p:cNvSpPr>
          <p:nvPr/>
        </p:nvSpPr>
        <p:spPr>
          <a:xfrm xmlns:a="http://schemas.openxmlformats.org/drawingml/2006/main">
            <a:off x="3143250" y="5295900"/>
            <a:ext cx="31432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65736B"/>
                </a:solidFill>
                <a:latin typeface="Aptos"/>
                <a:ea typeface="Aptos"/>
                <a:cs typeface="Aptos"/>
              </a:defRPr>
            </a:pPr>
            <a:r>
              <a:rPr sz="900" b="0">
                <a:solidFill>
                  <a:srgbClr val="65736B"/>
                </a:solidFill>
                <a:latin typeface="Aptos"/>
                <a:ea typeface="Aptos"/>
                <a:cs typeface="Aptos"/>
              </a:rPr>
              <a:t>SQLite + filesystem</a:t>
            </a:r>
          </a:p>
        </p:txBody>
      </p:sp>
      <p:sp>
        <p:nvSpPr>
          <p:cNvPr id="27" name="">
            <a:extLst xmlns:a="http://schemas.openxmlformats.org/drawingml/2006/main">
              <a:ext uri="{FF2B5EF4-FFF2-40B4-BE49-F238E27FC236}">
                <a16:creationId xmlns:a16="http://schemas.microsoft.com/office/drawing/2014/main" id="{529E65E4-4B6A-4FA9-AD13-9036066D9658}"/>
              </a:ext>
            </a:extLst>
          </p:cNvPr>
          <p:cNvSpPr>
            <a:spLocks xmlns:a="http://schemas.openxmlformats.org/drawingml/2006/main" noGrp="1"/>
          </p:cNvSpPr>
          <p:nvPr/>
        </p:nvSpPr>
        <p:spPr>
          <a:xfrm xmlns:a="http://schemas.openxmlformats.org/drawingml/2006/main">
            <a:off x="6953250" y="5295900"/>
            <a:ext cx="41910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17211D"/>
                </a:solidFill>
                <a:latin typeface="Aptos"/>
                <a:ea typeface="Aptos"/>
                <a:cs typeface="Aptos"/>
              </a:defRPr>
            </a:pPr>
            <a:r>
              <a:rPr sz="900" b="1">
                <a:solidFill>
                  <a:srgbClr val="17211D"/>
                </a:solidFill>
                <a:latin typeface="Aptos"/>
                <a:ea typeface="Aptos"/>
                <a:cs typeface="Aptos"/>
              </a:rPr>
              <a:t>Postgres, object storage, job asincroni</a:t>
            </a:r>
          </a:p>
        </p:txBody>
      </p:sp>
      <p:sp>
        <p:nvSpPr>
          <p:cNvPr id="28" name="">
            <a:extLst xmlns:a="http://schemas.openxmlformats.org/drawingml/2006/main">
              <a:ext uri="{FF2B5EF4-FFF2-40B4-BE49-F238E27FC236}">
                <a16:creationId xmlns:a16="http://schemas.microsoft.com/office/drawing/2014/main" id="{FEA0D766-6FC0-4257-A092-AB5FD5D00E12}"/>
              </a:ext>
            </a:extLst>
          </p:cNvPr>
          <p:cNvSpPr>
            <a:spLocks xmlns:a="http://schemas.openxmlformats.org/drawingml/2006/main" noGrp="1"/>
          </p:cNvSpPr>
          <p:nvPr/>
        </p:nvSpPr>
        <p:spPr>
          <a:xfrm xmlns:a="http://schemas.openxmlformats.org/drawingml/2006/main">
            <a:off x="552450" y="6457950"/>
            <a:ext cx="1108710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69E6F449-6267-4F4E-841F-B59B21712E82}"/>
              </a:ext>
            </a:extLst>
          </p:cNvPr>
          <p:cNvSpPr>
            <a:spLocks xmlns:a="http://schemas.openxmlformats.org/drawingml/2006/main" noGrp="1"/>
          </p:cNvSpPr>
          <p:nvPr/>
        </p:nvSpPr>
        <p:spPr>
          <a:xfrm xmlns:a="http://schemas.openxmlformats.org/drawingml/2006/main">
            <a:off x="552450" y="6534150"/>
            <a:ext cx="1000125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63" b="0">
                <a:solidFill>
                  <a:srgbClr val="65736B"/>
                </a:solidFill>
                <a:latin typeface="Aptos"/>
                <a:ea typeface="Aptos"/>
                <a:cs typeface="Aptos"/>
              </a:defRPr>
            </a:pPr>
            <a:r>
              <a:rPr sz="563" b="0">
                <a:solidFill>
                  <a:srgbClr val="65736B"/>
                </a:solidFill>
                <a:latin typeface="Aptos"/>
                <a:ea typeface="Aptos"/>
                <a:cs typeface="Aptos"/>
              </a:rPr>
              <a:t>Il prototipo dimostra la pipeline; non dichiara readiness industriale</a:t>
            </a:r>
          </a:p>
        </p:txBody>
      </p:sp>
      <p:sp>
        <p:nvSpPr>
          <p:cNvPr id="30" name="">
            <a:extLst xmlns:a="http://schemas.openxmlformats.org/drawingml/2006/main">
              <a:ext uri="{FF2B5EF4-FFF2-40B4-BE49-F238E27FC236}">
                <a16:creationId xmlns:a16="http://schemas.microsoft.com/office/drawing/2014/main" id="{2CFBE001-07ED-4A6C-B25A-5FBF641227CA}"/>
              </a:ext>
            </a:extLst>
          </p:cNvPr>
          <p:cNvSpPr>
            <a:spLocks xmlns:a="http://schemas.openxmlformats.org/drawingml/2006/main" noGrp="1"/>
          </p:cNvSpPr>
          <p:nvPr/>
        </p:nvSpPr>
        <p:spPr>
          <a:xfrm xmlns:a="http://schemas.openxmlformats.org/drawingml/2006/main">
            <a:off x="11087100" y="650557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65736B"/>
                </a:solidFill>
                <a:latin typeface="Georgia"/>
                <a:ea typeface="Georgia"/>
                <a:cs typeface="Georgia"/>
              </a:defRPr>
            </a:pPr>
            <a:r>
              <a:rPr sz="750" b="1">
                <a:solidFill>
                  <a:srgbClr val="65736B"/>
                </a:solidFill>
                <a:latin typeface="Georgia"/>
                <a:ea typeface="Georgia"/>
                <a:cs typeface="Georgia"/>
              </a:rPr>
              <a:t>14</a:t>
            </a:r>
          </a:p>
        </p:txBody>
      </p:sp>
    </p:spTree>
    <p:extLst>
      <p:ext uri="{BB962C8B-B14F-4D97-AF65-F5344CB8AC3E}">
        <p14:creationId xmlns:p14="http://schemas.microsoft.com/office/powerpoint/2010/main" val="1818628488"/>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E08C1CFA-2E39-419A-8CE0-B5085B6D7AC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4F0E7"/>
          </a:solidFill>
          <a:ln xmlns:a="http://schemas.openxmlformats.org/drawingml/2006/main" w="0">
            <a:solidFill>
              <a:srgbClr val="000000">
                <a:alpha val="0"/>
              </a:srgbClr>
            </a:solidFill>
            <a:prstDash val="solid"/>
          </a:ln>
        </p:spPr>
      </p:sp>
      <p:sp>
        <p:nvSpPr>
          <p:cNvPr id="2" name="kicker-marker">
            <a:extLst xmlns:a="http://schemas.openxmlformats.org/drawingml/2006/main">
              <a:ext uri="{FF2B5EF4-FFF2-40B4-BE49-F238E27FC236}">
                <a16:creationId xmlns:a16="http://schemas.microsoft.com/office/drawing/2014/main" id="{FB405E97-8C4B-4BEC-9A9A-63BBD46EE29D}"/>
              </a:ext>
            </a:extLst>
          </p:cNvPr>
          <p:cNvSpPr>
            <a:spLocks xmlns:a="http://schemas.openxmlformats.org/drawingml/2006/main" noGrp="1"/>
          </p:cNvSpPr>
          <p:nvPr/>
        </p:nvSpPr>
        <p:spPr>
          <a:xfrm xmlns:a="http://schemas.openxmlformats.org/drawingml/2006/main">
            <a:off x="552450" y="438150"/>
            <a:ext cx="95250" cy="95250"/>
          </a:xfrm>
          <a:prstGeom xmlns:a="http://schemas.openxmlformats.org/drawingml/2006/main" prst="ellipse">
            <a:avLst/>
          </a:prstGeom>
          <a:solidFill xmlns:a="http://schemas.openxmlformats.org/drawingml/2006/main">
            <a:srgbClr val="2F7D5B"/>
          </a:solidFill>
          <a:ln xmlns:a="http://schemas.openxmlformats.org/drawingml/2006/main" w="0">
            <a:solidFill>
              <a:srgbClr val="000000">
                <a:alpha val="0"/>
              </a:srgbClr>
            </a:solidFill>
            <a:prstDash val="solid"/>
          </a:ln>
        </p:spPr>
      </p:sp>
      <p:sp>
        <p:nvSpPr>
          <p:cNvPr id="3" name="kicker-label">
            <a:extLst xmlns:a="http://schemas.openxmlformats.org/drawingml/2006/main">
              <a:ext uri="{FF2B5EF4-FFF2-40B4-BE49-F238E27FC236}">
                <a16:creationId xmlns:a16="http://schemas.microsoft.com/office/drawing/2014/main" id="{BCCA7361-65E1-4A66-B85A-59B74B1A0862}"/>
              </a:ext>
            </a:extLst>
          </p:cNvPr>
          <p:cNvSpPr>
            <a:spLocks xmlns:a="http://schemas.openxmlformats.org/drawingml/2006/main" noGrp="1"/>
          </p:cNvSpPr>
          <p:nvPr/>
        </p:nvSpPr>
        <p:spPr>
          <a:xfrm xmlns:a="http://schemas.openxmlformats.org/drawingml/2006/main">
            <a:off x="762000" y="400050"/>
            <a:ext cx="4762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65736B"/>
                </a:solidFill>
                <a:latin typeface="Aptos"/>
                <a:ea typeface="Aptos"/>
                <a:cs typeface="Aptos"/>
              </a:defRPr>
            </a:pPr>
            <a:r>
              <a:rPr sz="675" b="1">
                <a:solidFill>
                  <a:srgbClr val="65736B"/>
                </a:solidFill>
                <a:latin typeface="Aptos"/>
                <a:ea typeface="Aptos"/>
                <a:cs typeface="Aptos"/>
              </a:rPr>
              <a:t>D E M O   ·   3   M I N U T I   3 0</a:t>
            </a:r>
          </a:p>
        </p:txBody>
      </p:sp>
      <p:sp>
        <p:nvSpPr>
          <p:cNvPr id="4" name="claim-title">
            <a:extLst xmlns:a="http://schemas.openxmlformats.org/drawingml/2006/main">
              <a:ext uri="{FF2B5EF4-FFF2-40B4-BE49-F238E27FC236}">
                <a16:creationId xmlns:a16="http://schemas.microsoft.com/office/drawing/2014/main" id="{EC167C42-B41C-4208-A47A-D9EEFA803F4C}"/>
              </a:ext>
            </a:extLst>
          </p:cNvPr>
          <p:cNvSpPr>
            <a:spLocks xmlns:a="http://schemas.openxmlformats.org/drawingml/2006/main" noGrp="1"/>
          </p:cNvSpPr>
          <p:nvPr/>
        </p:nvSpPr>
        <p:spPr>
          <a:xfrm xmlns:a="http://schemas.openxmlformats.org/drawingml/2006/main">
            <a:off x="552450" y="742950"/>
            <a:ext cx="990600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000" b="1">
                <a:solidFill>
                  <a:srgbClr val="17211D"/>
                </a:solidFill>
                <a:latin typeface="Georgia"/>
                <a:ea typeface="Georgia"/>
                <a:cs typeface="Georgia"/>
              </a:defRPr>
            </a:pPr>
            <a:r>
              <a:rPr sz="3000" b="1">
                <a:solidFill>
                  <a:srgbClr val="17211D"/>
                </a:solidFill>
                <a:latin typeface="Georgia"/>
                <a:ea typeface="Georgia"/>
                <a:cs typeface="Georgia"/>
              </a:rPr>
              <a:t>La demo deve provare il ciclo, non mostrare ogni pulsante.</a:t>
            </a:r>
          </a:p>
        </p:txBody>
      </p:sp>
      <p:sp>
        <p:nvSpPr>
          <p:cNvPr id="5" name="">
            <a:extLst xmlns:a="http://schemas.openxmlformats.org/drawingml/2006/main">
              <a:ext uri="{FF2B5EF4-FFF2-40B4-BE49-F238E27FC236}">
                <a16:creationId xmlns:a16="http://schemas.microsoft.com/office/drawing/2014/main" id="{4FC186D5-5DBF-46CD-A719-730B1A20AC49}"/>
              </a:ext>
            </a:extLst>
          </p:cNvPr>
          <p:cNvSpPr>
            <a:spLocks xmlns:a="http://schemas.openxmlformats.org/drawingml/2006/main" noGrp="1"/>
          </p:cNvSpPr>
          <p:nvPr/>
        </p:nvSpPr>
        <p:spPr>
          <a:xfrm xmlns:a="http://schemas.openxmlformats.org/drawingml/2006/main">
            <a:off x="1104900" y="2933700"/>
            <a:ext cx="9810750" cy="38100"/>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6" name="">
            <a:extLst xmlns:a="http://schemas.openxmlformats.org/drawingml/2006/main">
              <a:ext uri="{FF2B5EF4-FFF2-40B4-BE49-F238E27FC236}">
                <a16:creationId xmlns:a16="http://schemas.microsoft.com/office/drawing/2014/main" id="{FB6FB4FB-76E4-48F6-BC25-AAB2D1564904}"/>
              </a:ext>
            </a:extLst>
          </p:cNvPr>
          <p:cNvSpPr>
            <a:spLocks xmlns:a="http://schemas.openxmlformats.org/drawingml/2006/main" noGrp="1"/>
          </p:cNvSpPr>
          <p:nvPr/>
        </p:nvSpPr>
        <p:spPr>
          <a:xfrm xmlns:a="http://schemas.openxmlformats.org/drawingml/2006/main">
            <a:off x="1066800" y="2724150"/>
            <a:ext cx="419100" cy="419100"/>
          </a:xfrm>
          <a:prstGeom xmlns:a="http://schemas.openxmlformats.org/drawingml/2006/main" prst="ellipse">
            <a:avLst/>
          </a:prstGeom>
          <a:solidFill xmlns:a="http://schemas.openxmlformats.org/drawingml/2006/main">
            <a:srgbClr val="123C31"/>
          </a:solidFill>
          <a:ln xmlns:a="http://schemas.openxmlformats.org/drawingml/2006/main" w="0">
            <a:solidFill>
              <a:srgbClr val="000000">
                <a:alpha val="0"/>
              </a:srgbClr>
            </a:solidFill>
            <a:prstDash val="solid"/>
          </a:ln>
        </p:spPr>
      </p:sp>
      <p:sp>
        <p:nvSpPr>
          <p:cNvPr id="7" name="">
            <a:extLst xmlns:a="http://schemas.openxmlformats.org/drawingml/2006/main">
              <a:ext uri="{FF2B5EF4-FFF2-40B4-BE49-F238E27FC236}">
                <a16:creationId xmlns:a16="http://schemas.microsoft.com/office/drawing/2014/main" id="{AEE649D6-B579-41C1-8BF8-735544BD5A86}"/>
              </a:ext>
            </a:extLst>
          </p:cNvPr>
          <p:cNvSpPr>
            <a:spLocks xmlns:a="http://schemas.openxmlformats.org/drawingml/2006/main" noGrp="1"/>
          </p:cNvSpPr>
          <p:nvPr/>
        </p:nvSpPr>
        <p:spPr>
          <a:xfrm xmlns:a="http://schemas.openxmlformats.org/drawingml/2006/main">
            <a:off x="1066800" y="2762250"/>
            <a:ext cx="4191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FFFFF"/>
                </a:solidFill>
                <a:latin typeface="Georgia"/>
                <a:ea typeface="Georgia"/>
                <a:cs typeface="Georgia"/>
              </a:defRPr>
            </a:pPr>
            <a:r>
              <a:rPr sz="1125" b="1">
                <a:solidFill>
                  <a:srgbClr val="FFFFFF"/>
                </a:solidFill>
                <a:latin typeface="Georgia"/>
                <a:ea typeface="Georgia"/>
                <a:cs typeface="Georgia"/>
              </a:rPr>
              <a:t>1</a:t>
            </a:r>
          </a:p>
        </p:txBody>
      </p:sp>
      <p:sp>
        <p:nvSpPr>
          <p:cNvPr id="8" name="">
            <a:extLst xmlns:a="http://schemas.openxmlformats.org/drawingml/2006/main">
              <a:ext uri="{FF2B5EF4-FFF2-40B4-BE49-F238E27FC236}">
                <a16:creationId xmlns:a16="http://schemas.microsoft.com/office/drawing/2014/main" id="{93AB73B5-61DD-42F0-A9F1-B95FA5CF0F5F}"/>
              </a:ext>
            </a:extLst>
          </p:cNvPr>
          <p:cNvSpPr>
            <a:spLocks xmlns:a="http://schemas.openxmlformats.org/drawingml/2006/main" noGrp="1"/>
          </p:cNvSpPr>
          <p:nvPr/>
        </p:nvSpPr>
        <p:spPr>
          <a:xfrm xmlns:a="http://schemas.openxmlformats.org/drawingml/2006/main">
            <a:off x="742950" y="3429000"/>
            <a:ext cx="10668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1">
                <a:solidFill>
                  <a:srgbClr val="2F7D5B"/>
                </a:solidFill>
                <a:latin typeface="Aptos"/>
                <a:ea typeface="Aptos"/>
                <a:cs typeface="Aptos"/>
              </a:defRPr>
            </a:pPr>
            <a:r>
              <a:rPr sz="750" b="1">
                <a:solidFill>
                  <a:srgbClr val="2F7D5B"/>
                </a:solidFill>
                <a:latin typeface="Aptos"/>
                <a:ea typeface="Aptos"/>
                <a:cs typeface="Aptos"/>
              </a:rPr>
              <a:t>0:00</a:t>
            </a:r>
          </a:p>
        </p:txBody>
      </p:sp>
      <p:sp>
        <p:nvSpPr>
          <p:cNvPr id="9" name="">
            <a:extLst xmlns:a="http://schemas.openxmlformats.org/drawingml/2006/main">
              <a:ext uri="{FF2B5EF4-FFF2-40B4-BE49-F238E27FC236}">
                <a16:creationId xmlns:a16="http://schemas.microsoft.com/office/drawing/2014/main" id="{1E0CB0E4-3276-41F0-AE6A-A1F2399B2AAA}"/>
              </a:ext>
            </a:extLst>
          </p:cNvPr>
          <p:cNvSpPr>
            <a:spLocks xmlns:a="http://schemas.openxmlformats.org/drawingml/2006/main" noGrp="1"/>
          </p:cNvSpPr>
          <p:nvPr/>
        </p:nvSpPr>
        <p:spPr>
          <a:xfrm xmlns:a="http://schemas.openxmlformats.org/drawingml/2006/main">
            <a:off x="742950" y="3752850"/>
            <a:ext cx="10668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75" b="1">
                <a:solidFill>
                  <a:srgbClr val="17211D"/>
                </a:solidFill>
                <a:latin typeface="Georgia"/>
                <a:ea typeface="Georgia"/>
                <a:cs typeface="Georgia"/>
              </a:defRPr>
            </a:pPr>
            <a:r>
              <a:rPr sz="1275" b="1">
                <a:solidFill>
                  <a:srgbClr val="17211D"/>
                </a:solidFill>
                <a:latin typeface="Georgia"/>
                <a:ea typeface="Georgia"/>
                <a:cs typeface="Georgia"/>
              </a:rPr>
              <a:t>Catalogo</a:t>
            </a:r>
          </a:p>
        </p:txBody>
      </p:sp>
      <p:sp>
        <p:nvSpPr>
          <p:cNvPr id="10" name="">
            <a:extLst xmlns:a="http://schemas.openxmlformats.org/drawingml/2006/main">
              <a:ext uri="{FF2B5EF4-FFF2-40B4-BE49-F238E27FC236}">
                <a16:creationId xmlns:a16="http://schemas.microsoft.com/office/drawing/2014/main" id="{BF806985-EF1E-4E63-B1E1-417A27BC06D5}"/>
              </a:ext>
            </a:extLst>
          </p:cNvPr>
          <p:cNvSpPr>
            <a:spLocks xmlns:a="http://schemas.openxmlformats.org/drawingml/2006/main" noGrp="1"/>
          </p:cNvSpPr>
          <p:nvPr/>
        </p:nvSpPr>
        <p:spPr>
          <a:xfrm xmlns:a="http://schemas.openxmlformats.org/drawingml/2006/main">
            <a:off x="609600" y="4114800"/>
            <a:ext cx="13335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88" b="0">
                <a:solidFill>
                  <a:srgbClr val="65736B"/>
                </a:solidFill>
                <a:latin typeface="Aptos"/>
                <a:ea typeface="Aptos"/>
                <a:cs typeface="Aptos"/>
              </a:defRPr>
            </a:pPr>
            <a:r>
              <a:rPr sz="788" b="0">
                <a:solidFill>
                  <a:srgbClr val="65736B"/>
                </a:solidFill>
                <a:latin typeface="Aptos"/>
                <a:ea typeface="Aptos"/>
                <a:cs typeface="Aptos"/>
              </a:rPr>
              <a:t>apro il guardaroba e un dettaglio</a:t>
            </a:r>
          </a:p>
        </p:txBody>
      </p:sp>
      <p:sp>
        <p:nvSpPr>
          <p:cNvPr id="11" name="">
            <a:extLst xmlns:a="http://schemas.openxmlformats.org/drawingml/2006/main">
              <a:ext uri="{FF2B5EF4-FFF2-40B4-BE49-F238E27FC236}">
                <a16:creationId xmlns:a16="http://schemas.microsoft.com/office/drawing/2014/main" id="{4E28257A-96D4-419A-BDCD-7C2021FADE0C}"/>
              </a:ext>
            </a:extLst>
          </p:cNvPr>
          <p:cNvSpPr>
            <a:spLocks xmlns:a="http://schemas.openxmlformats.org/drawingml/2006/main" noGrp="1"/>
          </p:cNvSpPr>
          <p:nvPr/>
        </p:nvSpPr>
        <p:spPr>
          <a:xfrm xmlns:a="http://schemas.openxmlformats.org/drawingml/2006/main">
            <a:off x="2638425" y="2724150"/>
            <a:ext cx="419100" cy="419100"/>
          </a:xfrm>
          <a:prstGeom xmlns:a="http://schemas.openxmlformats.org/drawingml/2006/main" prst="ellipse">
            <a:avLst/>
          </a:prstGeom>
          <a:solidFill xmlns:a="http://schemas.openxmlformats.org/drawingml/2006/main">
            <a:srgbClr val="123C31"/>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87CAFC86-AE33-4F6E-982D-EACD5CABB90C}"/>
              </a:ext>
            </a:extLst>
          </p:cNvPr>
          <p:cNvSpPr>
            <a:spLocks xmlns:a="http://schemas.openxmlformats.org/drawingml/2006/main" noGrp="1"/>
          </p:cNvSpPr>
          <p:nvPr/>
        </p:nvSpPr>
        <p:spPr>
          <a:xfrm xmlns:a="http://schemas.openxmlformats.org/drawingml/2006/main">
            <a:off x="2638425" y="2762250"/>
            <a:ext cx="4191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FFFFF"/>
                </a:solidFill>
                <a:latin typeface="Georgia"/>
                <a:ea typeface="Georgia"/>
                <a:cs typeface="Georgia"/>
              </a:defRPr>
            </a:pPr>
            <a:r>
              <a:rPr sz="1125" b="1">
                <a:solidFill>
                  <a:srgbClr val="FFFFFF"/>
                </a:solidFill>
                <a:latin typeface="Georgia"/>
                <a:ea typeface="Georgia"/>
                <a:cs typeface="Georgia"/>
              </a:rPr>
              <a:t>2</a:t>
            </a:r>
          </a:p>
        </p:txBody>
      </p:sp>
      <p:sp>
        <p:nvSpPr>
          <p:cNvPr id="13" name="">
            <a:extLst xmlns:a="http://schemas.openxmlformats.org/drawingml/2006/main">
              <a:ext uri="{FF2B5EF4-FFF2-40B4-BE49-F238E27FC236}">
                <a16:creationId xmlns:a16="http://schemas.microsoft.com/office/drawing/2014/main" id="{1A4EE897-B9F8-45FA-8294-390B661E6ABB}"/>
              </a:ext>
            </a:extLst>
          </p:cNvPr>
          <p:cNvSpPr>
            <a:spLocks xmlns:a="http://schemas.openxmlformats.org/drawingml/2006/main" noGrp="1"/>
          </p:cNvSpPr>
          <p:nvPr/>
        </p:nvSpPr>
        <p:spPr>
          <a:xfrm xmlns:a="http://schemas.openxmlformats.org/drawingml/2006/main">
            <a:off x="2314575" y="3429000"/>
            <a:ext cx="10668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1">
                <a:solidFill>
                  <a:srgbClr val="2F7D5B"/>
                </a:solidFill>
                <a:latin typeface="Aptos"/>
                <a:ea typeface="Aptos"/>
                <a:cs typeface="Aptos"/>
              </a:defRPr>
            </a:pPr>
            <a:r>
              <a:rPr sz="750" b="1">
                <a:solidFill>
                  <a:srgbClr val="2F7D5B"/>
                </a:solidFill>
                <a:latin typeface="Aptos"/>
                <a:ea typeface="Aptos"/>
                <a:cs typeface="Aptos"/>
              </a:rPr>
              <a:t>0:35</a:t>
            </a:r>
          </a:p>
        </p:txBody>
      </p:sp>
      <p:sp>
        <p:nvSpPr>
          <p:cNvPr id="14" name="">
            <a:extLst xmlns:a="http://schemas.openxmlformats.org/drawingml/2006/main">
              <a:ext uri="{FF2B5EF4-FFF2-40B4-BE49-F238E27FC236}">
                <a16:creationId xmlns:a16="http://schemas.microsoft.com/office/drawing/2014/main" id="{DEB6CBF7-6420-4FE4-B4E5-7BE9FFBCE7DB}"/>
              </a:ext>
            </a:extLst>
          </p:cNvPr>
          <p:cNvSpPr>
            <a:spLocks xmlns:a="http://schemas.openxmlformats.org/drawingml/2006/main" noGrp="1"/>
          </p:cNvSpPr>
          <p:nvPr/>
        </p:nvSpPr>
        <p:spPr>
          <a:xfrm xmlns:a="http://schemas.openxmlformats.org/drawingml/2006/main">
            <a:off x="2314575" y="3752850"/>
            <a:ext cx="10668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75" b="1">
                <a:solidFill>
                  <a:srgbClr val="17211D"/>
                </a:solidFill>
                <a:latin typeface="Georgia"/>
                <a:ea typeface="Georgia"/>
                <a:cs typeface="Georgia"/>
              </a:defRPr>
            </a:pPr>
            <a:r>
              <a:rPr sz="1275" b="1">
                <a:solidFill>
                  <a:srgbClr val="17211D"/>
                </a:solidFill>
                <a:latin typeface="Georgia"/>
                <a:ea typeface="Georgia"/>
                <a:cs typeface="Georgia"/>
              </a:rPr>
              <a:t>Wear</a:t>
            </a:r>
          </a:p>
        </p:txBody>
      </p:sp>
      <p:sp>
        <p:nvSpPr>
          <p:cNvPr id="15" name="">
            <a:extLst xmlns:a="http://schemas.openxmlformats.org/drawingml/2006/main">
              <a:ext uri="{FF2B5EF4-FFF2-40B4-BE49-F238E27FC236}">
                <a16:creationId xmlns:a16="http://schemas.microsoft.com/office/drawing/2014/main" id="{83B6E32C-6F6A-4FFC-9525-A27240323D5E}"/>
              </a:ext>
            </a:extLst>
          </p:cNvPr>
          <p:cNvSpPr>
            <a:spLocks xmlns:a="http://schemas.openxmlformats.org/drawingml/2006/main" noGrp="1"/>
          </p:cNvSpPr>
          <p:nvPr/>
        </p:nvSpPr>
        <p:spPr>
          <a:xfrm xmlns:a="http://schemas.openxmlformats.org/drawingml/2006/main">
            <a:off x="2181225" y="4114800"/>
            <a:ext cx="13335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88" b="0">
                <a:solidFill>
                  <a:srgbClr val="65736B"/>
                </a:solidFill>
                <a:latin typeface="Aptos"/>
                <a:ea typeface="Aptos"/>
                <a:cs typeface="Aptos"/>
              </a:defRPr>
            </a:pPr>
            <a:r>
              <a:rPr sz="788" b="0">
                <a:solidFill>
                  <a:srgbClr val="65736B"/>
                </a:solidFill>
                <a:latin typeface="Aptos"/>
                <a:ea typeface="Aptos"/>
                <a:cs typeface="Aptos"/>
              </a:rPr>
              <a:t>registro “indossato oggi”</a:t>
            </a:r>
          </a:p>
        </p:txBody>
      </p:sp>
      <p:sp>
        <p:nvSpPr>
          <p:cNvPr id="16" name="">
            <a:extLst xmlns:a="http://schemas.openxmlformats.org/drawingml/2006/main">
              <a:ext uri="{FF2B5EF4-FFF2-40B4-BE49-F238E27FC236}">
                <a16:creationId xmlns:a16="http://schemas.microsoft.com/office/drawing/2014/main" id="{F2E86AB8-1D29-48C6-9387-87341B2B2279}"/>
              </a:ext>
            </a:extLst>
          </p:cNvPr>
          <p:cNvSpPr>
            <a:spLocks xmlns:a="http://schemas.openxmlformats.org/drawingml/2006/main" noGrp="1"/>
          </p:cNvSpPr>
          <p:nvPr/>
        </p:nvSpPr>
        <p:spPr>
          <a:xfrm xmlns:a="http://schemas.openxmlformats.org/drawingml/2006/main">
            <a:off x="4210050" y="2724150"/>
            <a:ext cx="419100" cy="419100"/>
          </a:xfrm>
          <a:prstGeom xmlns:a="http://schemas.openxmlformats.org/drawingml/2006/main" prst="ellipse">
            <a:avLst/>
          </a:prstGeom>
          <a:solidFill xmlns:a="http://schemas.openxmlformats.org/drawingml/2006/main">
            <a:srgbClr val="123C31"/>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009D8271-F2DF-4BBC-AD64-F6DCA01CF3C2}"/>
              </a:ext>
            </a:extLst>
          </p:cNvPr>
          <p:cNvSpPr>
            <a:spLocks xmlns:a="http://schemas.openxmlformats.org/drawingml/2006/main" noGrp="1"/>
          </p:cNvSpPr>
          <p:nvPr/>
        </p:nvSpPr>
        <p:spPr>
          <a:xfrm xmlns:a="http://schemas.openxmlformats.org/drawingml/2006/main">
            <a:off x="4210050" y="2762250"/>
            <a:ext cx="4191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FFFFF"/>
                </a:solidFill>
                <a:latin typeface="Georgia"/>
                <a:ea typeface="Georgia"/>
                <a:cs typeface="Georgia"/>
              </a:defRPr>
            </a:pPr>
            <a:r>
              <a:rPr sz="1125" b="1">
                <a:solidFill>
                  <a:srgbClr val="FFFFFF"/>
                </a:solidFill>
                <a:latin typeface="Georgia"/>
                <a:ea typeface="Georgia"/>
                <a:cs typeface="Georgia"/>
              </a:rPr>
              <a:t>3</a:t>
            </a:r>
          </a:p>
        </p:txBody>
      </p:sp>
      <p:sp>
        <p:nvSpPr>
          <p:cNvPr id="18" name="">
            <a:extLst xmlns:a="http://schemas.openxmlformats.org/drawingml/2006/main">
              <a:ext uri="{FF2B5EF4-FFF2-40B4-BE49-F238E27FC236}">
                <a16:creationId xmlns:a16="http://schemas.microsoft.com/office/drawing/2014/main" id="{2F34DF59-E2CC-4A58-917D-53066A7F6F57}"/>
              </a:ext>
            </a:extLst>
          </p:cNvPr>
          <p:cNvSpPr>
            <a:spLocks xmlns:a="http://schemas.openxmlformats.org/drawingml/2006/main" noGrp="1"/>
          </p:cNvSpPr>
          <p:nvPr/>
        </p:nvSpPr>
        <p:spPr>
          <a:xfrm xmlns:a="http://schemas.openxmlformats.org/drawingml/2006/main">
            <a:off x="3886200" y="3429000"/>
            <a:ext cx="10668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1">
                <a:solidFill>
                  <a:srgbClr val="2F7D5B"/>
                </a:solidFill>
                <a:latin typeface="Aptos"/>
                <a:ea typeface="Aptos"/>
                <a:cs typeface="Aptos"/>
              </a:defRPr>
            </a:pPr>
            <a:r>
              <a:rPr sz="750" b="1">
                <a:solidFill>
                  <a:srgbClr val="2F7D5B"/>
                </a:solidFill>
                <a:latin typeface="Aptos"/>
                <a:ea typeface="Aptos"/>
                <a:cs typeface="Aptos"/>
              </a:rPr>
              <a:t>1:05</a:t>
            </a:r>
          </a:p>
        </p:txBody>
      </p:sp>
      <p:sp>
        <p:nvSpPr>
          <p:cNvPr id="19" name="">
            <a:extLst xmlns:a="http://schemas.openxmlformats.org/drawingml/2006/main">
              <a:ext uri="{FF2B5EF4-FFF2-40B4-BE49-F238E27FC236}">
                <a16:creationId xmlns:a16="http://schemas.microsoft.com/office/drawing/2014/main" id="{3704BAE5-F553-4E99-8E81-51CFE9296244}"/>
              </a:ext>
            </a:extLst>
          </p:cNvPr>
          <p:cNvSpPr>
            <a:spLocks xmlns:a="http://schemas.openxmlformats.org/drawingml/2006/main" noGrp="1"/>
          </p:cNvSpPr>
          <p:nvPr/>
        </p:nvSpPr>
        <p:spPr>
          <a:xfrm xmlns:a="http://schemas.openxmlformats.org/drawingml/2006/main">
            <a:off x="3886200" y="3752850"/>
            <a:ext cx="10668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75" b="1">
                <a:solidFill>
                  <a:srgbClr val="17211D"/>
                </a:solidFill>
                <a:latin typeface="Georgia"/>
                <a:ea typeface="Georgia"/>
                <a:cs typeface="Georgia"/>
              </a:defRPr>
            </a:pPr>
            <a:r>
              <a:rPr sz="1275" b="1">
                <a:solidFill>
                  <a:srgbClr val="17211D"/>
                </a:solidFill>
                <a:latin typeface="Georgia"/>
                <a:ea typeface="Georgia"/>
                <a:cs typeface="Georgia"/>
              </a:rPr>
              <a:t>Ghost</a:t>
            </a:r>
          </a:p>
        </p:txBody>
      </p:sp>
      <p:sp>
        <p:nvSpPr>
          <p:cNvPr id="20" name="">
            <a:extLst xmlns:a="http://schemas.openxmlformats.org/drawingml/2006/main">
              <a:ext uri="{FF2B5EF4-FFF2-40B4-BE49-F238E27FC236}">
                <a16:creationId xmlns:a16="http://schemas.microsoft.com/office/drawing/2014/main" id="{BC6EB4D5-30D8-490D-8493-8A62204816A5}"/>
              </a:ext>
            </a:extLst>
          </p:cNvPr>
          <p:cNvSpPr>
            <a:spLocks xmlns:a="http://schemas.openxmlformats.org/drawingml/2006/main" noGrp="1"/>
          </p:cNvSpPr>
          <p:nvPr/>
        </p:nvSpPr>
        <p:spPr>
          <a:xfrm xmlns:a="http://schemas.openxmlformats.org/drawingml/2006/main">
            <a:off x="3752850" y="4114800"/>
            <a:ext cx="13335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88" b="0">
                <a:solidFill>
                  <a:srgbClr val="65736B"/>
                </a:solidFill>
                <a:latin typeface="Aptos"/>
                <a:ea typeface="Aptos"/>
                <a:cs typeface="Aptos"/>
              </a:defRPr>
            </a:pPr>
            <a:r>
              <a:rPr sz="788" b="0">
                <a:solidFill>
                  <a:srgbClr val="65736B"/>
                </a:solidFill>
                <a:latin typeface="Aptos"/>
                <a:ea typeface="Aptos"/>
                <a:cs typeface="Aptos"/>
              </a:rPr>
              <a:t>mostro regola, soglia e lista</a:t>
            </a:r>
          </a:p>
        </p:txBody>
      </p:sp>
      <p:sp>
        <p:nvSpPr>
          <p:cNvPr id="21" name="">
            <a:extLst xmlns:a="http://schemas.openxmlformats.org/drawingml/2006/main">
              <a:ext uri="{FF2B5EF4-FFF2-40B4-BE49-F238E27FC236}">
                <a16:creationId xmlns:a16="http://schemas.microsoft.com/office/drawing/2014/main" id="{3A1E4405-ADA4-4BAB-AB5A-DD1CEB2751B4}"/>
              </a:ext>
            </a:extLst>
          </p:cNvPr>
          <p:cNvSpPr>
            <a:spLocks xmlns:a="http://schemas.openxmlformats.org/drawingml/2006/main" noGrp="1"/>
          </p:cNvSpPr>
          <p:nvPr/>
        </p:nvSpPr>
        <p:spPr>
          <a:xfrm xmlns:a="http://schemas.openxmlformats.org/drawingml/2006/main">
            <a:off x="5781675" y="2724150"/>
            <a:ext cx="419100" cy="419100"/>
          </a:xfrm>
          <a:prstGeom xmlns:a="http://schemas.openxmlformats.org/drawingml/2006/main" prst="ellipse">
            <a:avLst/>
          </a:prstGeom>
          <a:solidFill xmlns:a="http://schemas.openxmlformats.org/drawingml/2006/main">
            <a:srgbClr val="123C31"/>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3B3A449B-8C76-43D6-AADD-63DEA2AB6F3A}"/>
              </a:ext>
            </a:extLst>
          </p:cNvPr>
          <p:cNvSpPr>
            <a:spLocks xmlns:a="http://schemas.openxmlformats.org/drawingml/2006/main" noGrp="1"/>
          </p:cNvSpPr>
          <p:nvPr/>
        </p:nvSpPr>
        <p:spPr>
          <a:xfrm xmlns:a="http://schemas.openxmlformats.org/drawingml/2006/main">
            <a:off x="5781675" y="2762250"/>
            <a:ext cx="4191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FFFFF"/>
                </a:solidFill>
                <a:latin typeface="Georgia"/>
                <a:ea typeface="Georgia"/>
                <a:cs typeface="Georgia"/>
              </a:defRPr>
            </a:pPr>
            <a:r>
              <a:rPr sz="1125" b="1">
                <a:solidFill>
                  <a:srgbClr val="FFFFFF"/>
                </a:solidFill>
                <a:latin typeface="Georgia"/>
                <a:ea typeface="Georgia"/>
                <a:cs typeface="Georgia"/>
              </a:rPr>
              <a:t>4</a:t>
            </a:r>
          </a:p>
        </p:txBody>
      </p:sp>
      <p:sp>
        <p:nvSpPr>
          <p:cNvPr id="23" name="">
            <a:extLst xmlns:a="http://schemas.openxmlformats.org/drawingml/2006/main">
              <a:ext uri="{FF2B5EF4-FFF2-40B4-BE49-F238E27FC236}">
                <a16:creationId xmlns:a16="http://schemas.microsoft.com/office/drawing/2014/main" id="{9AF01939-8676-4DD0-9C1D-0A55C803A8A9}"/>
              </a:ext>
            </a:extLst>
          </p:cNvPr>
          <p:cNvSpPr>
            <a:spLocks xmlns:a="http://schemas.openxmlformats.org/drawingml/2006/main" noGrp="1"/>
          </p:cNvSpPr>
          <p:nvPr/>
        </p:nvSpPr>
        <p:spPr>
          <a:xfrm xmlns:a="http://schemas.openxmlformats.org/drawingml/2006/main">
            <a:off x="5457825" y="3429000"/>
            <a:ext cx="10668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1">
                <a:solidFill>
                  <a:srgbClr val="2F7D5B"/>
                </a:solidFill>
                <a:latin typeface="Aptos"/>
                <a:ea typeface="Aptos"/>
                <a:cs typeface="Aptos"/>
              </a:defRPr>
            </a:pPr>
            <a:r>
              <a:rPr sz="750" b="1">
                <a:solidFill>
                  <a:srgbClr val="2F7D5B"/>
                </a:solidFill>
                <a:latin typeface="Aptos"/>
                <a:ea typeface="Aptos"/>
                <a:cs typeface="Aptos"/>
              </a:rPr>
              <a:t>1:35</a:t>
            </a:r>
          </a:p>
        </p:txBody>
      </p:sp>
      <p:sp>
        <p:nvSpPr>
          <p:cNvPr id="24" name="">
            <a:extLst xmlns:a="http://schemas.openxmlformats.org/drawingml/2006/main">
              <a:ext uri="{FF2B5EF4-FFF2-40B4-BE49-F238E27FC236}">
                <a16:creationId xmlns:a16="http://schemas.microsoft.com/office/drawing/2014/main" id="{A1E2D97C-0239-4546-BC34-934343414354}"/>
              </a:ext>
            </a:extLst>
          </p:cNvPr>
          <p:cNvSpPr>
            <a:spLocks xmlns:a="http://schemas.openxmlformats.org/drawingml/2006/main" noGrp="1"/>
          </p:cNvSpPr>
          <p:nvPr/>
        </p:nvSpPr>
        <p:spPr>
          <a:xfrm xmlns:a="http://schemas.openxmlformats.org/drawingml/2006/main">
            <a:off x="5457825" y="3752850"/>
            <a:ext cx="10668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75" b="1">
                <a:solidFill>
                  <a:srgbClr val="17211D"/>
                </a:solidFill>
                <a:latin typeface="Georgia"/>
                <a:ea typeface="Georgia"/>
                <a:cs typeface="Georgia"/>
              </a:defRPr>
            </a:pPr>
            <a:r>
              <a:rPr sz="1275" b="1">
                <a:solidFill>
                  <a:srgbClr val="17211D"/>
                </a:solidFill>
                <a:latin typeface="Georgia"/>
                <a:ea typeface="Georgia"/>
                <a:cs typeface="Georgia"/>
              </a:rPr>
              <a:t>Stato</a:t>
            </a:r>
          </a:p>
        </p:txBody>
      </p:sp>
      <p:sp>
        <p:nvSpPr>
          <p:cNvPr id="25" name="">
            <a:extLst xmlns:a="http://schemas.openxmlformats.org/drawingml/2006/main">
              <a:ext uri="{FF2B5EF4-FFF2-40B4-BE49-F238E27FC236}">
                <a16:creationId xmlns:a16="http://schemas.microsoft.com/office/drawing/2014/main" id="{1DE1EC3D-9494-4445-84BE-2B783EDABCA0}"/>
              </a:ext>
            </a:extLst>
          </p:cNvPr>
          <p:cNvSpPr>
            <a:spLocks xmlns:a="http://schemas.openxmlformats.org/drawingml/2006/main" noGrp="1"/>
          </p:cNvSpPr>
          <p:nvPr/>
        </p:nvSpPr>
        <p:spPr>
          <a:xfrm xmlns:a="http://schemas.openxmlformats.org/drawingml/2006/main">
            <a:off x="5324475" y="4114800"/>
            <a:ext cx="13335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88" b="0">
                <a:solidFill>
                  <a:srgbClr val="65736B"/>
                </a:solidFill>
                <a:latin typeface="Aptos"/>
                <a:ea typeface="Aptos"/>
                <a:cs typeface="Aptos"/>
              </a:defRPr>
            </a:pPr>
            <a:r>
              <a:rPr sz="788" b="0">
                <a:solidFill>
                  <a:srgbClr val="65736B"/>
                </a:solidFill>
                <a:latin typeface="Aptos"/>
                <a:ea typeface="Aptos"/>
                <a:cs typeface="Aptos"/>
              </a:rPr>
              <a:t>diagnosi: buono/usurato/danneggiato</a:t>
            </a:r>
          </a:p>
        </p:txBody>
      </p:sp>
      <p:sp>
        <p:nvSpPr>
          <p:cNvPr id="26" name="">
            <a:extLst xmlns:a="http://schemas.openxmlformats.org/drawingml/2006/main">
              <a:ext uri="{FF2B5EF4-FFF2-40B4-BE49-F238E27FC236}">
                <a16:creationId xmlns:a16="http://schemas.microsoft.com/office/drawing/2014/main" id="{EA80403A-7526-435C-AF55-C47AA56D7BBB}"/>
              </a:ext>
            </a:extLst>
          </p:cNvPr>
          <p:cNvSpPr>
            <a:spLocks xmlns:a="http://schemas.openxmlformats.org/drawingml/2006/main" noGrp="1"/>
          </p:cNvSpPr>
          <p:nvPr/>
        </p:nvSpPr>
        <p:spPr>
          <a:xfrm xmlns:a="http://schemas.openxmlformats.org/drawingml/2006/main">
            <a:off x="7353300" y="2724150"/>
            <a:ext cx="419100" cy="419100"/>
          </a:xfrm>
          <a:prstGeom xmlns:a="http://schemas.openxmlformats.org/drawingml/2006/main" prst="ellipse">
            <a:avLst/>
          </a:prstGeom>
          <a:solidFill xmlns:a="http://schemas.openxmlformats.org/drawingml/2006/main">
            <a:srgbClr val="123C31"/>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94F4AA6E-4DB4-44ED-BB61-1A05B4ADC412}"/>
              </a:ext>
            </a:extLst>
          </p:cNvPr>
          <p:cNvSpPr>
            <a:spLocks xmlns:a="http://schemas.openxmlformats.org/drawingml/2006/main" noGrp="1"/>
          </p:cNvSpPr>
          <p:nvPr/>
        </p:nvSpPr>
        <p:spPr>
          <a:xfrm xmlns:a="http://schemas.openxmlformats.org/drawingml/2006/main">
            <a:off x="7353300" y="2762250"/>
            <a:ext cx="4191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FFFFF"/>
                </a:solidFill>
                <a:latin typeface="Georgia"/>
                <a:ea typeface="Georgia"/>
                <a:cs typeface="Georgia"/>
              </a:defRPr>
            </a:pPr>
            <a:r>
              <a:rPr sz="1125" b="1">
                <a:solidFill>
                  <a:srgbClr val="FFFFFF"/>
                </a:solidFill>
                <a:latin typeface="Georgia"/>
                <a:ea typeface="Georgia"/>
                <a:cs typeface="Georgia"/>
              </a:rPr>
              <a:t>5</a:t>
            </a:r>
          </a:p>
        </p:txBody>
      </p:sp>
      <p:sp>
        <p:nvSpPr>
          <p:cNvPr id="28" name="">
            <a:extLst xmlns:a="http://schemas.openxmlformats.org/drawingml/2006/main">
              <a:ext uri="{FF2B5EF4-FFF2-40B4-BE49-F238E27FC236}">
                <a16:creationId xmlns:a16="http://schemas.microsoft.com/office/drawing/2014/main" id="{7AC991C5-6AF8-45E0-B540-0CA84F9B916C}"/>
              </a:ext>
            </a:extLst>
          </p:cNvPr>
          <p:cNvSpPr>
            <a:spLocks xmlns:a="http://schemas.openxmlformats.org/drawingml/2006/main" noGrp="1"/>
          </p:cNvSpPr>
          <p:nvPr/>
        </p:nvSpPr>
        <p:spPr>
          <a:xfrm xmlns:a="http://schemas.openxmlformats.org/drawingml/2006/main">
            <a:off x="7029450" y="3429000"/>
            <a:ext cx="10668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1">
                <a:solidFill>
                  <a:srgbClr val="2F7D5B"/>
                </a:solidFill>
                <a:latin typeface="Aptos"/>
                <a:ea typeface="Aptos"/>
                <a:cs typeface="Aptos"/>
              </a:defRPr>
            </a:pPr>
            <a:r>
              <a:rPr sz="750" b="1">
                <a:solidFill>
                  <a:srgbClr val="2F7D5B"/>
                </a:solidFill>
                <a:latin typeface="Aptos"/>
                <a:ea typeface="Aptos"/>
                <a:cs typeface="Aptos"/>
              </a:rPr>
              <a:t>2:10</a:t>
            </a:r>
          </a:p>
        </p:txBody>
      </p:sp>
      <p:sp>
        <p:nvSpPr>
          <p:cNvPr id="29" name="">
            <a:extLst xmlns:a="http://schemas.openxmlformats.org/drawingml/2006/main">
              <a:ext uri="{FF2B5EF4-FFF2-40B4-BE49-F238E27FC236}">
                <a16:creationId xmlns:a16="http://schemas.microsoft.com/office/drawing/2014/main" id="{02D5878B-B3D4-43DA-A50A-3E1E77C1AA55}"/>
              </a:ext>
            </a:extLst>
          </p:cNvPr>
          <p:cNvSpPr>
            <a:spLocks xmlns:a="http://schemas.openxmlformats.org/drawingml/2006/main" noGrp="1"/>
          </p:cNvSpPr>
          <p:nvPr/>
        </p:nvSpPr>
        <p:spPr>
          <a:xfrm xmlns:a="http://schemas.openxmlformats.org/drawingml/2006/main">
            <a:off x="7029450" y="3752850"/>
            <a:ext cx="10668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75" b="1">
                <a:solidFill>
                  <a:srgbClr val="17211D"/>
                </a:solidFill>
                <a:latin typeface="Georgia"/>
                <a:ea typeface="Georgia"/>
                <a:cs typeface="Georgia"/>
              </a:defRPr>
            </a:pPr>
            <a:r>
              <a:rPr sz="1275" b="1">
                <a:solidFill>
                  <a:srgbClr val="17211D"/>
                </a:solidFill>
                <a:latin typeface="Georgia"/>
                <a:ea typeface="Georgia"/>
                <a:cs typeface="Georgia"/>
              </a:rPr>
              <a:t>Gap</a:t>
            </a:r>
          </a:p>
        </p:txBody>
      </p:sp>
      <p:sp>
        <p:nvSpPr>
          <p:cNvPr id="30" name="">
            <a:extLst xmlns:a="http://schemas.openxmlformats.org/drawingml/2006/main">
              <a:ext uri="{FF2B5EF4-FFF2-40B4-BE49-F238E27FC236}">
                <a16:creationId xmlns:a16="http://schemas.microsoft.com/office/drawing/2014/main" id="{097EAC64-8FDD-4D1C-8D89-798155290EFA}"/>
              </a:ext>
            </a:extLst>
          </p:cNvPr>
          <p:cNvSpPr>
            <a:spLocks xmlns:a="http://schemas.openxmlformats.org/drawingml/2006/main" noGrp="1"/>
          </p:cNvSpPr>
          <p:nvPr/>
        </p:nvSpPr>
        <p:spPr>
          <a:xfrm xmlns:a="http://schemas.openxmlformats.org/drawingml/2006/main">
            <a:off x="6896100" y="4114800"/>
            <a:ext cx="13335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88" b="0">
                <a:solidFill>
                  <a:srgbClr val="65736B"/>
                </a:solidFill>
                <a:latin typeface="Aptos"/>
                <a:ea typeface="Aptos"/>
                <a:cs typeface="Aptos"/>
              </a:defRPr>
            </a:pPr>
            <a:r>
              <a:rPr sz="788" b="0">
                <a:solidFill>
                  <a:srgbClr val="65736B"/>
                </a:solidFill>
                <a:latin typeface="Aptos"/>
                <a:ea typeface="Aptos"/>
                <a:cs typeface="Aptos"/>
              </a:rPr>
              <a:t>spiego multi-label + probabilità</a:t>
            </a:r>
          </a:p>
        </p:txBody>
      </p:sp>
      <p:sp>
        <p:nvSpPr>
          <p:cNvPr id="31" name="">
            <a:extLst xmlns:a="http://schemas.openxmlformats.org/drawingml/2006/main">
              <a:ext uri="{FF2B5EF4-FFF2-40B4-BE49-F238E27FC236}">
                <a16:creationId xmlns:a16="http://schemas.microsoft.com/office/drawing/2014/main" id="{EA463ED7-CE20-4463-A5F1-9709AB116D17}"/>
              </a:ext>
            </a:extLst>
          </p:cNvPr>
          <p:cNvSpPr>
            <a:spLocks xmlns:a="http://schemas.openxmlformats.org/drawingml/2006/main" noGrp="1"/>
          </p:cNvSpPr>
          <p:nvPr/>
        </p:nvSpPr>
        <p:spPr>
          <a:xfrm xmlns:a="http://schemas.openxmlformats.org/drawingml/2006/main">
            <a:off x="8924925" y="2724150"/>
            <a:ext cx="419100" cy="419100"/>
          </a:xfrm>
          <a:prstGeom xmlns:a="http://schemas.openxmlformats.org/drawingml/2006/main" prst="ellipse">
            <a:avLst/>
          </a:prstGeom>
          <a:solidFill xmlns:a="http://schemas.openxmlformats.org/drawingml/2006/main">
            <a:srgbClr val="123C31"/>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185D1C64-6254-4A26-96B7-2ED90F810A8C}"/>
              </a:ext>
            </a:extLst>
          </p:cNvPr>
          <p:cNvSpPr>
            <a:spLocks xmlns:a="http://schemas.openxmlformats.org/drawingml/2006/main" noGrp="1"/>
          </p:cNvSpPr>
          <p:nvPr/>
        </p:nvSpPr>
        <p:spPr>
          <a:xfrm xmlns:a="http://schemas.openxmlformats.org/drawingml/2006/main">
            <a:off x="8924925" y="2762250"/>
            <a:ext cx="4191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FFFFF"/>
                </a:solidFill>
                <a:latin typeface="Georgia"/>
                <a:ea typeface="Georgia"/>
                <a:cs typeface="Georgia"/>
              </a:defRPr>
            </a:pPr>
            <a:r>
              <a:rPr sz="1125" b="1">
                <a:solidFill>
                  <a:srgbClr val="FFFFFF"/>
                </a:solidFill>
                <a:latin typeface="Georgia"/>
                <a:ea typeface="Georgia"/>
                <a:cs typeface="Georgia"/>
              </a:rPr>
              <a:t>6</a:t>
            </a:r>
          </a:p>
        </p:txBody>
      </p:sp>
      <p:sp>
        <p:nvSpPr>
          <p:cNvPr id="33" name="">
            <a:extLst xmlns:a="http://schemas.openxmlformats.org/drawingml/2006/main">
              <a:ext uri="{FF2B5EF4-FFF2-40B4-BE49-F238E27FC236}">
                <a16:creationId xmlns:a16="http://schemas.microsoft.com/office/drawing/2014/main" id="{8678B84C-EB23-4BE7-A4DD-0ED4C74058EA}"/>
              </a:ext>
            </a:extLst>
          </p:cNvPr>
          <p:cNvSpPr>
            <a:spLocks xmlns:a="http://schemas.openxmlformats.org/drawingml/2006/main" noGrp="1"/>
          </p:cNvSpPr>
          <p:nvPr/>
        </p:nvSpPr>
        <p:spPr>
          <a:xfrm xmlns:a="http://schemas.openxmlformats.org/drawingml/2006/main">
            <a:off x="8601075" y="3429000"/>
            <a:ext cx="10668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1">
                <a:solidFill>
                  <a:srgbClr val="2F7D5B"/>
                </a:solidFill>
                <a:latin typeface="Aptos"/>
                <a:ea typeface="Aptos"/>
                <a:cs typeface="Aptos"/>
              </a:defRPr>
            </a:pPr>
            <a:r>
              <a:rPr sz="750" b="1">
                <a:solidFill>
                  <a:srgbClr val="2F7D5B"/>
                </a:solidFill>
                <a:latin typeface="Aptos"/>
                <a:ea typeface="Aptos"/>
                <a:cs typeface="Aptos"/>
              </a:rPr>
              <a:t>2:45</a:t>
            </a:r>
          </a:p>
        </p:txBody>
      </p:sp>
      <p:sp>
        <p:nvSpPr>
          <p:cNvPr id="34" name="">
            <a:extLst xmlns:a="http://schemas.openxmlformats.org/drawingml/2006/main">
              <a:ext uri="{FF2B5EF4-FFF2-40B4-BE49-F238E27FC236}">
                <a16:creationId xmlns:a16="http://schemas.microsoft.com/office/drawing/2014/main" id="{13594FF5-BDE3-47DF-8068-1B7591E7A2CF}"/>
              </a:ext>
            </a:extLst>
          </p:cNvPr>
          <p:cNvSpPr>
            <a:spLocks xmlns:a="http://schemas.openxmlformats.org/drawingml/2006/main" noGrp="1"/>
          </p:cNvSpPr>
          <p:nvPr/>
        </p:nvSpPr>
        <p:spPr>
          <a:xfrm xmlns:a="http://schemas.openxmlformats.org/drawingml/2006/main">
            <a:off x="8601075" y="3752850"/>
            <a:ext cx="10668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75" b="1">
                <a:solidFill>
                  <a:srgbClr val="17211D"/>
                </a:solidFill>
                <a:latin typeface="Georgia"/>
                <a:ea typeface="Georgia"/>
                <a:cs typeface="Georgia"/>
              </a:defRPr>
            </a:pPr>
            <a:r>
              <a:rPr sz="1275" b="1">
                <a:solidFill>
                  <a:srgbClr val="17211D"/>
                </a:solidFill>
                <a:latin typeface="Georgia"/>
                <a:ea typeface="Georgia"/>
                <a:cs typeface="Georgia"/>
              </a:rPr>
              <a:t>Impatto</a:t>
            </a:r>
          </a:p>
        </p:txBody>
      </p:sp>
      <p:sp>
        <p:nvSpPr>
          <p:cNvPr id="35" name="">
            <a:extLst xmlns:a="http://schemas.openxmlformats.org/drawingml/2006/main">
              <a:ext uri="{FF2B5EF4-FFF2-40B4-BE49-F238E27FC236}">
                <a16:creationId xmlns:a16="http://schemas.microsoft.com/office/drawing/2014/main" id="{EAB76208-C761-43EB-8B1D-FF8D42DF2BB6}"/>
              </a:ext>
            </a:extLst>
          </p:cNvPr>
          <p:cNvSpPr>
            <a:spLocks xmlns:a="http://schemas.openxmlformats.org/drawingml/2006/main" noGrp="1"/>
          </p:cNvSpPr>
          <p:nvPr/>
        </p:nvSpPr>
        <p:spPr>
          <a:xfrm xmlns:a="http://schemas.openxmlformats.org/drawingml/2006/main">
            <a:off x="8467725" y="4114800"/>
            <a:ext cx="13335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88" b="0">
                <a:solidFill>
                  <a:srgbClr val="65736B"/>
                </a:solidFill>
                <a:latin typeface="Aptos"/>
                <a:ea typeface="Aptos"/>
                <a:cs typeface="Aptos"/>
              </a:defRPr>
            </a:pPr>
            <a:r>
              <a:rPr sz="788" b="0">
                <a:solidFill>
                  <a:srgbClr val="65736B"/>
                </a:solidFill>
                <a:latin typeface="Aptos"/>
                <a:ea typeface="Aptos"/>
                <a:cs typeface="Aptos"/>
              </a:rPr>
              <a:t>azione circolare → stima CO₂eq</a:t>
            </a:r>
          </a:p>
        </p:txBody>
      </p:sp>
      <p:sp>
        <p:nvSpPr>
          <p:cNvPr id="36" name="">
            <a:extLst xmlns:a="http://schemas.openxmlformats.org/drawingml/2006/main">
              <a:ext uri="{FF2B5EF4-FFF2-40B4-BE49-F238E27FC236}">
                <a16:creationId xmlns:a16="http://schemas.microsoft.com/office/drawing/2014/main" id="{BE147F6C-D488-41B6-B7BB-7A3F6204E69D}"/>
              </a:ext>
            </a:extLst>
          </p:cNvPr>
          <p:cNvSpPr>
            <a:spLocks xmlns:a="http://schemas.openxmlformats.org/drawingml/2006/main" noGrp="1"/>
          </p:cNvSpPr>
          <p:nvPr/>
        </p:nvSpPr>
        <p:spPr>
          <a:xfrm xmlns:a="http://schemas.openxmlformats.org/drawingml/2006/main">
            <a:off x="10496550" y="2724150"/>
            <a:ext cx="419100" cy="419100"/>
          </a:xfrm>
          <a:prstGeom xmlns:a="http://schemas.openxmlformats.org/drawingml/2006/main" prst="ellipse">
            <a:avLst/>
          </a:prstGeom>
          <a:solidFill xmlns:a="http://schemas.openxmlformats.org/drawingml/2006/main">
            <a:srgbClr val="D56E42"/>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87EB638A-1F3C-4C45-8BBE-8112189C3F4B}"/>
              </a:ext>
            </a:extLst>
          </p:cNvPr>
          <p:cNvSpPr>
            <a:spLocks xmlns:a="http://schemas.openxmlformats.org/drawingml/2006/main" noGrp="1"/>
          </p:cNvSpPr>
          <p:nvPr/>
        </p:nvSpPr>
        <p:spPr>
          <a:xfrm xmlns:a="http://schemas.openxmlformats.org/drawingml/2006/main">
            <a:off x="10496550" y="2762250"/>
            <a:ext cx="4191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FFFFF"/>
                </a:solidFill>
                <a:latin typeface="Georgia"/>
                <a:ea typeface="Georgia"/>
                <a:cs typeface="Georgia"/>
              </a:defRPr>
            </a:pPr>
            <a:r>
              <a:rPr sz="1125" b="1">
                <a:solidFill>
                  <a:srgbClr val="FFFFFF"/>
                </a:solidFill>
                <a:latin typeface="Georgia"/>
                <a:ea typeface="Georgia"/>
                <a:cs typeface="Georgia"/>
              </a:rPr>
              <a:t>7</a:t>
            </a:r>
          </a:p>
        </p:txBody>
      </p:sp>
      <p:sp>
        <p:nvSpPr>
          <p:cNvPr id="38" name="">
            <a:extLst xmlns:a="http://schemas.openxmlformats.org/drawingml/2006/main">
              <a:ext uri="{FF2B5EF4-FFF2-40B4-BE49-F238E27FC236}">
                <a16:creationId xmlns:a16="http://schemas.microsoft.com/office/drawing/2014/main" id="{EBFF4472-C4ED-424B-85A0-1E2A999916F4}"/>
              </a:ext>
            </a:extLst>
          </p:cNvPr>
          <p:cNvSpPr>
            <a:spLocks xmlns:a="http://schemas.openxmlformats.org/drawingml/2006/main" noGrp="1"/>
          </p:cNvSpPr>
          <p:nvPr/>
        </p:nvSpPr>
        <p:spPr>
          <a:xfrm xmlns:a="http://schemas.openxmlformats.org/drawingml/2006/main">
            <a:off x="10172700" y="3429000"/>
            <a:ext cx="10668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50" b="1">
                <a:solidFill>
                  <a:srgbClr val="2F7D5B"/>
                </a:solidFill>
                <a:latin typeface="Aptos"/>
                <a:ea typeface="Aptos"/>
                <a:cs typeface="Aptos"/>
              </a:defRPr>
            </a:pPr>
            <a:r>
              <a:rPr sz="750" b="1">
                <a:solidFill>
                  <a:srgbClr val="2F7D5B"/>
                </a:solidFill>
                <a:latin typeface="Aptos"/>
                <a:ea typeface="Aptos"/>
                <a:cs typeface="Aptos"/>
              </a:rPr>
              <a:t>3:20</a:t>
            </a:r>
          </a:p>
        </p:txBody>
      </p:sp>
      <p:sp>
        <p:nvSpPr>
          <p:cNvPr id="39" name="">
            <a:extLst xmlns:a="http://schemas.openxmlformats.org/drawingml/2006/main">
              <a:ext uri="{FF2B5EF4-FFF2-40B4-BE49-F238E27FC236}">
                <a16:creationId xmlns:a16="http://schemas.microsoft.com/office/drawing/2014/main" id="{9C936069-841A-451B-95E5-0B33991F7374}"/>
              </a:ext>
            </a:extLst>
          </p:cNvPr>
          <p:cNvSpPr>
            <a:spLocks xmlns:a="http://schemas.openxmlformats.org/drawingml/2006/main" noGrp="1"/>
          </p:cNvSpPr>
          <p:nvPr/>
        </p:nvSpPr>
        <p:spPr>
          <a:xfrm xmlns:a="http://schemas.openxmlformats.org/drawingml/2006/main">
            <a:off x="10172700" y="3752850"/>
            <a:ext cx="10668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75" b="1">
                <a:solidFill>
                  <a:srgbClr val="17211D"/>
                </a:solidFill>
                <a:latin typeface="Georgia"/>
                <a:ea typeface="Georgia"/>
                <a:cs typeface="Georgia"/>
              </a:defRPr>
            </a:pPr>
            <a:r>
              <a:rPr sz="1275" b="1">
                <a:solidFill>
                  <a:srgbClr val="17211D"/>
                </a:solidFill>
                <a:latin typeface="Georgia"/>
                <a:ea typeface="Georgia"/>
                <a:cs typeface="Georgia"/>
              </a:rPr>
              <a:t>Chiudo</a:t>
            </a:r>
          </a:p>
        </p:txBody>
      </p:sp>
      <p:sp>
        <p:nvSpPr>
          <p:cNvPr id="40" name="">
            <a:extLst xmlns:a="http://schemas.openxmlformats.org/drawingml/2006/main">
              <a:ext uri="{FF2B5EF4-FFF2-40B4-BE49-F238E27FC236}">
                <a16:creationId xmlns:a16="http://schemas.microsoft.com/office/drawing/2014/main" id="{4314FD92-216E-4359-B093-E4D539BA3753}"/>
              </a:ext>
            </a:extLst>
          </p:cNvPr>
          <p:cNvSpPr>
            <a:spLocks xmlns:a="http://schemas.openxmlformats.org/drawingml/2006/main" noGrp="1"/>
          </p:cNvSpPr>
          <p:nvPr/>
        </p:nvSpPr>
        <p:spPr>
          <a:xfrm xmlns:a="http://schemas.openxmlformats.org/drawingml/2006/main">
            <a:off x="10039350" y="4114800"/>
            <a:ext cx="133350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788" b="0">
                <a:solidFill>
                  <a:srgbClr val="65736B"/>
                </a:solidFill>
                <a:latin typeface="Aptos"/>
                <a:ea typeface="Aptos"/>
                <a:cs typeface="Aptos"/>
              </a:defRPr>
            </a:pPr>
            <a:r>
              <a:rPr sz="788" b="0">
                <a:solidFill>
                  <a:srgbClr val="65736B"/>
                </a:solidFill>
                <a:latin typeface="Aptos"/>
                <a:ea typeface="Aptos"/>
                <a:cs typeface="Aptos"/>
              </a:rPr>
              <a:t>uso meglio, compro meno</a:t>
            </a:r>
          </a:p>
        </p:txBody>
      </p:sp>
      <p:sp>
        <p:nvSpPr>
          <p:cNvPr id="41" name="">
            <a:extLst xmlns:a="http://schemas.openxmlformats.org/drawingml/2006/main">
              <a:ext uri="{FF2B5EF4-FFF2-40B4-BE49-F238E27FC236}">
                <a16:creationId xmlns:a16="http://schemas.microsoft.com/office/drawing/2014/main" id="{8572A9A7-8CD0-4AFB-A2D9-F238D6E7D4D8}"/>
              </a:ext>
            </a:extLst>
          </p:cNvPr>
          <p:cNvSpPr>
            <a:spLocks xmlns:a="http://schemas.openxmlformats.org/drawingml/2006/main" noGrp="1"/>
          </p:cNvSpPr>
          <p:nvPr/>
        </p:nvSpPr>
        <p:spPr>
          <a:xfrm xmlns:a="http://schemas.openxmlformats.org/drawingml/2006/main">
            <a:off x="2076450" y="5219700"/>
            <a:ext cx="8058150" cy="647700"/>
          </a:xfrm>
          <a:prstGeom xmlns:a="http://schemas.openxmlformats.org/drawingml/2006/main" prst="roundRect">
            <a:avLst>
              <a:gd name="adj" fmla="val 11765"/>
            </a:avLst>
          </a:prstGeom>
          <a:solidFill xmlns:a="http://schemas.openxmlformats.org/drawingml/2006/main">
            <a:srgbClr val="DDE5DD"/>
          </a:solidFill>
          <a:ln xmlns:a="http://schemas.openxmlformats.org/drawingml/2006/main" w="0">
            <a:solidFill>
              <a:srgbClr val="000000">
                <a:alpha val="0"/>
              </a:srgbClr>
            </a:solidFill>
            <a:prstDash val="solid"/>
          </a:ln>
        </p:spPr>
      </p:sp>
      <p:sp>
        <p:nvSpPr>
          <p:cNvPr id="42" name="">
            <a:extLst xmlns:a="http://schemas.openxmlformats.org/drawingml/2006/main">
              <a:ext uri="{FF2B5EF4-FFF2-40B4-BE49-F238E27FC236}">
                <a16:creationId xmlns:a16="http://schemas.microsoft.com/office/drawing/2014/main" id="{F3857B6F-00F7-4A75-8619-398D59E16871}"/>
              </a:ext>
            </a:extLst>
          </p:cNvPr>
          <p:cNvSpPr>
            <a:spLocks xmlns:a="http://schemas.openxmlformats.org/drawingml/2006/main" noGrp="1"/>
          </p:cNvSpPr>
          <p:nvPr/>
        </p:nvSpPr>
        <p:spPr>
          <a:xfrm xmlns:a="http://schemas.openxmlformats.org/drawingml/2006/main">
            <a:off x="2362200" y="5429250"/>
            <a:ext cx="12382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D56E42"/>
                </a:solidFill>
                <a:latin typeface="Aptos"/>
                <a:ea typeface="Aptos"/>
                <a:cs typeface="Aptos"/>
              </a:defRPr>
            </a:pPr>
            <a:r>
              <a:rPr sz="750" b="1">
                <a:solidFill>
                  <a:srgbClr val="D56E42"/>
                </a:solidFill>
                <a:latin typeface="Aptos"/>
                <a:ea typeface="Aptos"/>
                <a:cs typeface="Aptos"/>
              </a:rPr>
              <a:t>Regola orale</a:t>
            </a:r>
          </a:p>
        </p:txBody>
      </p:sp>
      <p:sp>
        <p:nvSpPr>
          <p:cNvPr id="43" name="">
            <a:extLst xmlns:a="http://schemas.openxmlformats.org/drawingml/2006/main">
              <a:ext uri="{FF2B5EF4-FFF2-40B4-BE49-F238E27FC236}">
                <a16:creationId xmlns:a16="http://schemas.microsoft.com/office/drawing/2014/main" id="{FCB57CA3-6516-41FB-84FD-9AA152010344}"/>
              </a:ext>
            </a:extLst>
          </p:cNvPr>
          <p:cNvSpPr>
            <a:spLocks xmlns:a="http://schemas.openxmlformats.org/drawingml/2006/main" noGrp="1"/>
          </p:cNvSpPr>
          <p:nvPr/>
        </p:nvSpPr>
        <p:spPr>
          <a:xfrm xmlns:a="http://schemas.openxmlformats.org/drawingml/2006/main">
            <a:off x="3695700" y="5372100"/>
            <a:ext cx="61150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17211D"/>
                </a:solidFill>
                <a:latin typeface="Georgia"/>
                <a:ea typeface="Georgia"/>
                <a:cs typeface="Georgia"/>
              </a:defRPr>
            </a:pPr>
            <a:r>
              <a:rPr sz="1050" b="1">
                <a:solidFill>
                  <a:srgbClr val="17211D"/>
                </a:solidFill>
                <a:latin typeface="Georgia"/>
                <a:ea typeface="Georgia"/>
                <a:cs typeface="Georgia"/>
              </a:rPr>
              <a:t>per ogni schermata: input → trasformazione → output → beneficio → limite</a:t>
            </a:r>
          </a:p>
        </p:txBody>
      </p:sp>
      <p:sp>
        <p:nvSpPr>
          <p:cNvPr id="44" name="">
            <a:extLst xmlns:a="http://schemas.openxmlformats.org/drawingml/2006/main">
              <a:ext uri="{FF2B5EF4-FFF2-40B4-BE49-F238E27FC236}">
                <a16:creationId xmlns:a16="http://schemas.microsoft.com/office/drawing/2014/main" id="{8A573C5C-4C8F-4E60-BCF8-6DB9EC1BFD0F}"/>
              </a:ext>
            </a:extLst>
          </p:cNvPr>
          <p:cNvSpPr>
            <a:spLocks xmlns:a="http://schemas.openxmlformats.org/drawingml/2006/main" noGrp="1"/>
          </p:cNvSpPr>
          <p:nvPr/>
        </p:nvSpPr>
        <p:spPr>
          <a:xfrm xmlns:a="http://schemas.openxmlformats.org/drawingml/2006/main">
            <a:off x="552450" y="6457950"/>
            <a:ext cx="11087100" cy="9525"/>
          </a:xfrm>
          <a:prstGeom xmlns:a="http://schemas.openxmlformats.org/drawingml/2006/main" prst="rect">
            <a:avLst/>
          </a:prstGeom>
          <a:solidFill xmlns:a="http://schemas.openxmlformats.org/drawingml/2006/main">
            <a:srgbClr val="B9C3BB"/>
          </a:solidFill>
          <a:ln xmlns:a="http://schemas.openxmlformats.org/drawingml/2006/main" w="0">
            <a:solidFill>
              <a:srgbClr val="000000">
                <a:alpha val="0"/>
              </a:srgbClr>
            </a:solidFill>
            <a:prstDash val="solid"/>
          </a:ln>
        </p:spPr>
      </p:sp>
      <p:sp>
        <p:nvSpPr>
          <p:cNvPr id="45" name="">
            <a:extLst xmlns:a="http://schemas.openxmlformats.org/drawingml/2006/main">
              <a:ext uri="{FF2B5EF4-FFF2-40B4-BE49-F238E27FC236}">
                <a16:creationId xmlns:a16="http://schemas.microsoft.com/office/drawing/2014/main" id="{41F67F16-55D3-427D-BC99-9AA13CC3C534}"/>
              </a:ext>
            </a:extLst>
          </p:cNvPr>
          <p:cNvSpPr>
            <a:spLocks xmlns:a="http://schemas.openxmlformats.org/drawingml/2006/main" noGrp="1"/>
          </p:cNvSpPr>
          <p:nvPr/>
        </p:nvSpPr>
        <p:spPr>
          <a:xfrm xmlns:a="http://schemas.openxmlformats.org/drawingml/2006/main">
            <a:off x="552450" y="6534150"/>
            <a:ext cx="1000125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63" b="0">
                <a:solidFill>
                  <a:srgbClr val="65736B"/>
                </a:solidFill>
                <a:latin typeface="Aptos"/>
                <a:ea typeface="Aptos"/>
                <a:cs typeface="Aptos"/>
              </a:defRPr>
            </a:pPr>
            <a:r>
              <a:rPr sz="563" b="0">
                <a:solidFill>
                  <a:srgbClr val="65736B"/>
                </a:solidFill>
                <a:latin typeface="Aptos"/>
                <a:ea typeface="Aptos"/>
                <a:cs typeface="Aptos"/>
              </a:rPr>
              <a:t>Aprire prima /dashboard, /items/:id, /today e Swagger in tab separate</a:t>
            </a:r>
          </a:p>
        </p:txBody>
      </p:sp>
      <p:sp>
        <p:nvSpPr>
          <p:cNvPr id="46" name="">
            <a:extLst xmlns:a="http://schemas.openxmlformats.org/drawingml/2006/main">
              <a:ext uri="{FF2B5EF4-FFF2-40B4-BE49-F238E27FC236}">
                <a16:creationId xmlns:a16="http://schemas.microsoft.com/office/drawing/2014/main" id="{87286050-C260-4E83-AFC4-1809E742923E}"/>
              </a:ext>
            </a:extLst>
          </p:cNvPr>
          <p:cNvSpPr>
            <a:spLocks xmlns:a="http://schemas.openxmlformats.org/drawingml/2006/main" noGrp="1"/>
          </p:cNvSpPr>
          <p:nvPr/>
        </p:nvSpPr>
        <p:spPr>
          <a:xfrm xmlns:a="http://schemas.openxmlformats.org/drawingml/2006/main">
            <a:off x="11087100" y="650557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65736B"/>
                </a:solidFill>
                <a:latin typeface="Georgia"/>
                <a:ea typeface="Georgia"/>
                <a:cs typeface="Georgia"/>
              </a:defRPr>
            </a:pPr>
            <a:r>
              <a:rPr sz="750" b="1">
                <a:solidFill>
                  <a:srgbClr val="65736B"/>
                </a:solidFill>
                <a:latin typeface="Georgia"/>
                <a:ea typeface="Georgia"/>
                <a:cs typeface="Georgia"/>
              </a:rPr>
              <a:t>15</a:t>
            </a:r>
          </a:p>
        </p:txBody>
      </p:sp>
    </p:spTree>
    <p:extLst>
      <p:ext uri="{BB962C8B-B14F-4D97-AF65-F5344CB8AC3E}">
        <p14:creationId xmlns:p14="http://schemas.microsoft.com/office/powerpoint/2010/main" val="284056019"/>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1" name="background">
            <a:extLst xmlns:a="http://schemas.openxmlformats.org/drawingml/2006/main">
              <a:ext uri="{FF2B5EF4-FFF2-40B4-BE49-F238E27FC236}">
                <a16:creationId xmlns:a16="http://schemas.microsoft.com/office/drawing/2014/main" id="{09DD6DC3-1C56-4369-8ED4-AE40DC89014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23C31"/>
          </a:solidFill>
          <a:ln xmlns:a="http://schemas.openxmlformats.org/drawingml/2006/main" w="0">
            <a:solidFill>
              <a:srgbClr val="000000">
                <a:alpha val="0"/>
              </a:srgbClr>
            </a:solidFill>
            <a:prstDash val="solid"/>
          </a:ln>
        </p:spPr>
      </p:sp>
      <p:sp>
        <p:nvSpPr>
          <p:cNvPr id="2" name="kicker-marker">
            <a:extLst xmlns:a="http://schemas.openxmlformats.org/drawingml/2006/main">
              <a:ext uri="{FF2B5EF4-FFF2-40B4-BE49-F238E27FC236}">
                <a16:creationId xmlns:a16="http://schemas.microsoft.com/office/drawing/2014/main" id="{9C0F5C92-6A21-463E-AAD1-3261C472E049}"/>
              </a:ext>
            </a:extLst>
          </p:cNvPr>
          <p:cNvSpPr>
            <a:spLocks xmlns:a="http://schemas.openxmlformats.org/drawingml/2006/main" noGrp="1"/>
          </p:cNvSpPr>
          <p:nvPr/>
        </p:nvSpPr>
        <p:spPr>
          <a:xfrm xmlns:a="http://schemas.openxmlformats.org/drawingml/2006/main">
            <a:off x="552450" y="438150"/>
            <a:ext cx="95250" cy="95250"/>
          </a:xfrm>
          <a:prstGeom xmlns:a="http://schemas.openxmlformats.org/drawingml/2006/main" prst="ellipse">
            <a:avLst/>
          </a:prstGeom>
          <a:solidFill xmlns:a="http://schemas.openxmlformats.org/drawingml/2006/main">
            <a:srgbClr val="B9D94A"/>
          </a:solidFill>
          <a:ln xmlns:a="http://schemas.openxmlformats.org/drawingml/2006/main" w="0">
            <a:solidFill>
              <a:srgbClr val="000000">
                <a:alpha val="0"/>
              </a:srgbClr>
            </a:solidFill>
            <a:prstDash val="solid"/>
          </a:ln>
        </p:spPr>
      </p:sp>
      <p:sp>
        <p:nvSpPr>
          <p:cNvPr id="3" name="kicker-label">
            <a:extLst xmlns:a="http://schemas.openxmlformats.org/drawingml/2006/main">
              <a:ext uri="{FF2B5EF4-FFF2-40B4-BE49-F238E27FC236}">
                <a16:creationId xmlns:a16="http://schemas.microsoft.com/office/drawing/2014/main" id="{FA833538-3B83-4F72-A342-453C79905936}"/>
              </a:ext>
            </a:extLst>
          </p:cNvPr>
          <p:cNvSpPr>
            <a:spLocks xmlns:a="http://schemas.openxmlformats.org/drawingml/2006/main" noGrp="1"/>
          </p:cNvSpPr>
          <p:nvPr/>
        </p:nvSpPr>
        <p:spPr>
          <a:xfrm xmlns:a="http://schemas.openxmlformats.org/drawingml/2006/main">
            <a:off x="762000" y="400050"/>
            <a:ext cx="47625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DDE5DD"/>
                </a:solidFill>
                <a:latin typeface="Aptos"/>
                <a:ea typeface="Aptos"/>
                <a:cs typeface="Aptos"/>
              </a:defRPr>
            </a:pPr>
            <a:r>
              <a:rPr sz="675" b="1">
                <a:solidFill>
                  <a:srgbClr val="DDE5DD"/>
                </a:solidFill>
                <a:latin typeface="Aptos"/>
                <a:ea typeface="Aptos"/>
                <a:cs typeface="Aptos"/>
              </a:rPr>
              <a:t>C O N C L U S I O N E</a:t>
            </a:r>
          </a:p>
        </p:txBody>
      </p:sp>
      <p:sp>
        <p:nvSpPr>
          <p:cNvPr id="4" name="claim-title">
            <a:extLst xmlns:a="http://schemas.openxmlformats.org/drawingml/2006/main">
              <a:ext uri="{FF2B5EF4-FFF2-40B4-BE49-F238E27FC236}">
                <a16:creationId xmlns:a16="http://schemas.microsoft.com/office/drawing/2014/main" id="{D5B49D0E-272B-471F-82E7-0EBAB11E2E92}"/>
              </a:ext>
            </a:extLst>
          </p:cNvPr>
          <p:cNvSpPr>
            <a:spLocks xmlns:a="http://schemas.openxmlformats.org/drawingml/2006/main" noGrp="1"/>
          </p:cNvSpPr>
          <p:nvPr/>
        </p:nvSpPr>
        <p:spPr>
          <a:xfrm xmlns:a="http://schemas.openxmlformats.org/drawingml/2006/main">
            <a:off x="552450" y="838200"/>
            <a:ext cx="10668000" cy="1181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600" b="1">
                <a:solidFill>
                  <a:srgbClr val="FFFFFF"/>
                </a:solidFill>
                <a:latin typeface="Georgia"/>
                <a:ea typeface="Georgia"/>
                <a:cs typeface="Georgia"/>
              </a:defRPr>
            </a:pPr>
            <a:r>
              <a:rPr sz="3600" b="1">
                <a:solidFill>
                  <a:srgbClr val="FFFFFF"/>
                </a:solidFill>
                <a:latin typeface="Georgia"/>
                <a:ea typeface="Georgia"/>
                <a:cs typeface="Georgia"/>
              </a:rPr>
              <a:t>Compra meno. Usa meglio. Dichiara l’incertezza.</a:t>
            </a:r>
          </a:p>
        </p:txBody>
      </p:sp>
      <p:sp>
        <p:nvSpPr>
          <p:cNvPr id="5" name="">
            <a:extLst xmlns:a="http://schemas.openxmlformats.org/drawingml/2006/main">
              <a:ext uri="{FF2B5EF4-FFF2-40B4-BE49-F238E27FC236}">
                <a16:creationId xmlns:a16="http://schemas.microsoft.com/office/drawing/2014/main" id="{03C307D1-6AB5-4226-99CB-11F93E4F7F2D}"/>
              </a:ext>
            </a:extLst>
          </p:cNvPr>
          <p:cNvSpPr>
            <a:spLocks xmlns:a="http://schemas.openxmlformats.org/drawingml/2006/main" noGrp="1"/>
          </p:cNvSpPr>
          <p:nvPr/>
        </p:nvSpPr>
        <p:spPr>
          <a:xfrm xmlns:a="http://schemas.openxmlformats.org/drawingml/2006/main">
            <a:off x="590550" y="2286000"/>
            <a:ext cx="5143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B9D94A"/>
                </a:solidFill>
                <a:latin typeface="Georgia"/>
                <a:ea typeface="Georgia"/>
                <a:cs typeface="Georgia"/>
              </a:defRPr>
            </a:pPr>
            <a:r>
              <a:rPr sz="1200" b="1">
                <a:solidFill>
                  <a:srgbClr val="B9D94A"/>
                </a:solidFill>
                <a:latin typeface="Georgia"/>
                <a:ea typeface="Georgia"/>
                <a:cs typeface="Georgia"/>
              </a:rPr>
              <a:t>01</a:t>
            </a:r>
          </a:p>
        </p:txBody>
      </p:sp>
      <p:sp>
        <p:nvSpPr>
          <p:cNvPr id="6" name="">
            <a:extLst xmlns:a="http://schemas.openxmlformats.org/drawingml/2006/main">
              <a:ext uri="{FF2B5EF4-FFF2-40B4-BE49-F238E27FC236}">
                <a16:creationId xmlns:a16="http://schemas.microsoft.com/office/drawing/2014/main" id="{D00FA2B0-80B9-4E79-91CC-675124B02F89}"/>
              </a:ext>
            </a:extLst>
          </p:cNvPr>
          <p:cNvSpPr>
            <a:spLocks xmlns:a="http://schemas.openxmlformats.org/drawingml/2006/main" noGrp="1"/>
          </p:cNvSpPr>
          <p:nvPr/>
        </p:nvSpPr>
        <p:spPr>
          <a:xfrm xmlns:a="http://schemas.openxmlformats.org/drawingml/2006/main">
            <a:off x="1219200" y="2247900"/>
            <a:ext cx="161925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75" b="1">
                <a:solidFill>
                  <a:srgbClr val="FFFFFF"/>
                </a:solidFill>
                <a:latin typeface="Georgia"/>
                <a:ea typeface="Georgia"/>
                <a:cs typeface="Georgia"/>
              </a:defRPr>
            </a:pPr>
            <a:r>
              <a:rPr sz="1575" b="1">
                <a:solidFill>
                  <a:srgbClr val="FFFFFF"/>
                </a:solidFill>
                <a:latin typeface="Georgia"/>
                <a:ea typeface="Georgia"/>
                <a:cs typeface="Georgia"/>
              </a:rPr>
              <a:t>Prodotto</a:t>
            </a:r>
          </a:p>
        </p:txBody>
      </p:sp>
      <p:sp>
        <p:nvSpPr>
          <p:cNvPr id="7" name="">
            <a:extLst xmlns:a="http://schemas.openxmlformats.org/drawingml/2006/main">
              <a:ext uri="{FF2B5EF4-FFF2-40B4-BE49-F238E27FC236}">
                <a16:creationId xmlns:a16="http://schemas.microsoft.com/office/drawing/2014/main" id="{4DFBC7DF-17EE-4C27-829A-68291112F5EB}"/>
              </a:ext>
            </a:extLst>
          </p:cNvPr>
          <p:cNvSpPr>
            <a:spLocks xmlns:a="http://schemas.openxmlformats.org/drawingml/2006/main" noGrp="1"/>
          </p:cNvSpPr>
          <p:nvPr/>
        </p:nvSpPr>
        <p:spPr>
          <a:xfrm xmlns:a="http://schemas.openxmlformats.org/drawingml/2006/main">
            <a:off x="2990850" y="2286000"/>
            <a:ext cx="79057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DDE5DD"/>
                </a:solidFill>
                <a:latin typeface="Aptos"/>
                <a:ea typeface="Aptos"/>
                <a:cs typeface="Aptos"/>
              </a:defRPr>
            </a:pPr>
            <a:r>
              <a:rPr sz="975" b="0">
                <a:solidFill>
                  <a:srgbClr val="DDE5DD"/>
                </a:solidFill>
                <a:latin typeface="Aptos"/>
                <a:ea typeface="Aptos"/>
                <a:cs typeface="Aptos"/>
              </a:rPr>
              <a:t>impatto, stato, gap e ghost diventano decisioni concrete</a:t>
            </a:r>
          </a:p>
        </p:txBody>
      </p:sp>
      <p:sp>
        <p:nvSpPr>
          <p:cNvPr id="8" name="">
            <a:extLst xmlns:a="http://schemas.openxmlformats.org/drawingml/2006/main">
              <a:ext uri="{FF2B5EF4-FFF2-40B4-BE49-F238E27FC236}">
                <a16:creationId xmlns:a16="http://schemas.microsoft.com/office/drawing/2014/main" id="{2CBE8765-3249-4216-B9F9-D9248B1B2746}"/>
              </a:ext>
            </a:extLst>
          </p:cNvPr>
          <p:cNvSpPr>
            <a:spLocks xmlns:a="http://schemas.openxmlformats.org/drawingml/2006/main" noGrp="1"/>
          </p:cNvSpPr>
          <p:nvPr/>
        </p:nvSpPr>
        <p:spPr>
          <a:xfrm xmlns:a="http://schemas.openxmlformats.org/drawingml/2006/main">
            <a:off x="590550" y="3162300"/>
            <a:ext cx="5143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B9D94A"/>
                </a:solidFill>
                <a:latin typeface="Georgia"/>
                <a:ea typeface="Georgia"/>
                <a:cs typeface="Georgia"/>
              </a:defRPr>
            </a:pPr>
            <a:r>
              <a:rPr sz="1200" b="1">
                <a:solidFill>
                  <a:srgbClr val="B9D94A"/>
                </a:solidFill>
                <a:latin typeface="Georgia"/>
                <a:ea typeface="Georgia"/>
                <a:cs typeface="Georgia"/>
              </a:rPr>
              <a:t>02</a:t>
            </a:r>
          </a:p>
        </p:txBody>
      </p:sp>
      <p:sp>
        <p:nvSpPr>
          <p:cNvPr id="9" name="">
            <a:extLst xmlns:a="http://schemas.openxmlformats.org/drawingml/2006/main">
              <a:ext uri="{FF2B5EF4-FFF2-40B4-BE49-F238E27FC236}">
                <a16:creationId xmlns:a16="http://schemas.microsoft.com/office/drawing/2014/main" id="{D190EEC7-A3FA-4939-A0FF-3F089BBB0BBB}"/>
              </a:ext>
            </a:extLst>
          </p:cNvPr>
          <p:cNvSpPr>
            <a:spLocks xmlns:a="http://schemas.openxmlformats.org/drawingml/2006/main" noGrp="1"/>
          </p:cNvSpPr>
          <p:nvPr/>
        </p:nvSpPr>
        <p:spPr>
          <a:xfrm xmlns:a="http://schemas.openxmlformats.org/drawingml/2006/main">
            <a:off x="1219200" y="3124200"/>
            <a:ext cx="161925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75" b="1">
                <a:solidFill>
                  <a:srgbClr val="FFFFFF"/>
                </a:solidFill>
                <a:latin typeface="Georgia"/>
                <a:ea typeface="Georgia"/>
                <a:cs typeface="Georgia"/>
              </a:defRPr>
            </a:pPr>
            <a:r>
              <a:rPr sz="1575" b="1">
                <a:solidFill>
                  <a:srgbClr val="FFFFFF"/>
                </a:solidFill>
                <a:latin typeface="Georgia"/>
                <a:ea typeface="Georgia"/>
                <a:cs typeface="Georgia"/>
              </a:rPr>
              <a:t>Tecnica</a:t>
            </a:r>
          </a:p>
        </p:txBody>
      </p:sp>
      <p:sp>
        <p:nvSpPr>
          <p:cNvPr id="10" name="">
            <a:extLst xmlns:a="http://schemas.openxmlformats.org/drawingml/2006/main">
              <a:ext uri="{FF2B5EF4-FFF2-40B4-BE49-F238E27FC236}">
                <a16:creationId xmlns:a16="http://schemas.microsoft.com/office/drawing/2014/main" id="{1BFD878D-963B-40FE-8691-56E43C59AA31}"/>
              </a:ext>
            </a:extLst>
          </p:cNvPr>
          <p:cNvSpPr>
            <a:spLocks xmlns:a="http://schemas.openxmlformats.org/drawingml/2006/main" noGrp="1"/>
          </p:cNvSpPr>
          <p:nvPr/>
        </p:nvSpPr>
        <p:spPr>
          <a:xfrm xmlns:a="http://schemas.openxmlformats.org/drawingml/2006/main">
            <a:off x="2990850" y="3162300"/>
            <a:ext cx="79057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DDE5DD"/>
                </a:solidFill>
                <a:latin typeface="Aptos"/>
                <a:ea typeface="Aptos"/>
                <a:cs typeface="Aptos"/>
              </a:defRPr>
            </a:pPr>
            <a:r>
              <a:rPr sz="975" b="0">
                <a:solidFill>
                  <a:srgbClr val="DDE5DD"/>
                </a:solidFill>
                <a:latin typeface="Aptos"/>
                <a:ea typeface="Aptos"/>
                <a:cs typeface="Aptos"/>
              </a:rPr>
              <a:t>due reti nostre; tutto il resto è dichiarato come pre-trained, generativo o regola</a:t>
            </a:r>
          </a:p>
        </p:txBody>
      </p:sp>
      <p:sp>
        <p:nvSpPr>
          <p:cNvPr id="11" name="">
            <a:extLst xmlns:a="http://schemas.openxmlformats.org/drawingml/2006/main">
              <a:ext uri="{FF2B5EF4-FFF2-40B4-BE49-F238E27FC236}">
                <a16:creationId xmlns:a16="http://schemas.microsoft.com/office/drawing/2014/main" id="{ACB08C5D-9FFF-474F-A9D6-955B8D924D37}"/>
              </a:ext>
            </a:extLst>
          </p:cNvPr>
          <p:cNvSpPr>
            <a:spLocks xmlns:a="http://schemas.openxmlformats.org/drawingml/2006/main" noGrp="1"/>
          </p:cNvSpPr>
          <p:nvPr/>
        </p:nvSpPr>
        <p:spPr>
          <a:xfrm xmlns:a="http://schemas.openxmlformats.org/drawingml/2006/main">
            <a:off x="590550" y="4038600"/>
            <a:ext cx="5143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B9D94A"/>
                </a:solidFill>
                <a:latin typeface="Georgia"/>
                <a:ea typeface="Georgia"/>
                <a:cs typeface="Georgia"/>
              </a:defRPr>
            </a:pPr>
            <a:r>
              <a:rPr sz="1200" b="1">
                <a:solidFill>
                  <a:srgbClr val="B9D94A"/>
                </a:solidFill>
                <a:latin typeface="Georgia"/>
                <a:ea typeface="Georgia"/>
                <a:cs typeface="Georgia"/>
              </a:rPr>
              <a:t>03</a:t>
            </a:r>
          </a:p>
        </p:txBody>
      </p:sp>
      <p:sp>
        <p:nvSpPr>
          <p:cNvPr id="12" name="">
            <a:extLst xmlns:a="http://schemas.openxmlformats.org/drawingml/2006/main">
              <a:ext uri="{FF2B5EF4-FFF2-40B4-BE49-F238E27FC236}">
                <a16:creationId xmlns:a16="http://schemas.microsoft.com/office/drawing/2014/main" id="{EA1094B2-7131-4DDB-AAFE-7D83A971E1E0}"/>
              </a:ext>
            </a:extLst>
          </p:cNvPr>
          <p:cNvSpPr>
            <a:spLocks xmlns:a="http://schemas.openxmlformats.org/drawingml/2006/main" noGrp="1"/>
          </p:cNvSpPr>
          <p:nvPr/>
        </p:nvSpPr>
        <p:spPr>
          <a:xfrm xmlns:a="http://schemas.openxmlformats.org/drawingml/2006/main">
            <a:off x="1219200" y="4000500"/>
            <a:ext cx="161925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75" b="1">
                <a:solidFill>
                  <a:srgbClr val="FFFFFF"/>
                </a:solidFill>
                <a:latin typeface="Georgia"/>
                <a:ea typeface="Georgia"/>
                <a:cs typeface="Georgia"/>
              </a:defRPr>
            </a:pPr>
            <a:r>
              <a:rPr sz="1575" b="1">
                <a:solidFill>
                  <a:srgbClr val="FFFFFF"/>
                </a:solidFill>
                <a:latin typeface="Georgia"/>
                <a:ea typeface="Georgia"/>
                <a:cs typeface="Georgia"/>
              </a:rPr>
              <a:t>Metodo</a:t>
            </a:r>
          </a:p>
        </p:txBody>
      </p:sp>
      <p:sp>
        <p:nvSpPr>
          <p:cNvPr id="13" name="">
            <a:extLst xmlns:a="http://schemas.openxmlformats.org/drawingml/2006/main">
              <a:ext uri="{FF2B5EF4-FFF2-40B4-BE49-F238E27FC236}">
                <a16:creationId xmlns:a16="http://schemas.microsoft.com/office/drawing/2014/main" id="{CE14066A-7B70-46AF-B36E-D11187841B5C}"/>
              </a:ext>
            </a:extLst>
          </p:cNvPr>
          <p:cNvSpPr>
            <a:spLocks xmlns:a="http://schemas.openxmlformats.org/drawingml/2006/main" noGrp="1"/>
          </p:cNvSpPr>
          <p:nvPr/>
        </p:nvSpPr>
        <p:spPr>
          <a:xfrm xmlns:a="http://schemas.openxmlformats.org/drawingml/2006/main">
            <a:off x="2990850" y="4038600"/>
            <a:ext cx="79057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DDE5DD"/>
                </a:solidFill>
                <a:latin typeface="Aptos"/>
                <a:ea typeface="Aptos"/>
                <a:cs typeface="Aptos"/>
              </a:defRPr>
            </a:pPr>
            <a:r>
              <a:rPr sz="975" b="0">
                <a:solidFill>
                  <a:srgbClr val="DDE5DD"/>
                </a:solidFill>
                <a:latin typeface="Aptos"/>
                <a:ea typeface="Aptos"/>
                <a:cs typeface="Aptos"/>
              </a:rPr>
              <a:t>notebook eseguiti, limiti visibili, roadmap mobile realistica</a:t>
            </a:r>
          </a:p>
        </p:txBody>
      </p:sp>
      <p:sp>
        <p:nvSpPr>
          <p:cNvPr id="14" name="">
            <a:extLst xmlns:a="http://schemas.openxmlformats.org/drawingml/2006/main">
              <a:ext uri="{FF2B5EF4-FFF2-40B4-BE49-F238E27FC236}">
                <a16:creationId xmlns:a16="http://schemas.microsoft.com/office/drawing/2014/main" id="{3CD7AB61-93D3-4573-A8BD-D31027D4C84E}"/>
              </a:ext>
            </a:extLst>
          </p:cNvPr>
          <p:cNvSpPr>
            <a:spLocks xmlns:a="http://schemas.openxmlformats.org/drawingml/2006/main" noGrp="1"/>
          </p:cNvSpPr>
          <p:nvPr/>
        </p:nvSpPr>
        <p:spPr>
          <a:xfrm xmlns:a="http://schemas.openxmlformats.org/drawingml/2006/main">
            <a:off x="552450" y="5105400"/>
            <a:ext cx="11087100" cy="9525"/>
          </a:xfrm>
          <a:prstGeom xmlns:a="http://schemas.openxmlformats.org/drawingml/2006/main" prst="rect">
            <a:avLst/>
          </a:prstGeom>
          <a:solidFill xmlns:a="http://schemas.openxmlformats.org/drawingml/2006/main">
            <a:srgbClr val="477062"/>
          </a:solidFill>
          <a:ln xmlns:a="http://schemas.openxmlformats.org/drawingml/2006/main" w="0">
            <a:solidFill>
              <a:srgbClr val="000000">
                <a:alpha val="0"/>
              </a:srgbClr>
            </a:solidFill>
            <a:prstDash val="solid"/>
          </a:ln>
        </p:spPr>
      </p:sp>
      <p:sp>
        <p:nvSpPr>
          <p:cNvPr id="15" name="">
            <a:extLst xmlns:a="http://schemas.openxmlformats.org/drawingml/2006/main">
              <a:ext uri="{FF2B5EF4-FFF2-40B4-BE49-F238E27FC236}">
                <a16:creationId xmlns:a16="http://schemas.microsoft.com/office/drawing/2014/main" id="{4667E65B-E81E-4222-8FDC-949D49DEAB6D}"/>
              </a:ext>
            </a:extLst>
          </p:cNvPr>
          <p:cNvSpPr>
            <a:spLocks xmlns:a="http://schemas.openxmlformats.org/drawingml/2006/main" noGrp="1"/>
          </p:cNvSpPr>
          <p:nvPr/>
        </p:nvSpPr>
        <p:spPr>
          <a:xfrm xmlns:a="http://schemas.openxmlformats.org/drawingml/2006/main">
            <a:off x="552450" y="5314950"/>
            <a:ext cx="1809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38" b="1">
                <a:solidFill>
                  <a:srgbClr val="B9D94A"/>
                </a:solidFill>
                <a:latin typeface="Aptos"/>
                <a:ea typeface="Aptos"/>
                <a:cs typeface="Aptos"/>
              </a:defRPr>
            </a:pPr>
            <a:r>
              <a:rPr sz="638" b="1">
                <a:solidFill>
                  <a:srgbClr val="B9D94A"/>
                </a:solidFill>
                <a:latin typeface="Aptos"/>
                <a:ea typeface="Aptos"/>
                <a:cs typeface="Aptos"/>
              </a:rPr>
              <a:t>FONTI PRINCIPALI</a:t>
            </a:r>
          </a:p>
        </p:txBody>
      </p:sp>
      <p:sp>
        <p:nvSpPr>
          <p:cNvPr id="16" name="">
            <a:extLst xmlns:a="http://schemas.openxmlformats.org/drawingml/2006/main">
              <a:ext uri="{FF2B5EF4-FFF2-40B4-BE49-F238E27FC236}">
                <a16:creationId xmlns:a16="http://schemas.microsoft.com/office/drawing/2014/main" id="{1DEEE9EB-E247-4195-A4BD-3AAC7FC7C6AB}"/>
              </a:ext>
            </a:extLst>
          </p:cNvPr>
          <p:cNvSpPr>
            <a:spLocks xmlns:a="http://schemas.openxmlformats.org/drawingml/2006/main" noGrp="1"/>
          </p:cNvSpPr>
          <p:nvPr/>
        </p:nvSpPr>
        <p:spPr>
          <a:xfrm xmlns:a="http://schemas.openxmlformats.org/drawingml/2006/main">
            <a:off x="552450" y="5562600"/>
            <a:ext cx="81915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13" b="0">
                <a:solidFill>
                  <a:srgbClr val="A9C0B5"/>
                </a:solidFill>
                <a:latin typeface="Aptos"/>
                <a:ea typeface="Aptos"/>
                <a:cs typeface="Aptos"/>
              </a:defRPr>
            </a:pPr>
            <a:r>
              <a:rPr sz="713" b="0">
                <a:solidFill>
                  <a:srgbClr val="A9C0B5"/>
                </a:solidFill>
                <a:latin typeface="Aptos"/>
                <a:ea typeface="Aptos"/>
                <a:cs typeface="Aptos"/>
              </a:rPr>
              <a:t>UNEP 2025 · EEA 2022/2025 · Fashion-CLIP model card · repository/checkpoint ClosetAI · MDN · Capacitor · Expo</a:t>
            </a:r>
          </a:p>
        </p:txBody>
      </p:sp>
      <p:sp>
        <p:nvSpPr>
          <p:cNvPr id="17" name="">
            <a:extLst xmlns:a="http://schemas.openxmlformats.org/drawingml/2006/main">
              <a:ext uri="{FF2B5EF4-FFF2-40B4-BE49-F238E27FC236}">
                <a16:creationId xmlns:a16="http://schemas.microsoft.com/office/drawing/2014/main" id="{E4DA0832-A2EB-4B10-A671-4B6CF102E814}"/>
              </a:ext>
            </a:extLst>
          </p:cNvPr>
          <p:cNvSpPr>
            <a:spLocks xmlns:a="http://schemas.openxmlformats.org/drawingml/2006/main" noGrp="1"/>
          </p:cNvSpPr>
          <p:nvPr/>
        </p:nvSpPr>
        <p:spPr>
          <a:xfrm xmlns:a="http://schemas.openxmlformats.org/drawingml/2006/main">
            <a:off x="9201150" y="5314950"/>
            <a:ext cx="2038350" cy="571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2250" b="1">
                <a:solidFill>
                  <a:srgbClr val="FFFFFF"/>
                </a:solidFill>
                <a:latin typeface="Georgia"/>
                <a:ea typeface="Georgia"/>
                <a:cs typeface="Georgia"/>
              </a:defRPr>
            </a:pPr>
            <a:r>
              <a:rPr sz="2250" b="1">
                <a:solidFill>
                  <a:srgbClr val="FFFFFF"/>
                </a:solidFill>
                <a:latin typeface="Georgia"/>
                <a:ea typeface="Georgia"/>
                <a:cs typeface="Georgia"/>
              </a:rPr>
              <a:t>Domande?</a:t>
            </a:r>
          </a:p>
        </p:txBody>
      </p:sp>
      <p:sp>
        <p:nvSpPr>
          <p:cNvPr id="18" name="">
            <a:extLst xmlns:a="http://schemas.openxmlformats.org/drawingml/2006/main">
              <a:ext uri="{FF2B5EF4-FFF2-40B4-BE49-F238E27FC236}">
                <a16:creationId xmlns:a16="http://schemas.microsoft.com/office/drawing/2014/main" id="{25C1DA0D-595D-41BD-A712-48190FE4F6F2}"/>
              </a:ext>
            </a:extLst>
          </p:cNvPr>
          <p:cNvSpPr>
            <a:spLocks xmlns:a="http://schemas.openxmlformats.org/drawingml/2006/main" noGrp="1"/>
          </p:cNvSpPr>
          <p:nvPr/>
        </p:nvSpPr>
        <p:spPr>
          <a:xfrm xmlns:a="http://schemas.openxmlformats.org/drawingml/2006/main">
            <a:off x="552450" y="6457950"/>
            <a:ext cx="11087100" cy="9525"/>
          </a:xfrm>
          <a:prstGeom xmlns:a="http://schemas.openxmlformats.org/drawingml/2006/main" prst="rect">
            <a:avLst/>
          </a:prstGeom>
          <a:solidFill xmlns:a="http://schemas.openxmlformats.org/drawingml/2006/main">
            <a:srgbClr val="3F685A"/>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3BFF6A7E-294E-4816-94DB-195106999165}"/>
              </a:ext>
            </a:extLst>
          </p:cNvPr>
          <p:cNvSpPr>
            <a:spLocks xmlns:a="http://schemas.openxmlformats.org/drawingml/2006/main" noGrp="1"/>
          </p:cNvSpPr>
          <p:nvPr/>
        </p:nvSpPr>
        <p:spPr>
          <a:xfrm xmlns:a="http://schemas.openxmlformats.org/drawingml/2006/main">
            <a:off x="552450" y="6534150"/>
            <a:ext cx="1000125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63" b="0">
                <a:solidFill>
                  <a:srgbClr val="86A396"/>
                </a:solidFill>
                <a:latin typeface="Aptos"/>
                <a:ea typeface="Aptos"/>
                <a:cs typeface="Aptos"/>
              </a:defRPr>
            </a:pPr>
            <a:r>
              <a:rPr sz="563" b="0">
                <a:solidFill>
                  <a:srgbClr val="86A396"/>
                </a:solidFill>
                <a:latin typeface="Aptos"/>
                <a:ea typeface="Aptos"/>
                <a:cs typeface="Aptos"/>
              </a:rPr>
              <a:t>Appendice orale: note del relatore incorporate in ogni slide</a:t>
            </a:r>
          </a:p>
        </p:txBody>
      </p:sp>
      <p:sp>
        <p:nvSpPr>
          <p:cNvPr id="20" name="">
            <a:extLst xmlns:a="http://schemas.openxmlformats.org/drawingml/2006/main">
              <a:ext uri="{FF2B5EF4-FFF2-40B4-BE49-F238E27FC236}">
                <a16:creationId xmlns:a16="http://schemas.microsoft.com/office/drawing/2014/main" id="{6B5DF3F6-F8F9-4E2C-932A-4687E2E8477C}"/>
              </a:ext>
            </a:extLst>
          </p:cNvPr>
          <p:cNvSpPr>
            <a:spLocks xmlns:a="http://schemas.openxmlformats.org/drawingml/2006/main" noGrp="1"/>
          </p:cNvSpPr>
          <p:nvPr/>
        </p:nvSpPr>
        <p:spPr>
          <a:xfrm xmlns:a="http://schemas.openxmlformats.org/drawingml/2006/main">
            <a:off x="11087100" y="6505575"/>
            <a:ext cx="5524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50" b="1">
                <a:solidFill>
                  <a:srgbClr val="86A396"/>
                </a:solidFill>
                <a:latin typeface="Georgia"/>
                <a:ea typeface="Georgia"/>
                <a:cs typeface="Georgia"/>
              </a:defRPr>
            </a:pPr>
            <a:r>
              <a:rPr sz="750" b="1">
                <a:solidFill>
                  <a:srgbClr val="86A396"/>
                </a:solidFill>
                <a:latin typeface="Georgia"/>
                <a:ea typeface="Georgia"/>
                <a:cs typeface="Georgia"/>
              </a:rPr>
              <a:t>16</a:t>
            </a:r>
          </a:p>
        </p:txBody>
      </p:sp>
    </p:spTree>
    <p:extLst>
      <p:ext uri="{BB962C8B-B14F-4D97-AF65-F5344CB8AC3E}">
        <p14:creationId xmlns:p14="http://schemas.microsoft.com/office/powerpoint/2010/main" val="214100322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ClosetAI — Esame universitario ufficiale</dc:title>
  <dcterms:created xsi:type="dcterms:W3CDTF">2026-07-13T15:20:26.9840000Z</dcterms:created>
  <dcterms:modified xsi:type="dcterms:W3CDTF">2026-07-13T15:20:26.9840000Z</dcterms:modified>
  <dc:subject>Prodotto AI per uso, cura e circolarità del guardaroba</dc:subject>
  <dc:description>Include note del relatore in italiano su tutte le slide.</dc:description>
</coreProperties>
</file>