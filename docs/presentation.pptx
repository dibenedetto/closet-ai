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70" r:id="rId12"/>
    <p:sldId id="266" r:id="rId13"/>
    <p:sldId id="267" r:id="rId14"/>
    <p:sldId id="268" r:id="rId15"/>
    <p:sldId id="269" r:id="rId1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102" y="48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7B31FA1-3EBA-45C3-84C7-87048231F6B8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F9F880F-479F-43B7-880C-507D96B5D2E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659496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.pn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4A6D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1463040"/>
            <a:ext cx="10058400" cy="18466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 i="0" dirty="0">
                <a:solidFill>
                  <a:srgbClr val="4A6DDC"/>
                </a:solidFill>
                <a:latin typeface="Calibri"/>
              </a:rPr>
              <a:t>PROGETTO AI ECO-SOSTENIBILE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058400" cy="1280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000" b="1" i="0">
                <a:solidFill>
                  <a:srgbClr val="1A1D27"/>
                </a:solidFill>
                <a:latin typeface="Calibri"/>
              </a:rPr>
              <a:t>ClosetAI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383280"/>
            <a:ext cx="1005840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200" b="0" i="1">
                <a:solidFill>
                  <a:srgbClr val="2F8F6E"/>
                </a:solidFill>
                <a:latin typeface="Calibri"/>
              </a:rPr>
              <a:t>Il guardaroba intelligente che ti aiuta a vestire meglio comprando meno.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572000"/>
            <a:ext cx="10058400" cy="2308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0" i="0" dirty="0">
                <a:solidFill>
                  <a:srgbClr val="6B7182"/>
                </a:solidFill>
                <a:latin typeface="Calibri"/>
              </a:rPr>
              <a:t>Design per </a:t>
            </a:r>
            <a:r>
              <a:rPr sz="1500" b="0" i="0" dirty="0" err="1">
                <a:solidFill>
                  <a:srgbClr val="6B7182"/>
                </a:solidFill>
                <a:latin typeface="Calibri"/>
              </a:rPr>
              <a:t>l'innovazione</a:t>
            </a:r>
            <a:r>
              <a:rPr sz="1500" b="0" i="0" dirty="0">
                <a:solidFill>
                  <a:srgbClr val="6B7182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6B7182"/>
                </a:solidFill>
                <a:latin typeface="Calibri"/>
              </a:rPr>
              <a:t>sostenibil</a:t>
            </a:r>
            <a:r>
              <a:rPr lang="en-US" sz="1500" b="0" i="0" dirty="0" err="1">
                <a:solidFill>
                  <a:srgbClr val="6B7182"/>
                </a:solidFill>
                <a:latin typeface="Calibri"/>
              </a:rPr>
              <a:t>e</a:t>
            </a:r>
            <a:endParaRPr sz="1500" b="0" i="0" dirty="0">
              <a:solidFill>
                <a:srgbClr val="6B7182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09728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4A6DDC"/>
                </a:solidFill>
                <a:latin typeface="Calibri"/>
              </a:rPr>
              <a:t>01 · LA SFIDA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09728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200" b="1" i="0">
                <a:solidFill>
                  <a:srgbClr val="1A1D27"/>
                </a:solidFill>
                <a:latin typeface="Calibri"/>
              </a:rPr>
              <a:t>Compriamo troppi vestiti.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0" i="1">
                <a:solidFill>
                  <a:srgbClr val="6B7182"/>
                </a:solidFill>
                <a:latin typeface="Calibri"/>
              </a:rPr>
              <a:t>L'industria della moda è una delle più impattanti del pianeta.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600200"/>
            <a:ext cx="731520" cy="30000"/>
          </a:xfrm>
          <a:prstGeom prst="rect">
            <a:avLst/>
          </a:prstGeom>
          <a:solidFill>
            <a:srgbClr val="4A6D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548640" y="2103120"/>
            <a:ext cx="2651760" cy="18288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C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109728" rtlCol="0" anchor="ctr"/>
          <a:lstStyle/>
          <a:p>
            <a:pPr algn="ctr">
              <a:spcAft>
                <a:spcPts val="600"/>
              </a:spcAft>
            </a:pPr>
            <a:r>
              <a:rPr sz="4400" b="1" i="0">
                <a:solidFill>
                  <a:srgbClr val="4A6DDC"/>
                </a:solidFill>
                <a:latin typeface="Calibri"/>
              </a:rPr>
              <a:t>10%</a:t>
            </a:r>
          </a:p>
          <a:p>
            <a:pPr algn="ctr">
              <a:spcAft>
                <a:spcPts val="400"/>
              </a:spcAft>
            </a:pPr>
            <a:r>
              <a:rPr sz="1200" b="0" i="0">
                <a:solidFill>
                  <a:srgbClr val="6B7182"/>
                </a:solidFill>
                <a:latin typeface="Calibri"/>
              </a:rPr>
              <a:t>delle emissioni globali
di CO₂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83280" y="2103120"/>
            <a:ext cx="2651760" cy="18288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C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109728" rtlCol="0" anchor="ctr"/>
          <a:lstStyle/>
          <a:p>
            <a:pPr algn="ctr">
              <a:spcAft>
                <a:spcPts val="600"/>
              </a:spcAft>
            </a:pPr>
            <a:r>
              <a:rPr sz="4400" b="1" i="0">
                <a:solidFill>
                  <a:srgbClr val="C94A5C"/>
                </a:solidFill>
                <a:latin typeface="Calibri"/>
              </a:rPr>
              <a:t>5 mln</a:t>
            </a:r>
          </a:p>
          <a:p>
            <a:pPr algn="ctr">
              <a:spcAft>
                <a:spcPts val="400"/>
              </a:spcAft>
            </a:pPr>
            <a:r>
              <a:rPr sz="1200" b="0" i="0">
                <a:solidFill>
                  <a:srgbClr val="6B7182"/>
                </a:solidFill>
                <a:latin typeface="Calibri"/>
              </a:rPr>
              <a:t>tonnellate di vestiti
buttati in Europa /anno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2103120"/>
            <a:ext cx="2651760" cy="18288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C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109728" rtlCol="0" anchor="ctr"/>
          <a:lstStyle/>
          <a:p>
            <a:pPr algn="ctr">
              <a:spcAft>
                <a:spcPts val="600"/>
              </a:spcAft>
            </a:pPr>
            <a:r>
              <a:rPr sz="4400" b="1" i="0">
                <a:solidFill>
                  <a:srgbClr val="C88B2E"/>
                </a:solidFill>
                <a:latin typeface="Calibri"/>
              </a:rPr>
              <a:t>7×</a:t>
            </a:r>
          </a:p>
          <a:p>
            <a:pPr algn="ctr">
              <a:spcAft>
                <a:spcPts val="400"/>
              </a:spcAft>
            </a:pPr>
            <a:r>
              <a:rPr sz="1200" b="0" i="0">
                <a:solidFill>
                  <a:srgbClr val="6B7182"/>
                </a:solidFill>
                <a:latin typeface="Calibri"/>
              </a:rPr>
              <a:t>utilizzi medi di un
capo fast fashion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052560" y="2103120"/>
            <a:ext cx="2651760" cy="18288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C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109728" rtlCol="0" anchor="ctr"/>
          <a:lstStyle/>
          <a:p>
            <a:pPr algn="ctr">
              <a:spcAft>
                <a:spcPts val="600"/>
              </a:spcAft>
            </a:pPr>
            <a:r>
              <a:rPr sz="4400" b="1" i="0">
                <a:solidFill>
                  <a:srgbClr val="C94A5C"/>
                </a:solidFill>
                <a:latin typeface="Calibri"/>
              </a:rPr>
              <a:t>40%</a:t>
            </a:r>
          </a:p>
          <a:p>
            <a:pPr algn="ctr">
              <a:spcAft>
                <a:spcPts val="400"/>
              </a:spcAft>
            </a:pPr>
            <a:r>
              <a:rPr sz="1200" b="0" i="0">
                <a:solidFill>
                  <a:srgbClr val="6B7182"/>
                </a:solidFill>
                <a:latin typeface="Calibri"/>
              </a:rPr>
              <a:t>del guardaroba medio
non viene mai indossato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389120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800" b="1" i="0">
                <a:solidFill>
                  <a:srgbClr val="1A1D27"/>
                </a:solidFill>
                <a:latin typeface="Calibri"/>
              </a:rPr>
              <a:t>A casa nostra, tre comportamenti ricorrenti: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937760"/>
            <a:ext cx="10972800" cy="164592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1A1D27"/>
                </a:solidFill>
                <a:latin typeface="Calibri"/>
              </a:rPr>
              <a:t>•  Compriamo d'impulso  — non sappiamo davvero cosa abbiamo già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1A1D27"/>
                </a:solidFill>
                <a:latin typeface="Calibri"/>
              </a:rPr>
              <a:t>•  Capi 'fantasma'  — vestiti dimenticati nell'armadio, mai indossati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1A1D27"/>
                </a:solidFill>
                <a:latin typeface="Calibri"/>
              </a:rPr>
              <a:t>•  Buttiamo invece di riparare, scambiare o donare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92240"/>
            <a:ext cx="10058400" cy="1384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0" i="0" dirty="0" err="1">
                <a:solidFill>
                  <a:srgbClr val="6B7182"/>
                </a:solidFill>
                <a:latin typeface="Calibri"/>
              </a:rPr>
              <a:t>ClosetAI</a:t>
            </a:r>
            <a:r>
              <a:rPr sz="900" b="0" i="0" dirty="0">
                <a:solidFill>
                  <a:srgbClr val="6B7182"/>
                </a:solidFill>
                <a:latin typeface="Calibri"/>
              </a:rPr>
              <a:t> · Design per </a:t>
            </a:r>
            <a:r>
              <a:rPr sz="900" b="0" i="0" dirty="0" err="1">
                <a:solidFill>
                  <a:srgbClr val="6B7182"/>
                </a:solidFill>
                <a:latin typeface="Calibri"/>
              </a:rPr>
              <a:t>l'innovazione</a:t>
            </a:r>
            <a:r>
              <a:rPr sz="900" b="0" i="0" dirty="0">
                <a:solidFill>
                  <a:srgbClr val="6B7182"/>
                </a:solidFill>
                <a:latin typeface="Calibri"/>
              </a:rPr>
              <a:t> </a:t>
            </a:r>
            <a:r>
              <a:rPr sz="900" b="0" i="0" dirty="0" err="1">
                <a:solidFill>
                  <a:srgbClr val="6B7182"/>
                </a:solidFill>
                <a:latin typeface="Calibri"/>
              </a:rPr>
              <a:t>sostenibile</a:t>
            </a:r>
            <a:endParaRPr sz="900" b="0" i="0" dirty="0">
              <a:solidFill>
                <a:srgbClr val="6B7182"/>
              </a:solidFill>
              <a:latin typeface="Calibri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 i="0">
                <a:solidFill>
                  <a:srgbClr val="6B7182"/>
                </a:solidFill>
                <a:latin typeface="Calibri"/>
              </a:rPr>
              <a:t>2 / 14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09728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4A6DDC"/>
                </a:solidFill>
                <a:latin typeface="Calibri"/>
              </a:rPr>
              <a:t>02 · LA SOLUZIONE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09728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200" b="1" i="0">
                <a:solidFill>
                  <a:srgbClr val="1A1D27"/>
                </a:solidFill>
                <a:latin typeface="Calibri"/>
              </a:rPr>
              <a:t>Un'app che fa tre cose, insieme.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600200"/>
            <a:ext cx="731520" cy="30000"/>
          </a:xfrm>
          <a:prstGeom prst="rect">
            <a:avLst/>
          </a:prstGeom>
          <a:solidFill>
            <a:srgbClr val="4A6D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548640" y="2103120"/>
            <a:ext cx="3657600" cy="32918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C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109728" rtlCol="0" anchor="ctr"/>
          <a:lstStyle/>
          <a:p>
            <a:pPr algn="ctr">
              <a:spcAft>
                <a:spcPts val="400"/>
              </a:spcAft>
            </a:pPr>
            <a:r>
              <a:rPr sz="4200" b="0" i="0">
                <a:solidFill>
                  <a:srgbClr val="4A6DDC"/>
                </a:solidFill>
                <a:latin typeface="Calibri"/>
              </a:rPr>
              <a:t>📷</a:t>
            </a:r>
          </a:p>
          <a:p>
            <a:pPr algn="ctr">
              <a:spcAft>
                <a:spcPts val="1000"/>
              </a:spcAft>
            </a:pPr>
            <a:r>
              <a:rPr sz="2200" b="1" i="0">
                <a:solidFill>
                  <a:srgbClr val="1A1D27"/>
                </a:solidFill>
                <a:latin typeface="Calibri"/>
              </a:rPr>
              <a:t>Digitalizza</a:t>
            </a:r>
          </a:p>
          <a:p>
            <a:pPr algn="ctr">
              <a:spcAft>
                <a:spcPts val="400"/>
              </a:spcAft>
            </a:pPr>
            <a:r>
              <a:rPr sz="1300" b="0" i="0">
                <a:solidFill>
                  <a:srgbClr val="6B7182"/>
                </a:solidFill>
                <a:latin typeface="Calibri"/>
              </a:rPr>
              <a:t>Fotografi un capo: l'app
lo cataloga in automatico
(categoria, colore).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2103120"/>
            <a:ext cx="3657600" cy="32918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C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109728" rtlCol="0" anchor="ctr"/>
          <a:lstStyle/>
          <a:p>
            <a:pPr algn="ctr">
              <a:spcAft>
                <a:spcPts val="400"/>
              </a:spcAft>
            </a:pPr>
            <a:r>
              <a:rPr sz="4200" b="0" i="0">
                <a:solidFill>
                  <a:srgbClr val="4A6DDC"/>
                </a:solidFill>
                <a:latin typeface="Calibri"/>
              </a:rPr>
              <a:t>📊</a:t>
            </a:r>
          </a:p>
          <a:p>
            <a:pPr algn="ctr">
              <a:spcAft>
                <a:spcPts val="1000"/>
              </a:spcAft>
            </a:pPr>
            <a:r>
              <a:rPr sz="2200" b="1" i="0">
                <a:solidFill>
                  <a:srgbClr val="1A1D27"/>
                </a:solidFill>
                <a:latin typeface="Calibri"/>
              </a:rPr>
              <a:t>Traccia</a:t>
            </a:r>
          </a:p>
          <a:p>
            <a:pPr algn="ctr">
              <a:spcAft>
                <a:spcPts val="400"/>
              </a:spcAft>
            </a:pPr>
            <a:r>
              <a:rPr sz="1300" b="0" i="0">
                <a:solidFill>
                  <a:srgbClr val="6B7182"/>
                </a:solidFill>
                <a:latin typeface="Calibri"/>
              </a:rPr>
              <a:t>Un click per dire
'l'ho indossato oggi':
calcola quanto vale
ogni capo nel tempo.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0" y="2103120"/>
            <a:ext cx="3657600" cy="32918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C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109728" rtlCol="0" anchor="ctr"/>
          <a:lstStyle/>
          <a:p>
            <a:pPr algn="ctr">
              <a:spcAft>
                <a:spcPts val="400"/>
              </a:spcAft>
            </a:pPr>
            <a:r>
              <a:rPr sz="4200" b="0" i="0">
                <a:solidFill>
                  <a:srgbClr val="2F8F6E"/>
                </a:solidFill>
                <a:latin typeface="Calibri"/>
              </a:rPr>
              <a:t>♻️</a:t>
            </a:r>
          </a:p>
          <a:p>
            <a:pPr algn="ctr">
              <a:spcAft>
                <a:spcPts val="1000"/>
              </a:spcAft>
            </a:pPr>
            <a:r>
              <a:rPr sz="2200" b="1" i="0">
                <a:solidFill>
                  <a:srgbClr val="1A1D27"/>
                </a:solidFill>
                <a:latin typeface="Calibri"/>
              </a:rPr>
              <a:t>Allunga la vita</a:t>
            </a:r>
          </a:p>
          <a:p>
            <a:pPr algn="ctr">
              <a:spcAft>
                <a:spcPts val="400"/>
              </a:spcAft>
            </a:pPr>
            <a:r>
              <a:rPr sz="1300" b="0" i="0">
                <a:solidFill>
                  <a:srgbClr val="6B7182"/>
                </a:solidFill>
                <a:latin typeface="Calibri"/>
              </a:rPr>
              <a:t>Quando un capo è 'stanco',
ti suggerisce di ripararlo,
scambiarlo, venderlo o donarlo.
Misura la CO₂ risparmiata.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669280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0" i="1">
                <a:solidFill>
                  <a:srgbClr val="2F8F6E"/>
                </a:solidFill>
                <a:latin typeface="Calibri"/>
              </a:rPr>
              <a:t>Tutto questo dentro un'unica esperienza, senza dover saltare tra app diverse.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92240"/>
            <a:ext cx="10058400" cy="1384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0" i="0" dirty="0" err="1">
                <a:solidFill>
                  <a:srgbClr val="6B7182"/>
                </a:solidFill>
                <a:latin typeface="Calibri"/>
              </a:rPr>
              <a:t>ClosetAI</a:t>
            </a:r>
            <a:r>
              <a:rPr sz="900" b="0" i="0" dirty="0">
                <a:solidFill>
                  <a:srgbClr val="6B7182"/>
                </a:solidFill>
                <a:latin typeface="Calibri"/>
              </a:rPr>
              <a:t> · Design per </a:t>
            </a:r>
            <a:r>
              <a:rPr sz="900" b="0" i="0" dirty="0" err="1">
                <a:solidFill>
                  <a:srgbClr val="6B7182"/>
                </a:solidFill>
                <a:latin typeface="Calibri"/>
              </a:rPr>
              <a:t>l'innovazione</a:t>
            </a:r>
            <a:r>
              <a:rPr sz="900" b="0" i="0" dirty="0">
                <a:solidFill>
                  <a:srgbClr val="6B7182"/>
                </a:solidFill>
                <a:latin typeface="Calibri"/>
              </a:rPr>
              <a:t> </a:t>
            </a:r>
            <a:r>
              <a:rPr sz="900" b="0" i="0" dirty="0" err="1">
                <a:solidFill>
                  <a:srgbClr val="6B7182"/>
                </a:solidFill>
                <a:latin typeface="Calibri"/>
              </a:rPr>
              <a:t>sostenibile</a:t>
            </a:r>
            <a:endParaRPr sz="900" b="0" i="0" dirty="0">
              <a:solidFill>
                <a:srgbClr val="6B7182"/>
              </a:solidFill>
              <a:latin typeface="Calibri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 i="0">
                <a:solidFill>
                  <a:srgbClr val="6B7182"/>
                </a:solidFill>
                <a:latin typeface="Calibri"/>
              </a:rPr>
              <a:t>3 / 14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09728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4A6DDC"/>
                </a:solidFill>
                <a:latin typeface="Calibri"/>
              </a:rPr>
              <a:t>03 · L'ESPERIENZA UTENTE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09728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200" b="1" i="0">
                <a:solidFill>
                  <a:srgbClr val="1A1D27"/>
                </a:solidFill>
                <a:latin typeface="Calibri"/>
              </a:rPr>
              <a:t>Come si usa, in pratica.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600200"/>
            <a:ext cx="731520" cy="30000"/>
          </a:xfrm>
          <a:prstGeom prst="rect">
            <a:avLst/>
          </a:prstGeom>
          <a:solidFill>
            <a:srgbClr val="4A6D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548640" y="2286000"/>
            <a:ext cx="2103120" cy="2194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C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109728" rtlCol="0" anchor="ctr"/>
          <a:lstStyle/>
          <a:p>
            <a:pPr algn="ctr">
              <a:spcAft>
                <a:spcPts val="400"/>
              </a:spcAft>
            </a:pPr>
            <a:r>
              <a:rPr sz="3600" b="1" i="0">
                <a:solidFill>
                  <a:srgbClr val="4A6DDC"/>
                </a:solidFill>
                <a:latin typeface="Calibri"/>
              </a:rPr>
              <a:t>1</a:t>
            </a:r>
          </a:p>
          <a:p>
            <a:pPr algn="ctr">
              <a:spcAft>
                <a:spcPts val="600"/>
              </a:spcAft>
            </a:pPr>
            <a:r>
              <a:rPr sz="1600" b="1" i="0">
                <a:solidFill>
                  <a:srgbClr val="1A1D27"/>
                </a:solidFill>
                <a:latin typeface="Calibri"/>
              </a:rPr>
              <a:t>Fotografo</a:t>
            </a:r>
          </a:p>
          <a:p>
            <a:pPr algn="ctr">
              <a:spcAft>
                <a:spcPts val="400"/>
              </a:spcAft>
            </a:pPr>
            <a:r>
              <a:rPr sz="1100" b="0" i="0">
                <a:solidFill>
                  <a:srgbClr val="6B7182"/>
                </a:solidFill>
                <a:latin typeface="Calibri"/>
              </a:rPr>
              <a:t>un nuovo capo
che ho comprato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660904" y="3200400"/>
            <a:ext cx="118872" cy="365760"/>
          </a:xfrm>
          <a:prstGeom prst="rightArrow">
            <a:avLst/>
          </a:prstGeom>
          <a:solidFill>
            <a:srgbClr val="4A6D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2788920" y="2286000"/>
            <a:ext cx="2103120" cy="2194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C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109728" rtlCol="0" anchor="ctr"/>
          <a:lstStyle/>
          <a:p>
            <a:pPr algn="ctr">
              <a:spcAft>
                <a:spcPts val="400"/>
              </a:spcAft>
            </a:pPr>
            <a:r>
              <a:rPr sz="3600" b="1" i="0">
                <a:solidFill>
                  <a:srgbClr val="4A6DDC"/>
                </a:solidFill>
                <a:latin typeface="Calibri"/>
              </a:rPr>
              <a:t>2</a:t>
            </a:r>
          </a:p>
          <a:p>
            <a:pPr algn="ctr">
              <a:spcAft>
                <a:spcPts val="600"/>
              </a:spcAft>
            </a:pPr>
            <a:r>
              <a:rPr sz="1600" b="1" i="0">
                <a:solidFill>
                  <a:srgbClr val="1A1D27"/>
                </a:solidFill>
                <a:latin typeface="Calibri"/>
              </a:rPr>
              <a:t>L'app riconosce</a:t>
            </a:r>
          </a:p>
          <a:p>
            <a:pPr algn="ctr">
              <a:spcAft>
                <a:spcPts val="400"/>
              </a:spcAft>
            </a:pPr>
            <a:r>
              <a:rPr sz="1100" b="0" i="0">
                <a:solidFill>
                  <a:srgbClr val="6B7182"/>
                </a:solidFill>
                <a:latin typeface="Calibri"/>
              </a:rPr>
              <a:t>categoria e colore
in automatico</a:t>
            </a:r>
          </a:p>
        </p:txBody>
      </p:sp>
      <p:sp>
        <p:nvSpPr>
          <p:cNvPr id="8" name="Right Arrow 7"/>
          <p:cNvSpPr/>
          <p:nvPr/>
        </p:nvSpPr>
        <p:spPr>
          <a:xfrm>
            <a:off x="4901184" y="3200400"/>
            <a:ext cx="118872" cy="365760"/>
          </a:xfrm>
          <a:prstGeom prst="rightArrow">
            <a:avLst/>
          </a:prstGeom>
          <a:solidFill>
            <a:srgbClr val="4A6D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5029200" y="2286000"/>
            <a:ext cx="2103120" cy="2194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C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109728" rtlCol="0" anchor="ctr"/>
          <a:lstStyle/>
          <a:p>
            <a:pPr algn="ctr">
              <a:spcAft>
                <a:spcPts val="400"/>
              </a:spcAft>
            </a:pPr>
            <a:r>
              <a:rPr sz="3600" b="1" i="0">
                <a:solidFill>
                  <a:srgbClr val="4A6DDC"/>
                </a:solidFill>
                <a:latin typeface="Calibri"/>
              </a:rPr>
              <a:t>3</a:t>
            </a:r>
          </a:p>
          <a:p>
            <a:pPr algn="ctr">
              <a:spcAft>
                <a:spcPts val="600"/>
              </a:spcAft>
            </a:pPr>
            <a:r>
              <a:rPr sz="1600" b="1" i="0">
                <a:solidFill>
                  <a:srgbClr val="1A1D27"/>
                </a:solidFill>
                <a:latin typeface="Calibri"/>
              </a:rPr>
              <a:t>Indosso</a:t>
            </a:r>
          </a:p>
          <a:p>
            <a:pPr algn="ctr">
              <a:spcAft>
                <a:spcPts val="400"/>
              </a:spcAft>
            </a:pPr>
            <a:r>
              <a:rPr sz="1100" b="0" i="0">
                <a:solidFill>
                  <a:srgbClr val="6B7182"/>
                </a:solidFill>
                <a:latin typeface="Calibri"/>
              </a:rPr>
              <a:t>il capo e clicco
'✓ oggi' nell'app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141464" y="3200400"/>
            <a:ext cx="118872" cy="365760"/>
          </a:xfrm>
          <a:prstGeom prst="rightArrow">
            <a:avLst/>
          </a:prstGeom>
          <a:solidFill>
            <a:srgbClr val="4A6D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7269480" y="2286000"/>
            <a:ext cx="2103120" cy="2194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C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109728" rtlCol="0" anchor="ctr"/>
          <a:lstStyle/>
          <a:p>
            <a:pPr algn="ctr">
              <a:spcAft>
                <a:spcPts val="400"/>
              </a:spcAft>
            </a:pPr>
            <a:r>
              <a:rPr sz="3600" b="1" i="0">
                <a:solidFill>
                  <a:srgbClr val="4A6DDC"/>
                </a:solidFill>
                <a:latin typeface="Calibri"/>
              </a:rPr>
              <a:t>4</a:t>
            </a:r>
          </a:p>
          <a:p>
            <a:pPr algn="ctr">
              <a:spcAft>
                <a:spcPts val="600"/>
              </a:spcAft>
            </a:pPr>
            <a:r>
              <a:rPr sz="1600" b="1" i="0">
                <a:solidFill>
                  <a:srgbClr val="1A1D27"/>
                </a:solidFill>
                <a:latin typeface="Calibri"/>
              </a:rPr>
              <a:t>Chiedo</a:t>
            </a:r>
          </a:p>
          <a:p>
            <a:pPr algn="ctr">
              <a:spcAft>
                <a:spcPts val="400"/>
              </a:spcAft>
            </a:pPr>
            <a:r>
              <a:rPr sz="1100" b="0" i="0">
                <a:solidFill>
                  <a:srgbClr val="6B7182"/>
                </a:solidFill>
                <a:latin typeface="Calibri"/>
              </a:rPr>
              <a:t>'cosa metto oggi?'
mi propone outfit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9381744" y="3200400"/>
            <a:ext cx="118872" cy="365760"/>
          </a:xfrm>
          <a:prstGeom prst="rightArrow">
            <a:avLst/>
          </a:prstGeom>
          <a:solidFill>
            <a:srgbClr val="4A6D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9509760" y="2286000"/>
            <a:ext cx="2103120" cy="2194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C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109728" rtlCol="0" anchor="ctr"/>
          <a:lstStyle/>
          <a:p>
            <a:pPr algn="ctr">
              <a:spcAft>
                <a:spcPts val="400"/>
              </a:spcAft>
            </a:pPr>
            <a:r>
              <a:rPr sz="3600" b="1" i="0">
                <a:solidFill>
                  <a:srgbClr val="4A6DDC"/>
                </a:solidFill>
                <a:latin typeface="Calibri"/>
              </a:rPr>
              <a:t>5</a:t>
            </a:r>
          </a:p>
          <a:p>
            <a:pPr algn="ctr">
              <a:spcAft>
                <a:spcPts val="600"/>
              </a:spcAft>
            </a:pPr>
            <a:r>
              <a:rPr sz="1600" b="1" i="0">
                <a:solidFill>
                  <a:srgbClr val="1A1D27"/>
                </a:solidFill>
                <a:latin typeface="Calibri"/>
              </a:rPr>
              <a:t>Vedo</a:t>
            </a:r>
          </a:p>
          <a:p>
            <a:pPr algn="ctr">
              <a:spcAft>
                <a:spcPts val="400"/>
              </a:spcAft>
            </a:pPr>
            <a:r>
              <a:rPr sz="1100" b="0" i="0">
                <a:solidFill>
                  <a:srgbClr val="6B7182"/>
                </a:solidFill>
                <a:latin typeface="Calibri"/>
              </a:rPr>
              <a:t>il mio impatto
sulla dashboard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846320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0" i="1">
                <a:solidFill>
                  <a:srgbClr val="6B7182"/>
                </a:solidFill>
                <a:latin typeface="Calibri"/>
              </a:rPr>
              <a:t>Nessun obbligo, nessun questionario. Tutto avviene con foto e tap.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5577840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300" b="0" i="1">
                <a:solidFill>
                  <a:srgbClr val="2F8F6E"/>
                </a:solidFill>
                <a:latin typeface="Calibri"/>
              </a:rPr>
              <a:t>🪞  Estensione opzionale: uno specchio smart in camera mostra orologio, meteo e l'outfit suggerito.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492240"/>
            <a:ext cx="10058400" cy="1384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0" i="0" dirty="0" err="1">
                <a:solidFill>
                  <a:srgbClr val="6B7182"/>
                </a:solidFill>
                <a:latin typeface="Calibri"/>
              </a:rPr>
              <a:t>ClosetAI</a:t>
            </a:r>
            <a:r>
              <a:rPr sz="900" b="0" i="0" dirty="0">
                <a:solidFill>
                  <a:srgbClr val="6B7182"/>
                </a:solidFill>
                <a:latin typeface="Calibri"/>
              </a:rPr>
              <a:t> · Design per </a:t>
            </a:r>
            <a:r>
              <a:rPr sz="900" b="0" i="0" dirty="0" err="1">
                <a:solidFill>
                  <a:srgbClr val="6B7182"/>
                </a:solidFill>
                <a:latin typeface="Calibri"/>
              </a:rPr>
              <a:t>l'innovazione</a:t>
            </a:r>
            <a:r>
              <a:rPr sz="900" b="0" i="0" dirty="0">
                <a:solidFill>
                  <a:srgbClr val="6B7182"/>
                </a:solidFill>
                <a:latin typeface="Calibri"/>
              </a:rPr>
              <a:t> </a:t>
            </a:r>
            <a:r>
              <a:rPr sz="900" b="0" i="0" dirty="0" err="1">
                <a:solidFill>
                  <a:srgbClr val="6B7182"/>
                </a:solidFill>
                <a:latin typeface="Calibri"/>
              </a:rPr>
              <a:t>sostenibile</a:t>
            </a:r>
            <a:endParaRPr sz="900" b="0" i="0" dirty="0">
              <a:solidFill>
                <a:srgbClr val="6B7182"/>
              </a:solidFill>
              <a:latin typeface="Calibri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 i="0">
                <a:solidFill>
                  <a:srgbClr val="6B7182"/>
                </a:solidFill>
                <a:latin typeface="Calibri"/>
              </a:rPr>
              <a:t>4 / 14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09728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4A6DDC"/>
                </a:solidFill>
                <a:latin typeface="Calibri"/>
              </a:rPr>
              <a:t>04 · DEMO · SCHERMATA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09728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200" b="1" i="0">
                <a:solidFill>
                  <a:srgbClr val="1A1D27"/>
                </a:solidFill>
                <a:latin typeface="Calibri"/>
              </a:rPr>
              <a:t>Il guardaroba digitale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0" i="1">
                <a:solidFill>
                  <a:srgbClr val="6B7182"/>
                </a:solidFill>
                <a:latin typeface="Calibri"/>
              </a:rPr>
              <a:t>In cima trovo subito le metriche chiave del mio armadio.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600200"/>
            <a:ext cx="731520" cy="30000"/>
          </a:xfrm>
          <a:prstGeom prst="rect">
            <a:avLst/>
          </a:prstGeom>
          <a:solidFill>
            <a:srgbClr val="4A6D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01-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20240"/>
            <a:ext cx="7315200" cy="429768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138160" y="1920240"/>
            <a:ext cx="3657600" cy="4297680"/>
          </a:xfrm>
          <a:prstGeom prst="roundRect">
            <a:avLst/>
          </a:prstGeom>
          <a:solidFill>
            <a:srgbClr val="E0E8FA"/>
          </a:solidFill>
          <a:ln w="9525">
            <a:solidFill>
              <a:srgbClr val="4A6D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109728" rtlCol="0" anchor="ctr"/>
          <a:lstStyle/>
          <a:p>
            <a:pPr algn="l">
              <a:spcAft>
                <a:spcPts val="1000"/>
              </a:spcAft>
            </a:pPr>
            <a:r>
              <a:rPr sz="1400" b="1" i="0">
                <a:solidFill>
                  <a:srgbClr val="4A6DDC"/>
                </a:solidFill>
                <a:latin typeface="Calibri"/>
              </a:rPr>
              <a:t>Cosa si vede:</a:t>
            </a:r>
          </a:p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A1D27"/>
                </a:solidFill>
                <a:latin typeface="Calibri"/>
              </a:rPr>
              <a:t>→ N° capi attivi</a:t>
            </a:r>
          </a:p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A1D27"/>
                </a:solidFill>
                <a:latin typeface="Calibri"/>
              </a:rPr>
              <a:t>→ Utilizzi totali</a:t>
            </a:r>
          </a:p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A1D27"/>
                </a:solidFill>
                <a:latin typeface="Calibri"/>
              </a:rPr>
              <a:t>→ Quanti 'fantasma'</a:t>
            </a:r>
          </a:p>
          <a:p>
            <a:pPr algn="l">
              <a:spcAft>
                <a:spcPts val="1200"/>
              </a:spcAft>
            </a:pPr>
            <a:r>
              <a:rPr sz="1300" b="0" i="0">
                <a:solidFill>
                  <a:srgbClr val="1A1D27"/>
                </a:solidFill>
                <a:latin typeface="Calibri"/>
              </a:rPr>
              <a:t>→ Cost-per-wear medio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6B7182"/>
                </a:solidFill>
                <a:latin typeface="Calibri"/>
              </a:rPr>
              <a:t>Filtri per categoria,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6B7182"/>
                </a:solidFill>
                <a:latin typeface="Calibri"/>
              </a:rPr>
              <a:t>colore, stato attivo/</a:t>
            </a:r>
          </a:p>
          <a:p>
            <a:pPr algn="l">
              <a:spcAft>
                <a:spcPts val="1000"/>
              </a:spcAft>
            </a:pPr>
            <a:r>
              <a:rPr sz="1300" b="0" i="0">
                <a:solidFill>
                  <a:srgbClr val="6B7182"/>
                </a:solidFill>
                <a:latin typeface="Calibri"/>
              </a:rPr>
              <a:t>ritirato + ricerca.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2F8F6E"/>
                </a:solidFill>
                <a:latin typeface="Calibri"/>
              </a:rPr>
              <a:t>Tasto rapido 'indossato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2F8F6E"/>
                </a:solidFill>
                <a:latin typeface="Calibri"/>
              </a:rPr>
              <a:t>oggi' sulla card.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92240"/>
            <a:ext cx="10058400" cy="1384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0" i="0" dirty="0" err="1">
                <a:solidFill>
                  <a:srgbClr val="6B7182"/>
                </a:solidFill>
                <a:latin typeface="Calibri"/>
              </a:rPr>
              <a:t>ClosetAI</a:t>
            </a:r>
            <a:r>
              <a:rPr sz="900" b="0" i="0" dirty="0">
                <a:solidFill>
                  <a:srgbClr val="6B7182"/>
                </a:solidFill>
                <a:latin typeface="Calibri"/>
              </a:rPr>
              <a:t> · Design per </a:t>
            </a:r>
            <a:r>
              <a:rPr sz="900" b="0" i="0" dirty="0" err="1">
                <a:solidFill>
                  <a:srgbClr val="6B7182"/>
                </a:solidFill>
                <a:latin typeface="Calibri"/>
              </a:rPr>
              <a:t>l'innovazione</a:t>
            </a:r>
            <a:r>
              <a:rPr sz="900" b="0" i="0" dirty="0">
                <a:solidFill>
                  <a:srgbClr val="6B7182"/>
                </a:solidFill>
                <a:latin typeface="Calibri"/>
              </a:rPr>
              <a:t> </a:t>
            </a:r>
            <a:r>
              <a:rPr sz="900" b="0" i="0" dirty="0" err="1">
                <a:solidFill>
                  <a:srgbClr val="6B7182"/>
                </a:solidFill>
                <a:latin typeface="Calibri"/>
              </a:rPr>
              <a:t>sostenibile</a:t>
            </a:r>
            <a:endParaRPr sz="900" b="0" i="0" dirty="0">
              <a:solidFill>
                <a:srgbClr val="6B7182"/>
              </a:solidFill>
              <a:latin typeface="Calibri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 i="0">
                <a:solidFill>
                  <a:srgbClr val="6B7182"/>
                </a:solidFill>
                <a:latin typeface="Calibri"/>
              </a:rPr>
              <a:t>5 / 14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09728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4A6DDC"/>
                </a:solidFill>
                <a:latin typeface="Calibri"/>
              </a:rPr>
              <a:t>04 · DEMO · SCHERMATE 2 E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09728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200" b="1" i="0">
                <a:solidFill>
                  <a:srgbClr val="1A1D27"/>
                </a:solidFill>
                <a:latin typeface="Calibri"/>
              </a:rPr>
              <a:t>Cosa metto oggi? + Dashboard impatto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0" i="1">
                <a:solidFill>
                  <a:srgbClr val="6B7182"/>
                </a:solidFill>
                <a:latin typeface="Calibri"/>
              </a:rPr>
              <a:t>L'AI propone outfit basati sul meteo. La dashboard mostra l'impatto.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600200"/>
            <a:ext cx="731520" cy="30000"/>
          </a:xfrm>
          <a:prstGeom prst="rect">
            <a:avLst/>
          </a:prstGeom>
          <a:solidFill>
            <a:srgbClr val="4A6D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548640" y="1920240"/>
            <a:ext cx="5486400" cy="4297680"/>
          </a:xfrm>
          <a:prstGeom prst="roundRect">
            <a:avLst/>
          </a:prstGeom>
          <a:solidFill>
            <a:srgbClr val="E0E8FA"/>
          </a:solidFill>
          <a:ln w="9525">
            <a:solidFill>
              <a:srgbClr val="4A6D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109728" rtlCol="0" anchor="ctr"/>
          <a:lstStyle/>
          <a:p>
            <a:pPr algn="ctr">
              <a:spcAft>
                <a:spcPts val="800"/>
              </a:spcAft>
            </a:pPr>
            <a:r>
              <a:rPr sz="1400" b="1" i="0">
                <a:solidFill>
                  <a:srgbClr val="4A6DDC"/>
                </a:solidFill>
                <a:latin typeface="Calibri"/>
              </a:rPr>
              <a:t>[ screenshot ]</a:t>
            </a:r>
          </a:p>
          <a:p>
            <a:pPr algn="ctr">
              <a:spcAft>
                <a:spcPts val="400"/>
              </a:spcAft>
            </a:pPr>
            <a:r>
              <a:rPr sz="1100" b="0" i="0">
                <a:solidFill>
                  <a:srgbClr val="6B7182"/>
                </a:solidFill>
                <a:latin typeface="Calibri"/>
              </a:rPr>
              <a:t>04-today.png</a:t>
            </a:r>
          </a:p>
          <a:p>
            <a:pPr algn="ctr">
              <a:spcAft>
                <a:spcPts val="400"/>
              </a:spcAft>
            </a:pPr>
            <a:r>
              <a:rPr sz="1100" b="0" i="1">
                <a:solidFill>
                  <a:srgbClr val="6B7182"/>
                </a:solidFill>
                <a:latin typeface="Calibri"/>
              </a:rPr>
              <a:t>Proposte outfit del giorno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1920240"/>
            <a:ext cx="5486400" cy="4297680"/>
          </a:xfrm>
          <a:prstGeom prst="roundRect">
            <a:avLst/>
          </a:prstGeom>
          <a:solidFill>
            <a:srgbClr val="E0E8FA"/>
          </a:solidFill>
          <a:ln w="9525">
            <a:solidFill>
              <a:srgbClr val="4A6D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109728" rtlCol="0" anchor="ctr"/>
          <a:lstStyle/>
          <a:p>
            <a:pPr algn="ctr">
              <a:spcAft>
                <a:spcPts val="800"/>
              </a:spcAft>
            </a:pPr>
            <a:r>
              <a:rPr sz="1400" b="1" i="0">
                <a:solidFill>
                  <a:srgbClr val="4A6DDC"/>
                </a:solidFill>
                <a:latin typeface="Calibri"/>
              </a:rPr>
              <a:t>[ screenshot ]</a:t>
            </a:r>
          </a:p>
          <a:p>
            <a:pPr algn="ctr">
              <a:spcAft>
                <a:spcPts val="400"/>
              </a:spcAft>
            </a:pPr>
            <a:r>
              <a:rPr sz="1100" b="0" i="0">
                <a:solidFill>
                  <a:srgbClr val="6B7182"/>
                </a:solidFill>
                <a:latin typeface="Calibri"/>
              </a:rPr>
              <a:t>05-dashboard.png</a:t>
            </a:r>
          </a:p>
          <a:p>
            <a:pPr algn="ctr">
              <a:spcAft>
                <a:spcPts val="400"/>
              </a:spcAft>
            </a:pPr>
            <a:r>
              <a:rPr sz="1100" b="0" i="1">
                <a:solidFill>
                  <a:srgbClr val="6B7182"/>
                </a:solidFill>
                <a:latin typeface="Calibri"/>
              </a:rPr>
              <a:t>Dashboard impatto sostenibilità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92240"/>
            <a:ext cx="10058400" cy="1384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0" i="0" dirty="0" err="1">
                <a:solidFill>
                  <a:srgbClr val="6B7182"/>
                </a:solidFill>
                <a:latin typeface="Calibri"/>
              </a:rPr>
              <a:t>ClosetAI</a:t>
            </a:r>
            <a:r>
              <a:rPr sz="900" b="0" i="0" dirty="0">
                <a:solidFill>
                  <a:srgbClr val="6B7182"/>
                </a:solidFill>
                <a:latin typeface="Calibri"/>
              </a:rPr>
              <a:t> · Design per </a:t>
            </a:r>
            <a:r>
              <a:rPr sz="900" b="0" i="0" dirty="0" err="1">
                <a:solidFill>
                  <a:srgbClr val="6B7182"/>
                </a:solidFill>
                <a:latin typeface="Calibri"/>
              </a:rPr>
              <a:t>l'innovazione</a:t>
            </a:r>
            <a:r>
              <a:rPr sz="900" b="0" i="0" dirty="0">
                <a:solidFill>
                  <a:srgbClr val="6B7182"/>
                </a:solidFill>
                <a:latin typeface="Calibri"/>
              </a:rPr>
              <a:t> </a:t>
            </a:r>
            <a:r>
              <a:rPr sz="900" b="0" i="0" dirty="0" err="1">
                <a:solidFill>
                  <a:srgbClr val="6B7182"/>
                </a:solidFill>
                <a:latin typeface="Calibri"/>
              </a:rPr>
              <a:t>sostenibile</a:t>
            </a:r>
            <a:endParaRPr sz="900" b="0" i="0" dirty="0">
              <a:solidFill>
                <a:srgbClr val="6B7182"/>
              </a:solidFill>
              <a:latin typeface="Calibri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 i="0">
                <a:solidFill>
                  <a:srgbClr val="6B7182"/>
                </a:solidFill>
                <a:latin typeface="Calibri"/>
              </a:rPr>
              <a:t>6 / 14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B625A1D9-7C67-75EB-FBAD-4866540FB4D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7598" y="2245669"/>
            <a:ext cx="4228483" cy="3789371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DABA2331-B47A-D170-EFD9-FD05E5C64A7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38319" y="2245669"/>
            <a:ext cx="4228482" cy="378937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09728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4A6DDC"/>
                </a:solidFill>
                <a:latin typeface="Calibri"/>
              </a:rPr>
              <a:t>05 · IL CUORE DEL PROGETTO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09728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200" b="1" i="0">
                <a:solidFill>
                  <a:srgbClr val="1A1D27"/>
                </a:solidFill>
                <a:latin typeface="Calibri"/>
              </a:rPr>
              <a:t>Dove c'è l'intelligenza artificiale.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10972800" cy="2308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it-IT" sz="1500" b="0" i="1" dirty="0">
                <a:solidFill>
                  <a:srgbClr val="6B7182"/>
                </a:solidFill>
                <a:latin typeface="Calibri"/>
              </a:rPr>
              <a:t>Otto</a:t>
            </a:r>
            <a:r>
              <a:rPr sz="1500" b="0" i="1" dirty="0">
                <a:solidFill>
                  <a:srgbClr val="6B7182"/>
                </a:solidFill>
                <a:latin typeface="Calibri"/>
              </a:rPr>
              <a:t> </a:t>
            </a:r>
            <a:r>
              <a:rPr sz="1500" b="0" i="1" dirty="0" err="1">
                <a:solidFill>
                  <a:srgbClr val="6B7182"/>
                </a:solidFill>
                <a:latin typeface="Calibri"/>
              </a:rPr>
              <a:t>punti</a:t>
            </a:r>
            <a:r>
              <a:rPr sz="1500" b="0" i="1" dirty="0">
                <a:solidFill>
                  <a:srgbClr val="6B7182"/>
                </a:solidFill>
                <a:latin typeface="Calibri"/>
              </a:rPr>
              <a:t> del </a:t>
            </a:r>
            <a:r>
              <a:rPr sz="1500" b="0" i="1" dirty="0" err="1">
                <a:solidFill>
                  <a:srgbClr val="6B7182"/>
                </a:solidFill>
                <a:latin typeface="Calibri"/>
              </a:rPr>
              <a:t>prodotto</a:t>
            </a:r>
            <a:r>
              <a:rPr sz="1500" b="0" i="1" dirty="0">
                <a:solidFill>
                  <a:srgbClr val="6B7182"/>
                </a:solidFill>
                <a:latin typeface="Calibri"/>
              </a:rPr>
              <a:t> in cui un </a:t>
            </a:r>
            <a:r>
              <a:rPr sz="1500" b="0" i="1" dirty="0" err="1">
                <a:solidFill>
                  <a:srgbClr val="6B7182"/>
                </a:solidFill>
                <a:latin typeface="Calibri"/>
              </a:rPr>
              <a:t>modello</a:t>
            </a:r>
            <a:r>
              <a:rPr sz="1500" b="0" i="1" dirty="0">
                <a:solidFill>
                  <a:srgbClr val="6B7182"/>
                </a:solidFill>
                <a:latin typeface="Calibri"/>
              </a:rPr>
              <a:t> AI fa il </a:t>
            </a:r>
            <a:r>
              <a:rPr sz="1500" b="0" i="1" dirty="0" err="1">
                <a:solidFill>
                  <a:srgbClr val="6B7182"/>
                </a:solidFill>
                <a:latin typeface="Calibri"/>
              </a:rPr>
              <a:t>lavoro</a:t>
            </a:r>
            <a:r>
              <a:rPr sz="1500" b="0" i="1" dirty="0">
                <a:solidFill>
                  <a:srgbClr val="6B7182"/>
                </a:solidFill>
                <a:latin typeface="Calibri"/>
              </a:rPr>
              <a:t> al </a:t>
            </a:r>
            <a:r>
              <a:rPr sz="1500" b="0" i="1" dirty="0" err="1">
                <a:solidFill>
                  <a:srgbClr val="6B7182"/>
                </a:solidFill>
                <a:latin typeface="Calibri"/>
              </a:rPr>
              <a:t>posto</a:t>
            </a:r>
            <a:r>
              <a:rPr sz="1500" b="0" i="1" dirty="0">
                <a:solidFill>
                  <a:srgbClr val="6B7182"/>
                </a:solidFill>
                <a:latin typeface="Calibri"/>
              </a:rPr>
              <a:t> </a:t>
            </a:r>
            <a:r>
              <a:rPr sz="1500" b="0" i="1" dirty="0" err="1">
                <a:solidFill>
                  <a:srgbClr val="6B7182"/>
                </a:solidFill>
                <a:latin typeface="Calibri"/>
              </a:rPr>
              <a:t>tuo</a:t>
            </a:r>
            <a:r>
              <a:rPr sz="1500" b="0" i="1" dirty="0">
                <a:solidFill>
                  <a:srgbClr val="6B7182"/>
                </a:solidFill>
                <a:latin typeface="Calibri"/>
              </a:rPr>
              <a:t>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600200"/>
            <a:ext cx="731520" cy="30000"/>
          </a:xfrm>
          <a:prstGeom prst="rect">
            <a:avLst/>
          </a:prstGeom>
          <a:solidFill>
            <a:srgbClr val="4A6D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548640" y="1920240"/>
            <a:ext cx="2788920" cy="1097280"/>
          </a:xfrm>
          <a:prstGeom prst="roundRect">
            <a:avLst/>
          </a:prstGeom>
          <a:solidFill>
            <a:srgbClr val="E0E8FA"/>
          </a:solidFill>
          <a:ln w="9525">
            <a:solidFill>
              <a:srgbClr val="4A6D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109728" rtlCol="0" anchor="ctr"/>
          <a:lstStyle/>
          <a:p>
            <a:pPr algn="l">
              <a:spcAft>
                <a:spcPts val="200"/>
              </a:spcAft>
            </a:pPr>
            <a:r>
              <a:rPr sz="1300" b="1" i="0">
                <a:solidFill>
                  <a:srgbClr val="1A1D27"/>
                </a:solidFill>
                <a:latin typeface="Calibri"/>
              </a:rPr>
              <a:t>📷  Riconosce il capo</a:t>
            </a:r>
          </a:p>
          <a:p>
            <a:pPr algn="l">
              <a:spcAft>
                <a:spcPts val="200"/>
              </a:spcAft>
            </a:pPr>
            <a:r>
              <a:rPr sz="1000" b="0" i="0">
                <a:solidFill>
                  <a:srgbClr val="6B7182"/>
                </a:solidFill>
                <a:latin typeface="Calibri"/>
              </a:rPr>
              <a:t>Capisce da sola se è una
t-shirt blu o una giacca
marrone.</a:t>
            </a:r>
          </a:p>
          <a:p>
            <a:pPr algn="l">
              <a:spcAft>
                <a:spcPts val="400"/>
              </a:spcAft>
            </a:pPr>
            <a:r>
              <a:rPr sz="900" b="1" i="1">
                <a:solidFill>
                  <a:srgbClr val="4A6DDC"/>
                </a:solidFill>
                <a:latin typeface="Calibri"/>
              </a:rPr>
              <a:t>Vision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29000" y="1920240"/>
            <a:ext cx="2788920" cy="1097280"/>
          </a:xfrm>
          <a:prstGeom prst="roundRect">
            <a:avLst/>
          </a:prstGeom>
          <a:solidFill>
            <a:srgbClr val="E0E8FA"/>
          </a:solidFill>
          <a:ln w="9525">
            <a:solidFill>
              <a:srgbClr val="4A6D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109728" rtlCol="0" anchor="ctr"/>
          <a:lstStyle/>
          <a:p>
            <a:pPr algn="l">
              <a:spcAft>
                <a:spcPts val="200"/>
              </a:spcAft>
            </a:pPr>
            <a:r>
              <a:rPr sz="1300" b="1" i="0">
                <a:solidFill>
                  <a:srgbClr val="1A1D27"/>
                </a:solidFill>
                <a:latin typeface="Calibri"/>
              </a:rPr>
              <a:t>🎨  Estrae il colore</a:t>
            </a:r>
          </a:p>
          <a:p>
            <a:pPr algn="l">
              <a:spcAft>
                <a:spcPts val="200"/>
              </a:spcAft>
            </a:pPr>
            <a:r>
              <a:rPr sz="1000" b="0" i="0">
                <a:solidFill>
                  <a:srgbClr val="6B7182"/>
                </a:solidFill>
                <a:latin typeface="Calibri"/>
              </a:rPr>
              <a:t>Trova il colore dominante
ignorando lo sfondo bianco.</a:t>
            </a:r>
          </a:p>
          <a:p>
            <a:pPr algn="l">
              <a:spcAft>
                <a:spcPts val="400"/>
              </a:spcAft>
            </a:pPr>
            <a:r>
              <a:rPr sz="900" b="1" i="1">
                <a:solidFill>
                  <a:srgbClr val="4A6DDC"/>
                </a:solidFill>
                <a:latin typeface="Calibri"/>
              </a:rPr>
              <a:t>Vision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920240"/>
            <a:ext cx="2788920" cy="1097280"/>
          </a:xfrm>
          <a:prstGeom prst="roundRect">
            <a:avLst/>
          </a:prstGeom>
          <a:solidFill>
            <a:srgbClr val="E0E8FA"/>
          </a:solidFill>
          <a:ln w="9525">
            <a:solidFill>
              <a:srgbClr val="4A6D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109728" rtlCol="0" anchor="ctr"/>
          <a:lstStyle/>
          <a:p>
            <a:pPr algn="l">
              <a:spcAft>
                <a:spcPts val="200"/>
              </a:spcAft>
            </a:pPr>
            <a:r>
              <a:rPr sz="1300" b="1" i="0">
                <a:solidFill>
                  <a:srgbClr val="1A1D27"/>
                </a:solidFill>
                <a:latin typeface="Calibri"/>
              </a:rPr>
              <a:t>👗  Suggerisce outfit</a:t>
            </a:r>
          </a:p>
          <a:p>
            <a:pPr algn="l">
              <a:spcAft>
                <a:spcPts val="200"/>
              </a:spcAft>
            </a:pPr>
            <a:r>
              <a:rPr sz="1000" b="0" i="0">
                <a:solidFill>
                  <a:srgbClr val="6B7182"/>
                </a:solidFill>
                <a:latin typeface="Calibri"/>
              </a:rPr>
              <a:t>Combina i capi che hai
con meteo + regole estetiche.</a:t>
            </a:r>
          </a:p>
          <a:p>
            <a:pPr algn="l">
              <a:spcAft>
                <a:spcPts val="400"/>
              </a:spcAft>
            </a:pPr>
            <a:r>
              <a:rPr sz="900" b="1" i="1">
                <a:solidFill>
                  <a:srgbClr val="4A6DDC"/>
                </a:solidFill>
                <a:latin typeface="Calibri"/>
              </a:rPr>
              <a:t>Regole + AI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89720" y="1920240"/>
            <a:ext cx="2788920" cy="1097280"/>
          </a:xfrm>
          <a:prstGeom prst="roundRect">
            <a:avLst/>
          </a:prstGeom>
          <a:solidFill>
            <a:srgbClr val="E0E8FA"/>
          </a:solidFill>
          <a:ln w="9525">
            <a:solidFill>
              <a:srgbClr val="4A6D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109728" rtlCol="0" anchor="ctr"/>
          <a:lstStyle/>
          <a:p>
            <a:pPr algn="l">
              <a:spcAft>
                <a:spcPts val="200"/>
              </a:spcAft>
            </a:pPr>
            <a:r>
              <a:rPr sz="1300" b="1" i="0">
                <a:solidFill>
                  <a:srgbClr val="1A1D27"/>
                </a:solidFill>
                <a:latin typeface="Calibri"/>
              </a:rPr>
              <a:t>🛠️  Diagnostica la condizione</a:t>
            </a:r>
          </a:p>
          <a:p>
            <a:pPr algn="l">
              <a:spcAft>
                <a:spcPts val="200"/>
              </a:spcAft>
            </a:pPr>
            <a:r>
              <a:rPr sz="1000" b="0" i="0">
                <a:solidFill>
                  <a:srgbClr val="6B7182"/>
                </a:solidFill>
                <a:latin typeface="Calibri"/>
              </a:rPr>
              <a:t>Capisce se un capo è nuovo,
buono, usurato o danneggiato.</a:t>
            </a:r>
          </a:p>
          <a:p>
            <a:pPr algn="l">
              <a:spcAft>
                <a:spcPts val="400"/>
              </a:spcAft>
            </a:pPr>
            <a:r>
              <a:rPr sz="900" b="1" i="1">
                <a:solidFill>
                  <a:srgbClr val="4A6DDC"/>
                </a:solidFill>
                <a:latin typeface="Calibri"/>
              </a:rPr>
              <a:t>Regole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127248"/>
            <a:ext cx="2788920" cy="1097280"/>
          </a:xfrm>
          <a:prstGeom prst="roundRect">
            <a:avLst/>
          </a:prstGeom>
          <a:solidFill>
            <a:srgbClr val="DCEFE7"/>
          </a:solidFill>
          <a:ln w="9525">
            <a:solidFill>
              <a:srgbClr val="2F8F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109728" rtlCol="0" anchor="ctr"/>
          <a:lstStyle/>
          <a:p>
            <a:pPr algn="l">
              <a:spcAft>
                <a:spcPts val="200"/>
              </a:spcAft>
            </a:pPr>
            <a:r>
              <a:rPr sz="1300" b="1" i="0">
                <a:solidFill>
                  <a:srgbClr val="1A1D27"/>
                </a:solidFill>
                <a:latin typeface="Calibri"/>
              </a:rPr>
              <a:t>✍️  Descrive il capo</a:t>
            </a:r>
          </a:p>
          <a:p>
            <a:pPr algn="l">
              <a:spcAft>
                <a:spcPts val="200"/>
              </a:spcAft>
            </a:pPr>
            <a:r>
              <a:rPr sz="1000" b="0" i="0">
                <a:solidFill>
                  <a:srgbClr val="6B7182"/>
                </a:solidFill>
                <a:latin typeface="Calibri"/>
              </a:rPr>
              <a:t>Scrive una breve descrizione
del capo in italiano.</a:t>
            </a:r>
          </a:p>
          <a:p>
            <a:pPr algn="l">
              <a:spcAft>
                <a:spcPts val="400"/>
              </a:spcAft>
            </a:pPr>
            <a:r>
              <a:rPr sz="900" b="1" i="1">
                <a:solidFill>
                  <a:srgbClr val="2F8F6E"/>
                </a:solidFill>
                <a:latin typeface="Calibri"/>
              </a:rPr>
              <a:t>AI generativa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29000" y="3127248"/>
            <a:ext cx="2788920" cy="1097280"/>
          </a:xfrm>
          <a:prstGeom prst="roundRect">
            <a:avLst/>
          </a:prstGeom>
          <a:solidFill>
            <a:srgbClr val="DCEFE7"/>
          </a:solidFill>
          <a:ln w="9525">
            <a:solidFill>
              <a:srgbClr val="2F8F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109728" rtlCol="0" anchor="ctr"/>
          <a:lstStyle/>
          <a:p>
            <a:pPr algn="l">
              <a:spcAft>
                <a:spcPts val="200"/>
              </a:spcAft>
            </a:pPr>
            <a:r>
              <a:rPr sz="1300" b="1" i="0">
                <a:solidFill>
                  <a:srgbClr val="1A1D27"/>
                </a:solidFill>
                <a:latin typeface="Calibri"/>
              </a:rPr>
              <a:t>💬  Coach sostenibilità</a:t>
            </a:r>
          </a:p>
          <a:p>
            <a:pPr algn="l">
              <a:spcAft>
                <a:spcPts val="200"/>
              </a:spcAft>
            </a:pPr>
            <a:r>
              <a:rPr sz="1000" b="0" i="0">
                <a:solidFill>
                  <a:srgbClr val="6B7182"/>
                </a:solidFill>
                <a:latin typeface="Calibri"/>
              </a:rPr>
              <a:t>Ti dà consigli personalizzati
sul tuo guardaroba.</a:t>
            </a:r>
          </a:p>
          <a:p>
            <a:pPr algn="l">
              <a:spcAft>
                <a:spcPts val="400"/>
              </a:spcAft>
            </a:pPr>
            <a:r>
              <a:rPr sz="900" b="1" i="1">
                <a:solidFill>
                  <a:srgbClr val="2F8F6E"/>
                </a:solidFill>
                <a:latin typeface="Calibri"/>
              </a:rPr>
              <a:t>AI generativa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09360" y="3127248"/>
            <a:ext cx="2788920" cy="1097280"/>
          </a:xfrm>
          <a:prstGeom prst="roundRect">
            <a:avLst/>
          </a:prstGeom>
          <a:solidFill>
            <a:srgbClr val="DCEFE7"/>
          </a:solidFill>
          <a:ln w="9525">
            <a:solidFill>
              <a:srgbClr val="2F8F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109728" rtlCol="0" anchor="ctr"/>
          <a:lstStyle/>
          <a:p>
            <a:pPr algn="l">
              <a:spcAft>
                <a:spcPts val="200"/>
              </a:spcAft>
            </a:pPr>
            <a:r>
              <a:rPr sz="1300" b="1" i="0">
                <a:solidFill>
                  <a:srgbClr val="1A1D27"/>
                </a:solidFill>
                <a:latin typeface="Calibri"/>
              </a:rPr>
              <a:t>📖  Tutorial riparazione</a:t>
            </a:r>
          </a:p>
          <a:p>
            <a:pPr algn="l">
              <a:spcAft>
                <a:spcPts val="200"/>
              </a:spcAft>
            </a:pPr>
            <a:r>
              <a:rPr sz="1000" b="0" i="0">
                <a:solidFill>
                  <a:srgbClr val="6B7182"/>
                </a:solidFill>
                <a:latin typeface="Calibri"/>
              </a:rPr>
              <a:t>Crea istruzioni passo-passo
per riparare il difetto.</a:t>
            </a:r>
          </a:p>
          <a:p>
            <a:pPr algn="l">
              <a:spcAft>
                <a:spcPts val="400"/>
              </a:spcAft>
            </a:pPr>
            <a:r>
              <a:rPr sz="900" b="1" i="1">
                <a:solidFill>
                  <a:srgbClr val="2F8F6E"/>
                </a:solidFill>
                <a:latin typeface="Calibri"/>
              </a:rPr>
              <a:t>AI generativa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89720" y="3127248"/>
            <a:ext cx="2788920" cy="1097280"/>
          </a:xfrm>
          <a:prstGeom prst="roundRect">
            <a:avLst/>
          </a:prstGeom>
          <a:solidFill>
            <a:srgbClr val="DCEFE7"/>
          </a:solidFill>
          <a:ln w="9525">
            <a:solidFill>
              <a:srgbClr val="2F8F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109728" rtlCol="0" anchor="ctr"/>
          <a:lstStyle/>
          <a:p>
            <a:pPr algn="l">
              <a:spcAft>
                <a:spcPts val="200"/>
              </a:spcAft>
            </a:pPr>
            <a:r>
              <a:rPr sz="1300" b="1" i="0">
                <a:solidFill>
                  <a:srgbClr val="1A1D27"/>
                </a:solidFill>
                <a:latin typeface="Calibri"/>
              </a:rPr>
              <a:t>🪞  Prova virtuale (try-on)</a:t>
            </a:r>
          </a:p>
          <a:p>
            <a:pPr algn="l">
              <a:spcAft>
                <a:spcPts val="200"/>
              </a:spcAft>
            </a:pPr>
            <a:r>
              <a:rPr sz="1000" b="0" i="0">
                <a:solidFill>
                  <a:srgbClr val="6B7182"/>
                </a:solidFill>
                <a:latin typeface="Calibri"/>
              </a:rPr>
              <a:t>Genera un'immagine di te
che indossi il capo.</a:t>
            </a:r>
          </a:p>
          <a:p>
            <a:pPr algn="l">
              <a:spcAft>
                <a:spcPts val="400"/>
              </a:spcAft>
            </a:pPr>
            <a:r>
              <a:rPr sz="900" b="1" i="1">
                <a:solidFill>
                  <a:srgbClr val="2F8F6E"/>
                </a:solidFill>
                <a:latin typeface="Calibri"/>
              </a:rPr>
              <a:t>AI generativa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389120"/>
            <a:ext cx="11247120" cy="18288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C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109728" rtlCol="0" anchor="ctr"/>
          <a:lstStyle/>
          <a:p>
            <a:pPr algn="l">
              <a:spcAft>
                <a:spcPts val="800"/>
              </a:spcAft>
            </a:pPr>
            <a:r>
              <a:rPr sz="1500" b="1" i="0" dirty="0">
                <a:solidFill>
                  <a:srgbClr val="1A1D27"/>
                </a:solidFill>
                <a:latin typeface="Calibri"/>
              </a:rPr>
              <a:t>Due tipi di AI, due </a:t>
            </a:r>
            <a:r>
              <a:rPr sz="1500" b="1" i="0" dirty="0" err="1">
                <a:solidFill>
                  <a:srgbClr val="1A1D27"/>
                </a:solidFill>
                <a:latin typeface="Calibri"/>
              </a:rPr>
              <a:t>ruoli</a:t>
            </a:r>
            <a:r>
              <a:rPr sz="1500" b="1" i="0" dirty="0">
                <a:solidFill>
                  <a:srgbClr val="1A1D27"/>
                </a:solidFill>
                <a:latin typeface="Calibri"/>
              </a:rPr>
              <a:t> ben </a:t>
            </a:r>
            <a:r>
              <a:rPr sz="1500" b="1" i="0" dirty="0" err="1">
                <a:solidFill>
                  <a:srgbClr val="1A1D27"/>
                </a:solidFill>
                <a:latin typeface="Calibri"/>
              </a:rPr>
              <a:t>distinti</a:t>
            </a:r>
            <a:r>
              <a:rPr sz="1500" b="1" i="0" dirty="0">
                <a:solidFill>
                  <a:srgbClr val="1A1D27"/>
                </a:solidFill>
                <a:latin typeface="Calibri"/>
              </a:rPr>
              <a:t>:</a:t>
            </a:r>
          </a:p>
          <a:p>
            <a:pPr algn="l">
              <a:spcAft>
                <a:spcPts val="400"/>
              </a:spcAft>
            </a:pPr>
            <a:r>
              <a:rPr sz="1300" b="0" i="0" dirty="0">
                <a:solidFill>
                  <a:srgbClr val="4A6DDC"/>
                </a:solidFill>
                <a:latin typeface="Calibri"/>
              </a:rPr>
              <a:t>🟦  AI </a:t>
            </a:r>
            <a:r>
              <a:rPr sz="1300" b="0" i="0" dirty="0" err="1">
                <a:solidFill>
                  <a:srgbClr val="4A6DDC"/>
                </a:solidFill>
                <a:latin typeface="Calibri"/>
              </a:rPr>
              <a:t>applicata</a:t>
            </a:r>
            <a:r>
              <a:rPr sz="1300" b="0" i="0" dirty="0">
                <a:solidFill>
                  <a:srgbClr val="4A6DDC"/>
                </a:solidFill>
                <a:latin typeface="Calibri"/>
              </a:rPr>
              <a:t>  → </a:t>
            </a:r>
            <a:r>
              <a:rPr sz="1300" b="0" i="0" dirty="0" err="1">
                <a:solidFill>
                  <a:srgbClr val="4A6DDC"/>
                </a:solidFill>
                <a:latin typeface="Calibri"/>
              </a:rPr>
              <a:t>riconoscere</a:t>
            </a:r>
            <a:r>
              <a:rPr sz="1300" b="0" i="0" dirty="0">
                <a:solidFill>
                  <a:srgbClr val="4A6DDC"/>
                </a:solidFill>
                <a:latin typeface="Calibri"/>
              </a:rPr>
              <a:t>, </a:t>
            </a:r>
            <a:r>
              <a:rPr sz="1300" b="0" i="0" dirty="0" err="1">
                <a:solidFill>
                  <a:srgbClr val="4A6DDC"/>
                </a:solidFill>
                <a:latin typeface="Calibri"/>
              </a:rPr>
              <a:t>classificare</a:t>
            </a:r>
            <a:r>
              <a:rPr sz="1300" b="0" i="0" dirty="0">
                <a:solidFill>
                  <a:srgbClr val="4A6DDC"/>
                </a:solidFill>
                <a:latin typeface="Calibri"/>
              </a:rPr>
              <a:t>, dare </a:t>
            </a:r>
            <a:r>
              <a:rPr sz="1300" b="0" i="0" dirty="0" err="1">
                <a:solidFill>
                  <a:srgbClr val="4A6DDC"/>
                </a:solidFill>
                <a:latin typeface="Calibri"/>
              </a:rPr>
              <a:t>suggerimenti</a:t>
            </a:r>
            <a:r>
              <a:rPr sz="1300" b="0" i="0" dirty="0">
                <a:solidFill>
                  <a:srgbClr val="4A6DDC"/>
                </a:solidFill>
                <a:latin typeface="Calibri"/>
              </a:rPr>
              <a:t> </a:t>
            </a:r>
            <a:r>
              <a:rPr sz="1300" b="0" i="0" dirty="0" err="1">
                <a:solidFill>
                  <a:srgbClr val="4A6DDC"/>
                </a:solidFill>
                <a:latin typeface="Calibri"/>
              </a:rPr>
              <a:t>basati</a:t>
            </a:r>
            <a:r>
              <a:rPr sz="1300" b="0" i="0" dirty="0">
                <a:solidFill>
                  <a:srgbClr val="4A6DDC"/>
                </a:solidFill>
                <a:latin typeface="Calibri"/>
              </a:rPr>
              <a:t> </a:t>
            </a:r>
            <a:r>
              <a:rPr sz="1300" b="0" i="0" dirty="0" err="1">
                <a:solidFill>
                  <a:srgbClr val="4A6DDC"/>
                </a:solidFill>
                <a:latin typeface="Calibri"/>
              </a:rPr>
              <a:t>su</a:t>
            </a:r>
            <a:r>
              <a:rPr sz="1300" b="0" i="0" dirty="0">
                <a:solidFill>
                  <a:srgbClr val="4A6DDC"/>
                </a:solidFill>
                <a:latin typeface="Calibri"/>
              </a:rPr>
              <a:t> </a:t>
            </a:r>
            <a:r>
              <a:rPr sz="1300" b="0" i="0" dirty="0" err="1">
                <a:solidFill>
                  <a:srgbClr val="4A6DDC"/>
                </a:solidFill>
                <a:latin typeface="Calibri"/>
              </a:rPr>
              <a:t>regole</a:t>
            </a:r>
            <a:r>
              <a:rPr sz="1300" b="0" i="0" dirty="0">
                <a:solidFill>
                  <a:srgbClr val="4A6DDC"/>
                </a:solidFill>
                <a:latin typeface="Calibri"/>
              </a:rPr>
              <a:t>.</a:t>
            </a:r>
          </a:p>
          <a:p>
            <a:pPr algn="l">
              <a:spcAft>
                <a:spcPts val="600"/>
              </a:spcAft>
            </a:pPr>
            <a:r>
              <a:rPr sz="1300" b="0" i="0" dirty="0">
                <a:solidFill>
                  <a:srgbClr val="2F8F6E"/>
                </a:solidFill>
                <a:latin typeface="Calibri"/>
              </a:rPr>
              <a:t>🟩  AI </a:t>
            </a:r>
            <a:r>
              <a:rPr sz="1300" b="0" i="0" dirty="0" err="1">
                <a:solidFill>
                  <a:srgbClr val="2F8F6E"/>
                </a:solidFill>
                <a:latin typeface="Calibri"/>
              </a:rPr>
              <a:t>generativa</a:t>
            </a:r>
            <a:r>
              <a:rPr sz="1300" b="0" i="0" dirty="0">
                <a:solidFill>
                  <a:srgbClr val="2F8F6E"/>
                </a:solidFill>
                <a:latin typeface="Calibri"/>
              </a:rPr>
              <a:t>  → </a:t>
            </a:r>
            <a:r>
              <a:rPr sz="1300" b="0" i="0" dirty="0" err="1">
                <a:solidFill>
                  <a:srgbClr val="2F8F6E"/>
                </a:solidFill>
                <a:latin typeface="Calibri"/>
              </a:rPr>
              <a:t>produrre</a:t>
            </a:r>
            <a:r>
              <a:rPr sz="1300" b="0" i="0" dirty="0">
                <a:solidFill>
                  <a:srgbClr val="2F8F6E"/>
                </a:solidFill>
                <a:latin typeface="Calibri"/>
              </a:rPr>
              <a:t> </a:t>
            </a:r>
            <a:r>
              <a:rPr sz="1300" b="0" i="0" dirty="0" err="1">
                <a:solidFill>
                  <a:srgbClr val="2F8F6E"/>
                </a:solidFill>
                <a:latin typeface="Calibri"/>
              </a:rPr>
              <a:t>nuovi</a:t>
            </a:r>
            <a:r>
              <a:rPr sz="1300" b="0" i="0" dirty="0">
                <a:solidFill>
                  <a:srgbClr val="2F8F6E"/>
                </a:solidFill>
                <a:latin typeface="Calibri"/>
              </a:rPr>
              <a:t> </a:t>
            </a:r>
            <a:r>
              <a:rPr sz="1300" b="0" i="0" dirty="0" err="1">
                <a:solidFill>
                  <a:srgbClr val="2F8F6E"/>
                </a:solidFill>
                <a:latin typeface="Calibri"/>
              </a:rPr>
              <a:t>contenuti</a:t>
            </a:r>
            <a:r>
              <a:rPr sz="1300" b="0" i="0" dirty="0">
                <a:solidFill>
                  <a:srgbClr val="2F8F6E"/>
                </a:solidFill>
                <a:latin typeface="Calibri"/>
              </a:rPr>
              <a:t> (</a:t>
            </a:r>
            <a:r>
              <a:rPr sz="1300" b="0" i="0" dirty="0" err="1">
                <a:solidFill>
                  <a:srgbClr val="2F8F6E"/>
                </a:solidFill>
                <a:latin typeface="Calibri"/>
              </a:rPr>
              <a:t>testi</a:t>
            </a:r>
            <a:r>
              <a:rPr sz="1300" b="0" i="0" dirty="0">
                <a:solidFill>
                  <a:srgbClr val="2F8F6E"/>
                </a:solidFill>
                <a:latin typeface="Calibri"/>
              </a:rPr>
              <a:t>, </a:t>
            </a:r>
            <a:r>
              <a:rPr sz="1300" b="0" i="0" dirty="0" err="1">
                <a:solidFill>
                  <a:srgbClr val="2F8F6E"/>
                </a:solidFill>
                <a:latin typeface="Calibri"/>
              </a:rPr>
              <a:t>immagini</a:t>
            </a:r>
            <a:r>
              <a:rPr sz="1300" b="0" i="0" dirty="0">
                <a:solidFill>
                  <a:srgbClr val="2F8F6E"/>
                </a:solidFill>
                <a:latin typeface="Calibri"/>
              </a:rPr>
              <a:t>) </a:t>
            </a:r>
            <a:r>
              <a:rPr sz="1300" b="0" i="0" dirty="0" err="1">
                <a:solidFill>
                  <a:srgbClr val="2F8F6E"/>
                </a:solidFill>
                <a:latin typeface="Calibri"/>
              </a:rPr>
              <a:t>personalizzati</a:t>
            </a:r>
            <a:r>
              <a:rPr sz="1300" b="0" i="0" dirty="0">
                <a:solidFill>
                  <a:srgbClr val="2F8F6E"/>
                </a:solidFill>
                <a:latin typeface="Calibri"/>
              </a:rPr>
              <a:t> per </a:t>
            </a:r>
            <a:r>
              <a:rPr sz="1300" b="0" i="0" dirty="0" err="1">
                <a:solidFill>
                  <a:srgbClr val="2F8F6E"/>
                </a:solidFill>
                <a:latin typeface="Calibri"/>
              </a:rPr>
              <a:t>te</a:t>
            </a:r>
            <a:r>
              <a:rPr sz="1300" b="0" i="0" dirty="0">
                <a:solidFill>
                  <a:srgbClr val="2F8F6E"/>
                </a:solidFill>
                <a:latin typeface="Calibri"/>
              </a:rPr>
              <a:t>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492240"/>
            <a:ext cx="10058400" cy="1384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0" i="0" dirty="0" err="1">
                <a:solidFill>
                  <a:srgbClr val="6B7182"/>
                </a:solidFill>
                <a:latin typeface="Calibri"/>
              </a:rPr>
              <a:t>ClosetAI</a:t>
            </a:r>
            <a:r>
              <a:rPr sz="900" b="0" i="0" dirty="0">
                <a:solidFill>
                  <a:srgbClr val="6B7182"/>
                </a:solidFill>
                <a:latin typeface="Calibri"/>
              </a:rPr>
              <a:t> · Design per </a:t>
            </a:r>
            <a:r>
              <a:rPr sz="900" b="0" i="0" dirty="0" err="1">
                <a:solidFill>
                  <a:srgbClr val="6B7182"/>
                </a:solidFill>
                <a:latin typeface="Calibri"/>
              </a:rPr>
              <a:t>l'innovazione</a:t>
            </a:r>
            <a:r>
              <a:rPr sz="900" b="0" i="0" dirty="0">
                <a:solidFill>
                  <a:srgbClr val="6B7182"/>
                </a:solidFill>
                <a:latin typeface="Calibri"/>
              </a:rPr>
              <a:t> </a:t>
            </a:r>
            <a:r>
              <a:rPr sz="900" b="0" i="0" dirty="0" err="1">
                <a:solidFill>
                  <a:srgbClr val="6B7182"/>
                </a:solidFill>
                <a:latin typeface="Calibri"/>
              </a:rPr>
              <a:t>sostenibile</a:t>
            </a:r>
            <a:endParaRPr sz="900" b="0" i="0" dirty="0">
              <a:solidFill>
                <a:srgbClr val="6B7182"/>
              </a:solidFill>
              <a:latin typeface="Calibri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 i="0">
                <a:solidFill>
                  <a:srgbClr val="6B7182"/>
                </a:solidFill>
                <a:latin typeface="Calibri"/>
              </a:rPr>
              <a:t>7 / 14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09728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4A6DDC"/>
                </a:solidFill>
                <a:latin typeface="Calibri"/>
              </a:rPr>
              <a:t>06 · WORKFLOW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09728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200" b="1" i="0">
                <a:solidFill>
                  <a:srgbClr val="1A1D27"/>
                </a:solidFill>
                <a:latin typeface="Calibri"/>
              </a:rPr>
              <a:t>Come ho usato l'AI generativa per costruire il progetto.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0" i="1">
                <a:solidFill>
                  <a:srgbClr val="6B7182"/>
                </a:solidFill>
                <a:latin typeface="Calibri"/>
              </a:rPr>
              <a:t>Strumenti, prompt, confronto e (sì) allucinazioni incontrate.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600200"/>
            <a:ext cx="731520" cy="30000"/>
          </a:xfrm>
          <a:prstGeom prst="rect">
            <a:avLst/>
          </a:prstGeom>
          <a:solidFill>
            <a:srgbClr val="4A6D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548640" y="1920240"/>
            <a:ext cx="5486400" cy="42976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C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109728" rtlCol="0" anchor="ctr"/>
          <a:lstStyle/>
          <a:p>
            <a:pPr algn="l">
              <a:spcAft>
                <a:spcPts val="800"/>
              </a:spcAft>
            </a:pPr>
            <a:r>
              <a:rPr sz="1100" b="1" i="0">
                <a:solidFill>
                  <a:srgbClr val="4A6DDC"/>
                </a:solidFill>
                <a:latin typeface="Calibri"/>
              </a:rPr>
              <a:t>STRUMENTI USATI</a:t>
            </a:r>
          </a:p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1A1D27"/>
                </a:solidFill>
                <a:latin typeface="Calibri"/>
              </a:rPr>
              <a:t>Claude (Anthropic)</a:t>
            </a:r>
          </a:p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6B7182"/>
                </a:solidFill>
                <a:latin typeface="Calibri"/>
              </a:rPr>
              <a:t>Codice, design dell'architettura,</a:t>
            </a:r>
          </a:p>
          <a:p>
            <a:pPr algn="l">
              <a:spcAft>
                <a:spcPts val="1000"/>
              </a:spcAft>
            </a:pPr>
            <a:r>
              <a:rPr sz="1100" b="0" i="0">
                <a:solidFill>
                  <a:srgbClr val="6B7182"/>
                </a:solidFill>
                <a:latin typeface="Calibri"/>
              </a:rPr>
              <a:t>scrittura della documentazione.</a:t>
            </a:r>
          </a:p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1A1D27"/>
                </a:solidFill>
                <a:latin typeface="Calibri"/>
              </a:rPr>
              <a:t>Fashion-CLIP (HuggingFace)</a:t>
            </a:r>
          </a:p>
          <a:p>
            <a:pPr algn="l">
              <a:spcAft>
                <a:spcPts val="1000"/>
              </a:spcAft>
            </a:pPr>
            <a:r>
              <a:rPr sz="1100" b="0" i="0">
                <a:solidFill>
                  <a:srgbClr val="6B7182"/>
                </a:solidFill>
                <a:latin typeface="Calibri"/>
              </a:rPr>
              <a:t>Modello pre-addestrato che riconosce i capi.</a:t>
            </a:r>
          </a:p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1A1D27"/>
                </a:solidFill>
                <a:latin typeface="Calibri"/>
              </a:rPr>
              <a:t>Stable Diffusion (HuggingFace)</a:t>
            </a:r>
          </a:p>
          <a:p>
            <a:pPr algn="l">
              <a:spcAft>
                <a:spcPts val="1000"/>
              </a:spcAft>
            </a:pPr>
            <a:r>
              <a:rPr sz="1100" b="0" i="0">
                <a:solidFill>
                  <a:srgbClr val="6B7182"/>
                </a:solidFill>
                <a:latin typeface="Calibri"/>
              </a:rPr>
              <a:t>Modello generativo per il try-on virtuale.</a:t>
            </a:r>
          </a:p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1A1D27"/>
                </a:solidFill>
                <a:latin typeface="Calibri"/>
              </a:rPr>
              <a:t>python-pptx + Claude</a:t>
            </a:r>
          </a:p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6B7182"/>
                </a:solidFill>
                <a:latin typeface="Calibri"/>
              </a:rPr>
              <a:t>Questa stessa presentazione è generata</a:t>
            </a:r>
          </a:p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6B7182"/>
                </a:solidFill>
                <a:latin typeface="Calibri"/>
              </a:rPr>
              <a:t>automaticamente da uno script.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1920240"/>
            <a:ext cx="5486400" cy="2057400"/>
          </a:xfrm>
          <a:prstGeom prst="roundRect">
            <a:avLst/>
          </a:prstGeom>
          <a:solidFill>
            <a:srgbClr val="E0E8FA"/>
          </a:solidFill>
          <a:ln w="9525">
            <a:solidFill>
              <a:srgbClr val="4A6D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109728" rtlCol="0" anchor="ctr"/>
          <a:lstStyle/>
          <a:p>
            <a:pPr algn="l">
              <a:spcAft>
                <a:spcPts val="600"/>
              </a:spcAft>
            </a:pPr>
            <a:r>
              <a:rPr sz="1100" b="1" i="0">
                <a:solidFill>
                  <a:srgbClr val="4A6DDC"/>
                </a:solidFill>
                <a:latin typeface="Calibri"/>
              </a:rPr>
              <a:t>CONFRONTO ALTERNATIVE</a:t>
            </a:r>
          </a:p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1A1D27"/>
                </a:solidFill>
                <a:latin typeface="Calibri"/>
              </a:rPr>
              <a:t>Cloud (Claude, OpenAI) vs Locale (Ollama):</a:t>
            </a:r>
          </a:p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6B7182"/>
                </a:solidFill>
                <a:latin typeface="Calibri"/>
              </a:rPr>
              <a:t>→ cloud = qualità superiore</a:t>
            </a:r>
          </a:p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6B7182"/>
                </a:solidFill>
                <a:latin typeface="Calibri"/>
              </a:rPr>
              <a:t>→ locale = privacy + zero costi</a:t>
            </a:r>
          </a:p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1A1D27"/>
                </a:solidFill>
                <a:latin typeface="Calibri"/>
              </a:rPr>
              <a:t>Fashion-CLIP vs CLIP generico:</a:t>
            </a:r>
          </a:p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6B7182"/>
                </a:solidFill>
                <a:latin typeface="Calibri"/>
              </a:rPr>
              <a:t>→ il primo conosce 700k immagini di moda,</a:t>
            </a:r>
          </a:p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6B7182"/>
                </a:solidFill>
                <a:latin typeface="Calibri"/>
              </a:rPr>
              <a:t>riconosce molto meglio i capi.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4160520"/>
            <a:ext cx="5486400" cy="2057400"/>
          </a:xfrm>
          <a:prstGeom prst="roundRect">
            <a:avLst/>
          </a:prstGeom>
          <a:solidFill>
            <a:srgbClr val="DCEFE7"/>
          </a:solidFill>
          <a:ln w="9525">
            <a:solidFill>
              <a:srgbClr val="C94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109728" rtlCol="0" anchor="ctr"/>
          <a:lstStyle/>
          <a:p>
            <a:pPr algn="l">
              <a:spcAft>
                <a:spcPts val="600"/>
              </a:spcAft>
            </a:pPr>
            <a:r>
              <a:rPr sz="1100" b="1" i="0">
                <a:solidFill>
                  <a:srgbClr val="C94A5C"/>
                </a:solidFill>
                <a:latin typeface="Calibri"/>
              </a:rPr>
              <a:t>ALLUCINAZIONI INCONTRATE</a:t>
            </a:r>
          </a:p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1A1D27"/>
                </a:solidFill>
                <a:latin typeface="Calibri"/>
              </a:rPr>
              <a:t>• AI che propone materiali poco realistici</a:t>
            </a:r>
          </a:p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6B7182"/>
                </a:solidFill>
                <a:latin typeface="Calibri"/>
              </a:rPr>
              <a:t>  per riparare una zip (es. colla termica)</a:t>
            </a:r>
          </a:p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1A1D27"/>
                </a:solidFill>
                <a:latin typeface="Calibri"/>
              </a:rPr>
              <a:t>• AI che inventa funzioni del linguaggio</a:t>
            </a:r>
          </a:p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6B7182"/>
                </a:solidFill>
                <a:latin typeface="Calibri"/>
              </a:rPr>
              <a:t>  TypeScript non ancora disponibili</a:t>
            </a:r>
          </a:p>
          <a:p>
            <a:pPr algn="l">
              <a:spcAft>
                <a:spcPts val="200"/>
              </a:spcAft>
            </a:pPr>
            <a:r>
              <a:rPr sz="1100" b="0" i="1">
                <a:solidFill>
                  <a:srgbClr val="6B7182"/>
                </a:solidFill>
                <a:latin typeface="Calibri"/>
              </a:rPr>
              <a:t>Soluzione: verifica umana + fallback su una</a:t>
            </a:r>
          </a:p>
          <a:p>
            <a:pPr algn="l">
              <a:spcAft>
                <a:spcPts val="400"/>
              </a:spcAft>
            </a:pPr>
            <a:r>
              <a:rPr sz="1100" b="0" i="1">
                <a:solidFill>
                  <a:srgbClr val="6B7182"/>
                </a:solidFill>
                <a:latin typeface="Calibri"/>
              </a:rPr>
              <a:t>base di tutorial 'sicuri' scritti a mano.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92240"/>
            <a:ext cx="10058400" cy="1384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0" i="0" dirty="0" err="1">
                <a:solidFill>
                  <a:srgbClr val="6B7182"/>
                </a:solidFill>
                <a:latin typeface="Calibri"/>
              </a:rPr>
              <a:t>ClosetAI</a:t>
            </a:r>
            <a:r>
              <a:rPr sz="900" b="0" i="0" dirty="0">
                <a:solidFill>
                  <a:srgbClr val="6B7182"/>
                </a:solidFill>
                <a:latin typeface="Calibri"/>
              </a:rPr>
              <a:t> · Design per </a:t>
            </a:r>
            <a:r>
              <a:rPr sz="900" b="0" i="0" dirty="0" err="1">
                <a:solidFill>
                  <a:srgbClr val="6B7182"/>
                </a:solidFill>
                <a:latin typeface="Calibri"/>
              </a:rPr>
              <a:t>l'innovazione</a:t>
            </a:r>
            <a:r>
              <a:rPr sz="900" b="0" i="0" dirty="0">
                <a:solidFill>
                  <a:srgbClr val="6B7182"/>
                </a:solidFill>
                <a:latin typeface="Calibri"/>
              </a:rPr>
              <a:t> </a:t>
            </a:r>
            <a:r>
              <a:rPr sz="900" b="0" i="0" dirty="0" err="1">
                <a:solidFill>
                  <a:srgbClr val="6B7182"/>
                </a:solidFill>
                <a:latin typeface="Calibri"/>
              </a:rPr>
              <a:t>sostenibile</a:t>
            </a:r>
            <a:endParaRPr sz="900" b="0" i="0" dirty="0">
              <a:solidFill>
                <a:srgbClr val="6B7182"/>
              </a:solidFill>
              <a:latin typeface="Calibri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 i="0">
                <a:solidFill>
                  <a:srgbClr val="6B7182"/>
                </a:solidFill>
                <a:latin typeface="Calibri"/>
              </a:rPr>
              <a:t>8 / 14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09728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4A6DDC"/>
                </a:solidFill>
                <a:latin typeface="Calibri"/>
              </a:rPr>
              <a:t>07A · ML APPLICATO — MODELLO PRE-ADDESTRATO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09728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200" b="1" i="0">
                <a:solidFill>
                  <a:srgbClr val="1A1D27"/>
                </a:solidFill>
                <a:latin typeface="Calibri"/>
              </a:rPr>
              <a:t>Riconoscere il capo (Fashion-CLIP)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0" i="1">
                <a:solidFill>
                  <a:srgbClr val="6B7182"/>
                </a:solidFill>
                <a:latin typeface="Calibri"/>
              </a:rPr>
              <a:t>Un modello vision già addestrato che adattiamo al nostro guardaroba.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600200"/>
            <a:ext cx="731520" cy="30000"/>
          </a:xfrm>
          <a:prstGeom prst="rect">
            <a:avLst/>
          </a:prstGeom>
          <a:solidFill>
            <a:srgbClr val="4A6D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548640" y="1920240"/>
            <a:ext cx="5486400" cy="2103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4A6D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109728" rtlCol="0" anchor="ctr"/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4A6DDC"/>
                </a:solidFill>
                <a:latin typeface="Calibri"/>
              </a:rPr>
              <a:t>MODELLO</a:t>
            </a:r>
          </a:p>
          <a:p>
            <a:pPr algn="l">
              <a:spcAft>
                <a:spcPts val="600"/>
              </a:spcAft>
            </a:pPr>
            <a:r>
              <a:rPr sz="2200" b="1" i="0">
                <a:solidFill>
                  <a:srgbClr val="1A1D27"/>
                </a:solidFill>
                <a:latin typeface="Calibri"/>
              </a:rPr>
              <a:t>Fashion-CLIP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6B7182"/>
                </a:solidFill>
                <a:latin typeface="Calibri"/>
              </a:rPr>
              <a:t>Sviluppato da Patrick John Chia (2023), pre-addestrato</a:t>
            </a:r>
          </a:p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6B7182"/>
                </a:solidFill>
                <a:latin typeface="Calibri"/>
              </a:rPr>
              <a:t>su 700.000 immagini di capi di abbigliamento.</a:t>
            </a:r>
          </a:p>
          <a:p>
            <a:pPr algn="l">
              <a:spcAft>
                <a:spcPts val="400"/>
              </a:spcAft>
            </a:pPr>
            <a:r>
              <a:rPr sz="1200" b="0" i="1">
                <a:solidFill>
                  <a:srgbClr val="2F8F6E"/>
                </a:solidFill>
                <a:latin typeface="Calibri"/>
              </a:rPr>
              <a:t>Open-source, gratuito, scaricabile da HuggingFace.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1920240"/>
            <a:ext cx="5486400" cy="2103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4A6D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109728" rtlCol="0" anchor="ctr"/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4A6DDC"/>
                </a:solidFill>
                <a:latin typeface="Calibri"/>
              </a:rPr>
              <a:t>OBIETTIVO</a:t>
            </a:r>
          </a:p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1A1D27"/>
                </a:solidFill>
                <a:latin typeface="Calibri"/>
              </a:rPr>
              <a:t>Classificazione zero-shot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6B7182"/>
                </a:solidFill>
                <a:latin typeface="Calibri"/>
              </a:rPr>
              <a:t>Una foto in ingresso → l'AI decide a quale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6B7182"/>
                </a:solidFill>
                <a:latin typeface="Calibri"/>
              </a:rPr>
              <a:t>delle 14 categorie appartiene (t-shirt, jeans,</a:t>
            </a:r>
          </a:p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6B7182"/>
                </a:solidFill>
                <a:latin typeface="Calibri"/>
              </a:rPr>
              <a:t>camicia, vestito, scarpe, …) e quanto è sicura.</a:t>
            </a:r>
          </a:p>
          <a:p>
            <a:pPr algn="l">
              <a:spcAft>
                <a:spcPts val="400"/>
              </a:spcAft>
            </a:pPr>
            <a:r>
              <a:rPr sz="1200" b="0" i="1">
                <a:solidFill>
                  <a:srgbClr val="2F8F6E"/>
                </a:solidFill>
                <a:latin typeface="Calibri"/>
              </a:rPr>
              <a:t>Non serve riaddestrare: le categorie le scelgo io.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251960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1" i="0">
                <a:solidFill>
                  <a:srgbClr val="1A1D27"/>
                </a:solidFill>
                <a:latin typeface="Calibri"/>
              </a:rPr>
              <a:t>Il flusso, semplificato: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4754880"/>
            <a:ext cx="2468880" cy="1371600"/>
          </a:xfrm>
          <a:prstGeom prst="roundRect">
            <a:avLst/>
          </a:prstGeom>
          <a:solidFill>
            <a:srgbClr val="E0E8FA"/>
          </a:solidFill>
          <a:ln w="9525">
            <a:solidFill>
              <a:srgbClr val="4A6D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109728" rtlCol="0" anchor="ctr"/>
          <a:lstStyle/>
          <a:p>
            <a:pPr algn="ctr">
              <a:spcAft>
                <a:spcPts val="200"/>
              </a:spcAft>
            </a:pPr>
            <a:r>
              <a:rPr sz="2800" b="0" i="0">
                <a:solidFill>
                  <a:srgbClr val="4A6DDC"/>
                </a:solidFill>
                <a:latin typeface="Calibri"/>
              </a:rPr>
              <a:t>📷</a:t>
            </a:r>
          </a:p>
          <a:p>
            <a:pPr algn="ctr">
              <a:spcAft>
                <a:spcPts val="400"/>
              </a:spcAft>
            </a:pPr>
            <a:r>
              <a:rPr sz="1100" b="0" i="0">
                <a:solidFill>
                  <a:srgbClr val="1A1D27"/>
                </a:solidFill>
                <a:latin typeface="Calibri"/>
              </a:rPr>
              <a:t>Foto del capo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063240" y="5349240"/>
            <a:ext cx="182880" cy="274320"/>
          </a:xfrm>
          <a:prstGeom prst="rightArrow">
            <a:avLst/>
          </a:prstGeom>
          <a:solidFill>
            <a:srgbClr val="4A6D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3291840" y="4754880"/>
            <a:ext cx="2468880" cy="1371600"/>
          </a:xfrm>
          <a:prstGeom prst="roundRect">
            <a:avLst/>
          </a:prstGeom>
          <a:solidFill>
            <a:srgbClr val="E0E8FA"/>
          </a:solidFill>
          <a:ln w="9525">
            <a:solidFill>
              <a:srgbClr val="4A6D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109728" rtlCol="0" anchor="ctr"/>
          <a:lstStyle/>
          <a:p>
            <a:pPr algn="ctr">
              <a:spcAft>
                <a:spcPts val="200"/>
              </a:spcAft>
            </a:pPr>
            <a:r>
              <a:rPr sz="2800" b="0" i="0">
                <a:solidFill>
                  <a:srgbClr val="4A6DDC"/>
                </a:solidFill>
                <a:latin typeface="Calibri"/>
              </a:rPr>
              <a:t>🧠</a:t>
            </a:r>
          </a:p>
          <a:p>
            <a:pPr algn="ctr">
              <a:spcAft>
                <a:spcPts val="400"/>
              </a:spcAft>
            </a:pPr>
            <a:r>
              <a:rPr sz="1100" b="0" i="0">
                <a:solidFill>
                  <a:srgbClr val="1A1D27"/>
                </a:solidFill>
                <a:latin typeface="Calibri"/>
              </a:rPr>
              <a:t>Fashion-CLIP la 'guarda'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5806440" y="5349240"/>
            <a:ext cx="182880" cy="274320"/>
          </a:xfrm>
          <a:prstGeom prst="rightArrow">
            <a:avLst/>
          </a:prstGeom>
          <a:solidFill>
            <a:srgbClr val="4A6D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6035040" y="4754880"/>
            <a:ext cx="2468880" cy="1371600"/>
          </a:xfrm>
          <a:prstGeom prst="roundRect">
            <a:avLst/>
          </a:prstGeom>
          <a:solidFill>
            <a:srgbClr val="E0E8FA"/>
          </a:solidFill>
          <a:ln w="9525">
            <a:solidFill>
              <a:srgbClr val="4A6D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109728" rtlCol="0" anchor="ctr"/>
          <a:lstStyle/>
          <a:p>
            <a:pPr algn="ctr">
              <a:spcAft>
                <a:spcPts val="200"/>
              </a:spcAft>
            </a:pPr>
            <a:r>
              <a:rPr sz="2800" b="0" i="0">
                <a:solidFill>
                  <a:srgbClr val="4A6DDC"/>
                </a:solidFill>
                <a:latin typeface="Calibri"/>
              </a:rPr>
              <a:t>🏷️</a:t>
            </a:r>
          </a:p>
          <a:p>
            <a:pPr algn="ctr">
              <a:spcAft>
                <a:spcPts val="400"/>
              </a:spcAft>
            </a:pPr>
            <a:r>
              <a:rPr sz="1100" b="0" i="0">
                <a:solidFill>
                  <a:srgbClr val="1A1D27"/>
                </a:solidFill>
                <a:latin typeface="Calibri"/>
              </a:rPr>
              <a:t>Restituisce: categoria,
colore, confidenza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8549640" y="5349240"/>
            <a:ext cx="182880" cy="274320"/>
          </a:xfrm>
          <a:prstGeom prst="rightArrow">
            <a:avLst/>
          </a:prstGeom>
          <a:solidFill>
            <a:srgbClr val="4A6D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8778240" y="4754880"/>
            <a:ext cx="2468880" cy="1371600"/>
          </a:xfrm>
          <a:prstGeom prst="roundRect">
            <a:avLst/>
          </a:prstGeom>
          <a:solidFill>
            <a:srgbClr val="E0E8FA"/>
          </a:solidFill>
          <a:ln w="9525">
            <a:solidFill>
              <a:srgbClr val="4A6D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109728" rtlCol="0" anchor="ctr"/>
          <a:lstStyle/>
          <a:p>
            <a:pPr algn="ctr">
              <a:spcAft>
                <a:spcPts val="200"/>
              </a:spcAft>
            </a:pPr>
            <a:r>
              <a:rPr sz="2800" b="0" i="0">
                <a:solidFill>
                  <a:srgbClr val="4A6DDC"/>
                </a:solidFill>
                <a:latin typeface="Calibri"/>
              </a:rPr>
              <a:t>💾</a:t>
            </a:r>
          </a:p>
          <a:p>
            <a:pPr algn="ctr">
              <a:spcAft>
                <a:spcPts val="400"/>
              </a:spcAft>
            </a:pPr>
            <a:r>
              <a:rPr sz="1100" b="0" i="0">
                <a:solidFill>
                  <a:srgbClr val="1A1D27"/>
                </a:solidFill>
                <a:latin typeface="Calibri"/>
              </a:rPr>
              <a:t>Salvo nel guardaroba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492240"/>
            <a:ext cx="10058400" cy="1384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0" i="0" dirty="0" err="1">
                <a:solidFill>
                  <a:srgbClr val="6B7182"/>
                </a:solidFill>
                <a:latin typeface="Calibri"/>
              </a:rPr>
              <a:t>ClosetAI</a:t>
            </a:r>
            <a:r>
              <a:rPr sz="900" b="0" i="0" dirty="0">
                <a:solidFill>
                  <a:srgbClr val="6B7182"/>
                </a:solidFill>
                <a:latin typeface="Calibri"/>
              </a:rPr>
              <a:t> · Design per </a:t>
            </a:r>
            <a:r>
              <a:rPr sz="900" b="0" i="0" dirty="0" err="1">
                <a:solidFill>
                  <a:srgbClr val="6B7182"/>
                </a:solidFill>
                <a:latin typeface="Calibri"/>
              </a:rPr>
              <a:t>l'innovazione</a:t>
            </a:r>
            <a:r>
              <a:rPr sz="900" b="0" i="0" dirty="0">
                <a:solidFill>
                  <a:srgbClr val="6B7182"/>
                </a:solidFill>
                <a:latin typeface="Calibri"/>
              </a:rPr>
              <a:t> </a:t>
            </a:r>
            <a:r>
              <a:rPr sz="900" b="0" i="0" dirty="0" err="1">
                <a:solidFill>
                  <a:srgbClr val="6B7182"/>
                </a:solidFill>
                <a:latin typeface="Calibri"/>
              </a:rPr>
              <a:t>sostenibile</a:t>
            </a:r>
            <a:endParaRPr sz="900" b="0" i="0" dirty="0">
              <a:solidFill>
                <a:srgbClr val="6B7182"/>
              </a:solidFill>
              <a:latin typeface="Calibri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 i="0">
                <a:solidFill>
                  <a:srgbClr val="6B7182"/>
                </a:solidFill>
                <a:latin typeface="Calibri"/>
              </a:rPr>
              <a:t>9 / 14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09728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4A6DDC"/>
                </a:solidFill>
                <a:latin typeface="Calibri"/>
              </a:rPr>
              <a:t>07B · ML APPLICATO — CODICE PYTHON IN NOTEBOOK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09728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200" b="1" i="0">
                <a:solidFill>
                  <a:srgbClr val="1A1D27"/>
                </a:solidFill>
                <a:latin typeface="Calibri"/>
              </a:rPr>
              <a:t>Tre modelli addestrati da noi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0" i="1">
                <a:solidFill>
                  <a:srgbClr val="6B7182"/>
                </a:solidFill>
                <a:latin typeface="Calibri"/>
              </a:rPr>
              <a:t>ml/notebooks/closetai_ml.ipynb: classificazione + regressione + clustering.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600200"/>
            <a:ext cx="731520" cy="30000"/>
          </a:xfrm>
          <a:prstGeom prst="rect">
            <a:avLst/>
          </a:prstGeom>
          <a:solidFill>
            <a:srgbClr val="4A6D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548640" y="1920240"/>
            <a:ext cx="3657600" cy="3657600"/>
          </a:xfrm>
          <a:prstGeom prst="roundRect">
            <a:avLst/>
          </a:prstGeom>
          <a:solidFill>
            <a:srgbClr val="E0E8FA"/>
          </a:solidFill>
          <a:ln w="9525">
            <a:solidFill>
              <a:srgbClr val="4A6D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109728" rtlCol="0" anchor="ctr"/>
          <a:lstStyle/>
          <a:p>
            <a:pPr algn="l">
              <a:spcAft>
                <a:spcPts val="800"/>
              </a:spcAft>
            </a:pPr>
            <a:r>
              <a:rPr sz="1800" b="1" i="0">
                <a:solidFill>
                  <a:srgbClr val="1A1D27"/>
                </a:solidFill>
                <a:latin typeface="Calibri"/>
              </a:rPr>
              <a:t>🎯  Classificazione</a:t>
            </a:r>
          </a:p>
          <a:p>
            <a:pPr algn="l">
              <a:spcAft>
                <a:spcPts val="1000"/>
              </a:spcAft>
            </a:pPr>
            <a:r>
              <a:rPr sz="1200" b="0" i="0">
                <a:solidFill>
                  <a:srgbClr val="6B7182"/>
                </a:solidFill>
                <a:latin typeface="Calibri"/>
              </a:rPr>
              <a:t>Predire se un capo diventerà 'fantasma'.
Modello: Logistic Regression
Es.: 'Attenzione, hai già 3
cappotti acquistati a maggio.'</a:t>
            </a:r>
          </a:p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2F8F6E"/>
                </a:solidFill>
                <a:latin typeface="Calibri"/>
              </a:rPr>
              <a:t>AUC ≈ 0,80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920240"/>
            <a:ext cx="3657600" cy="3657600"/>
          </a:xfrm>
          <a:prstGeom prst="roundRect">
            <a:avLst/>
          </a:prstGeom>
          <a:solidFill>
            <a:srgbClr val="E0E8FA"/>
          </a:solidFill>
          <a:ln w="9525">
            <a:solidFill>
              <a:srgbClr val="4A6D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109728" rtlCol="0" anchor="ctr"/>
          <a:lstStyle/>
          <a:p>
            <a:pPr algn="l">
              <a:spcAft>
                <a:spcPts val="800"/>
              </a:spcAft>
            </a:pPr>
            <a:r>
              <a:rPr sz="1800" b="1" i="0">
                <a:solidFill>
                  <a:srgbClr val="1A1D27"/>
                </a:solidFill>
                <a:latin typeface="Calibri"/>
              </a:rPr>
              <a:t>📈  Regressione</a:t>
            </a:r>
          </a:p>
          <a:p>
            <a:pPr algn="l">
              <a:spcAft>
                <a:spcPts val="1000"/>
              </a:spcAft>
            </a:pPr>
            <a:r>
              <a:rPr sz="1200" b="0" i="0">
                <a:solidFill>
                  <a:srgbClr val="6B7182"/>
                </a:solidFill>
                <a:latin typeface="Calibri"/>
              </a:rPr>
              <a:t>Stimare gli utilizzi nei prossimi
90 giorni.
Modello: Random Forest
Es.: 'Questo capo verrà indossato
~6 volte → cost-per-wear € 5,80'</a:t>
            </a:r>
          </a:p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2F8F6E"/>
                </a:solidFill>
                <a:latin typeface="Calibri"/>
              </a:rPr>
              <a:t>MAE ≈ 2-3 utilizzi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0" y="1920240"/>
            <a:ext cx="3657600" cy="3657600"/>
          </a:xfrm>
          <a:prstGeom prst="roundRect">
            <a:avLst/>
          </a:prstGeom>
          <a:solidFill>
            <a:srgbClr val="E0E8FA"/>
          </a:solidFill>
          <a:ln w="9525">
            <a:solidFill>
              <a:srgbClr val="4A6D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109728" rtlCol="0" anchor="ctr"/>
          <a:lstStyle/>
          <a:p>
            <a:pPr algn="l">
              <a:spcAft>
                <a:spcPts val="800"/>
              </a:spcAft>
            </a:pPr>
            <a:r>
              <a:rPr sz="1800" b="1" i="0">
                <a:solidFill>
                  <a:srgbClr val="1A1D27"/>
                </a:solidFill>
                <a:latin typeface="Calibri"/>
              </a:rPr>
              <a:t>🧩  Clustering</a:t>
            </a:r>
          </a:p>
          <a:p>
            <a:pPr algn="l">
              <a:spcAft>
                <a:spcPts val="1000"/>
              </a:spcAft>
            </a:pPr>
            <a:r>
              <a:rPr sz="1200" b="0" i="0">
                <a:solidFill>
                  <a:srgbClr val="6B7182"/>
                </a:solidFill>
                <a:latin typeface="Calibri"/>
              </a:rPr>
              <a:t>Raggruppare i capi in 'stili'
senza etichette.
Modello: K-Means (K=5) + PCA
Es.: 'cluster casual estivo',
'occasioni formali'.</a:t>
            </a:r>
          </a:p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2F8F6E"/>
                </a:solidFill>
                <a:latin typeface="Calibri"/>
              </a:rPr>
              <a:t>Silhouette ≈ 0,30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5669280"/>
            <a:ext cx="11247120" cy="640080"/>
          </a:xfrm>
          <a:prstGeom prst="roundRect">
            <a:avLst/>
          </a:prstGeom>
          <a:solidFill>
            <a:srgbClr val="DCEFE7"/>
          </a:solidFill>
          <a:ln w="9525">
            <a:solidFill>
              <a:srgbClr val="2F8F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109728" rtlCol="0" anchor="ctr"/>
          <a:lstStyle/>
          <a:p>
            <a:pPr algn="ctr">
              <a:spcAft>
                <a:spcPts val="400"/>
              </a:spcAft>
            </a:pPr>
            <a:r>
              <a:rPr sz="1200" b="0" i="1">
                <a:solidFill>
                  <a:srgbClr val="1A1D27"/>
                </a:solidFill>
                <a:latin typeface="Calibri"/>
              </a:rPr>
              <a:t>Tutto su dati realistici sintetici (300 capi). Per il prodotto reale, basta sostituirli col wear log dell'utente.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92240"/>
            <a:ext cx="10058400" cy="1384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0" i="0" dirty="0" err="1">
                <a:solidFill>
                  <a:srgbClr val="6B7182"/>
                </a:solidFill>
                <a:latin typeface="Calibri"/>
              </a:rPr>
              <a:t>ClosetAI</a:t>
            </a:r>
            <a:r>
              <a:rPr sz="900" b="0" i="0" dirty="0">
                <a:solidFill>
                  <a:srgbClr val="6B7182"/>
                </a:solidFill>
                <a:latin typeface="Calibri"/>
              </a:rPr>
              <a:t> · Design per </a:t>
            </a:r>
            <a:r>
              <a:rPr sz="900" b="0" i="0" dirty="0" err="1">
                <a:solidFill>
                  <a:srgbClr val="6B7182"/>
                </a:solidFill>
                <a:latin typeface="Calibri"/>
              </a:rPr>
              <a:t>l'innovazione</a:t>
            </a:r>
            <a:r>
              <a:rPr sz="900" b="0" i="0" dirty="0">
                <a:solidFill>
                  <a:srgbClr val="6B7182"/>
                </a:solidFill>
                <a:latin typeface="Calibri"/>
              </a:rPr>
              <a:t> </a:t>
            </a:r>
            <a:r>
              <a:rPr sz="900" b="0" i="0" dirty="0" err="1">
                <a:solidFill>
                  <a:srgbClr val="6B7182"/>
                </a:solidFill>
                <a:latin typeface="Calibri"/>
              </a:rPr>
              <a:t>sostenibile</a:t>
            </a:r>
            <a:endParaRPr sz="900" b="0" i="0" dirty="0">
              <a:solidFill>
                <a:srgbClr val="6B7182"/>
              </a:solidFill>
              <a:latin typeface="Calibri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 i="0">
                <a:solidFill>
                  <a:srgbClr val="6B7182"/>
                </a:solidFill>
                <a:latin typeface="Calibri"/>
              </a:rPr>
              <a:t>10 / 14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CF22E1-70D6-DF28-7BF9-CBDB359F7F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4168A94-102E-5093-6C3D-B1F1532243D6}"/>
              </a:ext>
            </a:extLst>
          </p:cNvPr>
          <p:cNvSpPr txBox="1"/>
          <p:nvPr/>
        </p:nvSpPr>
        <p:spPr>
          <a:xfrm>
            <a:off x="548640" y="411480"/>
            <a:ext cx="109728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4A6DDC"/>
                </a:solidFill>
                <a:latin typeface="Calibri"/>
              </a:rPr>
              <a:t>04 · DEMO · SCHERMATA 1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3414E7A-EA4E-A600-4FBF-684F238DBFC9}"/>
              </a:ext>
            </a:extLst>
          </p:cNvPr>
          <p:cNvSpPr txBox="1"/>
          <p:nvPr/>
        </p:nvSpPr>
        <p:spPr>
          <a:xfrm>
            <a:off x="548640" y="777240"/>
            <a:ext cx="10972800" cy="49244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it-IT" sz="3200" b="1" i="0" dirty="0">
                <a:solidFill>
                  <a:srgbClr val="1A1D27"/>
                </a:solidFill>
                <a:latin typeface="Calibri"/>
              </a:rPr>
              <a:t>Notebook per il training</a:t>
            </a:r>
            <a:endParaRPr sz="3200" b="1" i="0" dirty="0">
              <a:solidFill>
                <a:srgbClr val="1A1D27"/>
              </a:solidFill>
              <a:latin typeface="Calibri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B7D230F-5C20-D74B-CF3D-E90FE98A5212}"/>
              </a:ext>
            </a:extLst>
          </p:cNvPr>
          <p:cNvSpPr/>
          <p:nvPr/>
        </p:nvSpPr>
        <p:spPr>
          <a:xfrm>
            <a:off x="548640" y="1600200"/>
            <a:ext cx="731520" cy="30000"/>
          </a:xfrm>
          <a:prstGeom prst="rect">
            <a:avLst/>
          </a:prstGeom>
          <a:solidFill>
            <a:srgbClr val="4A6D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D993778-959B-1748-A7FA-49177B8708E2}"/>
              </a:ext>
            </a:extLst>
          </p:cNvPr>
          <p:cNvSpPr txBox="1"/>
          <p:nvPr/>
        </p:nvSpPr>
        <p:spPr>
          <a:xfrm>
            <a:off x="548640" y="6492240"/>
            <a:ext cx="10058400" cy="1384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0" i="0" dirty="0" err="1">
                <a:solidFill>
                  <a:srgbClr val="6B7182"/>
                </a:solidFill>
                <a:latin typeface="Calibri"/>
              </a:rPr>
              <a:t>ClosetAI</a:t>
            </a:r>
            <a:r>
              <a:rPr sz="900" b="0" i="0" dirty="0">
                <a:solidFill>
                  <a:srgbClr val="6B7182"/>
                </a:solidFill>
                <a:latin typeface="Calibri"/>
              </a:rPr>
              <a:t> · Design per </a:t>
            </a:r>
            <a:r>
              <a:rPr sz="900" b="0" i="0" dirty="0" err="1">
                <a:solidFill>
                  <a:srgbClr val="6B7182"/>
                </a:solidFill>
                <a:latin typeface="Calibri"/>
              </a:rPr>
              <a:t>l'innovazione</a:t>
            </a:r>
            <a:r>
              <a:rPr sz="900" b="0" i="0" dirty="0">
                <a:solidFill>
                  <a:srgbClr val="6B7182"/>
                </a:solidFill>
                <a:latin typeface="Calibri"/>
              </a:rPr>
              <a:t> </a:t>
            </a:r>
            <a:r>
              <a:rPr sz="900" b="0" i="0" dirty="0" err="1">
                <a:solidFill>
                  <a:srgbClr val="6B7182"/>
                </a:solidFill>
                <a:latin typeface="Calibri"/>
              </a:rPr>
              <a:t>sostenibile</a:t>
            </a:r>
            <a:endParaRPr sz="900" b="0" i="0" dirty="0">
              <a:solidFill>
                <a:srgbClr val="6B7182"/>
              </a:solidFill>
              <a:latin typeface="Calibri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B51240C-1BC0-CC07-D12C-BCA18D87B0CA}"/>
              </a:ext>
            </a:extLst>
          </p:cNvPr>
          <p:cNvSpPr txBox="1"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 i="0">
                <a:solidFill>
                  <a:srgbClr val="6B7182"/>
                </a:solidFill>
                <a:latin typeface="Calibri"/>
              </a:rPr>
              <a:t>5 / 14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9538A4A2-1EC0-9E9A-D57C-5F5ED2FC1B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75123"/>
            <a:ext cx="6667226" cy="4811677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36A0A531-9BE8-0206-32AA-50260B7C6FA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61197" y="3649747"/>
            <a:ext cx="4545882" cy="2637053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2E706324-845C-A9B0-D240-8A1FF189D8C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61197" y="791947"/>
            <a:ext cx="4545883" cy="26370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6586580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09728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4A6DDC"/>
                </a:solidFill>
                <a:latin typeface="Calibri"/>
              </a:rPr>
              <a:t>08 · L'IMPATTO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09728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200" b="1" i="0">
                <a:solidFill>
                  <a:srgbClr val="1A1D27"/>
                </a:solidFill>
                <a:latin typeface="Calibri"/>
              </a:rPr>
              <a:t>Analisi di sostenibilità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0" i="1">
                <a:solidFill>
                  <a:srgbClr val="6B7182"/>
                </a:solidFill>
                <a:latin typeface="Calibri"/>
              </a:rPr>
              <a:t>Ogni azione viene tradotta in CO₂ risparmiata, con equivalenze concrete.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600200"/>
            <a:ext cx="731520" cy="30000"/>
          </a:xfrm>
          <a:prstGeom prst="rect">
            <a:avLst/>
          </a:prstGeom>
          <a:solidFill>
            <a:srgbClr val="4A6D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548640" y="1920240"/>
            <a:ext cx="4572000" cy="4297680"/>
          </a:xfrm>
          <a:prstGeom prst="roundRect">
            <a:avLst/>
          </a:prstGeom>
          <a:solidFill>
            <a:srgbClr val="DCEFE7"/>
          </a:solidFill>
          <a:ln w="9525">
            <a:solidFill>
              <a:srgbClr val="2F8F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109728" rtlCol="0" anchor="ctr"/>
          <a:lstStyle/>
          <a:p>
            <a:pPr algn="ctr">
              <a:spcAft>
                <a:spcPts val="1200"/>
              </a:spcAft>
            </a:pPr>
            <a:r>
              <a:rPr sz="1100" b="1" i="0">
                <a:solidFill>
                  <a:srgbClr val="2F8F6E"/>
                </a:solidFill>
                <a:latin typeface="Calibri"/>
              </a:rPr>
              <a:t>ESEMPIO DI DEMO</a:t>
            </a:r>
          </a:p>
          <a:p>
            <a:pPr algn="ctr">
              <a:spcAft>
                <a:spcPts val="400"/>
              </a:spcAft>
            </a:pPr>
            <a:r>
              <a:rPr sz="7200" b="1" i="0">
                <a:solidFill>
                  <a:srgbClr val="2F8F6E"/>
                </a:solidFill>
                <a:latin typeface="Calibri"/>
              </a:rPr>
              <a:t>65 kg</a:t>
            </a:r>
          </a:p>
          <a:p>
            <a:pPr algn="ctr">
              <a:spcAft>
                <a:spcPts val="2000"/>
              </a:spcAft>
            </a:pPr>
            <a:r>
              <a:rPr sz="1800" b="0" i="0">
                <a:solidFill>
                  <a:srgbClr val="1A1D27"/>
                </a:solidFill>
                <a:latin typeface="Calibri"/>
              </a:rPr>
              <a:t>di CO₂ evitati</a:t>
            </a:r>
          </a:p>
          <a:p>
            <a:pPr algn="ctr">
              <a:spcAft>
                <a:spcPts val="1000"/>
              </a:spcAft>
            </a:pPr>
            <a:r>
              <a:rPr sz="1300" b="0" i="0">
                <a:solidFill>
                  <a:srgbClr val="6B7182"/>
                </a:solidFill>
                <a:latin typeface="Calibri"/>
              </a:rPr>
              <a:t>equivalente a:</a:t>
            </a:r>
          </a:p>
          <a:p>
            <a:pPr algn="ctr">
              <a:spcAft>
                <a:spcPts val="400"/>
              </a:spcAft>
            </a:pPr>
            <a:r>
              <a:rPr sz="1400" b="1" i="0">
                <a:solidFill>
                  <a:srgbClr val="1A1D27"/>
                </a:solidFill>
                <a:latin typeface="Calibri"/>
              </a:rPr>
              <a:t>≈ 360 km in auto risparmiati</a:t>
            </a:r>
          </a:p>
          <a:p>
            <a:pPr algn="ctr">
              <a:spcAft>
                <a:spcPts val="400"/>
              </a:spcAft>
            </a:pPr>
            <a:r>
              <a:rPr sz="1400" b="1" i="0">
                <a:solidFill>
                  <a:srgbClr val="1A1D27"/>
                </a:solidFill>
                <a:latin typeface="Calibri"/>
              </a:rPr>
              <a:t>≈ 8 m² di foresta /anno</a:t>
            </a:r>
          </a:p>
          <a:p>
            <a:pPr algn="ctr">
              <a:spcAft>
                <a:spcPts val="400"/>
              </a:spcAft>
            </a:pPr>
            <a:r>
              <a:rPr sz="1400" b="1" i="0">
                <a:solidFill>
                  <a:srgbClr val="1A1D27"/>
                </a:solidFill>
                <a:latin typeface="Calibri"/>
              </a:rPr>
              <a:t>≈ 0,8 voli Pisa-Roma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394960" y="1920240"/>
            <a:ext cx="6400800" cy="42976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C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109728" rtlCol="0" anchor="ctr"/>
          <a:lstStyle/>
          <a:p>
            <a:pPr algn="l">
              <a:spcAft>
                <a:spcPts val="800"/>
              </a:spcAft>
            </a:pPr>
            <a:r>
              <a:rPr sz="1100" b="1" i="0">
                <a:solidFill>
                  <a:srgbClr val="4A6DDC"/>
                </a:solidFill>
                <a:latin typeface="Calibri"/>
              </a:rPr>
              <a:t>COME LO MISURIAMO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A1D27"/>
                </a:solidFill>
                <a:latin typeface="Calibri"/>
              </a:rPr>
              <a:t>Per ogni capo, conosciamo la sua impronta CO₂</a:t>
            </a:r>
          </a:p>
          <a:p>
            <a:pPr algn="l">
              <a:spcAft>
                <a:spcPts val="1000"/>
              </a:spcAft>
            </a:pPr>
            <a:r>
              <a:rPr sz="1300" b="0" i="0">
                <a:solidFill>
                  <a:srgbClr val="1A1D27"/>
                </a:solidFill>
                <a:latin typeface="Calibri"/>
              </a:rPr>
              <a:t>di produzione (fonte: Ellen MacArthur Foundation):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6B7182"/>
                </a:solidFill>
                <a:latin typeface="Calibri"/>
              </a:rPr>
              <a:t>• T-shirt:  7 kg     • Jeans:    32 kg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6B7182"/>
                </a:solidFill>
                <a:latin typeface="Calibri"/>
              </a:rPr>
              <a:t>• Camicia: 10 kg     • Giacca:   25 kg</a:t>
            </a:r>
          </a:p>
          <a:p>
            <a:pPr algn="l">
              <a:spcAft>
                <a:spcPts val="1600"/>
              </a:spcAft>
            </a:pPr>
            <a:r>
              <a:rPr sz="1300" b="0" i="0">
                <a:solidFill>
                  <a:srgbClr val="6B7182"/>
                </a:solidFill>
                <a:latin typeface="Calibri"/>
              </a:rPr>
              <a:t>• Maglione: 14 kg    • Cappotto: 40 kg</a:t>
            </a:r>
          </a:p>
          <a:p>
            <a:pPr algn="l">
              <a:spcAft>
                <a:spcPts val="800"/>
              </a:spcAft>
            </a:pPr>
            <a:r>
              <a:rPr sz="1300" b="0" i="0">
                <a:solidFill>
                  <a:srgbClr val="1A1D27"/>
                </a:solidFill>
                <a:latin typeface="Calibri"/>
              </a:rPr>
              <a:t>Per ogni azione circolare, una % evitata: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2F8F6E"/>
                </a:solidFill>
                <a:latin typeface="Calibri"/>
              </a:rPr>
              <a:t>• Donare / scambiare / vendere → 100%</a:t>
            </a:r>
          </a:p>
          <a:p>
            <a:pPr algn="l">
              <a:spcAft>
                <a:spcPts val="1200"/>
              </a:spcAft>
            </a:pPr>
            <a:r>
              <a:rPr sz="1300" b="0" i="0">
                <a:solidFill>
                  <a:srgbClr val="2F8F6E"/>
                </a:solidFill>
                <a:latin typeface="Calibri"/>
              </a:rPr>
              <a:t>• Riparare → 70%   • Riciclare → 30%</a:t>
            </a:r>
          </a:p>
          <a:p>
            <a:pPr algn="l">
              <a:spcAft>
                <a:spcPts val="400"/>
              </a:spcAft>
            </a:pPr>
            <a:r>
              <a:rPr sz="1300" b="0" i="1">
                <a:solidFill>
                  <a:srgbClr val="6B7182"/>
                </a:solidFill>
                <a:latin typeface="Calibri"/>
              </a:rPr>
              <a:t>Es. donare una giacca = 25 kg risparmiati.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92240"/>
            <a:ext cx="10058400" cy="1384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0" i="0" dirty="0" err="1">
                <a:solidFill>
                  <a:srgbClr val="6B7182"/>
                </a:solidFill>
                <a:latin typeface="Calibri"/>
              </a:rPr>
              <a:t>ClosetAI</a:t>
            </a:r>
            <a:r>
              <a:rPr sz="900" b="0" i="0" dirty="0">
                <a:solidFill>
                  <a:srgbClr val="6B7182"/>
                </a:solidFill>
                <a:latin typeface="Calibri"/>
              </a:rPr>
              <a:t> · Design per </a:t>
            </a:r>
            <a:r>
              <a:rPr sz="900" b="0" i="0" dirty="0" err="1">
                <a:solidFill>
                  <a:srgbClr val="6B7182"/>
                </a:solidFill>
                <a:latin typeface="Calibri"/>
              </a:rPr>
              <a:t>l'innovazione</a:t>
            </a:r>
            <a:r>
              <a:rPr sz="900" b="0" i="0" dirty="0">
                <a:solidFill>
                  <a:srgbClr val="6B7182"/>
                </a:solidFill>
                <a:latin typeface="Calibri"/>
              </a:rPr>
              <a:t> </a:t>
            </a:r>
            <a:r>
              <a:rPr sz="900" b="0" i="0" dirty="0" err="1">
                <a:solidFill>
                  <a:srgbClr val="6B7182"/>
                </a:solidFill>
                <a:latin typeface="Calibri"/>
              </a:rPr>
              <a:t>sostenibile</a:t>
            </a:r>
            <a:endParaRPr sz="900" b="0" i="0" dirty="0">
              <a:solidFill>
                <a:srgbClr val="6B7182"/>
              </a:solidFill>
              <a:latin typeface="Calibri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 i="0">
                <a:solidFill>
                  <a:srgbClr val="6B7182"/>
                </a:solidFill>
                <a:latin typeface="Calibri"/>
              </a:rPr>
              <a:t>11 / 14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09728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4A6DDC"/>
                </a:solidFill>
                <a:latin typeface="Calibri"/>
              </a:rPr>
              <a:t>09 · COSTI, MATERIALI, SCALABILITÀ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09728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200" b="1" i="0">
                <a:solidFill>
                  <a:srgbClr val="1A1D27"/>
                </a:solidFill>
                <a:latin typeface="Calibri"/>
              </a:rPr>
              <a:t>Studio di fattibilità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0" i="1">
                <a:solidFill>
                  <a:srgbClr val="6B7182"/>
                </a:solidFill>
                <a:latin typeface="Calibri"/>
              </a:rPr>
              <a:t>Si può davvero portare un prodotto del genere sul mercato?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600200"/>
            <a:ext cx="731520" cy="30000"/>
          </a:xfrm>
          <a:prstGeom prst="rect">
            <a:avLst/>
          </a:prstGeom>
          <a:solidFill>
            <a:srgbClr val="4A6D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548640" y="1920240"/>
            <a:ext cx="3657600" cy="42976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4A6D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109728" rtlCol="0" anchor="ctr"/>
          <a:lstStyle/>
          <a:p>
            <a:pPr algn="l">
              <a:spcAft>
                <a:spcPts val="1000"/>
              </a:spcAft>
            </a:pPr>
            <a:r>
              <a:rPr sz="1800" b="1" i="0">
                <a:solidFill>
                  <a:srgbClr val="4A6DDC"/>
                </a:solidFill>
                <a:latin typeface="Calibri"/>
              </a:rPr>
              <a:t>💰 Costi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1A1D27"/>
                </a:solidFill>
                <a:latin typeface="Calibri"/>
              </a:rPr>
              <a:t>Hardware: laptop + telefono.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1A1D27"/>
                </a:solidFill>
                <a:latin typeface="Calibri"/>
              </a:rPr>
              <a:t>Modelli AI: tutti gratuiti / open-source.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1A1D27"/>
                </a:solidFill>
                <a:latin typeface="Calibri"/>
              </a:rPr>
              <a:t>Cloud opzionale: ~€ 0,01 a utente/mese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1A1D27"/>
                </a:solidFill>
                <a:latin typeface="Calibri"/>
              </a:rPr>
              <a:t>(grazie al caching delle risposte).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1A1D27"/>
                </a:solidFill>
                <a:latin typeface="Calibri"/>
              </a:rPr>
              <a:t>Specchio smart: ~€ 200 una tantum.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920240"/>
            <a:ext cx="3657600" cy="42976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2F8F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109728" rtlCol="0" anchor="ctr"/>
          <a:lstStyle/>
          <a:p>
            <a:pPr algn="l">
              <a:spcAft>
                <a:spcPts val="1000"/>
              </a:spcAft>
            </a:pPr>
            <a:r>
              <a:rPr sz="1800" b="1" i="0">
                <a:solidFill>
                  <a:srgbClr val="2F8F6E"/>
                </a:solidFill>
                <a:latin typeface="Calibri"/>
              </a:rPr>
              <a:t>🧱 Materiali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1A1D27"/>
                </a:solidFill>
                <a:latin typeface="Calibri"/>
              </a:rPr>
              <a:t>Tutto open-source (no licenze):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1A1D27"/>
                </a:solidFill>
                <a:latin typeface="Calibri"/>
              </a:rPr>
              <a:t>FastAPI, React, Fashion-CLIP,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1A1D27"/>
                </a:solidFill>
                <a:latin typeface="Calibri"/>
              </a:rPr>
              <a:t>Stable Diffusion, ChromaDB.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1A1D27"/>
                </a:solidFill>
                <a:latin typeface="Calibri"/>
              </a:rPr>
              <a:t>Ne consegue piena trasparenza,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1A1D27"/>
                </a:solidFill>
                <a:latin typeface="Calibri"/>
              </a:rPr>
              <a:t>audit possibile, no lock-in vendor.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0" y="1920240"/>
            <a:ext cx="3657600" cy="42976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88B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109728" rtlCol="0" anchor="ctr"/>
          <a:lstStyle/>
          <a:p>
            <a:pPr algn="l">
              <a:spcAft>
                <a:spcPts val="1000"/>
              </a:spcAft>
            </a:pPr>
            <a:r>
              <a:rPr sz="1800" b="1" i="0">
                <a:solidFill>
                  <a:srgbClr val="C88B2E"/>
                </a:solidFill>
                <a:latin typeface="Calibri"/>
              </a:rPr>
              <a:t>📈 Scalabilità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1A1D27"/>
                </a:solidFill>
                <a:latin typeface="Calibri"/>
              </a:rPr>
              <a:t>MVP: single-user, locale.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1A1D27"/>
                </a:solidFill>
                <a:latin typeface="Calibri"/>
              </a:rPr>
              <a:t>→ Cloud per multi-utente (Postgres+S3).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1A1D27"/>
                </a:solidFill>
                <a:latin typeface="Calibri"/>
              </a:rPr>
              <a:t>→ AI on-device per privacy estrema.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1A1D27"/>
                </a:solidFill>
                <a:latin typeface="Calibri"/>
              </a:rPr>
              <a:t>→ Versione enterprise con marketplace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1A1D27"/>
                </a:solidFill>
                <a:latin typeface="Calibri"/>
              </a:rPr>
              <a:t>second-hand integrato.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92240"/>
            <a:ext cx="10058400" cy="1384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0" i="0" dirty="0" err="1">
                <a:solidFill>
                  <a:srgbClr val="6B7182"/>
                </a:solidFill>
                <a:latin typeface="Calibri"/>
              </a:rPr>
              <a:t>ClosetAI</a:t>
            </a:r>
            <a:r>
              <a:rPr sz="900" b="0" i="0" dirty="0">
                <a:solidFill>
                  <a:srgbClr val="6B7182"/>
                </a:solidFill>
                <a:latin typeface="Calibri"/>
              </a:rPr>
              <a:t> · Design per </a:t>
            </a:r>
            <a:r>
              <a:rPr sz="900" b="0" i="0" dirty="0" err="1">
                <a:solidFill>
                  <a:srgbClr val="6B7182"/>
                </a:solidFill>
                <a:latin typeface="Calibri"/>
              </a:rPr>
              <a:t>l'innovazione</a:t>
            </a:r>
            <a:r>
              <a:rPr sz="900" b="0" i="0" dirty="0">
                <a:solidFill>
                  <a:srgbClr val="6B7182"/>
                </a:solidFill>
                <a:latin typeface="Calibri"/>
              </a:rPr>
              <a:t> </a:t>
            </a:r>
            <a:r>
              <a:rPr sz="900" b="0" i="0" dirty="0" err="1">
                <a:solidFill>
                  <a:srgbClr val="6B7182"/>
                </a:solidFill>
                <a:latin typeface="Calibri"/>
              </a:rPr>
              <a:t>sostenibile</a:t>
            </a:r>
            <a:endParaRPr sz="900" b="0" i="0" dirty="0">
              <a:solidFill>
                <a:srgbClr val="6B7182"/>
              </a:solidFill>
              <a:latin typeface="Calibri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 i="0">
                <a:solidFill>
                  <a:srgbClr val="6B7182"/>
                </a:solidFill>
                <a:latin typeface="Calibri"/>
              </a:rPr>
              <a:t>12 / 14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09728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4A6DDC"/>
                </a:solidFill>
                <a:latin typeface="Calibri"/>
              </a:rPr>
              <a:t>10 · ONESTÀ INTELLETTUALE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09728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200" b="1" i="0">
                <a:solidFill>
                  <a:srgbClr val="1A1D27"/>
                </a:solidFill>
                <a:latin typeface="Calibri"/>
              </a:rPr>
              <a:t>Cosa il prototipo non fa (ancora).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0" i="1">
                <a:solidFill>
                  <a:srgbClr val="6B7182"/>
                </a:solidFill>
                <a:latin typeface="Calibri"/>
              </a:rPr>
              <a:t>E dove potrebbe andare in futuro.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600200"/>
            <a:ext cx="731520" cy="30000"/>
          </a:xfrm>
          <a:prstGeom prst="rect">
            <a:avLst/>
          </a:prstGeom>
          <a:solidFill>
            <a:srgbClr val="4A6D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548640" y="1920240"/>
            <a:ext cx="5577840" cy="42976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94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109728" rtlCol="0" anchor="ctr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C94A5C"/>
                </a:solidFill>
                <a:latin typeface="Calibri"/>
              </a:rPr>
              <a:t>Limitazioni di oggi</a:t>
            </a:r>
          </a:p>
          <a:p>
            <a:pPr algn="l">
              <a:spcAft>
                <a:spcPts val="1000"/>
              </a:spcAft>
            </a:pPr>
            <a:r>
              <a:rPr sz="1300" b="0" i="0">
                <a:solidFill>
                  <a:srgbClr val="1A1D27"/>
                </a:solidFill>
                <a:latin typeface="Calibri"/>
              </a:rPr>
              <a:t>•  I modelli AI sono pensati per moda occidentale: meno precisi su capi etnici.</a:t>
            </a:r>
          </a:p>
          <a:p>
            <a:pPr algn="l">
              <a:spcAft>
                <a:spcPts val="1000"/>
              </a:spcAft>
            </a:pPr>
            <a:r>
              <a:rPr sz="1300" b="0" i="0">
                <a:solidFill>
                  <a:srgbClr val="1A1D27"/>
                </a:solidFill>
                <a:latin typeface="Calibri"/>
              </a:rPr>
              <a:t>•  Le stime di CO₂ sono medie per categoria, non una vera analisi del ciclo di vita.</a:t>
            </a:r>
          </a:p>
          <a:p>
            <a:pPr algn="l">
              <a:spcAft>
                <a:spcPts val="1000"/>
              </a:spcAft>
            </a:pPr>
            <a:r>
              <a:rPr sz="1300" b="0" i="0">
                <a:solidFill>
                  <a:srgbClr val="1A1D27"/>
                </a:solidFill>
                <a:latin typeface="Calibri"/>
              </a:rPr>
              <a:t>•  Il try-on virtuale è un'illusione visiva, non un vero camerino digitale.</a:t>
            </a:r>
          </a:p>
          <a:p>
            <a:pPr algn="l">
              <a:spcAft>
                <a:spcPts val="1000"/>
              </a:spcAft>
            </a:pPr>
            <a:r>
              <a:rPr sz="1300" b="0" i="0">
                <a:solidFill>
                  <a:srgbClr val="1A1D27"/>
                </a:solidFill>
                <a:latin typeface="Calibri"/>
              </a:rPr>
              <a:t>•  Per ora è personale: non ci sono account né condivisione.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59" y="1920240"/>
            <a:ext cx="5577840" cy="42976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2F8F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109728" rtlCol="0" anchor="ctr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2F8F6E"/>
                </a:solidFill>
                <a:latin typeface="Calibri"/>
              </a:rPr>
              <a:t>Estensioni naturali</a:t>
            </a:r>
          </a:p>
          <a:p>
            <a:pPr algn="l">
              <a:spcAft>
                <a:spcPts val="1000"/>
              </a:spcAft>
            </a:pPr>
            <a:r>
              <a:rPr sz="1300" b="0" i="0">
                <a:solidFill>
                  <a:srgbClr val="1A1D27"/>
                </a:solidFill>
                <a:latin typeface="Calibri"/>
              </a:rPr>
              <a:t>•  Riconoscere automaticamente l'outfit dalla foto di uno specchio.</a:t>
            </a:r>
          </a:p>
          <a:p>
            <a:pPr algn="l">
              <a:spcAft>
                <a:spcPts val="1000"/>
              </a:spcAft>
            </a:pPr>
            <a:r>
              <a:rPr sz="1300" b="0" i="0">
                <a:solidFill>
                  <a:srgbClr val="1A1D27"/>
                </a:solidFill>
                <a:latin typeface="Calibri"/>
              </a:rPr>
              <a:t>•  Integrare marketplace second-hand (Vinted, Wallapop) per chiudere il cerchio della vendita.</a:t>
            </a:r>
          </a:p>
          <a:p>
            <a:pPr algn="l">
              <a:spcAft>
                <a:spcPts val="1000"/>
              </a:spcAft>
            </a:pPr>
            <a:r>
              <a:rPr sz="1300" b="0" i="0">
                <a:solidFill>
                  <a:srgbClr val="1A1D27"/>
                </a:solidFill>
                <a:latin typeface="Calibri"/>
              </a:rPr>
              <a:t>•  Modalità famiglia / armadio condiviso.</a:t>
            </a:r>
          </a:p>
          <a:p>
            <a:pPr algn="l">
              <a:spcAft>
                <a:spcPts val="1000"/>
              </a:spcAft>
            </a:pPr>
            <a:r>
              <a:rPr sz="1300" b="0" i="0">
                <a:solidFill>
                  <a:srgbClr val="1A1D27"/>
                </a:solidFill>
                <a:latin typeface="Calibri"/>
              </a:rPr>
              <a:t>•  Suggerimento pre-acquisto: 'questo capo riempie un vuoto del tuo guardaroba?'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92240"/>
            <a:ext cx="10058400" cy="1384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0" i="0" dirty="0" err="1">
                <a:solidFill>
                  <a:srgbClr val="6B7182"/>
                </a:solidFill>
                <a:latin typeface="Calibri"/>
              </a:rPr>
              <a:t>ClosetAI</a:t>
            </a:r>
            <a:r>
              <a:rPr sz="900" b="0" i="0" dirty="0">
                <a:solidFill>
                  <a:srgbClr val="6B7182"/>
                </a:solidFill>
                <a:latin typeface="Calibri"/>
              </a:rPr>
              <a:t> · Design per </a:t>
            </a:r>
            <a:r>
              <a:rPr sz="900" b="0" i="0" dirty="0" err="1">
                <a:solidFill>
                  <a:srgbClr val="6B7182"/>
                </a:solidFill>
                <a:latin typeface="Calibri"/>
              </a:rPr>
              <a:t>l'innovazione</a:t>
            </a:r>
            <a:r>
              <a:rPr sz="900" b="0" i="0" dirty="0">
                <a:solidFill>
                  <a:srgbClr val="6B7182"/>
                </a:solidFill>
                <a:latin typeface="Calibri"/>
              </a:rPr>
              <a:t> </a:t>
            </a:r>
            <a:r>
              <a:rPr sz="900" b="0" i="0" dirty="0" err="1">
                <a:solidFill>
                  <a:srgbClr val="6B7182"/>
                </a:solidFill>
                <a:latin typeface="Calibri"/>
              </a:rPr>
              <a:t>sostenibile</a:t>
            </a:r>
            <a:endParaRPr sz="900" b="0" i="0" dirty="0">
              <a:solidFill>
                <a:srgbClr val="6B7182"/>
              </a:solidFill>
              <a:latin typeface="Calibri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 i="0">
                <a:solidFill>
                  <a:srgbClr val="6B7182"/>
                </a:solidFill>
                <a:latin typeface="Calibri"/>
              </a:rPr>
              <a:t>13 / 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2F8F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05840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200" b="1" i="0">
                <a:solidFill>
                  <a:srgbClr val="1A1D27"/>
                </a:solidFill>
                <a:latin typeface="Calibri"/>
              </a:rPr>
              <a:t>Grazie.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926080"/>
            <a:ext cx="100584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200" b="0" i="1">
                <a:solidFill>
                  <a:srgbClr val="2F8F6E"/>
                </a:solidFill>
                <a:latin typeface="Calibri"/>
              </a:rPr>
              <a:t>Vesti meglio. Compra meno. Allunga la vita dei tuoi capi.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114800"/>
            <a:ext cx="1005840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400" b="0" i="0">
                <a:solidFill>
                  <a:srgbClr val="4A6DDC"/>
                </a:solidFill>
                <a:latin typeface="Calibri"/>
              </a:rPr>
              <a:t>Domande?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4937760"/>
            <a:ext cx="10515600" cy="12801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C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109728" rtlCol="0" anchor="ctr"/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4A6DDC"/>
                </a:solidFill>
                <a:latin typeface="Calibri"/>
              </a:rPr>
              <a:t>Materiale di approfondimento (per chi vuole guardare):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A1D27"/>
                </a:solidFill>
                <a:latin typeface="Calibri"/>
              </a:rPr>
              <a:t>→ Codice, documentazione e roadmap completi su questo repository.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A1D27"/>
                </a:solidFill>
                <a:latin typeface="Calibri"/>
              </a:rPr>
              <a:t>→ Architettura, decisioni tecniche e analisi di impatto in docs/.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1633</Words>
  <Application>Microsoft Office PowerPoint</Application>
  <PresentationFormat>Widescreen</PresentationFormat>
  <Paragraphs>254</Paragraphs>
  <Slides>15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9" baseType="lpstr">
      <vt:lpstr>Aptos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MARCO DI BENEDETTO</cp:lastModifiedBy>
  <cp:revision>4</cp:revision>
  <dcterms:created xsi:type="dcterms:W3CDTF">2013-01-27T09:14:16Z</dcterms:created>
  <dcterms:modified xsi:type="dcterms:W3CDTF">2026-05-25T13:37:41Z</dcterms:modified>
  <cp:category/>
</cp:coreProperties>
</file>