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4A6D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4A6DDC"/>
                </a:solidFill>
                <a:latin typeface="Calibri"/>
              </a:rPr>
              <a:t>PRE-ESAME · PRODOTTO AI ECO-SOSTENIBILE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1005840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0" b="1" i="0">
                <a:solidFill>
                  <a:srgbClr val="1A1D27"/>
                </a:solidFill>
                <a:latin typeface="Calibri"/>
              </a:rPr>
              <a:t>ClosetAI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291840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0" i="1">
                <a:solidFill>
                  <a:srgbClr val="2F8F6E"/>
                </a:solidFill>
                <a:latin typeface="Calibri"/>
              </a:rPr>
              <a:t>Il guardaroba intelligente che ti aiuta a vestire meglio comprando meno.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297680"/>
            <a:ext cx="105156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6B7182"/>
                </a:solidFill>
                <a:latin typeface="Calibri"/>
              </a:rPr>
              <a:t>Una storia in sei tappe — dalla foto di un capo al suo fine vita — raccontata da due punti di vista: chi la usa e cosa c'è dietro.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39496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6B7182"/>
                </a:solidFill>
                <a:latin typeface="Calibri"/>
              </a:rPr>
              <a:t>Design per l'innovazione sostenibile — Università di Pisa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7607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6B7182"/>
                </a:solidFill>
                <a:latin typeface="Calibri"/>
              </a:rPr>
              <a:t>Marco Di Benedetto · A.A. 2025/2026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9728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4A6DDC"/>
                </a:solidFill>
                <a:latin typeface="Calibri"/>
              </a:rPr>
              <a:t>01 · LA SFIDA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31520"/>
            <a:ext cx="109728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A1D27"/>
                </a:solidFill>
                <a:latin typeface="Calibri"/>
              </a:rPr>
              <a:t>Compriamo troppi vestiti.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35024"/>
            <a:ext cx="111556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 i="1">
                <a:solidFill>
                  <a:srgbClr val="6B7182"/>
                </a:solidFill>
                <a:latin typeface="Calibri"/>
              </a:rPr>
              <a:t>L'industria della moda è una delle più impattanti del pianeta.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536192"/>
            <a:ext cx="731520" cy="30000"/>
          </a:xfrm>
          <a:prstGeom prst="rect">
            <a:avLst/>
          </a:prstGeom>
          <a:solidFill>
            <a:srgbClr val="4A6D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2103120"/>
            <a:ext cx="2651760" cy="18288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C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128016" bIns="128016" wrap="square"/>
          <a:lstStyle/>
          <a:p>
            <a:pPr algn="ctr">
              <a:spcAft>
                <a:spcPts val="600"/>
              </a:spcAft>
            </a:pPr>
            <a:r>
              <a:rPr sz="4400" b="1" i="0">
                <a:solidFill>
                  <a:srgbClr val="4A6DDC"/>
                </a:solidFill>
                <a:latin typeface="Calibri"/>
              </a:rPr>
              <a:t>10%</a:t>
            </a:r>
          </a:p>
          <a:p>
            <a:pPr algn="ctr">
              <a:spcAft>
                <a:spcPts val="400"/>
              </a:spcAft>
            </a:pPr>
            <a:r>
              <a:rPr sz="1200" b="0" i="0">
                <a:solidFill>
                  <a:srgbClr val="6B7182"/>
                </a:solidFill>
                <a:latin typeface="Calibri"/>
              </a:rPr>
              <a:t>delle emissioni
globali di CO₂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83280" y="2103120"/>
            <a:ext cx="2651760" cy="18288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C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128016" bIns="128016" wrap="square"/>
          <a:lstStyle/>
          <a:p>
            <a:pPr algn="ctr">
              <a:spcAft>
                <a:spcPts val="600"/>
              </a:spcAft>
            </a:pPr>
            <a:r>
              <a:rPr sz="4400" b="1" i="0">
                <a:solidFill>
                  <a:srgbClr val="C94A5C"/>
                </a:solidFill>
                <a:latin typeface="Calibri"/>
              </a:rPr>
              <a:t>5 mln</a:t>
            </a:r>
          </a:p>
          <a:p>
            <a:pPr algn="ctr">
              <a:spcAft>
                <a:spcPts val="400"/>
              </a:spcAft>
            </a:pPr>
            <a:r>
              <a:rPr sz="1200" b="0" i="0">
                <a:solidFill>
                  <a:srgbClr val="6B7182"/>
                </a:solidFill>
                <a:latin typeface="Calibri"/>
              </a:rPr>
              <a:t>tonnellate di vestiti
buttati in Europa /anno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2103120"/>
            <a:ext cx="2651760" cy="18288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C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128016" bIns="128016" wrap="square"/>
          <a:lstStyle/>
          <a:p>
            <a:pPr algn="ctr">
              <a:spcAft>
                <a:spcPts val="600"/>
              </a:spcAft>
            </a:pPr>
            <a:r>
              <a:rPr sz="4400" b="1" i="0">
                <a:solidFill>
                  <a:srgbClr val="C88B2E"/>
                </a:solidFill>
                <a:latin typeface="Calibri"/>
              </a:rPr>
              <a:t>7×</a:t>
            </a:r>
          </a:p>
          <a:p>
            <a:pPr algn="ctr">
              <a:spcAft>
                <a:spcPts val="400"/>
              </a:spcAft>
            </a:pPr>
            <a:r>
              <a:rPr sz="1200" b="0" i="0">
                <a:solidFill>
                  <a:srgbClr val="6B7182"/>
                </a:solidFill>
                <a:latin typeface="Calibri"/>
              </a:rPr>
              <a:t>utilizzi medi di un
capo fast fashion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052560" y="2103120"/>
            <a:ext cx="2651760" cy="18288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C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128016" bIns="128016" wrap="square"/>
          <a:lstStyle/>
          <a:p>
            <a:pPr algn="ctr">
              <a:spcAft>
                <a:spcPts val="600"/>
              </a:spcAft>
            </a:pPr>
            <a:r>
              <a:rPr sz="4400" b="1" i="0">
                <a:solidFill>
                  <a:srgbClr val="C94A5C"/>
                </a:solidFill>
                <a:latin typeface="Calibri"/>
              </a:rPr>
              <a:t>40%</a:t>
            </a:r>
          </a:p>
          <a:p>
            <a:pPr algn="ctr">
              <a:spcAft>
                <a:spcPts val="400"/>
              </a:spcAft>
            </a:pPr>
            <a:r>
              <a:rPr sz="1200" b="0" i="0">
                <a:solidFill>
                  <a:srgbClr val="6B7182"/>
                </a:solidFill>
                <a:latin typeface="Calibri"/>
              </a:rPr>
              <a:t>del guardaroba medio
mai indossato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38912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A1D27"/>
                </a:solidFill>
                <a:latin typeface="Calibri"/>
              </a:rPr>
              <a:t>Tre comportamenti, a casa nostra: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4937760"/>
            <a:ext cx="11247120" cy="12801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C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128016" bIns="128016" wrap="square"/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1A1D27"/>
                </a:solidFill>
                <a:latin typeface="Calibri"/>
              </a:rPr>
              <a:t>•  Compriamo d'impulso — non sappiamo davvero cosa abbiamo già</a:t>
            </a:r>
          </a:p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1A1D27"/>
                </a:solidFill>
                <a:latin typeface="Calibri"/>
              </a:rPr>
              <a:t>•  Capi 'fantasma' — vestiti dimenticati nell'armadio, mai indossati</a:t>
            </a:r>
          </a:p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1A1D27"/>
                </a:solidFill>
                <a:latin typeface="Calibri"/>
              </a:rPr>
              <a:t>•  Buttiamo invece di riparare, scambiare o donare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182"/>
                </a:solidFill>
                <a:latin typeface="Calibri"/>
              </a:rPr>
              <a:t>ClosetAI · Design per l'innovazione sostenibile · pre-esame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89920" y="6510528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B7182"/>
                </a:solidFill>
                <a:latin typeface="Calibri"/>
              </a:rPr>
              <a:t>2 / 15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9728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4A6DDC"/>
                </a:solidFill>
                <a:latin typeface="Calibri"/>
              </a:rPr>
              <a:t>02 · LA STORIA + LA LEGENDA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31520"/>
            <a:ext cx="109728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A1D27"/>
                </a:solidFill>
                <a:latin typeface="Calibri"/>
              </a:rPr>
              <a:t>Seguiamo un capo, dalla foto al fine vita.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35024"/>
            <a:ext cx="111556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 i="1">
                <a:solidFill>
                  <a:srgbClr val="6B7182"/>
                </a:solidFill>
                <a:latin typeface="Calibri"/>
              </a:rPr>
              <a:t>A ogni tappa: cosa fa l'utente e quale tecnologia lavora dietro.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536192"/>
            <a:ext cx="731520" cy="30000"/>
          </a:xfrm>
          <a:prstGeom prst="rect">
            <a:avLst/>
          </a:prstGeom>
          <a:solidFill>
            <a:srgbClr val="4A6D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874519"/>
            <a:ext cx="1783080" cy="13716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C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128016" bIns="128016" wrap="square"/>
          <a:lstStyle/>
          <a:p>
            <a:pPr algn="ctr">
              <a:spcAft>
                <a:spcPts val="200"/>
              </a:spcAft>
            </a:pPr>
            <a:r>
              <a:rPr sz="1300" b="1" i="0">
                <a:solidFill>
                  <a:srgbClr val="4A6DDC"/>
                </a:solidFill>
                <a:latin typeface="Calibri"/>
              </a:rPr>
              <a:t>1</a:t>
            </a:r>
          </a:p>
          <a:p>
            <a:pPr algn="ctr">
              <a:spcAft>
                <a:spcPts val="400"/>
              </a:spcAft>
            </a:pPr>
            <a:r>
              <a:rPr sz="1200" b="0" i="0">
                <a:solidFill>
                  <a:srgbClr val="1A1D27"/>
                </a:solidFill>
                <a:latin typeface="Calibri"/>
              </a:rPr>
              <a:t>📷
Lo fotografo</a:t>
            </a:r>
          </a:p>
        </p:txBody>
      </p:sp>
      <p:sp>
        <p:nvSpPr>
          <p:cNvPr id="7" name="Right Arrow 6"/>
          <p:cNvSpPr/>
          <p:nvPr/>
        </p:nvSpPr>
        <p:spPr>
          <a:xfrm>
            <a:off x="2336292" y="2423160"/>
            <a:ext cx="100584" cy="274320"/>
          </a:xfrm>
          <a:prstGeom prst="rightArrow">
            <a:avLst/>
          </a:prstGeom>
          <a:solidFill>
            <a:srgbClr val="4A6D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441448" y="1874519"/>
            <a:ext cx="1783080" cy="13716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C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128016" bIns="128016" wrap="square"/>
          <a:lstStyle/>
          <a:p>
            <a:pPr algn="ctr">
              <a:spcAft>
                <a:spcPts val="200"/>
              </a:spcAft>
            </a:pPr>
            <a:r>
              <a:rPr sz="1300" b="1" i="0">
                <a:solidFill>
                  <a:srgbClr val="4A6DDC"/>
                </a:solidFill>
                <a:latin typeface="Calibri"/>
              </a:rPr>
              <a:t>2</a:t>
            </a:r>
          </a:p>
          <a:p>
            <a:pPr algn="ctr">
              <a:spcAft>
                <a:spcPts val="400"/>
              </a:spcAft>
            </a:pPr>
            <a:r>
              <a:rPr sz="1200" b="0" i="0">
                <a:solidFill>
                  <a:srgbClr val="1A1D27"/>
                </a:solidFill>
                <a:latin typeface="Calibri"/>
              </a:rPr>
              <a:t>✓
Lo indosso</a:t>
            </a:r>
          </a:p>
        </p:txBody>
      </p:sp>
      <p:sp>
        <p:nvSpPr>
          <p:cNvPr id="9" name="Right Arrow 8"/>
          <p:cNvSpPr/>
          <p:nvPr/>
        </p:nvSpPr>
        <p:spPr>
          <a:xfrm>
            <a:off x="4229100" y="2423160"/>
            <a:ext cx="100584" cy="274320"/>
          </a:xfrm>
          <a:prstGeom prst="rightArrow">
            <a:avLst/>
          </a:prstGeom>
          <a:solidFill>
            <a:srgbClr val="4A6D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334256" y="1874519"/>
            <a:ext cx="1783080" cy="13716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C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128016" bIns="128016" wrap="square"/>
          <a:lstStyle/>
          <a:p>
            <a:pPr algn="ctr">
              <a:spcAft>
                <a:spcPts val="200"/>
              </a:spcAft>
            </a:pPr>
            <a:r>
              <a:rPr sz="1300" b="1" i="0">
                <a:solidFill>
                  <a:srgbClr val="4A6DDC"/>
                </a:solidFill>
                <a:latin typeface="Calibri"/>
              </a:rPr>
              <a:t>3</a:t>
            </a:r>
          </a:p>
          <a:p>
            <a:pPr algn="ctr">
              <a:spcAft>
                <a:spcPts val="400"/>
              </a:spcAft>
            </a:pPr>
            <a:r>
              <a:rPr sz="1200" b="0" i="0">
                <a:solidFill>
                  <a:srgbClr val="1A1D27"/>
                </a:solidFill>
                <a:latin typeface="Calibri"/>
              </a:rPr>
              <a:t>👗
Cosa metto?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6121908" y="2423160"/>
            <a:ext cx="100584" cy="274320"/>
          </a:xfrm>
          <a:prstGeom prst="rightArrow">
            <a:avLst/>
          </a:prstGeom>
          <a:solidFill>
            <a:srgbClr val="4A6D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227064" y="1874519"/>
            <a:ext cx="1783080" cy="13716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C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128016" bIns="128016" wrap="square"/>
          <a:lstStyle/>
          <a:p>
            <a:pPr algn="ctr">
              <a:spcAft>
                <a:spcPts val="200"/>
              </a:spcAft>
            </a:pPr>
            <a:r>
              <a:rPr sz="1300" b="1" i="0">
                <a:solidFill>
                  <a:srgbClr val="4A6DDC"/>
                </a:solidFill>
                <a:latin typeface="Calibri"/>
              </a:rPr>
              <a:t>4</a:t>
            </a:r>
          </a:p>
          <a:p>
            <a:pPr algn="ctr">
              <a:spcAft>
                <a:spcPts val="400"/>
              </a:spcAft>
            </a:pPr>
            <a:r>
              <a:rPr sz="1200" b="0" i="0">
                <a:solidFill>
                  <a:srgbClr val="1A1D27"/>
                </a:solidFill>
                <a:latin typeface="Calibri"/>
              </a:rPr>
              <a:t>🛠️
Si è rovinato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8014716" y="2423160"/>
            <a:ext cx="100584" cy="274320"/>
          </a:xfrm>
          <a:prstGeom prst="rightArrow">
            <a:avLst/>
          </a:prstGeom>
          <a:solidFill>
            <a:srgbClr val="4A6D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119872" y="1874519"/>
            <a:ext cx="1783080" cy="13716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C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128016" bIns="128016" wrap="square"/>
          <a:lstStyle/>
          <a:p>
            <a:pPr algn="ctr">
              <a:spcAft>
                <a:spcPts val="200"/>
              </a:spcAft>
            </a:pPr>
            <a:r>
              <a:rPr sz="1300" b="1" i="0">
                <a:solidFill>
                  <a:srgbClr val="4A6DDC"/>
                </a:solidFill>
                <a:latin typeface="Calibri"/>
              </a:rPr>
              <a:t>5</a:t>
            </a:r>
          </a:p>
          <a:p>
            <a:pPr algn="ctr">
              <a:spcAft>
                <a:spcPts val="400"/>
              </a:spcAft>
            </a:pPr>
            <a:r>
              <a:rPr sz="1200" b="0" i="0">
                <a:solidFill>
                  <a:srgbClr val="1A1D27"/>
                </a:solidFill>
                <a:latin typeface="Calibri"/>
              </a:rPr>
              <a:t>🧩
Mi serve altro?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9907524" y="2423160"/>
            <a:ext cx="100584" cy="274320"/>
          </a:xfrm>
          <a:prstGeom prst="rightArrow">
            <a:avLst/>
          </a:prstGeom>
          <a:solidFill>
            <a:srgbClr val="4A6D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0012680" y="1874519"/>
            <a:ext cx="1783080" cy="13716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C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128016" bIns="128016" wrap="square"/>
          <a:lstStyle/>
          <a:p>
            <a:pPr algn="ctr">
              <a:spcAft>
                <a:spcPts val="200"/>
              </a:spcAft>
            </a:pPr>
            <a:r>
              <a:rPr sz="1300" b="1" i="0">
                <a:solidFill>
                  <a:srgbClr val="4A6DDC"/>
                </a:solidFill>
                <a:latin typeface="Calibri"/>
              </a:rPr>
              <a:t>6</a:t>
            </a:r>
          </a:p>
          <a:p>
            <a:pPr algn="ctr">
              <a:spcAft>
                <a:spcPts val="400"/>
              </a:spcAft>
            </a:pPr>
            <a:r>
              <a:rPr sz="1200" b="0" i="0">
                <a:solidFill>
                  <a:srgbClr val="1A1D27"/>
                </a:solidFill>
                <a:latin typeface="Calibri"/>
              </a:rPr>
              <a:t>♻️
Lo lascio andare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36576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1D27"/>
                </a:solidFill>
                <a:latin typeface="Calibri"/>
              </a:rPr>
              <a:t>Le quattro nature della tecnologia (codice colore in tutta la presentazione):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114800"/>
            <a:ext cx="2743200" cy="2011680"/>
          </a:xfrm>
          <a:prstGeom prst="roundRect">
            <a:avLst/>
          </a:prstGeom>
          <a:solidFill>
            <a:srgbClr val="E0E8FA"/>
          </a:solidFill>
          <a:ln w="9525">
            <a:solidFill>
              <a:srgbClr val="4A6D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128016" bIns="128016" wrap="square"/>
          <a:lstStyle/>
          <a:p>
            <a:pPr algn="ctr">
              <a:spcAft>
                <a:spcPts val="800"/>
              </a:spcAft>
            </a:pPr>
            <a:r>
              <a:rPr sz="1200" b="1" i="0">
                <a:solidFill>
                  <a:srgbClr val="4A6DDC"/>
                </a:solidFill>
                <a:latin typeface="Calibri"/>
              </a:rPr>
              <a:t>🟦 AI PRE-ADDESTRATA</a:t>
            </a:r>
          </a:p>
          <a:p>
            <a:pPr algn="ctr">
              <a:spcAft>
                <a:spcPts val="400"/>
              </a:spcAft>
            </a:pPr>
            <a:r>
              <a:rPr sz="1100" b="0" i="0">
                <a:solidFill>
                  <a:srgbClr val="6B7182"/>
                </a:solidFill>
                <a:latin typeface="Calibri"/>
              </a:rPr>
              <a:t>Riconosce, da un modello già addestrato da altri.
Es. Fashion-CLIP riconosce i capi.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383280" y="4114800"/>
            <a:ext cx="2743200" cy="2011680"/>
          </a:xfrm>
          <a:prstGeom prst="roundRect">
            <a:avLst/>
          </a:prstGeom>
          <a:solidFill>
            <a:srgbClr val="DCEFE7"/>
          </a:solidFill>
          <a:ln w="9525">
            <a:solidFill>
              <a:srgbClr val="2F8F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128016" bIns="128016" wrap="square"/>
          <a:lstStyle/>
          <a:p>
            <a:pPr algn="ctr">
              <a:spcAft>
                <a:spcPts val="800"/>
              </a:spcAft>
            </a:pPr>
            <a:r>
              <a:rPr sz="1200" b="1" i="0">
                <a:solidFill>
                  <a:srgbClr val="2F8F6E"/>
                </a:solidFill>
                <a:latin typeface="Calibri"/>
              </a:rPr>
              <a:t>🟩 AI ALLENATA DA NOI</a:t>
            </a:r>
          </a:p>
          <a:p>
            <a:pPr algn="ctr">
              <a:spcAft>
                <a:spcPts val="400"/>
              </a:spcAft>
            </a:pPr>
            <a:r>
              <a:rPr sz="1100" b="0" i="0">
                <a:solidFill>
                  <a:srgbClr val="6B7182"/>
                </a:solidFill>
                <a:latin typeface="Calibri"/>
              </a:rPr>
              <a:t>Una rete che abbiamo addestrato noi.
Es. stato del capo, vuoti del guardaroba.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17920" y="4114800"/>
            <a:ext cx="2743200" cy="2011680"/>
          </a:xfrm>
          <a:prstGeom prst="roundRect">
            <a:avLst/>
          </a:prstGeom>
          <a:solidFill>
            <a:srgbClr val="ECE4F7"/>
          </a:solidFill>
          <a:ln w="9525">
            <a:solidFill>
              <a:srgbClr val="7A4F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128016" bIns="128016" wrap="square"/>
          <a:lstStyle/>
          <a:p>
            <a:pPr algn="ctr">
              <a:spcAft>
                <a:spcPts val="800"/>
              </a:spcAft>
            </a:pPr>
            <a:r>
              <a:rPr sz="1200" b="1" i="0">
                <a:solidFill>
                  <a:srgbClr val="7A4FC4"/>
                </a:solidFill>
                <a:latin typeface="Calibri"/>
              </a:rPr>
              <a:t>🟪 AI GENERATIVA</a:t>
            </a:r>
          </a:p>
          <a:p>
            <a:pPr algn="ctr">
              <a:spcAft>
                <a:spcPts val="400"/>
              </a:spcAft>
            </a:pPr>
            <a:r>
              <a:rPr sz="1100" b="0" i="0">
                <a:solidFill>
                  <a:srgbClr val="6B7182"/>
                </a:solidFill>
                <a:latin typeface="Calibri"/>
              </a:rPr>
              <a:t>Produce contenuti nuovi (testi, immagini).
Es. tutorial, descrizioni, try-on.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52560" y="4114800"/>
            <a:ext cx="2743200" cy="2011680"/>
          </a:xfrm>
          <a:prstGeom prst="roundRect">
            <a:avLst/>
          </a:prstGeom>
          <a:solidFill>
            <a:srgbClr val="F6ECD8"/>
          </a:solidFill>
          <a:ln w="9525">
            <a:solidFill>
              <a:srgbClr val="C88B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128016" bIns="128016" wrap="square"/>
          <a:lstStyle/>
          <a:p>
            <a:pPr algn="ctr">
              <a:spcAft>
                <a:spcPts val="800"/>
              </a:spcAft>
            </a:pPr>
            <a:r>
              <a:rPr sz="1200" b="1" i="0">
                <a:solidFill>
                  <a:srgbClr val="C88B2E"/>
                </a:solidFill>
                <a:latin typeface="Calibri"/>
              </a:rPr>
              <a:t>🟨 REGOLE / TABELLE</a:t>
            </a:r>
          </a:p>
          <a:p>
            <a:pPr algn="ctr">
              <a:spcAft>
                <a:spcPts val="400"/>
              </a:spcAft>
            </a:pPr>
            <a:r>
              <a:rPr sz="1100" b="0" i="0">
                <a:solidFill>
                  <a:srgbClr val="6B7182"/>
                </a:solidFill>
                <a:latin typeface="Calibri"/>
              </a:rPr>
              <a:t>Logica esplicita e trasparente, niente ML.
Es. cost-per-wear, tabella CO₂.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6510528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182"/>
                </a:solidFill>
                <a:latin typeface="Calibri"/>
              </a:rPr>
              <a:t>ClosetAI · Design per l'innovazione sostenibile · pre-esame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89920" y="6510528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B7182"/>
                </a:solidFill>
                <a:latin typeface="Calibri"/>
              </a:rPr>
              <a:t>3 / 15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9728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4A6DDC"/>
                </a:solidFill>
                <a:latin typeface="Calibri"/>
              </a:rPr>
              <a:t>TAPPA 1 · «L'HO APPENA COMPRATO»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31520"/>
            <a:ext cx="109728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A1D27"/>
                </a:solidFill>
                <a:latin typeface="Calibri"/>
              </a:rPr>
              <a:t>Lo fotografo, l'app lo riconosce.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35024"/>
            <a:ext cx="111556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 i="1">
                <a:solidFill>
                  <a:srgbClr val="6B7182"/>
                </a:solidFill>
                <a:latin typeface="Calibri"/>
              </a:rPr>
              <a:t>Niente moduli da compilare: basta una foto.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536192"/>
            <a:ext cx="731520" cy="30000"/>
          </a:xfrm>
          <a:prstGeom prst="rect">
            <a:avLst/>
          </a:prstGeom>
          <a:solidFill>
            <a:srgbClr val="4A6D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828800"/>
            <a:ext cx="54406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A1D27"/>
                </a:solidFill>
                <a:latin typeface="Calibri"/>
              </a:rPr>
              <a:t>👤  LATO UTENTE — cosa vede e fa</a:t>
            </a:r>
          </a:p>
        </p:txBody>
      </p:sp>
      <p:pic>
        <p:nvPicPr>
          <p:cNvPr id="7" name="Picture 6" descr="01-h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240280"/>
            <a:ext cx="5440680" cy="38404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355080" y="1828800"/>
            <a:ext cx="54406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A1D27"/>
                </a:solidFill>
                <a:latin typeface="Calibri"/>
              </a:rPr>
              <a:t>⚙️  LATO TECNICO — cosa succede dietro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55080" y="2240280"/>
            <a:ext cx="5440680" cy="37947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C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128016" bIns="128016" wrap="square"/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4A6DDC"/>
                </a:solidFill>
                <a:latin typeface="Calibri"/>
              </a:rPr>
              <a:t>🟦 AI PRE-ADDESTRATA</a:t>
            </a:r>
          </a:p>
          <a:p>
            <a:pPr algn="l">
              <a:spcAft>
                <a:spcPts val="200"/>
              </a:spcAft>
            </a:pPr>
            <a:r>
              <a:rPr sz="400" b="0" i="0">
                <a:solidFill>
                  <a:srgbClr val="1A1D27"/>
                </a:solidFill>
                <a:latin typeface="Calibr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1A1D27"/>
                </a:solidFill>
                <a:latin typeface="Calibri"/>
              </a:rPr>
              <a:t>Fashion-CLIP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6B7182"/>
                </a:solidFill>
                <a:latin typeface="Calibri"/>
              </a:rPr>
              <a:t>Rete neurale pre-addestrata su 700.000 immagini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6B7182"/>
                </a:solidFill>
                <a:latin typeface="Calibri"/>
              </a:rPr>
              <a:t>di moda. Riconosce la categoria (t-shirt, giacca…)</a:t>
            </a:r>
          </a:p>
          <a:p>
            <a:pPr algn="l">
              <a:spcAft>
                <a:spcPts val="1000"/>
              </a:spcAft>
            </a:pPr>
            <a:r>
              <a:rPr sz="1200" b="0" i="0">
                <a:solidFill>
                  <a:srgbClr val="6B7182"/>
                </a:solidFill>
                <a:latin typeface="Calibri"/>
              </a:rPr>
              <a:t>e produce un 'embedding' del capo.</a:t>
            </a:r>
          </a:p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4A6DDC"/>
                </a:solidFill>
                <a:latin typeface="Calibri"/>
              </a:rPr>
              <a:t>Perché pre-addestrata e non nostra?</a:t>
            </a:r>
          </a:p>
          <a:p>
            <a:pPr algn="l">
              <a:spcAft>
                <a:spcPts val="200"/>
              </a:spcAft>
            </a:pPr>
            <a:r>
              <a:rPr sz="1100" b="0" i="0">
                <a:solidFill>
                  <a:srgbClr val="6B7182"/>
                </a:solidFill>
                <a:latin typeface="Calibri"/>
              </a:rPr>
              <a:t>Riaddestrarla servirebbero decine di migliaia di</a:t>
            </a:r>
          </a:p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6B7182"/>
                </a:solidFill>
                <a:latin typeface="Calibri"/>
              </a:rPr>
              <a:t>foto etichettate: la usiamo già pronta.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510528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182"/>
                </a:solidFill>
                <a:latin typeface="Calibri"/>
              </a:rPr>
              <a:t>ClosetAI · Design per l'innovazione sostenibile · pre-esame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89920" y="6510528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B7182"/>
                </a:solidFill>
                <a:latin typeface="Calibri"/>
              </a:rPr>
              <a:t>4 / 15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9728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4A6DDC"/>
                </a:solidFill>
                <a:latin typeface="Calibri"/>
              </a:rPr>
              <a:t>TAPPA 2 · «OGGI L'HO MESSO»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31520"/>
            <a:ext cx="109728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A1D27"/>
                </a:solidFill>
                <a:latin typeface="Calibri"/>
              </a:rPr>
              <a:t>Lo indosso, l'app tiene il conto.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35024"/>
            <a:ext cx="111556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 i="1">
                <a:solidFill>
                  <a:srgbClr val="6B7182"/>
                </a:solidFill>
                <a:latin typeface="Calibri"/>
              </a:rPr>
              <a:t>Un solo tap trasforma l'armadio in dati utili.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536192"/>
            <a:ext cx="731520" cy="30000"/>
          </a:xfrm>
          <a:prstGeom prst="rect">
            <a:avLst/>
          </a:prstGeom>
          <a:solidFill>
            <a:srgbClr val="4A6D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828800"/>
            <a:ext cx="54406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A1D27"/>
                </a:solidFill>
                <a:latin typeface="Calibri"/>
              </a:rPr>
              <a:t>👤  LATO UTENTE — cosa vede e fa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240280"/>
            <a:ext cx="5440680" cy="3749039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C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128016" bIns="128016" wrap="square"/>
          <a:lstStyle/>
          <a:p>
            <a:pPr algn="l">
              <a:spcAft>
                <a:spcPts val="1000"/>
              </a:spcAft>
            </a:pPr>
            <a:r>
              <a:rPr sz="1500" b="1" i="0">
                <a:solidFill>
                  <a:srgbClr val="1A1D27"/>
                </a:solidFill>
                <a:latin typeface="Calibri"/>
              </a:rPr>
              <a:t>Marco tocca '✓ indossato oggi'.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6B7182"/>
                </a:solidFill>
                <a:latin typeface="Calibri"/>
              </a:rPr>
              <a:t>Col tempo scopre quanto gli costa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6B7182"/>
                </a:solidFill>
                <a:latin typeface="Calibri"/>
              </a:rPr>
              <a:t>davvero ogni capo (cost-per-wear) e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6B7182"/>
                </a:solidFill>
                <a:latin typeface="Calibri"/>
              </a:rPr>
              <a:t>quali sono i suoi capi 'fantasma' —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6B7182"/>
                </a:solidFill>
                <a:latin typeface="Calibri"/>
              </a:rPr>
              <a:t>mai indossati da mesi.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55080" y="1828800"/>
            <a:ext cx="54406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A1D27"/>
                </a:solidFill>
                <a:latin typeface="Calibri"/>
              </a:rPr>
              <a:t>⚙️  LATO TECNICO — cosa succede dietro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55080" y="2240280"/>
            <a:ext cx="5440680" cy="37947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C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128016" bIns="128016" wrap="square"/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C88B2E"/>
                </a:solidFill>
                <a:latin typeface="Calibri"/>
              </a:rPr>
              <a:t>🟨 REGOLE / TABELLE</a:t>
            </a:r>
          </a:p>
          <a:p>
            <a:pPr algn="l">
              <a:spcAft>
                <a:spcPts val="200"/>
              </a:spcAft>
            </a:pPr>
            <a:r>
              <a:rPr sz="400" b="0" i="0">
                <a:solidFill>
                  <a:srgbClr val="1A1D27"/>
                </a:solidFill>
                <a:latin typeface="Calibri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1A1D27"/>
                </a:solidFill>
                <a:latin typeface="Calibri"/>
              </a:rPr>
              <a:t>Wear log + due calcoli</a:t>
            </a:r>
          </a:p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6B7182"/>
                </a:solidFill>
                <a:latin typeface="Calibri"/>
              </a:rPr>
              <a:t>• cost-per-wear = prezzo ÷ numero di utilizzi</a:t>
            </a:r>
          </a:p>
          <a:p>
            <a:pPr algn="l">
              <a:spcAft>
                <a:spcPts val="1000"/>
              </a:spcAft>
            </a:pPr>
            <a:r>
              <a:rPr sz="1200" b="0" i="0">
                <a:solidFill>
                  <a:srgbClr val="6B7182"/>
                </a:solidFill>
                <a:latin typeface="Calibri"/>
              </a:rPr>
              <a:t>• capo fantasma = 0 utilizzi dopo N giorni</a:t>
            </a:r>
          </a:p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C88B2E"/>
                </a:solidFill>
                <a:latin typeface="Calibri"/>
              </a:rPr>
              <a:t>Perché regole e non una rete?</a:t>
            </a:r>
          </a:p>
          <a:p>
            <a:pPr algn="l">
              <a:spcAft>
                <a:spcPts val="200"/>
              </a:spcAft>
            </a:pPr>
            <a:r>
              <a:rPr sz="1100" b="0" i="0">
                <a:solidFill>
                  <a:srgbClr val="6B7182"/>
                </a:solidFill>
                <a:latin typeface="Calibri"/>
              </a:rPr>
              <a:t>Sono formule esatte e trasparenti: una divisione</a:t>
            </a:r>
          </a:p>
          <a:p>
            <a:pPr algn="l">
              <a:spcAft>
                <a:spcPts val="200"/>
              </a:spcAft>
            </a:pPr>
            <a:r>
              <a:rPr sz="1100" b="0" i="0">
                <a:solidFill>
                  <a:srgbClr val="6B7182"/>
                </a:solidFill>
                <a:latin typeface="Calibri"/>
              </a:rPr>
              <a:t>e una soglia. Una rete qui sarebbe inutile e meno</a:t>
            </a:r>
          </a:p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6B7182"/>
                </a:solidFill>
                <a:latin typeface="Calibri"/>
              </a:rPr>
              <a:t>affidabile di un conto che torna sempre.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510528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182"/>
                </a:solidFill>
                <a:latin typeface="Calibri"/>
              </a:rPr>
              <a:t>ClosetAI · Design per l'innovazione sostenibile · pre-esame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89920" y="6510528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B7182"/>
                </a:solidFill>
                <a:latin typeface="Calibri"/>
              </a:rPr>
              <a:t>5 / 15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9728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4A6DDC"/>
                </a:solidFill>
                <a:latin typeface="Calibri"/>
              </a:rPr>
              <a:t>TAPPA 3 · «COSA MI METTO OGGI?»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31520"/>
            <a:ext cx="109728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A1D27"/>
                </a:solidFill>
                <a:latin typeface="Calibri"/>
              </a:rPr>
              <a:t>L'app propone l'outfit del giorno.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35024"/>
            <a:ext cx="111556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 i="1">
                <a:solidFill>
                  <a:srgbClr val="6B7182"/>
                </a:solidFill>
                <a:latin typeface="Calibri"/>
              </a:rPr>
              <a:t>Dai capi che già possiede, non da un catalogo da comprare.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536192"/>
            <a:ext cx="731520" cy="30000"/>
          </a:xfrm>
          <a:prstGeom prst="rect">
            <a:avLst/>
          </a:prstGeom>
          <a:solidFill>
            <a:srgbClr val="4A6D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828800"/>
            <a:ext cx="54406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A1D27"/>
                </a:solidFill>
                <a:latin typeface="Calibri"/>
              </a:rPr>
              <a:t>👤  LATO UTENTE — cosa vede e fa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240280"/>
            <a:ext cx="5440680" cy="3840480"/>
          </a:xfrm>
          <a:prstGeom prst="roundRect">
            <a:avLst/>
          </a:prstGeom>
          <a:solidFill>
            <a:srgbClr val="E0E8FA"/>
          </a:solidFill>
          <a:ln w="9525">
            <a:solidFill>
              <a:srgbClr val="4A6D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128016" bIns="128016" wrap="square"/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4A6DDC"/>
                </a:solidFill>
                <a:latin typeface="Calibri"/>
              </a:rPr>
              <a:t>[ screenshot ]</a:t>
            </a:r>
          </a:p>
          <a:p>
            <a:pPr algn="ctr">
              <a:spcAft>
                <a:spcPts val="400"/>
              </a:spcAft>
            </a:pPr>
            <a:r>
              <a:rPr sz="1000" b="0" i="0">
                <a:solidFill>
                  <a:srgbClr val="6B7182"/>
                </a:solidFill>
                <a:latin typeface="Calibri"/>
              </a:rPr>
              <a:t>04-today.png</a:t>
            </a:r>
          </a:p>
          <a:p>
            <a:pPr algn="ctr">
              <a:spcAft>
                <a:spcPts val="400"/>
              </a:spcAft>
            </a:pPr>
            <a:r>
              <a:rPr sz="1000" b="0" i="1">
                <a:solidFill>
                  <a:srgbClr val="6B7182"/>
                </a:solidFill>
                <a:latin typeface="Calibri"/>
              </a:rPr>
              <a:t>proposte outfit + meteo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55080" y="1828800"/>
            <a:ext cx="54406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A1D27"/>
                </a:solidFill>
                <a:latin typeface="Calibri"/>
              </a:rPr>
              <a:t>⚙️  LATO TECNICO — cosa succede dietro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55080" y="2240280"/>
            <a:ext cx="5440680" cy="37947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C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128016" bIns="128016" wrap="square"/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C88B2E"/>
                </a:solidFill>
                <a:latin typeface="Calibri"/>
              </a:rPr>
              <a:t>🟨 REGOLE / TABELLE</a:t>
            </a:r>
          </a:p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4A6DDC"/>
                </a:solidFill>
                <a:latin typeface="Calibri"/>
              </a:rPr>
              <a:t>🟦 AI PRE-ADDESTRATA</a:t>
            </a:r>
          </a:p>
          <a:p>
            <a:pPr algn="l">
              <a:spcAft>
                <a:spcPts val="200"/>
              </a:spcAft>
            </a:pPr>
            <a:r>
              <a:rPr sz="400" b="0" i="0">
                <a:solidFill>
                  <a:srgbClr val="1A1D27"/>
                </a:solidFill>
                <a:latin typeface="Calibri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1A1D27"/>
                </a:solidFill>
                <a:latin typeface="Calibri"/>
              </a:rPr>
              <a:t>Recommender: regole + embedding + meteo</a:t>
            </a:r>
          </a:p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6B7182"/>
                </a:solidFill>
                <a:latin typeface="Calibri"/>
              </a:rPr>
              <a:t>• 🟨 regole di colore (complementari, neutri…)</a:t>
            </a:r>
          </a:p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6B7182"/>
                </a:solidFill>
                <a:latin typeface="Calibri"/>
              </a:rPr>
              <a:t>• 🟨 filtro meteo via API Open-Meteo</a:t>
            </a:r>
          </a:p>
          <a:p>
            <a:pPr algn="l">
              <a:spcAft>
                <a:spcPts val="1000"/>
              </a:spcAft>
            </a:pPr>
            <a:r>
              <a:rPr sz="1200" b="0" i="0">
                <a:solidFill>
                  <a:srgbClr val="6B7182"/>
                </a:solidFill>
                <a:latin typeface="Calibri"/>
              </a:rPr>
              <a:t>• 🟦 l'embedding di Fashion-CLIP dà varietà</a:t>
            </a:r>
          </a:p>
          <a:p>
            <a:pPr algn="l">
              <a:spcAft>
                <a:spcPts val="200"/>
              </a:spcAft>
            </a:pPr>
            <a:r>
              <a:rPr sz="1100" b="0" i="1">
                <a:solidFill>
                  <a:srgbClr val="6B7182"/>
                </a:solidFill>
                <a:latin typeface="Calibri"/>
              </a:rPr>
              <a:t>Un mix: la logica estetica è scritta a mano,</a:t>
            </a:r>
          </a:p>
          <a:p>
            <a:pPr algn="l">
              <a:spcAft>
                <a:spcPts val="400"/>
              </a:spcAft>
            </a:pPr>
            <a:r>
              <a:rPr sz="1100" b="0" i="1">
                <a:solidFill>
                  <a:srgbClr val="6B7182"/>
                </a:solidFill>
                <a:latin typeface="Calibri"/>
              </a:rPr>
              <a:t>ma sfrutta la 'percezione' del modello pre-addestrato.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510528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182"/>
                </a:solidFill>
                <a:latin typeface="Calibri"/>
              </a:rPr>
              <a:t>ClosetAI · Design per l'innovazione sostenibile · pre-esame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89920" y="6510528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B7182"/>
                </a:solidFill>
                <a:latin typeface="Calibri"/>
              </a:rPr>
              <a:t>6 / 15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9728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4A6DDC"/>
                </a:solidFill>
                <a:latin typeface="Calibri"/>
              </a:rPr>
              <a:t>TAPPA 4 · «SI È ROVINATO»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31520"/>
            <a:ext cx="109728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A1D27"/>
                </a:solidFill>
                <a:latin typeface="Calibri"/>
              </a:rPr>
              <a:t>L'app capisce lo stato e spiega come salvarlo.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35024"/>
            <a:ext cx="111556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 i="1">
                <a:solidFill>
                  <a:srgbClr val="6B7182"/>
                </a:solidFill>
                <a:latin typeface="Calibri"/>
              </a:rPr>
              <a:t>Qui lavorano insieme una rete nostra e l'AI generativa.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536192"/>
            <a:ext cx="731520" cy="30000"/>
          </a:xfrm>
          <a:prstGeom prst="rect">
            <a:avLst/>
          </a:prstGeom>
          <a:solidFill>
            <a:srgbClr val="4A6D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828800"/>
            <a:ext cx="54406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A1D27"/>
                </a:solidFill>
                <a:latin typeface="Calibri"/>
              </a:rPr>
              <a:t>👤  LATO UTENTE — cosa vede e fa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240280"/>
            <a:ext cx="5440680" cy="3749039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C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128016" bIns="128016" wrap="square"/>
          <a:lstStyle/>
          <a:p>
            <a:pPr algn="l">
              <a:spcAft>
                <a:spcPts val="1000"/>
              </a:spcAft>
            </a:pPr>
            <a:r>
              <a:rPr sz="1500" b="1" i="0">
                <a:solidFill>
                  <a:srgbClr val="1A1D27"/>
                </a:solidFill>
                <a:latin typeface="Calibri"/>
              </a:rPr>
              <a:t>Marco fotografa un capo logoro.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6B7182"/>
                </a:solidFill>
                <a:latin typeface="Calibri"/>
              </a:rPr>
              <a:t>L'app gli dice se è usurato o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6B7182"/>
                </a:solidFill>
                <a:latin typeface="Calibri"/>
              </a:rPr>
              <a:t>danneggiato, e gli propone un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6B7182"/>
                </a:solidFill>
                <a:latin typeface="Calibri"/>
              </a:rPr>
              <a:t>tutorial di riparazione scritto su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6B7182"/>
                </a:solidFill>
                <a:latin typeface="Calibri"/>
              </a:rPr>
              <a:t>misura per quel capo — invece di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6B7182"/>
                </a:solidFill>
                <a:latin typeface="Calibri"/>
              </a:rPr>
              <a:t>buttarlo.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55080" y="1828800"/>
            <a:ext cx="54406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A1D27"/>
                </a:solidFill>
                <a:latin typeface="Calibri"/>
              </a:rPr>
              <a:t>⚙️  LATO TECNICO — cosa succede dietro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55080" y="2240280"/>
            <a:ext cx="5440680" cy="37947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C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128016" bIns="128016" wrap="square"/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2F8F6E"/>
                </a:solidFill>
                <a:latin typeface="Calibri"/>
              </a:rPr>
              <a:t>🟩 AI ALLENATA DA NOI</a:t>
            </a:r>
          </a:p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7A4FC4"/>
                </a:solidFill>
                <a:latin typeface="Calibri"/>
              </a:rPr>
              <a:t>🟪 AI GENERATIVA</a:t>
            </a:r>
          </a:p>
          <a:p>
            <a:pPr algn="l">
              <a:spcAft>
                <a:spcPts val="200"/>
              </a:spcAft>
            </a:pPr>
            <a:r>
              <a:rPr sz="400" b="0" i="0">
                <a:solidFill>
                  <a:srgbClr val="1A1D27"/>
                </a:solidFill>
                <a:latin typeface="Calibri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1A1D27"/>
                </a:solidFill>
                <a:latin typeface="Calibri"/>
              </a:rPr>
              <a:t>Due AI in sequenza</a:t>
            </a:r>
          </a:p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2F8F6E"/>
                </a:solidFill>
                <a:latin typeface="Calibri"/>
              </a:rPr>
              <a:t>🟩 Rete dello STATO (addestrata da noi)</a:t>
            </a:r>
          </a:p>
          <a:p>
            <a:pPr algn="l">
              <a:spcAft>
                <a:spcPts val="800"/>
              </a:spcAft>
            </a:pPr>
            <a:r>
              <a:rPr sz="1100" b="0" i="0">
                <a:solidFill>
                  <a:srgbClr val="6B7182"/>
                </a:solidFill>
                <a:latin typeface="Calibri"/>
              </a:rPr>
              <a:t>dalla foto → nuovo / usurato / danneggiato.</a:t>
            </a:r>
          </a:p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7A4FC4"/>
                </a:solidFill>
                <a:latin typeface="Calibri"/>
              </a:rPr>
              <a:t>🟪 Tutorial GENERATIVO</a:t>
            </a:r>
          </a:p>
          <a:p>
            <a:pPr algn="l">
              <a:spcAft>
                <a:spcPts val="200"/>
              </a:spcAft>
            </a:pPr>
            <a:r>
              <a:rPr sz="1100" b="0" i="0">
                <a:solidFill>
                  <a:srgbClr val="6B7182"/>
                </a:solidFill>
                <a:latin typeface="Calibri"/>
              </a:rPr>
              <a:t>un LLM/VLM scrive le istruzioni di riparazione</a:t>
            </a:r>
          </a:p>
          <a:p>
            <a:pPr algn="l">
              <a:spcAft>
                <a:spcPts val="800"/>
              </a:spcAft>
            </a:pPr>
            <a:r>
              <a:rPr sz="1100" b="0" i="0">
                <a:solidFill>
                  <a:srgbClr val="6B7182"/>
                </a:solidFill>
                <a:latin typeface="Calibri"/>
              </a:rPr>
              <a:t>personalizzate sul capo (colore, punto del danno).</a:t>
            </a:r>
          </a:p>
          <a:p>
            <a:pPr algn="l">
              <a:spcAft>
                <a:spcPts val="200"/>
              </a:spcAft>
            </a:pPr>
            <a:r>
              <a:rPr sz="1100" b="0" i="1">
                <a:solidFill>
                  <a:srgbClr val="6B7182"/>
                </a:solidFill>
                <a:latin typeface="Calibri"/>
              </a:rPr>
              <a:t>Riconoscere lo stato = classificare (rete nostra).</a:t>
            </a:r>
          </a:p>
          <a:p>
            <a:pPr algn="l">
              <a:spcAft>
                <a:spcPts val="400"/>
              </a:spcAft>
            </a:pPr>
            <a:r>
              <a:rPr sz="1100" b="0" i="1">
                <a:solidFill>
                  <a:srgbClr val="6B7182"/>
                </a:solidFill>
                <a:latin typeface="Calibri"/>
              </a:rPr>
              <a:t>Scrivere il tutorial = creare testo (generativa).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510528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182"/>
                </a:solidFill>
                <a:latin typeface="Calibri"/>
              </a:rPr>
              <a:t>ClosetAI · Design per l'innovazione sostenibile · pre-esame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89920" y="6510528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B7182"/>
                </a:solidFill>
                <a:latin typeface="Calibri"/>
              </a:rPr>
              <a:t>7 / 15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9728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4A6DDC"/>
                </a:solidFill>
                <a:latin typeface="Calibri"/>
              </a:rPr>
              <a:t>TAPPA 5 · «MI SERVE DAVVERO QUALCOSA?»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31520"/>
            <a:ext cx="109728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A1D27"/>
                </a:solidFill>
                <a:latin typeface="Calibri"/>
              </a:rPr>
              <a:t>L'app legge l'armadio e trova i vuoti.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35024"/>
            <a:ext cx="111556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 i="1">
                <a:solidFill>
                  <a:srgbClr val="6B7182"/>
                </a:solidFill>
                <a:latin typeface="Calibri"/>
              </a:rPr>
              <a:t>Una rete che ragiona sull'insieme, non sul singolo capo.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536192"/>
            <a:ext cx="731520" cy="30000"/>
          </a:xfrm>
          <a:prstGeom prst="rect">
            <a:avLst/>
          </a:prstGeom>
          <a:solidFill>
            <a:srgbClr val="4A6D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828800"/>
            <a:ext cx="54406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A1D27"/>
                </a:solidFill>
                <a:latin typeface="Calibri"/>
              </a:rPr>
              <a:t>👤  LATO UTENTE — cosa vede e fa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240280"/>
            <a:ext cx="5440680" cy="3749039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C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128016" bIns="128016" wrap="square"/>
          <a:lstStyle/>
          <a:p>
            <a:pPr algn="l">
              <a:spcAft>
                <a:spcPts val="1000"/>
              </a:spcAft>
            </a:pPr>
            <a:r>
              <a:rPr sz="1500" b="1" i="0">
                <a:solidFill>
                  <a:srgbClr val="1A1D27"/>
                </a:solidFill>
                <a:latin typeface="Calibri"/>
              </a:rPr>
              <a:t>Prima di comprare, Marco controlla.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6B7182"/>
                </a:solidFill>
                <a:latin typeface="Calibri"/>
              </a:rPr>
              <a:t>L'app gli dice se l'armadio è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6B7182"/>
                </a:solidFill>
                <a:latin typeface="Calibri"/>
              </a:rPr>
              <a:t>equilibrato o se ha dei vuoti reali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6B7182"/>
                </a:solidFill>
                <a:latin typeface="Calibri"/>
              </a:rPr>
              <a:t>("manca una giacca", "troppe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6B7182"/>
                </a:solidFill>
                <a:latin typeface="Calibri"/>
              </a:rPr>
              <a:t>t-shirt") e consiglia, se serve,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6B7182"/>
                </a:solidFill>
                <a:latin typeface="Calibri"/>
              </a:rPr>
              <a:t>di cercarlo second-hand.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55080" y="1828800"/>
            <a:ext cx="54406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A1D27"/>
                </a:solidFill>
                <a:latin typeface="Calibri"/>
              </a:rPr>
              <a:t>⚙️  LATO TECNICO — cosa succede dietro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55080" y="2240280"/>
            <a:ext cx="5440680" cy="37947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C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128016" bIns="128016" wrap="square"/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2F8F6E"/>
                </a:solidFill>
                <a:latin typeface="Calibri"/>
              </a:rPr>
              <a:t>🟩 AI ALLENATA DA NOI</a:t>
            </a:r>
          </a:p>
          <a:p>
            <a:pPr algn="l">
              <a:spcAft>
                <a:spcPts val="200"/>
              </a:spcAft>
            </a:pPr>
            <a:r>
              <a:rPr sz="400" b="0" i="0">
                <a:solidFill>
                  <a:srgbClr val="1A1D27"/>
                </a:solidFill>
                <a:latin typeface="Calibri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1A1D27"/>
                </a:solidFill>
                <a:latin typeface="Calibri"/>
              </a:rPr>
              <a:t>Rete di gap analysis (addestrata da noi)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6B7182"/>
                </a:solidFill>
                <a:latin typeface="Calibri"/>
              </a:rPr>
              <a:t>Non guarda le foto: guarda l'inventario prodotto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6B7182"/>
                </a:solidFill>
                <a:latin typeface="Calibri"/>
              </a:rPr>
              <a:t>da Fashion-CLIP. Input: quanti capi per categoria,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6B7182"/>
                </a:solidFill>
                <a:latin typeface="Calibri"/>
              </a:rPr>
              <a:t>colori, stagioni, frequenza d'uso →</a:t>
            </a:r>
          </a:p>
          <a:p>
            <a:pPr algn="l">
              <a:spcAft>
                <a:spcPts val="1000"/>
              </a:spcAft>
            </a:pPr>
            <a:r>
              <a:rPr sz="1200" b="0" i="0">
                <a:solidFill>
                  <a:srgbClr val="6B7182"/>
                </a:solidFill>
                <a:latin typeface="Calibri"/>
              </a:rPr>
              <a:t>Output: i vuoti funzionali del guardaroba.</a:t>
            </a:r>
          </a:p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2F8F6E"/>
                </a:solidFill>
                <a:latin typeface="Calibri"/>
              </a:rPr>
              <a:t>Perché una rete e non regole?</a:t>
            </a:r>
          </a:p>
          <a:p>
            <a:pPr algn="l">
              <a:spcAft>
                <a:spcPts val="200"/>
              </a:spcAft>
            </a:pPr>
            <a:r>
              <a:rPr sz="1100" b="0" i="0">
                <a:solidFill>
                  <a:srgbClr val="6B7182"/>
                </a:solidFill>
                <a:latin typeface="Calibri"/>
              </a:rPr>
              <a:t>Cattura combinazioni sfumate fra molti fattori,</a:t>
            </a:r>
          </a:p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6B7182"/>
                </a:solidFill>
                <a:latin typeface="Calibri"/>
              </a:rPr>
              <a:t>e migliorerà col feedback reale degli utenti.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510528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182"/>
                </a:solidFill>
                <a:latin typeface="Calibri"/>
              </a:rPr>
              <a:t>ClosetAI · Design per l'innovazione sostenibile · pre-esame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89920" y="6510528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B7182"/>
                </a:solidFill>
                <a:latin typeface="Calibri"/>
              </a:rPr>
              <a:t>8 / 15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9728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4A6DDC"/>
                </a:solidFill>
                <a:latin typeface="Calibri"/>
              </a:rPr>
              <a:t>TAPPA 6 · «NON LO USO PIÙ»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31520"/>
            <a:ext cx="109728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A1D27"/>
                </a:solidFill>
                <a:latin typeface="Calibri"/>
              </a:rPr>
              <a:t>L'app lo accompagna a una seconda vita.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35024"/>
            <a:ext cx="111556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 i="1">
                <a:solidFill>
                  <a:srgbClr val="6B7182"/>
                </a:solidFill>
                <a:latin typeface="Calibri"/>
              </a:rPr>
              <a:t>E misura quanta CO₂ hai risparmiato così.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536192"/>
            <a:ext cx="731520" cy="30000"/>
          </a:xfrm>
          <a:prstGeom prst="rect">
            <a:avLst/>
          </a:prstGeom>
          <a:solidFill>
            <a:srgbClr val="4A6D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828800"/>
            <a:ext cx="54406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A1D27"/>
                </a:solidFill>
                <a:latin typeface="Calibri"/>
              </a:rPr>
              <a:t>👤  LATO UTENTE — cosa vede e fa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240280"/>
            <a:ext cx="5440680" cy="3749039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C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128016" bIns="128016" wrap="square"/>
          <a:lstStyle/>
          <a:p>
            <a:pPr algn="l">
              <a:spcAft>
                <a:spcPts val="1000"/>
              </a:spcAft>
            </a:pPr>
            <a:r>
              <a:rPr sz="1500" b="1" i="0">
                <a:solidFill>
                  <a:srgbClr val="1A1D27"/>
                </a:solidFill>
                <a:latin typeface="Calibri"/>
              </a:rPr>
              <a:t>Marco decide il destino del capo.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6B7182"/>
                </a:solidFill>
                <a:latin typeface="Calibri"/>
              </a:rPr>
              <a:t>L'app propone l'azione migliore —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6B7182"/>
                </a:solidFill>
                <a:latin typeface="Calibri"/>
              </a:rPr>
              <a:t>riparare, scambiare, vendere,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6B7182"/>
                </a:solidFill>
                <a:latin typeface="Calibri"/>
              </a:rPr>
              <a:t>donare o riciclare — e gli mostra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6B7182"/>
                </a:solidFill>
                <a:latin typeface="Calibri"/>
              </a:rPr>
              <a:t>quanti kg di CO₂ ha evitato.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55080" y="1828800"/>
            <a:ext cx="54406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A1D27"/>
                </a:solidFill>
                <a:latin typeface="Calibri"/>
              </a:rPr>
              <a:t>⚙️  LATO TECNICO — cosa succede dietro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55080" y="2240280"/>
            <a:ext cx="5440680" cy="37947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C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128016" bIns="128016" wrap="square"/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C88B2E"/>
                </a:solidFill>
                <a:latin typeface="Calibri"/>
              </a:rPr>
              <a:t>🟨 REGOLE / TABELLE</a:t>
            </a:r>
          </a:p>
          <a:p>
            <a:pPr algn="l">
              <a:spcAft>
                <a:spcPts val="200"/>
              </a:spcAft>
            </a:pPr>
            <a:r>
              <a:rPr sz="400" b="0" i="0">
                <a:solidFill>
                  <a:srgbClr val="1A1D27"/>
                </a:solidFill>
                <a:latin typeface="Calibri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1A1D27"/>
                </a:solidFill>
                <a:latin typeface="Calibri"/>
              </a:rPr>
              <a:t>Tabella CO₂ (Ellen MacArthur Foundation)</a:t>
            </a:r>
          </a:p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6B7182"/>
                </a:solidFill>
                <a:latin typeface="Calibri"/>
              </a:rPr>
              <a:t>impatto del capo × % evitata dall'azione:</a:t>
            </a:r>
          </a:p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F8F6E"/>
                </a:solidFill>
                <a:latin typeface="Calibri"/>
              </a:rPr>
              <a:t>• donare / vendere / scambiare → 100%</a:t>
            </a:r>
          </a:p>
          <a:p>
            <a:pPr algn="l">
              <a:spcAft>
                <a:spcPts val="1000"/>
              </a:spcAft>
            </a:pPr>
            <a:r>
              <a:rPr sz="1200" b="0" i="0">
                <a:solidFill>
                  <a:srgbClr val="2F8F6E"/>
                </a:solidFill>
                <a:latin typeface="Calibri"/>
              </a:rPr>
              <a:t>• riparare → 70%   • riciclare → 30%</a:t>
            </a:r>
          </a:p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C88B2E"/>
                </a:solidFill>
                <a:latin typeface="Calibri"/>
              </a:rPr>
              <a:t>Perché una tabella e non una rete?</a:t>
            </a:r>
          </a:p>
          <a:p>
            <a:pPr algn="l">
              <a:spcAft>
                <a:spcPts val="200"/>
              </a:spcAft>
            </a:pPr>
            <a:r>
              <a:rPr sz="1100" b="0" i="0">
                <a:solidFill>
                  <a:srgbClr val="6B7182"/>
                </a:solidFill>
                <a:latin typeface="Calibri"/>
              </a:rPr>
              <a:t>L'impatto CO₂ è già stimato da database LCA</a:t>
            </a:r>
          </a:p>
          <a:p>
            <a:pPr algn="l">
              <a:spcAft>
                <a:spcPts val="200"/>
              </a:spcAft>
            </a:pPr>
            <a:r>
              <a:rPr sz="1100" b="0" i="0">
                <a:solidFill>
                  <a:srgbClr val="6B7182"/>
                </a:solidFill>
                <a:latin typeface="Calibri"/>
              </a:rPr>
              <a:t>autorevoli: meglio un numero citabile e trasparente</a:t>
            </a:r>
          </a:p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6B7182"/>
                </a:solidFill>
                <a:latin typeface="Calibri"/>
              </a:rPr>
              <a:t>che una scatola nera.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510528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182"/>
                </a:solidFill>
                <a:latin typeface="Calibri"/>
              </a:rPr>
              <a:t>ClosetAI · Design per l'innovazione sostenibile · pre-esame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89920" y="6510528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B7182"/>
                </a:solidFill>
                <a:latin typeface="Calibri"/>
              </a:rPr>
              <a:t>9 / 15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9728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4A6DDC"/>
                </a:solidFill>
                <a:latin typeface="Calibri"/>
              </a:rPr>
              <a:t>03 · IL PAYOFF PER L'UTENTE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31520"/>
            <a:ext cx="109728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A1D27"/>
                </a:solidFill>
                <a:latin typeface="Calibri"/>
              </a:rPr>
              <a:t>Il premio: vedere il proprio impatto.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35024"/>
            <a:ext cx="111556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 i="1">
                <a:solidFill>
                  <a:srgbClr val="6B7182"/>
                </a:solidFill>
                <a:latin typeface="Calibri"/>
              </a:rPr>
              <a:t>Tutte le tappe convergono in numeri concreti e motivanti.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536192"/>
            <a:ext cx="731520" cy="30000"/>
          </a:xfrm>
          <a:prstGeom prst="rect">
            <a:avLst/>
          </a:prstGeom>
          <a:solidFill>
            <a:srgbClr val="4A6D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828800"/>
            <a:ext cx="7315200" cy="4297680"/>
          </a:xfrm>
          <a:prstGeom prst="roundRect">
            <a:avLst/>
          </a:prstGeom>
          <a:solidFill>
            <a:srgbClr val="E0E8FA"/>
          </a:solidFill>
          <a:ln w="9525">
            <a:solidFill>
              <a:srgbClr val="4A6D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128016" bIns="128016" wrap="square"/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4A6DDC"/>
                </a:solidFill>
                <a:latin typeface="Calibri"/>
              </a:rPr>
              <a:t>[ screenshot ]</a:t>
            </a:r>
          </a:p>
          <a:p>
            <a:pPr algn="ctr">
              <a:spcAft>
                <a:spcPts val="400"/>
              </a:spcAft>
            </a:pPr>
            <a:r>
              <a:rPr sz="1000" b="0" i="0">
                <a:solidFill>
                  <a:srgbClr val="6B7182"/>
                </a:solidFill>
                <a:latin typeface="Calibri"/>
              </a:rPr>
              <a:t>05-dashboard.png</a:t>
            </a:r>
          </a:p>
          <a:p>
            <a:pPr algn="ctr">
              <a:spcAft>
                <a:spcPts val="400"/>
              </a:spcAft>
            </a:pPr>
            <a:r>
              <a:rPr sz="1000" b="0" i="1">
                <a:solidFill>
                  <a:srgbClr val="6B7182"/>
                </a:solidFill>
                <a:latin typeface="Calibri"/>
              </a:rPr>
              <a:t>dashboard impatto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38160" y="1828800"/>
            <a:ext cx="3657600" cy="4297680"/>
          </a:xfrm>
          <a:prstGeom prst="roundRect">
            <a:avLst/>
          </a:prstGeom>
          <a:solidFill>
            <a:srgbClr val="DCEFE7"/>
          </a:solidFill>
          <a:ln w="9525">
            <a:solidFill>
              <a:srgbClr val="2F8F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128016" bIns="128016" wrap="square"/>
          <a:lstStyle/>
          <a:p>
            <a:pPr algn="l">
              <a:spcAft>
                <a:spcPts val="800"/>
              </a:spcAft>
            </a:pPr>
            <a:r>
              <a:rPr sz="1400" b="1" i="0">
                <a:solidFill>
                  <a:srgbClr val="2F8F6E"/>
                </a:solidFill>
                <a:latin typeface="Calibri"/>
              </a:rPr>
              <a:t>Cosa vede Marco:</a:t>
            </a:r>
          </a:p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A1D27"/>
                </a:solidFill>
                <a:latin typeface="Calibri"/>
              </a:rPr>
              <a:t>→ CO₂ evitata, in km auto</a:t>
            </a:r>
          </a:p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A1D27"/>
                </a:solidFill>
                <a:latin typeface="Calibri"/>
              </a:rPr>
              <a:t>→ capi salvati dalla discarica</a:t>
            </a:r>
          </a:p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A1D27"/>
                </a:solidFill>
                <a:latin typeface="Calibri"/>
              </a:rPr>
              <a:t>→ cost-per-wear del guardaroba</a:t>
            </a:r>
          </a:p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A1D27"/>
                </a:solidFill>
                <a:latin typeface="Calibri"/>
              </a:rPr>
              <a:t>→ vuoti da colmare (o no!)</a:t>
            </a:r>
          </a:p>
          <a:p>
            <a:pPr algn="l">
              <a:spcAft>
                <a:spcPts val="1200"/>
              </a:spcAft>
            </a:pPr>
            <a:r>
              <a:rPr sz="1300" b="0" i="0">
                <a:solidFill>
                  <a:srgbClr val="1A1D27"/>
                </a:solidFill>
                <a:latin typeface="Calibri"/>
              </a:rPr>
              <a:t>→ coach AI con un consiglio</a:t>
            </a:r>
          </a:p>
          <a:p>
            <a:pPr algn="l">
              <a:spcAft>
                <a:spcPts val="200"/>
              </a:spcAft>
            </a:pPr>
            <a:r>
              <a:rPr sz="1200" b="0" i="1">
                <a:solidFill>
                  <a:srgbClr val="6B7182"/>
                </a:solidFill>
                <a:latin typeface="Calibri"/>
              </a:rPr>
              <a:t>La sostenibilità diventa</a:t>
            </a:r>
          </a:p>
          <a:p>
            <a:pPr algn="l">
              <a:spcAft>
                <a:spcPts val="400"/>
              </a:spcAft>
            </a:pPr>
            <a:r>
              <a:rPr sz="1200" b="0" i="1">
                <a:solidFill>
                  <a:srgbClr val="6B7182"/>
                </a:solidFill>
                <a:latin typeface="Calibri"/>
              </a:rPr>
              <a:t>misurabile e personale.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182"/>
                </a:solidFill>
                <a:latin typeface="Calibri"/>
              </a:rPr>
              <a:t>ClosetAI · Design per l'innovazione sostenibile · pre-esame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510528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B7182"/>
                </a:solidFill>
                <a:latin typeface="Calibri"/>
              </a:rPr>
              <a:t>10 / 15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9728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4A6DDC"/>
                </a:solidFill>
                <a:latin typeface="Calibri"/>
              </a:rPr>
              <a:t>04 · SOTTO IL COFANO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31520"/>
            <a:ext cx="109728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A1D27"/>
                </a:solidFill>
                <a:latin typeface="Calibri"/>
              </a:rPr>
              <a:t>Il quadro tecnico, in un colpo d'occhio.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35024"/>
            <a:ext cx="111556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 i="1">
                <a:solidFill>
                  <a:srgbClr val="6B7182"/>
                </a:solidFill>
                <a:latin typeface="Calibri"/>
              </a:rPr>
              <a:t>Le stesse tappe, ora come pipeline su tre livelli. Colori = le 4 nature.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536192"/>
            <a:ext cx="731520" cy="30000"/>
          </a:xfrm>
          <a:prstGeom prst="rect">
            <a:avLst/>
          </a:prstGeom>
          <a:solidFill>
            <a:srgbClr val="4A6D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62763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A1D27"/>
                </a:solidFill>
                <a:latin typeface="Calibri"/>
              </a:rPr>
              <a:t>📷  PER OGNI CAPO · dalla foto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901952"/>
            <a:ext cx="3657600" cy="1097280"/>
          </a:xfrm>
          <a:prstGeom prst="roundRect">
            <a:avLst/>
          </a:prstGeom>
          <a:solidFill>
            <a:srgbClr val="E0E8FA"/>
          </a:solidFill>
          <a:ln w="9525">
            <a:solidFill>
              <a:srgbClr val="4A6D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128016" bIns="128016" wrap="square"/>
          <a:lstStyle/>
          <a:p>
            <a:pPr algn="l">
              <a:spcAft>
                <a:spcPts val="100"/>
              </a:spcAft>
            </a:pPr>
            <a:r>
              <a:rPr sz="1250" b="1" i="0">
                <a:solidFill>
                  <a:srgbClr val="1A1D27"/>
                </a:solidFill>
                <a:latin typeface="Calibri"/>
              </a:rPr>
              <a:t>Fashion-CLIP</a:t>
            </a:r>
          </a:p>
          <a:p>
            <a:pPr algn="l">
              <a:spcAft>
                <a:spcPts val="400"/>
              </a:spcAft>
            </a:pPr>
            <a:r>
              <a:rPr sz="900" b="0" i="1">
                <a:solidFill>
                  <a:srgbClr val="4A6DDC"/>
                </a:solidFill>
                <a:latin typeface="Calibri"/>
              </a:rPr>
              <a:t>🟦 pre-addestrata</a:t>
            </a:r>
          </a:p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6B7182"/>
                </a:solidFill>
                <a:latin typeface="Calibri"/>
              </a:rPr>
              <a:t>→ categoria + colore (+ embedding)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61688" y="1901952"/>
            <a:ext cx="3657600" cy="1097280"/>
          </a:xfrm>
          <a:prstGeom prst="roundRect">
            <a:avLst/>
          </a:prstGeom>
          <a:solidFill>
            <a:srgbClr val="DCEFE7"/>
          </a:solidFill>
          <a:ln w="9525">
            <a:solidFill>
              <a:srgbClr val="2F8F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128016" bIns="128016" wrap="square"/>
          <a:lstStyle/>
          <a:p>
            <a:pPr algn="l">
              <a:spcAft>
                <a:spcPts val="100"/>
              </a:spcAft>
            </a:pPr>
            <a:r>
              <a:rPr sz="1250" b="1" i="0">
                <a:solidFill>
                  <a:srgbClr val="1A1D27"/>
                </a:solidFill>
                <a:latin typeface="Calibri"/>
              </a:rPr>
              <a:t>Rete stato + tutorial</a:t>
            </a:r>
          </a:p>
          <a:p>
            <a:pPr algn="l">
              <a:spcAft>
                <a:spcPts val="400"/>
              </a:spcAft>
            </a:pPr>
            <a:r>
              <a:rPr sz="900" b="0" i="1">
                <a:solidFill>
                  <a:srgbClr val="2F8F6E"/>
                </a:solidFill>
                <a:latin typeface="Calibri"/>
              </a:rPr>
              <a:t>🟩 nostra + 🟪 generativa</a:t>
            </a:r>
          </a:p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6B7182"/>
                </a:solidFill>
                <a:latin typeface="Calibri"/>
              </a:rPr>
              <a:t>→ stato + tutorial di recupero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74736" y="1901952"/>
            <a:ext cx="3657600" cy="1097280"/>
          </a:xfrm>
          <a:prstGeom prst="roundRect">
            <a:avLst/>
          </a:prstGeom>
          <a:solidFill>
            <a:srgbClr val="F6ECD8"/>
          </a:solidFill>
          <a:ln w="9525">
            <a:solidFill>
              <a:srgbClr val="C88B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128016" bIns="128016" wrap="square"/>
          <a:lstStyle/>
          <a:p>
            <a:pPr algn="l">
              <a:spcAft>
                <a:spcPts val="100"/>
              </a:spcAft>
            </a:pPr>
            <a:r>
              <a:rPr sz="1250" b="1" i="0">
                <a:solidFill>
                  <a:srgbClr val="1A1D27"/>
                </a:solidFill>
                <a:latin typeface="Calibri"/>
              </a:rPr>
              <a:t>Tabella CO₂</a:t>
            </a:r>
          </a:p>
          <a:p>
            <a:pPr algn="l">
              <a:spcAft>
                <a:spcPts val="400"/>
              </a:spcAft>
            </a:pPr>
            <a:r>
              <a:rPr sz="900" b="0" i="1">
                <a:solidFill>
                  <a:srgbClr val="C88B2E"/>
                </a:solidFill>
                <a:latin typeface="Calibri"/>
              </a:rPr>
              <a:t>🟨 regole</a:t>
            </a:r>
          </a:p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6B7182"/>
                </a:solidFill>
                <a:latin typeface="Calibri"/>
              </a:rPr>
              <a:t>→ impatto di produzione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18211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A1D27"/>
                </a:solidFill>
                <a:latin typeface="Calibri"/>
              </a:rPr>
              <a:t>✓  USO NEL TEMPO · un tap 'indossato oggi'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456432"/>
            <a:ext cx="3657600" cy="1097280"/>
          </a:xfrm>
          <a:prstGeom prst="roundRect">
            <a:avLst/>
          </a:prstGeom>
          <a:solidFill>
            <a:srgbClr val="F6ECD8"/>
          </a:solidFill>
          <a:ln w="9525">
            <a:solidFill>
              <a:srgbClr val="C88B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128016" bIns="128016" wrap="square"/>
          <a:lstStyle/>
          <a:p>
            <a:pPr algn="l">
              <a:spcAft>
                <a:spcPts val="100"/>
              </a:spcAft>
            </a:pPr>
            <a:r>
              <a:rPr sz="1250" b="1" i="0">
                <a:solidFill>
                  <a:srgbClr val="1A1D27"/>
                </a:solidFill>
                <a:latin typeface="Calibri"/>
              </a:rPr>
              <a:t>Wear log</a:t>
            </a:r>
          </a:p>
          <a:p>
            <a:pPr algn="l">
              <a:spcAft>
                <a:spcPts val="400"/>
              </a:spcAft>
            </a:pPr>
            <a:r>
              <a:rPr sz="900" b="0" i="1">
                <a:solidFill>
                  <a:srgbClr val="C88B2E"/>
                </a:solidFill>
                <a:latin typeface="Calibri"/>
              </a:rPr>
              <a:t>🟨 regole</a:t>
            </a:r>
          </a:p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6B7182"/>
                </a:solidFill>
                <a:latin typeface="Calibri"/>
              </a:rPr>
              <a:t>→ quante volte l'hai indossato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61688" y="3456432"/>
            <a:ext cx="3657600" cy="1097280"/>
          </a:xfrm>
          <a:prstGeom prst="roundRect">
            <a:avLst/>
          </a:prstGeom>
          <a:solidFill>
            <a:srgbClr val="F6ECD8"/>
          </a:solidFill>
          <a:ln w="9525">
            <a:solidFill>
              <a:srgbClr val="C88B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128016" bIns="128016" wrap="square"/>
          <a:lstStyle/>
          <a:p>
            <a:pPr algn="l">
              <a:spcAft>
                <a:spcPts val="100"/>
              </a:spcAft>
            </a:pPr>
            <a:r>
              <a:rPr sz="1250" b="1" i="0">
                <a:solidFill>
                  <a:srgbClr val="1A1D27"/>
                </a:solidFill>
                <a:latin typeface="Calibri"/>
              </a:rPr>
              <a:t>Cost-per-wear</a:t>
            </a:r>
          </a:p>
          <a:p>
            <a:pPr algn="l">
              <a:spcAft>
                <a:spcPts val="400"/>
              </a:spcAft>
            </a:pPr>
            <a:r>
              <a:rPr sz="900" b="0" i="1">
                <a:solidFill>
                  <a:srgbClr val="C88B2E"/>
                </a:solidFill>
                <a:latin typeface="Calibri"/>
              </a:rPr>
              <a:t>🟨 calcolo</a:t>
            </a:r>
          </a:p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6B7182"/>
                </a:solidFill>
                <a:latin typeface="Calibri"/>
              </a:rPr>
              <a:t>→ prezzo ÷ n. utilizzi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74736" y="3456432"/>
            <a:ext cx="3657600" cy="1097280"/>
          </a:xfrm>
          <a:prstGeom prst="roundRect">
            <a:avLst/>
          </a:prstGeom>
          <a:solidFill>
            <a:srgbClr val="F6ECD8"/>
          </a:solidFill>
          <a:ln w="9525">
            <a:solidFill>
              <a:srgbClr val="C88B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128016" bIns="128016" wrap="square"/>
          <a:lstStyle/>
          <a:p>
            <a:pPr algn="l">
              <a:spcAft>
                <a:spcPts val="100"/>
              </a:spcAft>
            </a:pPr>
            <a:r>
              <a:rPr sz="1250" b="1" i="0">
                <a:solidFill>
                  <a:srgbClr val="1A1D27"/>
                </a:solidFill>
                <a:latin typeface="Calibri"/>
              </a:rPr>
              <a:t>Capi fantasma</a:t>
            </a:r>
          </a:p>
          <a:p>
            <a:pPr algn="l">
              <a:spcAft>
                <a:spcPts val="400"/>
              </a:spcAft>
            </a:pPr>
            <a:r>
              <a:rPr sz="900" b="0" i="1">
                <a:solidFill>
                  <a:srgbClr val="C88B2E"/>
                </a:solidFill>
                <a:latin typeface="Calibri"/>
              </a:rPr>
              <a:t>🟨 soglia</a:t>
            </a:r>
          </a:p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6B7182"/>
                </a:solidFill>
                <a:latin typeface="Calibri"/>
              </a:rPr>
              <a:t>→ mai indossati &gt; N giorni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73659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A1D27"/>
                </a:solidFill>
                <a:latin typeface="Calibri"/>
              </a:rPr>
              <a:t>🧩  TUTTO IL GUARDAROBA · sull'insieme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5010912"/>
            <a:ext cx="3657600" cy="1097280"/>
          </a:xfrm>
          <a:prstGeom prst="roundRect">
            <a:avLst/>
          </a:prstGeom>
          <a:solidFill>
            <a:srgbClr val="E0E8FA"/>
          </a:solidFill>
          <a:ln w="9525">
            <a:solidFill>
              <a:srgbClr val="4A6D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128016" bIns="128016" wrap="square"/>
          <a:lstStyle/>
          <a:p>
            <a:pPr algn="l">
              <a:spcAft>
                <a:spcPts val="100"/>
              </a:spcAft>
            </a:pPr>
            <a:r>
              <a:rPr sz="1250" b="1" i="0">
                <a:solidFill>
                  <a:srgbClr val="1A1D27"/>
                </a:solidFill>
                <a:latin typeface="Calibri"/>
              </a:rPr>
              <a:t>Outfit recommender</a:t>
            </a:r>
          </a:p>
          <a:p>
            <a:pPr algn="l">
              <a:spcAft>
                <a:spcPts val="400"/>
              </a:spcAft>
            </a:pPr>
            <a:r>
              <a:rPr sz="900" b="0" i="1">
                <a:solidFill>
                  <a:srgbClr val="4A6DDC"/>
                </a:solidFill>
                <a:latin typeface="Calibri"/>
              </a:rPr>
              <a:t>🟨 regole + 🟦 + 🌦</a:t>
            </a:r>
          </a:p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6B7182"/>
                </a:solidFill>
                <a:latin typeface="Calibri"/>
              </a:rPr>
              <a:t>→ "cosa metto oggi?"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61688" y="5010912"/>
            <a:ext cx="3657600" cy="1097280"/>
          </a:xfrm>
          <a:prstGeom prst="roundRect">
            <a:avLst/>
          </a:prstGeom>
          <a:solidFill>
            <a:srgbClr val="DCEFE7"/>
          </a:solidFill>
          <a:ln w="9525">
            <a:solidFill>
              <a:srgbClr val="2F8F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128016" bIns="128016" wrap="square"/>
          <a:lstStyle/>
          <a:p>
            <a:pPr algn="l">
              <a:spcAft>
                <a:spcPts val="100"/>
              </a:spcAft>
            </a:pPr>
            <a:r>
              <a:rPr sz="1250" b="1" i="0">
                <a:solidFill>
                  <a:srgbClr val="1A1D27"/>
                </a:solidFill>
                <a:latin typeface="Calibri"/>
              </a:rPr>
              <a:t>Rete gap analysis</a:t>
            </a:r>
          </a:p>
          <a:p>
            <a:pPr algn="l">
              <a:spcAft>
                <a:spcPts val="400"/>
              </a:spcAft>
            </a:pPr>
            <a:r>
              <a:rPr sz="900" b="0" i="1">
                <a:solidFill>
                  <a:srgbClr val="2F8F6E"/>
                </a:solidFill>
                <a:latin typeface="Calibri"/>
              </a:rPr>
              <a:t>🟩 nostra</a:t>
            </a:r>
          </a:p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6B7182"/>
                </a:solidFill>
                <a:latin typeface="Calibri"/>
              </a:rPr>
              <a:t>→ vuoti: "manca una giacca"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74736" y="5010912"/>
            <a:ext cx="3657600" cy="1097280"/>
          </a:xfrm>
          <a:prstGeom prst="roundRect">
            <a:avLst/>
          </a:prstGeom>
          <a:solidFill>
            <a:srgbClr val="F6ECD8"/>
          </a:solidFill>
          <a:ln w="9525">
            <a:solidFill>
              <a:srgbClr val="C88B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128016" bIns="128016" wrap="square"/>
          <a:lstStyle/>
          <a:p>
            <a:pPr algn="l">
              <a:spcAft>
                <a:spcPts val="100"/>
              </a:spcAft>
            </a:pPr>
            <a:r>
              <a:rPr sz="1250" b="1" i="0">
                <a:solidFill>
                  <a:srgbClr val="1A1D27"/>
                </a:solidFill>
                <a:latin typeface="Calibri"/>
              </a:rPr>
              <a:t>Somma impatti evitati</a:t>
            </a:r>
          </a:p>
          <a:p>
            <a:pPr algn="l">
              <a:spcAft>
                <a:spcPts val="400"/>
              </a:spcAft>
            </a:pPr>
            <a:r>
              <a:rPr sz="900" b="0" i="1">
                <a:solidFill>
                  <a:srgbClr val="C88B2E"/>
                </a:solidFill>
                <a:latin typeface="Calibri"/>
              </a:rPr>
              <a:t>🟨 calcolo</a:t>
            </a:r>
          </a:p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6B7182"/>
                </a:solidFill>
                <a:latin typeface="Calibri"/>
              </a:rPr>
              <a:t>→ CO₂ totale → dashboard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510528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182"/>
                </a:solidFill>
                <a:latin typeface="Calibri"/>
              </a:rPr>
              <a:t>ClosetAI · Design per l'innovazione sostenibile · pre-esame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789920" y="6510528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B7182"/>
                </a:solidFill>
                <a:latin typeface="Calibri"/>
              </a:rPr>
              <a:t>11 / 15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9728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4A6DDC"/>
                </a:solidFill>
                <a:latin typeface="Calibri"/>
              </a:rPr>
              <a:t>05 · LA TESI TECNICA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31520"/>
            <a:ext cx="109728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A1D27"/>
                </a:solidFill>
                <a:latin typeface="Calibri"/>
              </a:rPr>
              <a:t>Quattro nature, ognuna dove ha senso.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35024"/>
            <a:ext cx="111556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 i="1">
                <a:solidFill>
                  <a:srgbClr val="6B7182"/>
                </a:solidFill>
                <a:latin typeface="Calibri"/>
              </a:rPr>
              <a:t>Non 'AI ovunque': lo strumento giusto per ogni problema.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536192"/>
            <a:ext cx="731520" cy="30000"/>
          </a:xfrm>
          <a:prstGeom prst="rect">
            <a:avLst/>
          </a:prstGeom>
          <a:solidFill>
            <a:srgbClr val="4A6D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874519"/>
            <a:ext cx="5577840" cy="2057400"/>
          </a:xfrm>
          <a:prstGeom prst="roundRect">
            <a:avLst/>
          </a:prstGeom>
          <a:solidFill>
            <a:srgbClr val="E0E8FA"/>
          </a:solidFill>
          <a:ln w="9525">
            <a:solidFill>
              <a:srgbClr val="4A6D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128016" bIns="128016" wrap="square"/>
          <a:lstStyle/>
          <a:p>
            <a:pPr algn="l">
              <a:spcAft>
                <a:spcPts val="100"/>
              </a:spcAft>
            </a:pPr>
            <a:r>
              <a:rPr sz="1500" b="1" i="0">
                <a:solidFill>
                  <a:srgbClr val="4A6DDC"/>
                </a:solidFill>
                <a:latin typeface="Calibri"/>
              </a:rPr>
              <a:t>AI PRE-ADDESTRATA</a:t>
            </a:r>
          </a:p>
          <a:p>
            <a:pPr algn="l">
              <a:spcAft>
                <a:spcPts val="800"/>
              </a:spcAft>
            </a:pPr>
            <a:r>
              <a:rPr sz="1100" b="0" i="1">
                <a:solidFill>
                  <a:srgbClr val="6B7182"/>
                </a:solidFill>
                <a:latin typeface="Calibri"/>
              </a:rPr>
              <a:t>Fashion-CLIP</a:t>
            </a:r>
          </a:p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1A1D27"/>
                </a:solidFill>
                <a:latin typeface="Calibri"/>
              </a:rPr>
              <a:t>Quando il problema (riconoscere un capo) è
generale e qualcun altro l'ha già risolto su
milioni di immagini. Non lo rifacciamo noi.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55079" y="1874519"/>
            <a:ext cx="5577840" cy="2057400"/>
          </a:xfrm>
          <a:prstGeom prst="roundRect">
            <a:avLst/>
          </a:prstGeom>
          <a:solidFill>
            <a:srgbClr val="DCEFE7"/>
          </a:solidFill>
          <a:ln w="9525">
            <a:solidFill>
              <a:srgbClr val="2F8F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128016" bIns="128016" wrap="square"/>
          <a:lstStyle/>
          <a:p>
            <a:pPr algn="l">
              <a:spcAft>
                <a:spcPts val="100"/>
              </a:spcAft>
            </a:pPr>
            <a:r>
              <a:rPr sz="1500" b="1" i="0">
                <a:solidFill>
                  <a:srgbClr val="2F8F6E"/>
                </a:solidFill>
                <a:latin typeface="Calibri"/>
              </a:rPr>
              <a:t>AI ALLENATA DA NOI</a:t>
            </a:r>
          </a:p>
          <a:p>
            <a:pPr algn="l">
              <a:spcAft>
                <a:spcPts val="800"/>
              </a:spcAft>
            </a:pPr>
            <a:r>
              <a:rPr sz="1100" b="0" i="1">
                <a:solidFill>
                  <a:srgbClr val="6B7182"/>
                </a:solidFill>
                <a:latin typeface="Calibri"/>
              </a:rPr>
              <a:t>rete stato · gap analysis</a:t>
            </a:r>
          </a:p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1A1D27"/>
                </a:solidFill>
                <a:latin typeface="Calibri"/>
              </a:rPr>
              <a:t>Quando il problema è specifico del nostro
dominio e abbiamo (o generiamo) i dati per
insegnarlo. Qui dimostriamo il know-how ML.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4114800"/>
            <a:ext cx="5577840" cy="2057400"/>
          </a:xfrm>
          <a:prstGeom prst="roundRect">
            <a:avLst/>
          </a:prstGeom>
          <a:solidFill>
            <a:srgbClr val="ECE4F7"/>
          </a:solidFill>
          <a:ln w="9525">
            <a:solidFill>
              <a:srgbClr val="7A4F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128016" bIns="128016" wrap="square"/>
          <a:lstStyle/>
          <a:p>
            <a:pPr algn="l">
              <a:spcAft>
                <a:spcPts val="100"/>
              </a:spcAft>
            </a:pPr>
            <a:r>
              <a:rPr sz="1500" b="1" i="0">
                <a:solidFill>
                  <a:srgbClr val="7A4FC4"/>
                </a:solidFill>
                <a:latin typeface="Calibri"/>
              </a:rPr>
              <a:t>AI GENERATIVA</a:t>
            </a:r>
          </a:p>
          <a:p>
            <a:pPr algn="l">
              <a:spcAft>
                <a:spcPts val="800"/>
              </a:spcAft>
            </a:pPr>
            <a:r>
              <a:rPr sz="1100" b="0" i="1">
                <a:solidFill>
                  <a:srgbClr val="6B7182"/>
                </a:solidFill>
                <a:latin typeface="Calibri"/>
              </a:rPr>
              <a:t>LLM · VLM · diffusion</a:t>
            </a:r>
          </a:p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1A1D27"/>
                </a:solidFill>
                <a:latin typeface="Calibri"/>
              </a:rPr>
              <a:t>Quando serve creare contenuto nuovo e
personalizzato: tutorial di riparazione,
descrizioni, prova virtuale del capo.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55079" y="4114800"/>
            <a:ext cx="5577840" cy="2057400"/>
          </a:xfrm>
          <a:prstGeom prst="roundRect">
            <a:avLst/>
          </a:prstGeom>
          <a:solidFill>
            <a:srgbClr val="F6ECD8"/>
          </a:solidFill>
          <a:ln w="9525">
            <a:solidFill>
              <a:srgbClr val="C88B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128016" bIns="128016" wrap="square"/>
          <a:lstStyle/>
          <a:p>
            <a:pPr algn="l">
              <a:spcAft>
                <a:spcPts val="100"/>
              </a:spcAft>
            </a:pPr>
            <a:r>
              <a:rPr sz="1500" b="1" i="0">
                <a:solidFill>
                  <a:srgbClr val="C88B2E"/>
                </a:solidFill>
                <a:latin typeface="Calibri"/>
              </a:rPr>
              <a:t>REGOLE / TABELLE</a:t>
            </a:r>
          </a:p>
          <a:p>
            <a:pPr algn="l">
              <a:spcAft>
                <a:spcPts val="800"/>
              </a:spcAft>
            </a:pPr>
            <a:r>
              <a:rPr sz="1100" b="0" i="1">
                <a:solidFill>
                  <a:srgbClr val="6B7182"/>
                </a:solidFill>
                <a:latin typeface="Calibri"/>
              </a:rPr>
              <a:t>cost-per-wear · CO₂ · colore</a:t>
            </a:r>
          </a:p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1A1D27"/>
                </a:solidFill>
                <a:latin typeface="Calibri"/>
              </a:rPr>
              <a:t>Quando la relazione è già nota, esatta e va
tenuta trasparente. Una rete qui darebbe solo
falsa precisione e meno fiducia.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510528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182"/>
                </a:solidFill>
                <a:latin typeface="Calibri"/>
              </a:rPr>
              <a:t>ClosetAI · Design per l'innovazione sostenibile · pre-esame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89920" y="6510528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B7182"/>
                </a:solidFill>
                <a:latin typeface="Calibri"/>
              </a:rPr>
              <a:t>12 / 15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9728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4A6DDC"/>
                </a:solidFill>
                <a:latin typeface="Calibri"/>
              </a:rPr>
              <a:t>06 · COSTI, MATERIALI, SCALABILITÀ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31520"/>
            <a:ext cx="109728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A1D27"/>
                </a:solidFill>
                <a:latin typeface="Calibri"/>
              </a:rPr>
              <a:t>Studio di fattibilità.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35024"/>
            <a:ext cx="111556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 i="1">
                <a:solidFill>
                  <a:srgbClr val="6B7182"/>
                </a:solidFill>
                <a:latin typeface="Calibri"/>
              </a:rPr>
              <a:t>Si può davvero portarlo sul mercato?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536192"/>
            <a:ext cx="731520" cy="30000"/>
          </a:xfrm>
          <a:prstGeom prst="rect">
            <a:avLst/>
          </a:prstGeom>
          <a:solidFill>
            <a:srgbClr val="4A6D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920240"/>
            <a:ext cx="3657600" cy="42976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4A6D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128016" bIns="128016" wrap="square"/>
          <a:lstStyle/>
          <a:p>
            <a:pPr algn="l">
              <a:spcAft>
                <a:spcPts val="1000"/>
              </a:spcAft>
            </a:pPr>
            <a:r>
              <a:rPr sz="1800" b="1" i="0">
                <a:solidFill>
                  <a:srgbClr val="4A6DDC"/>
                </a:solidFill>
                <a:latin typeface="Calibri"/>
              </a:rPr>
              <a:t>💰 Costi</a:t>
            </a:r>
          </a:p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1A1D27"/>
                </a:solidFill>
                <a:latin typeface="Calibri"/>
              </a:rPr>
              <a:t>Hardware: laptop + telefono.</a:t>
            </a:r>
          </a:p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1A1D27"/>
                </a:solidFill>
                <a:latin typeface="Calibri"/>
              </a:rPr>
              <a:t>Modelli AI: gratuiti / open-source.</a:t>
            </a:r>
          </a:p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1A1D27"/>
                </a:solidFill>
                <a:latin typeface="Calibri"/>
              </a:rPr>
              <a:t>Cloud opzionale: ~€ 0,01 a utente/mese</a:t>
            </a:r>
          </a:p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1A1D27"/>
                </a:solidFill>
                <a:latin typeface="Calibri"/>
              </a:rPr>
              <a:t>(grazie alla cache delle risposte).</a:t>
            </a:r>
          </a:p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1A1D27"/>
                </a:solidFill>
                <a:latin typeface="Calibri"/>
              </a:rPr>
              <a:t>Specchio smart: ~€ 200 una tantum.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920240"/>
            <a:ext cx="3657600" cy="42976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2F8F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128016" bIns="128016" wrap="square"/>
          <a:lstStyle/>
          <a:p>
            <a:pPr algn="l">
              <a:spcAft>
                <a:spcPts val="1000"/>
              </a:spcAft>
            </a:pPr>
            <a:r>
              <a:rPr sz="1800" b="1" i="0">
                <a:solidFill>
                  <a:srgbClr val="2F8F6E"/>
                </a:solidFill>
                <a:latin typeface="Calibri"/>
              </a:rPr>
              <a:t>🧱 Materiali</a:t>
            </a:r>
          </a:p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1A1D27"/>
                </a:solidFill>
                <a:latin typeface="Calibri"/>
              </a:rPr>
              <a:t>Tutto open-source, nessuna licenza:</a:t>
            </a:r>
          </a:p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1A1D27"/>
                </a:solidFill>
                <a:latin typeface="Calibri"/>
              </a:rPr>
              <a:t>FastAPI, React, Fashion-CLIP, Qwen-VL,</a:t>
            </a:r>
          </a:p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1A1D27"/>
                </a:solidFill>
                <a:latin typeface="Calibri"/>
              </a:rPr>
              <a:t>Stable Diffusion, scikit-learn, PyTorch.</a:t>
            </a:r>
          </a:p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1A1D27"/>
                </a:solidFill>
                <a:latin typeface="Calibri"/>
              </a:rPr>
              <a:t>Piena trasparenza e nessun lock-in</a:t>
            </a:r>
          </a:p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1A1D27"/>
                </a:solidFill>
                <a:latin typeface="Calibri"/>
              </a:rPr>
              <a:t>su un fornitore.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0" y="1920240"/>
            <a:ext cx="3657600" cy="42976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88B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128016" bIns="128016" wrap="square"/>
          <a:lstStyle/>
          <a:p>
            <a:pPr algn="l">
              <a:spcAft>
                <a:spcPts val="1000"/>
              </a:spcAft>
            </a:pPr>
            <a:r>
              <a:rPr sz="1800" b="1" i="0">
                <a:solidFill>
                  <a:srgbClr val="C88B2E"/>
                </a:solidFill>
                <a:latin typeface="Calibri"/>
              </a:rPr>
              <a:t>📈 Scalabilità</a:t>
            </a:r>
          </a:p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1A1D27"/>
                </a:solidFill>
                <a:latin typeface="Calibri"/>
              </a:rPr>
              <a:t>MVP: single-user, locale.</a:t>
            </a:r>
          </a:p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1A1D27"/>
                </a:solidFill>
                <a:latin typeface="Calibri"/>
              </a:rPr>
              <a:t>→ Cloud multi-utente (Postgres + S3).</a:t>
            </a:r>
          </a:p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1A1D27"/>
                </a:solidFill>
                <a:latin typeface="Calibri"/>
              </a:rPr>
              <a:t>→ AI on-device per la privacy.</a:t>
            </a:r>
          </a:p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1A1D27"/>
                </a:solidFill>
                <a:latin typeface="Calibri"/>
              </a:rPr>
              <a:t>→ Versione con marketplace</a:t>
            </a:r>
          </a:p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1A1D27"/>
                </a:solidFill>
                <a:latin typeface="Calibri"/>
              </a:rPr>
              <a:t>second-hand integrato.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182"/>
                </a:solidFill>
                <a:latin typeface="Calibri"/>
              </a:rPr>
              <a:t>ClosetAI · Design per l'innovazione sostenibile · pre-esame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0" y="6510528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B7182"/>
                </a:solidFill>
                <a:latin typeface="Calibri"/>
              </a:rPr>
              <a:t>13 / 15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09728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4A6DDC"/>
                </a:solidFill>
                <a:latin typeface="Calibri"/>
              </a:rPr>
              <a:t>07 · ONESTÀ INTELLETTUALE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31520"/>
            <a:ext cx="109728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A1D27"/>
                </a:solidFill>
                <a:latin typeface="Calibri"/>
              </a:rPr>
              <a:t>Cosa il prototipo non fa (ancora).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35024"/>
            <a:ext cx="111556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 i="1">
                <a:solidFill>
                  <a:srgbClr val="6B7182"/>
                </a:solidFill>
                <a:latin typeface="Calibri"/>
              </a:rPr>
              <a:t>E dove potrebbe andare in futuro.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536192"/>
            <a:ext cx="731520" cy="30000"/>
          </a:xfrm>
          <a:prstGeom prst="rect">
            <a:avLst/>
          </a:prstGeom>
          <a:solidFill>
            <a:srgbClr val="4A6D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920240"/>
            <a:ext cx="5577840" cy="42976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94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128016" bIns="128016" wrap="square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C94A5C"/>
                </a:solidFill>
                <a:latin typeface="Calibri"/>
              </a:rPr>
              <a:t>Limitazioni di oggi</a:t>
            </a:r>
          </a:p>
          <a:p>
            <a:pPr algn="l">
              <a:spcAft>
                <a:spcPts val="1000"/>
              </a:spcAft>
            </a:pPr>
            <a:r>
              <a:rPr sz="1300" b="0" i="0">
                <a:solidFill>
                  <a:srgbClr val="1A1D27"/>
                </a:solidFill>
                <a:latin typeface="Calibri"/>
              </a:rPr>
              <a:t>•  I dataset delle reti che alleniamo noi sono sintetici: vanno validati su dati reali.</a:t>
            </a:r>
          </a:p>
          <a:p>
            <a:pPr algn="l">
              <a:spcAft>
                <a:spcPts val="1000"/>
              </a:spcAft>
            </a:pPr>
            <a:r>
              <a:rPr sz="1300" b="0" i="0">
                <a:solidFill>
                  <a:srgbClr val="1A1D27"/>
                </a:solidFill>
                <a:latin typeface="Calibri"/>
              </a:rPr>
              <a:t>•  Le stime CO₂ sono medie per categoria, non per materiale.</a:t>
            </a:r>
          </a:p>
          <a:p>
            <a:pPr algn="l">
              <a:spcAft>
                <a:spcPts val="1000"/>
              </a:spcAft>
            </a:pPr>
            <a:r>
              <a:rPr sz="1300" b="0" i="0">
                <a:solidFill>
                  <a:srgbClr val="1A1D27"/>
                </a:solidFill>
                <a:latin typeface="Calibri"/>
              </a:rPr>
              <a:t>•  Il try-on è un'illusione visiva, non un camerino digitale.</a:t>
            </a:r>
          </a:p>
          <a:p>
            <a:pPr algn="l">
              <a:spcAft>
                <a:spcPts val="1000"/>
              </a:spcAft>
            </a:pPr>
            <a:r>
              <a:rPr sz="1300" b="0" i="0">
                <a:solidFill>
                  <a:srgbClr val="1A1D27"/>
                </a:solidFill>
                <a:latin typeface="Calibri"/>
              </a:rPr>
              <a:t>•  Per ora è personale: niente account né condivisione.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59" y="1920240"/>
            <a:ext cx="5577840" cy="42976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2F8F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128016" bIns="128016" wrap="square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2F8F6E"/>
                </a:solidFill>
                <a:latin typeface="Calibri"/>
              </a:rPr>
              <a:t>Estensioni naturali</a:t>
            </a:r>
          </a:p>
          <a:p>
            <a:pPr algn="l">
              <a:spcAft>
                <a:spcPts val="1000"/>
              </a:spcAft>
            </a:pPr>
            <a:r>
              <a:rPr sz="1300" b="0" i="0">
                <a:solidFill>
                  <a:srgbClr val="1A1D27"/>
                </a:solidFill>
                <a:latin typeface="Calibri"/>
              </a:rPr>
              <a:t>•  Raccolta di foto reali per riaddestrare la rete dello stato.</a:t>
            </a:r>
          </a:p>
          <a:p>
            <a:pPr algn="l">
              <a:spcAft>
                <a:spcPts val="1000"/>
              </a:spcAft>
            </a:pPr>
            <a:r>
              <a:rPr sz="1300" b="0" i="0">
                <a:solidFill>
                  <a:srgbClr val="1A1D27"/>
                </a:solidFill>
                <a:latin typeface="Calibri"/>
              </a:rPr>
              <a:t>•  Marketplace second-hand integrato (Vinted, Wallapop).</a:t>
            </a:r>
          </a:p>
          <a:p>
            <a:pPr algn="l">
              <a:spcAft>
                <a:spcPts val="1000"/>
              </a:spcAft>
            </a:pPr>
            <a:r>
              <a:rPr sz="1300" b="0" i="0">
                <a:solidFill>
                  <a:srgbClr val="1A1D27"/>
                </a:solidFill>
                <a:latin typeface="Calibri"/>
              </a:rPr>
              <a:t>•  CO₂ per materiale (cotone vs lana vs poliestere).</a:t>
            </a:r>
          </a:p>
          <a:p>
            <a:pPr algn="l">
              <a:spcAft>
                <a:spcPts val="1000"/>
              </a:spcAft>
            </a:pPr>
            <a:r>
              <a:rPr sz="1300" b="0" i="0">
                <a:solidFill>
                  <a:srgbClr val="1A1D27"/>
                </a:solidFill>
                <a:latin typeface="Calibri"/>
              </a:rPr>
              <a:t>•  Specchio smart on-device, senza inviare foto in cloud.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182"/>
                </a:solidFill>
                <a:latin typeface="Calibri"/>
              </a:rPr>
              <a:t>ClosetAI · Design per l'innovazione sostenibile · pre-esame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0" y="6510528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B7182"/>
                </a:solidFill>
                <a:latin typeface="Calibri"/>
              </a:rPr>
              <a:t>14 / 15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2F8F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737360"/>
            <a:ext cx="1005840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200" b="1" i="0">
                <a:solidFill>
                  <a:srgbClr val="1A1D27"/>
                </a:solidFill>
                <a:latin typeface="Calibri"/>
              </a:rPr>
              <a:t>Grazie.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834640"/>
            <a:ext cx="105156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0" i="1">
                <a:solidFill>
                  <a:srgbClr val="2F8F6E"/>
                </a:solidFill>
                <a:latin typeface="Calibri"/>
              </a:rPr>
              <a:t>Vesti meglio. Compra meno. Allunga la vita dei tuoi capi.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93192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0" i="0">
                <a:solidFill>
                  <a:srgbClr val="4A6DDC"/>
                </a:solidFill>
                <a:latin typeface="Calibri"/>
              </a:rPr>
              <a:t>Domande?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4754880"/>
            <a:ext cx="10607040" cy="13716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C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128016" bIns="128016" wrap="square"/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4A6DDC"/>
                </a:solidFill>
                <a:latin typeface="Calibri"/>
              </a:rPr>
              <a:t>Il filo conduttore: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A1D27"/>
                </a:solidFill>
                <a:latin typeface="Calibri"/>
              </a:rPr>
              <a:t>una storia in 6 tappe, dove ogni problema ha lo strumento giusto —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6B7182"/>
                </a:solidFill>
                <a:latin typeface="Calibri"/>
              </a:rPr>
              <a:t>🟦 modello pre-addestrato · 🟩 rete nostra · 🟪 AI generativa · 🟨 regole trasparenti.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