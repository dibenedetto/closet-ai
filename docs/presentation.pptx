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Buongiorno, presento ClosetAI: un guardaroba intelligente che aiuta a vestire meglio comprando meno. Il prototipo copre l'intero ciclo di vita di un capo — dalla foto al fine vita — e lo racconto come una storia in sei tappe. A ogni tappa mostro due cose: cosa vede e fa l'utente, e cosa succede dietro le quinte a livello tecnico. È il filo conduttore di tutta la presentazione, quindi lo terrò esplicito slide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punto di partenza è la scala del problema: la moda pesa per circa il 10% delle emissioni globali di CO₂, e in Europa buttiamo 5 milioni di tonnellate di vestiti l'anno, spesso quasi nuovi — un capo fast fashion viene indossato in media solo 7 volte. Ma il problema non è solo industriale, è anche domestico: compriamo d'impulso senza sapere cosa abbiamo già, dimentichiamo capi in armadio, e buttiamo invece di riparare o donare. ClosetAI attacca proprio questi tre comportamenti.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capo che seguiamo attraversa sei momenti: lo fotografo, lo indosso, chiedo cosa mettermi, si rovina, mi chiedo se mi serve altro, e infine lo lascio andare. Questa è la mappa di tutta la presentazione. Prima di entrare nel dettaglio, fisso la legenda: useremo sempre lo stesso codice colore per capire CHE TIPO di intelligenza sta lavorando — blu per un modello pre-addestrato da altri, verde per le reti che abbiamo addestrato noi, viola per l'AI generativa che crea contenuti nuovi, giallo per la logica a regole, esplicita e trasparente. Tenetela a mente: la ritroverete a ogni tappa.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tappa: Marco compra un capo e lo fotografa. Niente form da compilare — la foto passa a Fashion-CLIP, un modello pre-addestrato su circa 700 mila immagini di moda, che riconosce categoria e colore e produce anche un embedding visivo, un vettore che userò più avanti per la varietà degli outfit. Perché non l'abbiamo addestrato noi? Perché sarebbe irrazionale: servirebbero decine di migliaia di foto etichettate per un problema che qualcuno ha già risolto meglio di quanto potremmo fare noi con le risorse di un progetto universitario.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Seconda tappa: l'uso reale. Un tap su 'indossato oggi' registra l'evento, e da lì calcoliamo due metriche semplici ma potenti: il cost-per-wear, cioè prezzo diviso numero di utilizzi — quanto ti è davvero costato quel capo — e i capi 'fantasma', quelli mai indossati dopo N giorni. Qui uso deliberatamente delle regole e non una rete neurale: sono formule esatte, trasparenti, verificabili a mano. Un modello ML introdurrebbe incertezza dove non ne serve: la matematica qui è già la risposta giusta.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Terza tappa: 'cosa mi metto oggi?'. Il recommender combina tre ingredienti: regole di compatibilità cromatica scritte a mano — colori complementari, presenza di neutri — un filtro sul meteo del giorno via l'API Open-Meteo, e un bonus di varietà che sfrutta l'embedding di Fashion-CLIP per non riproporre sempre le stesse combinazioni. È un esempio di mix consapevole: la logica estetica resta esplicita e ispezionabile, ma appoggiata sulla percezione del modello pre-addestrato per la parte che sarebbe troppo costoso codificare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Quarta tappa, e la parte di cui vado più fiero dal punto di vista metodologico. Una foto entra in Fashion-CLIP, che dà l'embedding, e sopra quell'embedding abbiamo addestrato noi un piccolo MLP che predice lo stato di conservazione. Sul dataset sintetico arrivavamo al 96%, un numero bellissimo ma sospetto. Appena l'ho testato su foto reali con difetti veri, l'accuracy è crollata al 60% — un classico domain gap. Invece di nasconderlo, l'ho investigato: la confusione era quasi tutta fra due classi, 'nuovo' e 'buono', indistinguibili su foto reali. Le ho fuse in un'unica classe e l'accuracy onesta è risalita al 94%, con il danneggiato riconosciuto quasi perfettamente. Un promemoria: le vecchie feature legate al tutorial di riparazione generato via VLM sono state rimosse dal prodotto in una revisione successiva, perché aggiungevano complessità senza un beneficio proporzionato — coerenti col principio MVP first che ripeto più avanti.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Quinta tappa: prima di comprare, conviene guardare l'armadio nel suo insieme. Qui cambia livello: non guardiamo più una foto ma i dati aggregati che Fashion-CLIP ha già prodotto capo per capo — quanti per categoria, quali colori, quanto vengono usati. Una seconda rete che abbiamo addestrato noi, multi-label, impara a riconoscere i vuoti funzionali: manca una giacca, ci sono troppe t-shirt. È addestrata su un dataset sintetico con etichette da regole esperte più rumore, così la rete impara le soglie invece di copiarle: un limite dichiarato, che miglioreremmo con feedback reale degli utenti.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Sesta e ultima tappa del ciclo di vita: il capo non serve più a Marco. In base allo stato diagnosticato alla tappa 4, l'app suggerisce l'azione più coerente con la gerarchia dell'economia circolare — riparare prima di riciclare, rivendere o donare prima di buttare — e stima i kg di CO₂ evitati con una tabella per categoria di capo, presa da fonti LCA autorevoli come la Ellen MacArthur Foundation. Anche qui niente rete neurale: la relazione materiale-impatto è già nota, e una rete darebbe solo falsa precisione dove serve invece un numero trasparente e citabile.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Tutte e sei le tappe convergono qui, nella dashboard impatto: CO₂ evitata tradotta in km d'auto risparmiati per renderla tangibile, capi salvati dalla discarica, il cost-per-wear di tutto il guardaroba, i vuoti funzionali da colmare o no, e un coach — questo sì AI generativa, un LLM via litellm — che scrive un consiglio personalizzato basato sui dati reali dell'utente. È il momento in cui la sostenibilità smette di essere un'affermazione astratta e diventa un numero personale e motivante.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Riassumo tutto in un'unica vista, su tre livelli. Per ogni singola foto lavorano tre motori: Fashion-CLIP pre-addestrato, la nostra rete dello stato, la tabella CO₂. Nel tempo, ogni 'indossato oggi' alimenta wear log, cost-per-wear e capi fantasma, tutta logica a regole. E sull'intero guardaroba lavorano l'outfit recommender e la rete di gap analysis, fino alla somma degli impatti evitati che arriva in dashboard. Il messaggio di questa slide è che nessun livello dipende da AI generativa nel suo cuore: quella la usiamo altrove, come supporto opzionale, non come collante indispensabile della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è la tesi tecnica del progetto: non 'AI ovunque', ma lo strumento giusto per ogni problema, e la disciplina di sapere quando NON usare AI. Pre-addestrata quando il problema è generale e già risolto da altri su scala che non potremmo replicare. Allenata da noi quando il problema è specifico del nostro dominio — qui dimostriamo il know-how di machine learning vero e proprio. Generativa quando serve contenuto nuovo e personalizzato. Regole quando la relazione è già nota ed esatta. Una nota di onestà: avevamo prototipato anche un quarto approccio, un modello generativo che scriveva tutorial di riparazione dalla foto — funzionava, ma l'abbiamo rimosso in revisione perché il valore aggiunto non giustificava la complessità di due modelli vision-generativi extra da mantenere. Anche sapere cosa togliere è parte del metodo MVP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progetto universitario deve anche reggere la domanda 'si può portarlo sul mercato?'. Sui costi: hardware minimo — laptop e telefono — modelli AI gratuiti o open-source, e un costo cloud trascurabile grazie alla cache delle risposte LLM; lo specchio smart opzionale costa sui 200 euro una tantum in componenti Raspberry Pi. Sui materiali: stack interamente open-source, FastAPI, React, Fashion-CLIP, Stable Diffusion, PyTorch — nessun lock-in su un fornitore. Sulla scalabilità: partiamo single-user locale per l'MVP, ma il percorso verso multi-utente su cloud, AI on-device per la privacy, e un marketplace second-hand integrato è già chiaro.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Chiudo con onestà intellettuale, che per me è parte integrante del metodo, non un vezzo finale. I dataset delle reti che alleniamo noi restano parzialmente sintetici e vanno validati su dati reali — l'ho mostrato concretamente con la rete dello stato. Le stime CO₂ sono medie per categoria, non ancora per materiale. Il try-on è un'illusione visiva convincente ma non un vero camerino digitale. Ed è personale: oggi niente account condivisi. Le estensioni naturali sono altrettanto chiare: più foto reali, marketplace integrato, CO₂ per materiale, e uno specchio smart che elabora tutto on-device senza mai inviare foto in cloud — coerente col principio di privacy by design che abbiamo seguito fin dall'inizio.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chiudere: ClosetAI nasce da una storia in sei tappe, e in ogni tappa ho cercato lo strumento giusto per il problema — non l'AI più sofisticata possibile, ma quella più onesta. Un modello pre-addestrato dove il problema è già risolto, una rete nostra dove serve know-how specifico e l'abbiamo dimostrato con dati e validazione reali, l'AI generativa dove serve creare contenuto, le regole trasparenti dove la risposta è già nota. Grazie per l'attenzione, sono a disposizione per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A6DDC"/>
                </a:solidFill>
                <a:latin typeface="Calibri"/>
              </a:rPr>
              <a:t>PRE-ESAME · PRODOTTO AI ECO-SOSTENIBILE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1A1D27"/>
                </a:solidFill>
                <a:latin typeface="Calibri"/>
              </a:rPr>
              <a:t>ClosetAI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2F8F6E"/>
                </a:solidFill>
                <a:latin typeface="Calibri"/>
              </a:rPr>
              <a:t>Il guardaroba intelligente che ti aiuta a vestire meglio comprando meno.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182"/>
                </a:solidFill>
                <a:latin typeface="Calibri"/>
              </a:rPr>
              <a:t>Una storia in sei tappe — dalla foto di un capo al suo fine vita — raccontata da due punti di vista: chi la usa e cosa c'è dietro.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B7182"/>
                </a:solidFill>
                <a:latin typeface="Calibri"/>
              </a:rPr>
              <a:t>Design per l'innovazione sostenibile — Università di Pisa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182"/>
                </a:solidFill>
                <a:latin typeface="Calibri"/>
              </a:rPr>
              <a:t>Marco Di Benedetto · A.A.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01 · LA SFIDA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Compriamo troppi vestiti.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L'industria della moda è una delle più impattanti del pianeta.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517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4A6DDC"/>
                </a:solidFill>
                <a:latin typeface="Calibri"/>
              </a:rPr>
              <a:t>10%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delle emissioni
globali di CO₂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103120"/>
            <a:ext cx="26517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C94A5C"/>
                </a:solidFill>
                <a:latin typeface="Calibri"/>
              </a:rPr>
              <a:t>5 mln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tonnellate di vestiti
buttati in Europa /anno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26517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C88B2E"/>
                </a:solidFill>
                <a:latin typeface="Calibri"/>
              </a:rPr>
              <a:t>7×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utilizzi medi di un
capo fast fashion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103120"/>
            <a:ext cx="26517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C94A5C"/>
                </a:solidFill>
                <a:latin typeface="Calibri"/>
              </a:rPr>
              <a:t>40%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del guardaroba medio
mai indossato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D27"/>
                </a:solidFill>
                <a:latin typeface="Calibri"/>
              </a:rPr>
              <a:t>Tre comportamenti, a casa nostra: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37760"/>
            <a:ext cx="1124712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D27"/>
                </a:solidFill>
                <a:latin typeface="Calibri"/>
              </a:rPr>
              <a:t>•  Compriamo d'impulso — non sappiamo davvero cosa abbiamo già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D27"/>
                </a:solidFill>
                <a:latin typeface="Calibri"/>
              </a:rPr>
              <a:t>•  Capi 'fantasma' — vestiti dimenticati nell'armadio, mai indossati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D27"/>
                </a:solidFill>
                <a:latin typeface="Calibri"/>
              </a:rPr>
              <a:t>•  Buttiamo invece di riparare, scambiare o donare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02 · LA STORIA + LA LEGENDA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Seguiamo un capo, dalla foto al fine vita.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A ogni tappa: cosa fa l'utente e quale tecnologia lavora dietro.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783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4A6DDC"/>
                </a:solidFill>
                <a:latin typeface="Calibri"/>
              </a:rPr>
              <a:t>1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📷
Lo fotografo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36292" y="2423160"/>
            <a:ext cx="100584" cy="274320"/>
          </a:xfrm>
          <a:prstGeom prst="rightArrow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41448" y="1874519"/>
            <a:ext cx="1783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4A6DDC"/>
                </a:solidFill>
                <a:latin typeface="Calibri"/>
              </a:rPr>
              <a:t>2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✓
Lo indosso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29100" y="2423160"/>
            <a:ext cx="100584" cy="274320"/>
          </a:xfrm>
          <a:prstGeom prst="rightArrow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6" y="1874519"/>
            <a:ext cx="1783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4A6DDC"/>
                </a:solidFill>
                <a:latin typeface="Calibri"/>
              </a:rPr>
              <a:t>3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👗
Cosa metto?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1908" y="2423160"/>
            <a:ext cx="100584" cy="274320"/>
          </a:xfrm>
          <a:prstGeom prst="rightArrow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874519"/>
            <a:ext cx="1783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4A6DDC"/>
                </a:solidFill>
                <a:latin typeface="Calibri"/>
              </a:rPr>
              <a:t>4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🛠️
Si è rovinato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14716" y="2423160"/>
            <a:ext cx="100584" cy="274320"/>
          </a:xfrm>
          <a:prstGeom prst="rightArrow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2" y="1874519"/>
            <a:ext cx="1783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4A6DDC"/>
                </a:solidFill>
                <a:latin typeface="Calibri"/>
              </a:rPr>
              <a:t>5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🧩
Mi serve altro?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07524" y="2423160"/>
            <a:ext cx="100584" cy="274320"/>
          </a:xfrm>
          <a:prstGeom prst="rightArrow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12680" y="1874519"/>
            <a:ext cx="17830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4A6DDC"/>
                </a:solidFill>
                <a:latin typeface="Calibri"/>
              </a:rPr>
              <a:t>6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♻️
Lo lascio andare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7"/>
                </a:solidFill>
                <a:latin typeface="Calibri"/>
              </a:rPr>
              <a:t>Le quattro nature della tecnologia (codice colore in tutta la presentazione):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2743200" cy="2011680"/>
          </a:xfrm>
          <a:prstGeom prst="roundRect">
            <a:avLst/>
          </a:prstGeom>
          <a:solidFill>
            <a:srgbClr val="E0E8FA"/>
          </a:solidFill>
          <a:ln w="9525">
            <a:solidFill>
              <a:srgbClr val="4A6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800"/>
              </a:spcAft>
            </a:pPr>
            <a:r>
              <a:rPr sz="1200" b="1" i="0">
                <a:solidFill>
                  <a:srgbClr val="4A6DDC"/>
                </a:solidFill>
                <a:latin typeface="Calibri"/>
              </a:rPr>
              <a:t>🟦 AI PRE-ADDESTRATA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Riconosce, da un modello già addestrato da altri.
Es. Fashion-CLIP riconosce i capi.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4114800"/>
            <a:ext cx="2743200" cy="2011680"/>
          </a:xfrm>
          <a:prstGeom prst="roundRect">
            <a:avLst/>
          </a:prstGeom>
          <a:solidFill>
            <a:srgbClr val="DCEFE7"/>
          </a:solidFill>
          <a:ln w="9525">
            <a:solidFill>
              <a:srgbClr val="2F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800"/>
              </a:spcAft>
            </a:pPr>
            <a:r>
              <a:rPr sz="1200" b="1" i="0">
                <a:solidFill>
                  <a:srgbClr val="2F8F6E"/>
                </a:solidFill>
                <a:latin typeface="Calibri"/>
              </a:rPr>
              <a:t>🟩 AI ALLENATA DA NOI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Una rete che abbiamo addestrato noi.
Es. stato del capo, vuoti del guardaroba.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2743200" cy="2011680"/>
          </a:xfrm>
          <a:prstGeom prst="roundRect">
            <a:avLst/>
          </a:prstGeom>
          <a:solidFill>
            <a:srgbClr val="ECE4F7"/>
          </a:solidFill>
          <a:ln w="9525">
            <a:solidFill>
              <a:srgbClr val="7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800"/>
              </a:spcAft>
            </a:pPr>
            <a:r>
              <a:rPr sz="1200" b="1" i="0">
                <a:solidFill>
                  <a:srgbClr val="7A4FC4"/>
                </a:solidFill>
                <a:latin typeface="Calibri"/>
              </a:rPr>
              <a:t>🟪 AI GENERATIVA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Produce contenuti nuovi (testi, immagini).
Es. descrizioni, coach, try-on virtuale.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114800"/>
            <a:ext cx="2743200" cy="2011680"/>
          </a:xfrm>
          <a:prstGeom prst="roundRect">
            <a:avLst/>
          </a:prstGeom>
          <a:solidFill>
            <a:srgbClr val="F6ECD8"/>
          </a:solidFill>
          <a:ln w="9525">
            <a:solidFill>
              <a:srgbClr val="C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800"/>
              </a:spcAft>
            </a:pPr>
            <a:r>
              <a:rPr sz="1200" b="1" i="0">
                <a:solidFill>
                  <a:srgbClr val="C88B2E"/>
                </a:solidFill>
                <a:latin typeface="Calibri"/>
              </a:rPr>
              <a:t>🟨 REGOLE / TABELLE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Logica esplicita e trasparente, niente ML.
Es. cost-per-wear, tabella CO₂.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TAPPA 1 · «L'HO APPENA COMPRATO»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Lo fotografo, l'app lo riconosce.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Niente moduli da compilare: basta una foto.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👤  LATO UTENTE — cosa vede e fa</a:t>
            </a:r>
          </a:p>
        </p:txBody>
      </p:sp>
      <p:pic>
        <p:nvPicPr>
          <p:cNvPr id="7" name="Picture 6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544068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⚙️  LATO TECNICO — cosa succede dietro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40280"/>
            <a:ext cx="5440680" cy="3794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4A6DDC"/>
                </a:solidFill>
                <a:latin typeface="Calibri"/>
              </a:rPr>
              <a:t>🟦 AI PRE-ADDESTRATA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D2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D27"/>
                </a:solidFill>
                <a:latin typeface="Calibri"/>
              </a:rPr>
              <a:t>Fashion-CLIP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Rete neurale pre-addestrata su 700.000 immagini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di moda. Riconosce la categoria (t-shirt, giacca…)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e produce un 'embedding' del capo.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4A6DDC"/>
                </a:solidFill>
                <a:latin typeface="Calibri"/>
              </a:rPr>
              <a:t>Perché pre-addestrata e non nostra?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Riaddestrarla servirebbero decine di migliaia di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foto etichettate: la usiamo già pronta.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TAPPA 2 · «OGGI L'HO MESSO»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Lo indosso, l'app tiene il conto.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Un solo tap trasforma l'armadio in dati utili.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👤  LATO UTENTE — cosa vede e 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A1D27"/>
                </a:solidFill>
                <a:latin typeface="Calibri"/>
              </a:rPr>
              <a:t>Marco tocca '✓ indossato oggi'.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Col tempo scopre quanto gli costa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davvero ogni capo (cost-per-wear) 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quali sono i suoi capi 'fantasma' —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mai indossati da mesi.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⚙️  LATO TECNICO — cosa succede dietro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40280"/>
            <a:ext cx="5440680" cy="3794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88B2E"/>
                </a:solidFill>
                <a:latin typeface="Calibri"/>
              </a:rPr>
              <a:t>🟨 REGOLE / TABELLE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D2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D27"/>
                </a:solidFill>
                <a:latin typeface="Calibri"/>
              </a:rPr>
              <a:t>Wear log + due calcoli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• cost-per-wear = prezzo ÷ numero di utilizzi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• capo fantasma = 0 utilizzi dopo N giorni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88B2E"/>
                </a:solidFill>
                <a:latin typeface="Calibri"/>
              </a:rPr>
              <a:t>Perché regole e non una rete?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Sono formule esatte e trasparenti: una divisione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e una soglia. Una rete qui sarebbe inutile e meno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affidabile di un conto che torna sempre.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TAPPA 3 · «COSA MI METTO OGGI?»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L'app propone l'outfit del giorno.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Dai capi che già possiede, non da un catalogo da comprare.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👤  LATO UTENTE — cosa vede e 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3840480"/>
          </a:xfrm>
          <a:prstGeom prst="roundRect">
            <a:avLst/>
          </a:prstGeom>
          <a:solidFill>
            <a:srgbClr val="E0E8FA"/>
          </a:solidFill>
          <a:ln w="9525">
            <a:solidFill>
              <a:srgbClr val="4A6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A6DDC"/>
                </a:solidFill>
                <a:latin typeface="Calibri"/>
              </a:rPr>
              <a:t>[ screenshot ]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04-today.png</a:t>
            </a:r>
          </a:p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182"/>
                </a:solidFill>
                <a:latin typeface="Calibri"/>
              </a:rPr>
              <a:t>proposte outfit + meteo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⚙️  LATO TECNICO — cosa succede dietro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40280"/>
            <a:ext cx="5440680" cy="3794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88B2E"/>
                </a:solidFill>
                <a:latin typeface="Calibri"/>
              </a:rPr>
              <a:t>🟨 REGOLE / TABELLE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4A6DDC"/>
                </a:solidFill>
                <a:latin typeface="Calibri"/>
              </a:rPr>
              <a:t>🟦 AI PRE-ADDESTRATA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D2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D27"/>
                </a:solidFill>
                <a:latin typeface="Calibri"/>
              </a:rPr>
              <a:t>Recommender: regole + embedding + meteo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• 🟨 regole di colore (complementari, neutri…)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• 🟨 filtro meteo via API Open-Meteo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• 🟦 l'embedding di Fashion-CLIP dà varietà</a:t>
            </a:r>
          </a:p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6B7182"/>
                </a:solidFill>
                <a:latin typeface="Calibri"/>
              </a:rPr>
              <a:t>Un mix: la logica estetica è scritta a mano,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182"/>
                </a:solidFill>
                <a:latin typeface="Calibri"/>
              </a:rPr>
              <a:t>ma sfrutta la 'percezione' del modello pre-addestrato.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TAPPA 4 · «SI È ROVINATO»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L'app riconosce lo stato dalla foto.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La nostra prima rete neurale, e la sua validazione onesta.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👤  LATO UTENTE — cosa vede e 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A1D27"/>
                </a:solidFill>
                <a:latin typeface="Calibri"/>
              </a:rPr>
              <a:t>Marco fotografa un capo logoro.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L'app gli dice se è in buono stato,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usurato o danneggiato — e da lì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parte il suggerimento dell'azione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circolare migliore (tappa 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⚙️  LATO TECNICO — cosa succede dietro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40280"/>
            <a:ext cx="5440680" cy="3794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8F6E"/>
                </a:solidFill>
                <a:latin typeface="Calibri"/>
              </a:rPr>
              <a:t>🟩 AI ALLENATA DA NOI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D2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D27"/>
                </a:solidFill>
                <a:latin typeface="Calibri"/>
              </a:rPr>
              <a:t>Rete dello STATO (addestrata da noi)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Fashion-CLIP (frozen) → MLP 512→256→128→3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8F6E"/>
                </a:solidFill>
                <a:latin typeface="Calibri"/>
              </a:rPr>
              <a:t>Validazione onesta: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dati sintetici → 96% (sovrastima) · su foto reali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con difetti veri (dataset COCO) crolla al 60%.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Causa: confine artificiale fra due classi troppo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simili. Fuse in 3 classi oneste → 94% reale.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182"/>
                </a:solidFill>
                <a:latin typeface="Calibri"/>
              </a:rPr>
              <a:t>Un errore trovato e corretto, non nascosto.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TAPPA 5 · «MI SERVE DAVVERO QUALCOSA?»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L'app legge l'armadio e trova i vuoti.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Una rete che ragiona sull'insieme, non sul singolo capo.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👤  LATO UTENTE — cosa vede e 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A1D27"/>
                </a:solidFill>
                <a:latin typeface="Calibri"/>
              </a:rPr>
              <a:t>Prima di comprare, Marco controlla.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L'app gli dice se l'armadio è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equilibrato o se ha dei vuoti reali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("manca una giacca", "troppe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t-shirt") e consiglia, se serve,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di cercarlo second-hand.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⚙️  LATO TECNICO — cosa succede dietro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40280"/>
            <a:ext cx="5440680" cy="3794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8F6E"/>
                </a:solidFill>
                <a:latin typeface="Calibri"/>
              </a:rPr>
              <a:t>🟩 AI ALLENATA DA NOI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D2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D27"/>
                </a:solidFill>
                <a:latin typeface="Calibri"/>
              </a:rPr>
              <a:t>Rete di gap analysis (addestrata da noi)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Non guarda le foto: guarda l'inventario prodotto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da Fashion-CLIP. Input: quanti capi per categoria,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colori, stagioni, frequenza d'uso →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Output: i vuoti funzionali del guardaroba.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F8F6E"/>
                </a:solidFill>
                <a:latin typeface="Calibri"/>
              </a:rPr>
              <a:t>Perché una rete e non regole?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Cattura combinazioni sfumate fra molti fattori,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e migliorerà col feedback reale degli utenti.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TAPPA 6 · «NON LO USO PIÙ»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L'app lo accompagna a una seconda vita.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E misura quanta CO₂ hai risparmiato così.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👤  LATO UTENTE — cosa vede e 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37490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A1D27"/>
                </a:solidFill>
                <a:latin typeface="Calibri"/>
              </a:rPr>
              <a:t>Marco decide il destino del capo.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L'app propone l'azione migliore —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riparare, scambiare, vendere,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donare o riciclare — e gli mostra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quanti kg di CO₂ ha evitato.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7"/>
                </a:solidFill>
                <a:latin typeface="Calibri"/>
              </a:rPr>
              <a:t>⚙️  LATO TECNICO — cosa succede dietro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40280"/>
            <a:ext cx="5440680" cy="3794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88B2E"/>
                </a:solidFill>
                <a:latin typeface="Calibri"/>
              </a:rPr>
              <a:t>🟨 REGOLE / TABELLE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1D2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D27"/>
                </a:solidFill>
                <a:latin typeface="Calibri"/>
              </a:rPr>
              <a:t>Tabella CO₂ (Ellen MacArthur Foundation)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182"/>
                </a:solidFill>
                <a:latin typeface="Calibri"/>
              </a:rPr>
              <a:t>impatto del capo × % evitata dall'azione: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F8F6E"/>
                </a:solidFill>
                <a:latin typeface="Calibri"/>
              </a:rPr>
              <a:t>• donare / vendere / scambiare → 100%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F8F6E"/>
                </a:solidFill>
                <a:latin typeface="Calibri"/>
              </a:rPr>
              <a:t>• riparare → 70%   • riciclare → 30%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88B2E"/>
                </a:solidFill>
                <a:latin typeface="Calibri"/>
              </a:rPr>
              <a:t>Perché una tabella e non una rete?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L'impatto CO₂ è già stimato da database LCA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autorevoli: meglio un numero citabile e trasparente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182"/>
                </a:solidFill>
                <a:latin typeface="Calibri"/>
              </a:rPr>
              <a:t>che una scatola nera.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03 · IL PAYOFF PER L'UTENTE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Il premio: vedere il proprio impatto.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Tutte le tappe convergono in numeri concreti e motivanti.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7315200" cy="4297680"/>
          </a:xfrm>
          <a:prstGeom prst="roundRect">
            <a:avLst/>
          </a:prstGeom>
          <a:solidFill>
            <a:srgbClr val="E0E8FA"/>
          </a:solidFill>
          <a:ln w="9525">
            <a:solidFill>
              <a:srgbClr val="4A6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A6DDC"/>
                </a:solidFill>
                <a:latin typeface="Calibri"/>
              </a:rPr>
              <a:t>[ screenshot ]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05-dashboard.png</a:t>
            </a:r>
          </a:p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B7182"/>
                </a:solidFill>
                <a:latin typeface="Calibri"/>
              </a:rPr>
              <a:t>dashboard impatto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657600" cy="4297680"/>
          </a:xfrm>
          <a:prstGeom prst="roundRect">
            <a:avLst/>
          </a:prstGeom>
          <a:solidFill>
            <a:srgbClr val="DCEFE7"/>
          </a:solidFill>
          <a:ln w="9525">
            <a:solidFill>
              <a:srgbClr val="2F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F8F6E"/>
                </a:solidFill>
                <a:latin typeface="Calibri"/>
              </a:rPr>
              <a:t>Cosa vede Marco: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→ CO₂ evitata, in km auto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→ capi salvati dalla discarica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→ cost-per-wear del guardaroba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→ vuoti da colmare (o no!)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→ coach AI con un consiglio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B7182"/>
                </a:solidFill>
                <a:latin typeface="Calibri"/>
              </a:rPr>
              <a:t>La sostenibilità diventa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B7182"/>
                </a:solidFill>
                <a:latin typeface="Calibri"/>
              </a:rPr>
              <a:t>misurabile e personale.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04 · SOTTO IL COFANO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Il quadro tecnico, in un colpo d'occhio.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Le stesse tappe, ora come pipeline su tre livelli. Colori = le 4 nature.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7"/>
                </a:solidFill>
                <a:latin typeface="Calibri"/>
              </a:rPr>
              <a:t>📷  PER OGNI CAPO · dalla foto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3657600" cy="1097280"/>
          </a:xfrm>
          <a:prstGeom prst="roundRect">
            <a:avLst/>
          </a:prstGeom>
          <a:solidFill>
            <a:srgbClr val="E0E8FA"/>
          </a:solidFill>
          <a:ln w="9525">
            <a:solidFill>
              <a:srgbClr val="4A6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D27"/>
                </a:solidFill>
                <a:latin typeface="Calibri"/>
              </a:rPr>
              <a:t>Fashion-CLIP</a:t>
            </a:r>
          </a:p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4A6DDC"/>
                </a:solidFill>
                <a:latin typeface="Calibri"/>
              </a:rPr>
              <a:t>🟦 pre-addestrata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→ categoria + colore (+ embedding)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901952"/>
            <a:ext cx="3657600" cy="1097280"/>
          </a:xfrm>
          <a:prstGeom prst="roundRect">
            <a:avLst/>
          </a:prstGeom>
          <a:solidFill>
            <a:srgbClr val="DCEFE7"/>
          </a:solidFill>
          <a:ln w="9525">
            <a:solidFill>
              <a:srgbClr val="2F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D27"/>
                </a:solidFill>
                <a:latin typeface="Calibri"/>
              </a:rPr>
              <a:t>Rete stato del capo</a:t>
            </a:r>
          </a:p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2F8F6E"/>
                </a:solidFill>
                <a:latin typeface="Calibri"/>
              </a:rPr>
              <a:t>🟩 nostra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→ buono / usurato / danneggiato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4736" y="1901952"/>
            <a:ext cx="3657600" cy="1097280"/>
          </a:xfrm>
          <a:prstGeom prst="roundRect">
            <a:avLst/>
          </a:prstGeom>
          <a:solidFill>
            <a:srgbClr val="F6ECD8"/>
          </a:solidFill>
          <a:ln w="9525">
            <a:solidFill>
              <a:srgbClr val="C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D27"/>
                </a:solidFill>
                <a:latin typeface="Calibri"/>
              </a:rPr>
              <a:t>Tabella CO₂</a:t>
            </a:r>
          </a:p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C88B2E"/>
                </a:solidFill>
                <a:latin typeface="Calibri"/>
              </a:rPr>
              <a:t>🟨 regole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→ impatto di produzione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82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7"/>
                </a:solidFill>
                <a:latin typeface="Calibri"/>
              </a:rPr>
              <a:t>✓  USO NEL TEMPO · un tap 'indossato oggi'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56432"/>
            <a:ext cx="3657600" cy="1097280"/>
          </a:xfrm>
          <a:prstGeom prst="roundRect">
            <a:avLst/>
          </a:prstGeom>
          <a:solidFill>
            <a:srgbClr val="F6ECD8"/>
          </a:solidFill>
          <a:ln w="9525">
            <a:solidFill>
              <a:srgbClr val="C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D27"/>
                </a:solidFill>
                <a:latin typeface="Calibri"/>
              </a:rPr>
              <a:t>Wear log</a:t>
            </a:r>
          </a:p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C88B2E"/>
                </a:solidFill>
                <a:latin typeface="Calibri"/>
              </a:rPr>
              <a:t>🟨 regole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→ quante volte l'hai indossato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3456432"/>
            <a:ext cx="3657600" cy="1097280"/>
          </a:xfrm>
          <a:prstGeom prst="roundRect">
            <a:avLst/>
          </a:prstGeom>
          <a:solidFill>
            <a:srgbClr val="F6ECD8"/>
          </a:solidFill>
          <a:ln w="9525">
            <a:solidFill>
              <a:srgbClr val="C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D27"/>
                </a:solidFill>
                <a:latin typeface="Calibri"/>
              </a:rPr>
              <a:t>Cost-per-wear</a:t>
            </a:r>
          </a:p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C88B2E"/>
                </a:solidFill>
                <a:latin typeface="Calibri"/>
              </a:rPr>
              <a:t>🟨 calcolo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→ prezzo ÷ n. utilizzi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3456432"/>
            <a:ext cx="3657600" cy="1097280"/>
          </a:xfrm>
          <a:prstGeom prst="roundRect">
            <a:avLst/>
          </a:prstGeom>
          <a:solidFill>
            <a:srgbClr val="F6ECD8"/>
          </a:solidFill>
          <a:ln w="9525">
            <a:solidFill>
              <a:srgbClr val="C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D27"/>
                </a:solidFill>
                <a:latin typeface="Calibri"/>
              </a:rPr>
              <a:t>Capi fantasma</a:t>
            </a:r>
          </a:p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C88B2E"/>
                </a:solidFill>
                <a:latin typeface="Calibri"/>
              </a:rPr>
              <a:t>🟨 soglia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→ mai indossati &gt; N giorni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365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7"/>
                </a:solidFill>
                <a:latin typeface="Calibri"/>
              </a:rPr>
              <a:t>🧩  TUTTO IL GUARDAROBA · sull'insieme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10912"/>
            <a:ext cx="3657600" cy="1097280"/>
          </a:xfrm>
          <a:prstGeom prst="roundRect">
            <a:avLst/>
          </a:prstGeom>
          <a:solidFill>
            <a:srgbClr val="E0E8FA"/>
          </a:solidFill>
          <a:ln w="9525">
            <a:solidFill>
              <a:srgbClr val="4A6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D27"/>
                </a:solidFill>
                <a:latin typeface="Calibri"/>
              </a:rPr>
              <a:t>Outfit recommender</a:t>
            </a:r>
          </a:p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4A6DDC"/>
                </a:solidFill>
                <a:latin typeface="Calibri"/>
              </a:rPr>
              <a:t>🟨 regole + 🟦 + 🌦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→ "cosa metto oggi?"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5010912"/>
            <a:ext cx="3657600" cy="1097280"/>
          </a:xfrm>
          <a:prstGeom prst="roundRect">
            <a:avLst/>
          </a:prstGeom>
          <a:solidFill>
            <a:srgbClr val="DCEFE7"/>
          </a:solidFill>
          <a:ln w="9525">
            <a:solidFill>
              <a:srgbClr val="2F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D27"/>
                </a:solidFill>
                <a:latin typeface="Calibri"/>
              </a:rPr>
              <a:t>Rete gap analysis</a:t>
            </a:r>
          </a:p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2F8F6E"/>
                </a:solidFill>
                <a:latin typeface="Calibri"/>
              </a:rPr>
              <a:t>🟩 nostra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→ vuoti: "manca una giacca"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5010912"/>
            <a:ext cx="3657600" cy="1097280"/>
          </a:xfrm>
          <a:prstGeom prst="roundRect">
            <a:avLst/>
          </a:prstGeom>
          <a:solidFill>
            <a:srgbClr val="F6ECD8"/>
          </a:solidFill>
          <a:ln w="9525">
            <a:solidFill>
              <a:srgbClr val="C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D27"/>
                </a:solidFill>
                <a:latin typeface="Calibri"/>
              </a:rPr>
              <a:t>Somma impatti evitati</a:t>
            </a:r>
          </a:p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C88B2E"/>
                </a:solidFill>
                <a:latin typeface="Calibri"/>
              </a:rPr>
              <a:t>🟨 calcolo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182"/>
                </a:solidFill>
                <a:latin typeface="Calibri"/>
              </a:rPr>
              <a:t>→ CO₂ totale →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05 · LA TESI TECNICA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Quattro nature, ognuna dove ha senso.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Non 'AI ovunque': lo strumento giusto per ogni problema.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5577840" cy="2057400"/>
          </a:xfrm>
          <a:prstGeom prst="roundRect">
            <a:avLst/>
          </a:prstGeom>
          <a:solidFill>
            <a:srgbClr val="E0E8FA"/>
          </a:solidFill>
          <a:ln w="9525">
            <a:solidFill>
              <a:srgbClr val="4A6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4A6DDC"/>
                </a:solidFill>
                <a:latin typeface="Calibri"/>
              </a:rPr>
              <a:t>AI PRE-ADDESTRATA</a:t>
            </a:r>
          </a:p>
          <a:p>
            <a:pPr algn="l">
              <a:spcAft>
                <a:spcPts val="800"/>
              </a:spcAft>
            </a:pPr>
            <a:r>
              <a:rPr sz="1100" b="0" i="1">
                <a:solidFill>
                  <a:srgbClr val="6B7182"/>
                </a:solidFill>
                <a:latin typeface="Calibri"/>
              </a:rPr>
              <a:t>Fashion-CLIP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Quando il problema (riconoscere un capo) è
generale e qualcun altro l'ha già risolto su
milioni di immagini. Non lo rifacciamo noi.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874519"/>
            <a:ext cx="5577840" cy="2057400"/>
          </a:xfrm>
          <a:prstGeom prst="roundRect">
            <a:avLst/>
          </a:prstGeom>
          <a:solidFill>
            <a:srgbClr val="DCEFE7"/>
          </a:solidFill>
          <a:ln w="9525">
            <a:solidFill>
              <a:srgbClr val="2F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F8F6E"/>
                </a:solidFill>
                <a:latin typeface="Calibri"/>
              </a:rPr>
              <a:t>AI ALLENATA DA NOI</a:t>
            </a:r>
          </a:p>
          <a:p>
            <a:pPr algn="l">
              <a:spcAft>
                <a:spcPts val="800"/>
              </a:spcAft>
            </a:pPr>
            <a:r>
              <a:rPr sz="1100" b="0" i="1">
                <a:solidFill>
                  <a:srgbClr val="6B7182"/>
                </a:solidFill>
                <a:latin typeface="Calibri"/>
              </a:rPr>
              <a:t>rete stato · gap analysis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Quando il problema è specifico del nostro
dominio e abbiamo (o generiamo) i dati per
insegnarlo. Qui dimostriamo il know-how 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5577840" cy="2057400"/>
          </a:xfrm>
          <a:prstGeom prst="roundRect">
            <a:avLst/>
          </a:prstGeom>
          <a:solidFill>
            <a:srgbClr val="ECE4F7"/>
          </a:solidFill>
          <a:ln w="9525">
            <a:solidFill>
              <a:srgbClr val="7A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7A4FC4"/>
                </a:solidFill>
                <a:latin typeface="Calibri"/>
              </a:rPr>
              <a:t>AI GENERATIVA</a:t>
            </a:r>
          </a:p>
          <a:p>
            <a:pPr algn="l">
              <a:spcAft>
                <a:spcPts val="800"/>
              </a:spcAft>
            </a:pPr>
            <a:r>
              <a:rPr sz="1100" b="0" i="1">
                <a:solidFill>
                  <a:srgbClr val="6B7182"/>
                </a:solidFill>
                <a:latin typeface="Calibri"/>
              </a:rPr>
              <a:t>LLM · diffusion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Quando serve creare contenuto nuovo e
personalizzato: descrizioni narrative,
coach di sostenibilità, prova virtuale.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4114800"/>
            <a:ext cx="5577840" cy="2057400"/>
          </a:xfrm>
          <a:prstGeom prst="roundRect">
            <a:avLst/>
          </a:prstGeom>
          <a:solidFill>
            <a:srgbClr val="F6ECD8"/>
          </a:solidFill>
          <a:ln w="9525">
            <a:solidFill>
              <a:srgbClr val="C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C88B2E"/>
                </a:solidFill>
                <a:latin typeface="Calibri"/>
              </a:rPr>
              <a:t>REGOLE / TABELLE</a:t>
            </a:r>
          </a:p>
          <a:p>
            <a:pPr algn="l">
              <a:spcAft>
                <a:spcPts val="800"/>
              </a:spcAft>
            </a:pPr>
            <a:r>
              <a:rPr sz="1100" b="0" i="1">
                <a:solidFill>
                  <a:srgbClr val="6B7182"/>
                </a:solidFill>
                <a:latin typeface="Calibri"/>
              </a:rPr>
              <a:t>cost-per-wear · CO₂ · colore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Quando la relazione è già nota, esatta e va
tenuta trasparente. Una rete qui darebbe solo
falsa precisione e meno fiducia.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06 · COSTI, MATERIALI, SCALABILITÀ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Studio di fattibilità.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Si può davvero portarlo sul mercato?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6576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A6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4A6DDC"/>
                </a:solidFill>
                <a:latin typeface="Calibri"/>
              </a:rPr>
              <a:t>💰 Costi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Hardware: laptop + telefono.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Modelli AI: gratuiti / open-source.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Cloud opzionale: ~€ 0,01 a utente/mese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(grazie alla cache delle risposte).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Specchio smart: ~€ 200 una tantum.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6576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F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2F8F6E"/>
                </a:solidFill>
                <a:latin typeface="Calibri"/>
              </a:rPr>
              <a:t>🧱 Materiali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Tutto open-source, nessuna licenza: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FastAPI, React, Fashion-CLIP, Qwen-VL,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Stable Diffusion, scikit-learn, PyTorch.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Piena trasparenza e nessun lock-in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su un fornitore.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20240"/>
            <a:ext cx="36576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C88B2E"/>
                </a:solidFill>
                <a:latin typeface="Calibri"/>
              </a:rPr>
              <a:t>📈 Scalabilità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MVP: single-user, locale.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→ Cloud multi-utente (Postgres + S3).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→ AI on-device per la privacy.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→ Versione con marketplace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D27"/>
                </a:solidFill>
                <a:latin typeface="Calibri"/>
              </a:rPr>
              <a:t>second-hand integrato.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6DDC"/>
                </a:solidFill>
                <a:latin typeface="Calibri"/>
              </a:rPr>
              <a:t>07 · ONESTÀ INTELLETTUALE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Cosa il prototipo non fa (ancora).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182"/>
                </a:solidFill>
                <a:latin typeface="Calibri"/>
              </a:rPr>
              <a:t>E dove potrebbe andare in futuro.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731520" cy="30000"/>
          </a:xfrm>
          <a:prstGeom prst="rect">
            <a:avLst/>
          </a:prstGeom>
          <a:solidFill>
            <a:srgbClr val="4A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57784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94A5C"/>
                </a:solidFill>
                <a:latin typeface="Calibri"/>
              </a:rPr>
              <a:t>Limitazioni di oggi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•  I dataset delle reti che alleniamo noi sono sintetici: vanno validati su dati reali.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•  Le stime CO₂ sono medie per categoria, non per materiale.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•  Il try-on è un'illusione visiva, non un camerino digitale.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•  Per ora è personale: niente account né condivisione.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920240"/>
            <a:ext cx="557784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F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2F8F6E"/>
                </a:solidFill>
                <a:latin typeface="Calibri"/>
              </a:rPr>
              <a:t>Estensioni naturali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•  Raccolta di foto reali per riaddestrare la rete dello stato.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•  Marketplace second-hand integrato (Vinted, Wallapop).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•  CO₂ per materiale (cotone vs lana vs poliestere).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•  Specchio smart on-device, senza inviare foto in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182"/>
                </a:solidFill>
                <a:latin typeface="Calibri"/>
              </a:rPr>
              <a:t>ClosetAI · Design per l'innovazione sostenibile · pre-esame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182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1A1D27"/>
                </a:solidFill>
                <a:latin typeface="Calibri"/>
              </a:rPr>
              <a:t>Grazie.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2F8F6E"/>
                </a:solidFill>
                <a:latin typeface="Calibri"/>
              </a:rPr>
              <a:t>Vesti meglio. Compra meno. Allunga la vita dei tuoi capi.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4A6DDC"/>
                </a:solidFill>
                <a:latin typeface="Calibri"/>
              </a:rPr>
              <a:t>Domande?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6070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A6DDC"/>
                </a:solidFill>
                <a:latin typeface="Calibri"/>
              </a:rPr>
              <a:t>Il filo conduttore: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A1D27"/>
                </a:solidFill>
                <a:latin typeface="Calibri"/>
              </a:rPr>
              <a:t>una storia in 6 tappe, dove ogni problema ha lo strumento giusto —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182"/>
                </a:solidFill>
                <a:latin typeface="Calibri"/>
              </a:rPr>
              <a:t>🟦 modello pre-addestrato · 🟩 rete nostra · 🟪 AI generativa · 🟨 regole trasparenti.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