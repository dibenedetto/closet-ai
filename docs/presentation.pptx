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E6E7EC"/>
                </a:solidFill>
                <a:latin typeface="Calibri"/>
              </a:rPr>
              <a:t>ClosetAI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1">
                <a:solidFill>
                  <a:srgbClr val="7C9CFF"/>
                </a:solidFill>
                <a:latin typeface="Calibri"/>
              </a:rPr>
              <a:t>Digitalizza il tuo guardaroba. Vesti meglio. Compra meno.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8A90A3"/>
                </a:solidFill>
                <a:latin typeface="Calibri"/>
              </a:rPr>
              <a:t>Master in Informatica per la Salute Digitale — Università di Pisa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8A90A3"/>
                </a:solidFill>
                <a:latin typeface="Calibri"/>
              </a:rPr>
              <a:t>Corso di Virtual Worlds · A.A.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0A3"/>
                </a:solidFill>
                <a:latin typeface="Calibri"/>
              </a:rPr>
              <a:t>marcodibenedetto1979@gmail.com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Il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Fast fashion: tante magliette comprate, poche indossate, troppe in discarica.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2651760" cy="201168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800"/>
              </a:spcAft>
            </a:pPr>
            <a:r>
              <a:rPr sz="4400" b="1">
                <a:solidFill>
                  <a:srgbClr val="7C9CFF"/>
                </a:solidFill>
                <a:latin typeface="Calibri"/>
              </a:rPr>
              <a:t>10%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delle emissioni globali di CO₂ vengono dal tessile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920240"/>
            <a:ext cx="2651760" cy="201168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800"/>
              </a:spcAft>
            </a:pPr>
            <a:r>
              <a:rPr sz="4400" b="1">
                <a:solidFill>
                  <a:srgbClr val="7C9CFF"/>
                </a:solidFill>
                <a:latin typeface="Calibri"/>
              </a:rPr>
              <a:t>5M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tonnellate di vestiti buttati in Europa ogni anno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20240"/>
            <a:ext cx="2651760" cy="201168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800"/>
              </a:spcAft>
            </a:pPr>
            <a:r>
              <a:rPr sz="4400" b="1">
                <a:solidFill>
                  <a:srgbClr val="7C9CFF"/>
                </a:solidFill>
                <a:latin typeface="Calibri"/>
              </a:rPr>
              <a:t>7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volte la media di utilizzi di un capo fast fashion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920240"/>
            <a:ext cx="2651760" cy="201168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800"/>
              </a:spcAft>
            </a:pPr>
            <a:r>
              <a:rPr sz="4400" b="1">
                <a:solidFill>
                  <a:srgbClr val="7C9CFF"/>
                </a:solidFill>
                <a:latin typeface="Calibri"/>
              </a:rPr>
              <a:t>40%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del guardaroba medio non viene mai indossato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6E7EC"/>
                </a:solidFill>
                <a:latin typeface="Calibri"/>
              </a:rPr>
              <a:t>A livello individuale, tre comportamenti ricorrenti: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54880"/>
            <a:ext cx="10972800" cy="18288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Acquisto impulsivo — non si ha visione di ciò che si possiede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Capi 'fantasma' — vestiti mai indossati dopo l'acquisto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Smaltimento prematuro — un capo si butta invece di ripararlo / cederlo / riciclarlo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La soluzione: un flusso unico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Catalogazione + tracking d'uso + azioni circolari, supportati dall'AI.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194560" cy="365760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7C9CFF"/>
                </a:solidFill>
                <a:latin typeface="Calibri"/>
              </a:rPr>
              <a:t>01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6E7EC"/>
                </a:solidFill>
                <a:latin typeface="Calibri"/>
              </a:rPr>
              <a:t>Catalogazione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Foto del capo →
Fashion-CLIP estrae
categoria, colore,
embedding 512d.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2011680"/>
            <a:ext cx="2194560" cy="365760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7C9CFF"/>
                </a:solidFill>
                <a:latin typeface="Calibri"/>
              </a:rPr>
              <a:t>02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6E7EC"/>
                </a:solidFill>
                <a:latin typeface="Calibri"/>
              </a:rPr>
              <a:t>Wear log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Click 'indossato
oggi' → calcoliamo
utilizzi, cost-per-wear,
capi fantasma.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2011680"/>
            <a:ext cx="2194560" cy="365760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7C9CFF"/>
                </a:solidFill>
                <a:latin typeface="Calibri"/>
              </a:rPr>
              <a:t>03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6E7EC"/>
                </a:solidFill>
                <a:latin typeface="Calibri"/>
              </a:rPr>
              <a:t>Recommendation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'Cosa metto oggi?'
→ 3 outfit con score
colore + meteo + bonus
capi fantasma.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2011680"/>
            <a:ext cx="2194560" cy="365760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4EC9A0"/>
                </a:solidFill>
                <a:latin typeface="Calibri"/>
              </a:rPr>
              <a:t>04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6E7EC"/>
                </a:solidFill>
                <a:latin typeface="Calibri"/>
              </a:rPr>
              <a:t>Azioni circolari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Diagnosi condizione
→ ripara / scambia /
vendi / dona /
ricicla. CO₂ evitata.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92640" y="2011680"/>
            <a:ext cx="2194560" cy="365760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4EC9A0"/>
                </a:solidFill>
                <a:latin typeface="Calibri"/>
              </a:rPr>
              <a:t>05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E6E7EC"/>
                </a:solidFill>
                <a:latin typeface="Calibri"/>
              </a:rPr>
              <a:t>Dashboard impatto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Equivalenze CO₂
(km auto, voli, m²
foresta). Coach AI
che dà consigli.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7C9CFF"/>
                </a:solidFill>
                <a:latin typeface="Calibri"/>
              </a:rPr>
              <a:t>Estensione hardware: specchio smart (Raspberry Pi 5 + monitor verticale + camera).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Architettura ad alto livello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200400" cy="2377440"/>
          </a:xfrm>
          <a:prstGeom prst="roundRect">
            <a:avLst/>
          </a:prstGeom>
          <a:solidFill>
            <a:srgbClr val="232734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C9CFF"/>
                </a:solidFill>
                <a:latin typeface="Calibri"/>
              </a:rPr>
              <a:t>Frontend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7EC"/>
                </a:solidFill>
                <a:latin typeface="Calibri"/>
              </a:rPr>
              <a:t>React 19 + Vite 7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A90A3"/>
                </a:solidFill>
                <a:latin typeface="Calibri"/>
              </a:rPr>
              <a:t>TypeScript strict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A90A3"/>
                </a:solidFill>
                <a:latin typeface="Calibri"/>
              </a:rPr>
              <a:t>6 pagine + 3 componenti AI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A90A3"/>
                </a:solidFill>
                <a:latin typeface="Calibri"/>
              </a:rPr>
              <a:t>API client tipizzato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828800"/>
            <a:ext cx="3200400" cy="2377440"/>
          </a:xfrm>
          <a:prstGeom prst="roundRect">
            <a:avLst/>
          </a:prstGeom>
          <a:solidFill>
            <a:srgbClr val="232734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C9CFF"/>
                </a:solidFill>
                <a:latin typeface="Calibri"/>
              </a:rPr>
              <a:t>Backend FastAPI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7EC"/>
                </a:solidFill>
                <a:latin typeface="Calibri"/>
              </a:rPr>
              <a:t>Python 3.14 + uv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A90A3"/>
                </a:solidFill>
                <a:latin typeface="Calibri"/>
              </a:rPr>
              <a:t>SQLAlchemy 2 ORM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A90A3"/>
                </a:solidFill>
                <a:latin typeface="Calibri"/>
              </a:rPr>
              <a:t>8 router REST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A90A3"/>
                </a:solidFill>
                <a:latin typeface="Calibri"/>
              </a:rPr>
              <a:t>13 servizi (ML + AI gen)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0" y="1828800"/>
            <a:ext cx="3200400" cy="2377440"/>
          </a:xfrm>
          <a:prstGeom prst="roundRect">
            <a:avLst/>
          </a:prstGeom>
          <a:solidFill>
            <a:srgbClr val="232734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C9CFF"/>
                </a:solidFill>
                <a:latin typeface="Calibri"/>
              </a:rPr>
              <a:t>Storage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E6E7EC"/>
                </a:solidFill>
                <a:latin typeface="Calibri"/>
              </a:rPr>
              <a:t>SQLite (metadata)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A90A3"/>
                </a:solidFill>
                <a:latin typeface="Calibri"/>
              </a:rPr>
              <a:t>Filesystem (foto)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A90A3"/>
                </a:solidFill>
                <a:latin typeface="Calibri"/>
              </a:rPr>
              <a:t>ChromaDB (embedding)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→ Postgres + S3 in prod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572000"/>
            <a:ext cx="7132320" cy="164592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7C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9CFF"/>
                </a:solidFill>
                <a:latin typeface="Calibri"/>
              </a:rPr>
              <a:t>Machine Learning applicato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Fashion-CLIP (HuggingFace) · Pillow quantize · ChromaDB k-NN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Diagnosi euristica · Recommender con regole HSL + meteo + ghost-bonus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4572000"/>
            <a:ext cx="3657600" cy="164592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4EC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EC9A0"/>
                </a:solidFill>
                <a:latin typeface="Calibri"/>
              </a:rPr>
              <a:t>AI generativa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litellm gateway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diffusers (SD inpainting)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Cloud + locale pluggable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Stack tecnico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Tutte scelte standard, niente lock-in custom.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7C9CFF"/>
                </a:solidFill>
                <a:latin typeface="Calibri"/>
              </a:rPr>
              <a:t>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8288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6E7EC"/>
                </a:solidFill>
                <a:latin typeface="Calibri"/>
              </a:rPr>
              <a:t>Python 3.14, FastAPI, SQLAlchemy 2, SQLite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8288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A90A3"/>
                </a:solidFill>
                <a:latin typeface="Calibri"/>
              </a:rPr>
              <a:t>uv per il package mgmt + lockfile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7C9CFF"/>
                </a:solidFill>
                <a:latin typeface="Calibri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60604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6E7EC"/>
                </a:solidFill>
                <a:latin typeface="Calibri"/>
              </a:rPr>
              <a:t>React 19, Vite 7, TypeScript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60604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A90A3"/>
                </a:solidFill>
                <a:latin typeface="Calibri"/>
              </a:rPr>
              <a:t>react-router 7 · CSS variables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7C9CFF"/>
                </a:solidFill>
                <a:latin typeface="Calibri"/>
              </a:rPr>
              <a:t>ML applicato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3832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6E7EC"/>
                </a:solidFill>
                <a:latin typeface="Calibri"/>
              </a:rPr>
              <a:t>PyTorch CPU, transformers, Fashion-CLIP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38328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A90A3"/>
                </a:solidFill>
                <a:latin typeface="Calibri"/>
              </a:rPr>
              <a:t>Pillow per immagini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7C9CFF"/>
                </a:solidFill>
                <a:latin typeface="Calibri"/>
              </a:rPr>
              <a:t>AI generativa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16052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6E7EC"/>
                </a:solidFill>
                <a:latin typeface="Calibri"/>
              </a:rPr>
              <a:t>litellm (cloud + Ollama locale), diffusers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16052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A90A3"/>
                </a:solidFill>
                <a:latin typeface="Calibri"/>
              </a:rPr>
              <a:t>anche modelli locali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3776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7C9CFF"/>
                </a:solidFill>
                <a:latin typeface="Calibri"/>
              </a:rPr>
              <a:t>Vector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93776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6E7EC"/>
                </a:solidFill>
                <a:latin typeface="Calibri"/>
              </a:rPr>
              <a:t>ChromaDB persistente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9377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A90A3"/>
                </a:solidFill>
                <a:latin typeface="Calibri"/>
              </a:rPr>
              <a:t>cosine similarity native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150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7C9CFF"/>
                </a:solidFill>
                <a:latin typeface="Calibri"/>
              </a:rPr>
              <a:t>Hardware (opz.)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7150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6E7EC"/>
                </a:solidFill>
                <a:latin typeface="Calibri"/>
              </a:rPr>
              <a:t>Raspberry Pi 5 + monitor verticale + Chromium kiosk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57150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A90A3"/>
                </a:solidFill>
                <a:latin typeface="Calibri"/>
              </a:rPr>
              <a:t>pagina /mirror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Guardaroba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Hero banner + filtri + griglia capi (categoria, colore, prezzo).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777240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1828800"/>
            <a:ext cx="3200400" cy="4572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E6E7EC"/>
                </a:solidFill>
                <a:latin typeface="Calibri"/>
              </a:rPr>
              <a:t>•  Hero banner: 4 metriche live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8A90A3"/>
                </a:solidFill>
                <a:latin typeface="Calibri"/>
              </a:rPr>
              <a:t>◦  Ricerca testuale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8A90A3"/>
                </a:solidFill>
                <a:latin typeface="Calibri"/>
              </a:rPr>
              <a:t>◦  Filtro per categoria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8A90A3"/>
                </a:solidFill>
                <a:latin typeface="Calibri"/>
              </a:rPr>
              <a:t>◦  Chip attivi / ritirati / tutti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6E7EC"/>
                </a:solidFill>
                <a:latin typeface="Calibri"/>
              </a:rPr>
              <a:t>•  Quick wear '✓ oggi'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8A90A3"/>
                </a:solidFill>
                <a:latin typeface="Calibri"/>
              </a:rPr>
              <a:t>◦  Click su una card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8A90A3"/>
                </a:solidFill>
                <a:latin typeface="Calibri"/>
              </a:rPr>
              <a:t>◦  → dettaglio capo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M1 · Catalogazione capi (Fashion-CLIP)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Una foto → categoria + colore + embedding 512d, in 64 ms su CPU.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6858000" cy="41148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Modello: patrickjohncyh/fashion-clip (CLIP fine-tunato su 700k immagini fashion)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Approccio zero-shot su 14 categorie italiane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Prompt EN precomputati → embedding testuale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Cosine similarity tra image embedding e text embeddings → softmax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Embedding salvati in ChromaDB (riusabili per recommender)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Colore dominante: Pillow quantize + filtro sfondo chiaro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Fallback Mock: deterministico, per i test e ambienti senza torch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Benchmark: Mock 4ms · Fashion-CLIP 64ms post-warmup (CPU)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920240"/>
            <a:ext cx="4114800" cy="4114800"/>
          </a:xfrm>
          <a:prstGeom prst="roundRect">
            <a:avLst/>
          </a:prstGeom>
          <a:solidFill>
            <a:srgbClr val="232734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C9CFF"/>
                </a:solidFill>
                <a:latin typeface="Calibri"/>
              </a:rPr>
              <a:t>classify(image_path)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→ ClassificationResult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category: 't-shirt'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color: 'blu'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confidence: 0.83</a:t>
            </a:r>
          </a:p>
          <a:p>
            <a:pPr algn="l">
              <a:spcAft>
                <a:spcPts val="10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embedding: float[512]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7C9CFF"/>
                </a:solidFill>
                <a:latin typeface="Calibri"/>
              </a:rPr>
              <a:t>env CLOSETAI_CLASSIFIER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= fashion-clip | mock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M2 · Wear log + cost-per-wear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Quante volte hai indossato un capo? Quanto ti è costato a utilizzo?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7315200" cy="41148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Modello WearEvent: item_id + worn_on (date) + occasion + created_at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Cascade delete: eliminando un capo, i suoi wear event spariscono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Endpoint: POST /items/{id}/wear, batch insert, lista, delete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Stats per capo: wear_count, last_worn, cost_per_wear, days_since_last_worn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Stats guardaroba: investimento totale, cpw medio, top worn, ghost count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Capi fantasma: 0 utilizzi e posseduti da ≥ N giorni (configurabile)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UI: pulsante '✓ oggi' sulla card · storico utilizzi nel detail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Esclude i capi 'ritirati' (donati/venduti/...) dalle metriche attive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1920240"/>
            <a:ext cx="3657600" cy="1828800"/>
          </a:xfrm>
          <a:prstGeom prst="roundRect">
            <a:avLst/>
          </a:prstGeom>
          <a:solidFill>
            <a:srgbClr val="232734"/>
          </a:solidFill>
          <a:ln w="9525">
            <a:solidFill>
              <a:srgbClr val="7C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7C9CFF"/>
                </a:solidFill>
                <a:latin typeface="Calibri"/>
              </a:rPr>
              <a:t>Cost-per-wear</a:t>
            </a:r>
          </a:p>
          <a:p>
            <a:pPr algn="ctr">
              <a:spcAft>
                <a:spcPts val="800"/>
              </a:spcAft>
            </a:pPr>
            <a:r>
              <a:rPr sz="1400" b="0">
                <a:solidFill>
                  <a:srgbClr val="E6E7EC"/>
                </a:solidFill>
                <a:latin typeface="Calibri"/>
              </a:rPr>
              <a:t>= price / wear_count</a:t>
            </a:r>
          </a:p>
          <a:p>
            <a:pPr algn="ctr">
              <a:spcAft>
                <a:spcPts val="400"/>
              </a:spcAft>
            </a:pPr>
            <a:r>
              <a:rPr sz="1600" b="1">
                <a:solidFill>
                  <a:srgbClr val="4EC9A0"/>
                </a:solidFill>
                <a:latin typeface="Calibri"/>
              </a:rPr>
              <a:t>€89 / 30 = € 2,96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M3 · Outfit recommender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'Cosa metto oggi?' — combinazioni dei tuoi capi, condizionate dal meteo.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6858000" cy="41148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Generazione candidati: combinazioni top/bottom/dress/outerwear/shoes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Filtro meteo: shorts/t-shirt esclusi se freddo, cappotto se caldo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Score colore (HSL): neutri, analoghi, complementari, split-complementary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Score meteo: adeguatezza temperatura + pioggia (Open-Meteo API)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Fallback Open-Meteo: meteo 'mite' se network down → demo offline-friendly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Bonus 'capi fantasma': incentiva l'uso di capi mai indossati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Diversità: rimuove proposte con troppo overlap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Feedback utente (like/dislike) persistito in tabella outfit_feedback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920240"/>
            <a:ext cx="4114800" cy="2286000"/>
          </a:xfrm>
          <a:prstGeom prst="roundRect">
            <a:avLst/>
          </a:prstGeom>
          <a:solidFill>
            <a:srgbClr val="232734"/>
          </a:solidFill>
          <a:ln w="9525">
            <a:solidFill>
              <a:srgbClr val="7C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7C9CFF"/>
                </a:solidFill>
                <a:latin typeface="Calibri"/>
              </a:rPr>
              <a:t>Score totale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6E7EC"/>
                </a:solidFill>
                <a:latin typeface="Calibri"/>
              </a:rPr>
              <a:t>0.55 · colore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E6E7EC"/>
                </a:solidFill>
                <a:latin typeface="Calibri"/>
              </a:rPr>
              <a:t>+ 0.35 · meteo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6E7EC"/>
                </a:solidFill>
                <a:latin typeface="Calibri"/>
              </a:rPr>
              <a:t>+ bonus fantasma (≤ 0.15)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4EC9A0"/>
                </a:solidFill>
                <a:latin typeface="Calibri"/>
              </a:rPr>
              <a:t>= match in [0, 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M4 · Modulo circolare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Diagnosi condizione capo → azioni concrete con stima CO₂ evitata.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2743200" cy="146304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EC9A0"/>
                </a:solidFill>
                <a:latin typeface="Calibri"/>
              </a:rPr>
              <a:t>Nuovo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mai indossato e &lt;60g posseduto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920240"/>
            <a:ext cx="2743200" cy="146304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9CFF"/>
                </a:solidFill>
                <a:latin typeface="Calibri"/>
              </a:rPr>
              <a:t>Buono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fino a 30 utilizzi e &lt;2 anni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20240"/>
            <a:ext cx="2743200" cy="146304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8C46C"/>
                </a:solidFill>
                <a:latin typeface="Calibri"/>
              </a:rPr>
              <a:t>Usurato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30-80 utilizzi o 2-5 anni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920240"/>
            <a:ext cx="2743200" cy="146304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85A6F"/>
                </a:solidFill>
                <a:latin typeface="Calibri"/>
              </a:rPr>
              <a:t>Danneggiato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&gt;80 utilizzi o &gt;5 anni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6E7EC"/>
                </a:solidFill>
                <a:latin typeface="Calibri"/>
              </a:rPr>
              <a:t>5 azioni circolari × stima CO₂ evitata per categoria (tabella Ellen MacArthur):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06240"/>
            <a:ext cx="2194560" cy="118872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6E7EC"/>
                </a:solidFill>
                <a:latin typeface="Calibri"/>
              </a:rPr>
              <a:t>Riparazione</a:t>
            </a:r>
          </a:p>
          <a:p>
            <a:pPr algn="ctr">
              <a:spcAft>
                <a:spcPts val="400"/>
              </a:spcAft>
            </a:pPr>
            <a:r>
              <a:rPr sz="1600" b="1">
                <a:solidFill>
                  <a:srgbClr val="7C9CFF"/>
                </a:solidFill>
                <a:latin typeface="Calibri"/>
              </a:rPr>
              <a:t>−70% CO₂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4206240"/>
            <a:ext cx="2194560" cy="118872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6E7EC"/>
                </a:solidFill>
                <a:latin typeface="Calibri"/>
              </a:rPr>
              <a:t>Swap</a:t>
            </a:r>
          </a:p>
          <a:p>
            <a:pPr algn="ctr">
              <a:spcAft>
                <a:spcPts val="400"/>
              </a:spcAft>
            </a:pPr>
            <a:r>
              <a:rPr sz="1600" b="1">
                <a:solidFill>
                  <a:srgbClr val="4EC9A0"/>
                </a:solidFill>
                <a:latin typeface="Calibri"/>
              </a:rPr>
              <a:t>−100% CO₂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4206240"/>
            <a:ext cx="2194560" cy="118872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6E7EC"/>
                </a:solidFill>
                <a:latin typeface="Calibri"/>
              </a:rPr>
              <a:t>Vendita</a:t>
            </a:r>
          </a:p>
          <a:p>
            <a:pPr algn="ctr">
              <a:spcAft>
                <a:spcPts val="400"/>
              </a:spcAft>
            </a:pPr>
            <a:r>
              <a:rPr sz="1600" b="1">
                <a:solidFill>
                  <a:srgbClr val="4EC9A0"/>
                </a:solidFill>
                <a:latin typeface="Calibri"/>
              </a:rPr>
              <a:t>−100% CO₂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4206240"/>
            <a:ext cx="2194560" cy="118872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6E7EC"/>
                </a:solidFill>
                <a:latin typeface="Calibri"/>
              </a:rPr>
              <a:t>Donazione</a:t>
            </a:r>
          </a:p>
          <a:p>
            <a:pPr algn="ctr">
              <a:spcAft>
                <a:spcPts val="400"/>
              </a:spcAft>
            </a:pPr>
            <a:r>
              <a:rPr sz="1600" b="1">
                <a:solidFill>
                  <a:srgbClr val="4EC9A0"/>
                </a:solidFill>
                <a:latin typeface="Calibri"/>
              </a:rPr>
              <a:t>−100% CO₂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4206240"/>
            <a:ext cx="2194560" cy="118872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6E7EC"/>
                </a:solidFill>
                <a:latin typeface="Calibri"/>
              </a:rPr>
              <a:t>Riciclo</a:t>
            </a:r>
          </a:p>
          <a:p>
            <a:pPr algn="ctr">
              <a:spcAft>
                <a:spcPts val="400"/>
              </a:spcAft>
            </a:pPr>
            <a:r>
              <a:rPr sz="1600" b="1">
                <a:solidFill>
                  <a:srgbClr val="E8C46C"/>
                </a:solidFill>
                <a:latin typeface="Calibri"/>
              </a:rPr>
              <a:t>−30% CO₂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A90A3"/>
                </a:solidFill>
                <a:latin typeface="Calibri"/>
              </a:rPr>
              <a:t>Esempio: donare una giacca (25 kg CO₂eq di produzione) × 100% evitata = 25 kg salvati.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Cosa metto oggi?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Tre proposte di outfit, con breakdown colore + meteo + ghost bonus.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7772400" cy="4389120"/>
          </a:xfrm>
          <a:prstGeom prst="roundRect">
            <a:avLst/>
          </a:prstGeom>
          <a:solidFill>
            <a:srgbClr val="232734"/>
          </a:solidFill>
          <a:ln w="9525">
            <a:solidFill>
              <a:srgbClr val="8A9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8A90A3"/>
                </a:solidFill>
                <a:latin typeface="Calibri"/>
              </a:rPr>
              <a:t>[ screenshot mancante ]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04-today.png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Pagina /today con tre outfit, meteo, like/dislike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8A90A3"/>
                </a:solidFill>
                <a:latin typeface="Calibri"/>
              </a:rPr>
              <a:t>Cattura con UI a video, salva in docs/screenshots/, rigenera.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828800"/>
            <a:ext cx="3200400" cy="4572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E6E7EC"/>
                </a:solidFill>
                <a:latin typeface="Calibri"/>
              </a:rPr>
              <a:t>•  Meteo live (Open-Meteo)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8A90A3"/>
                </a:solidFill>
                <a:latin typeface="Calibri"/>
              </a:rPr>
              <a:t>◦  Fallback se rete down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E6E7EC"/>
                </a:solidFill>
                <a:latin typeface="Calibri"/>
              </a:rPr>
              <a:t>•  Per ogni proposta: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8A90A3"/>
                </a:solidFill>
                <a:latin typeface="Calibri"/>
              </a:rPr>
              <a:t>◦  Thumbnails capi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8A90A3"/>
                </a:solidFill>
                <a:latin typeface="Calibri"/>
              </a:rPr>
              <a:t>◦  Match score totale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8A90A3"/>
                </a:solidFill>
                <a:latin typeface="Calibri"/>
              </a:rPr>
              <a:t>◦  Breakdown colore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8A90A3"/>
                </a:solidFill>
                <a:latin typeface="Calibri"/>
              </a:rPr>
              <a:t>◦  Breakdown meteo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8A90A3"/>
                </a:solidFill>
                <a:latin typeface="Calibri"/>
              </a:rPr>
              <a:t>◦  Rationale testuale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E6E7EC"/>
                </a:solidFill>
                <a:latin typeface="Calibri"/>
              </a:rPr>
              <a:t>•  Azioni: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8A90A3"/>
                </a:solidFill>
                <a:latin typeface="Calibri"/>
              </a:rPr>
              <a:t>◦  'Indosso questo' → multi-wear log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8A90A3"/>
                </a:solidFill>
                <a:latin typeface="Calibri"/>
              </a:rPr>
              <a:t>◦  Like/dislike → feedback 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Dashboard impatto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CO₂ evitata tradotta in equivalenze concrete (km auto, voli, m² foresta).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7772400" cy="4389120"/>
          </a:xfrm>
          <a:prstGeom prst="roundRect">
            <a:avLst/>
          </a:prstGeom>
          <a:solidFill>
            <a:srgbClr val="232734"/>
          </a:solidFill>
          <a:ln w="9525">
            <a:solidFill>
              <a:srgbClr val="8A9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8A90A3"/>
                </a:solidFill>
                <a:latin typeface="Calibri"/>
              </a:rPr>
              <a:t>[ screenshot mancante ]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05-dashboard.png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Dashboard con coach AI, stat card, bar chart azioni circolari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8A90A3"/>
                </a:solidFill>
                <a:latin typeface="Calibri"/>
              </a:rPr>
              <a:t>Cattura con UI a video, salva in docs/screenshots/, rigenera.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828800"/>
            <a:ext cx="3200400" cy="4572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6E7EC"/>
                </a:solidFill>
                <a:latin typeface="Calibri"/>
              </a:rPr>
              <a:t>•  5 stat card live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E7EC"/>
                </a:solidFill>
                <a:latin typeface="Calibri"/>
              </a:rPr>
              <a:t>•  Coach AI in cima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E7EC"/>
                </a:solidFill>
                <a:latin typeface="Calibri"/>
              </a:rPr>
              <a:t>•  Equivalenze CO₂</a:t>
            </a:r>
          </a:p>
          <a:p>
            <a:pPr lvl="1">
              <a:spcAft>
                <a:spcPts val="600"/>
              </a:spcAft>
            </a:pPr>
            <a:r>
              <a:rPr sz="1100">
                <a:solidFill>
                  <a:srgbClr val="8A90A3"/>
                </a:solidFill>
                <a:latin typeface="Calibri"/>
              </a:rPr>
              <a:t>◦  ≈ km auto</a:t>
            </a:r>
          </a:p>
          <a:p>
            <a:pPr lvl="1">
              <a:spcAft>
                <a:spcPts val="600"/>
              </a:spcAft>
            </a:pPr>
            <a:r>
              <a:rPr sz="1100">
                <a:solidFill>
                  <a:srgbClr val="8A90A3"/>
                </a:solidFill>
                <a:latin typeface="Calibri"/>
              </a:rPr>
              <a:t>◦  ≈ voli Pisa-Roma</a:t>
            </a:r>
          </a:p>
          <a:p>
            <a:pPr lvl="1">
              <a:spcAft>
                <a:spcPts val="600"/>
              </a:spcAft>
            </a:pPr>
            <a:r>
              <a:rPr sz="1100">
                <a:solidFill>
                  <a:srgbClr val="8A90A3"/>
                </a:solidFill>
                <a:latin typeface="Calibri"/>
              </a:rPr>
              <a:t>◦  ≈ m² foresta /anno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E7EC"/>
                </a:solidFill>
                <a:latin typeface="Calibri"/>
              </a:rPr>
              <a:t>•  Bar chart azioni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E7EC"/>
                </a:solidFill>
                <a:latin typeface="Calibri"/>
              </a:rPr>
              <a:t>•  Top capi indossati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6E7EC"/>
                </a:solidFill>
                <a:latin typeface="Calibri"/>
              </a:rPr>
              <a:t>•  Lista capi fantasma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AI in due ruoli distinti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Requisito del corso: dimostrare ML applicato e AI generativa.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486400" cy="429768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7C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7C9CFF"/>
                </a:solidFill>
                <a:latin typeface="Calibri"/>
              </a:rPr>
              <a:t>🔬 Machine Learning applicato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8A90A3"/>
                </a:solidFill>
                <a:latin typeface="Calibri"/>
              </a:rPr>
              <a:t>Componente funzionale del prodotto.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7EC"/>
                </a:solidFill>
                <a:latin typeface="Calibri"/>
              </a:rPr>
              <a:t>✓ Classificazione capi (Fashion-CLIP)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7EC"/>
                </a:solidFill>
                <a:latin typeface="Calibri"/>
              </a:rPr>
              <a:t>✓ Estrazione colore dominante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7EC"/>
                </a:solidFill>
                <a:latin typeface="Calibri"/>
              </a:rPr>
              <a:t>✓ Outfit recommender (HSL + meteo)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7EC"/>
                </a:solidFill>
                <a:latin typeface="Calibri"/>
              </a:rPr>
              <a:t>✓ Diagnosi condizione capo (euristica)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7EC"/>
                </a:solidFill>
                <a:latin typeface="Calibri"/>
              </a:rPr>
              <a:t>✓ k-NN su embedding ChromaDB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7EC"/>
                </a:solidFill>
                <a:latin typeface="Calibri"/>
              </a:rPr>
              <a:t>✓ Stima CO₂ × categoria × azione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920240"/>
            <a:ext cx="5486400" cy="429768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4EC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4EC9A0"/>
                </a:solidFill>
                <a:latin typeface="Calibri"/>
              </a:rPr>
              <a:t>✨ AI generativa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8A90A3"/>
                </a:solidFill>
                <a:latin typeface="Calibri"/>
              </a:rPr>
              <a:t>Supporto al design e all'esperienza.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7EC"/>
                </a:solidFill>
                <a:latin typeface="Calibri"/>
              </a:rPr>
              <a:t>✓ Descrizione capi via LLM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7EC"/>
                </a:solidFill>
                <a:latin typeface="Calibri"/>
              </a:rPr>
              <a:t>✓ Coach AI sostenibilità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7EC"/>
                </a:solidFill>
                <a:latin typeface="Calibri"/>
              </a:rPr>
              <a:t>✓ Tutorial riparazione dinamici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7EC"/>
                </a:solidFill>
                <a:latin typeface="Calibri"/>
              </a:rPr>
              <a:t>✓ Try-on virtuale (SD inpainting)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A90A3"/>
                </a:solidFill>
                <a:latin typeface="Calibri"/>
              </a:rPr>
              <a:t>⨯ Asset visivi (Pillow + esterno)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A90A3"/>
                </a:solidFill>
                <a:latin typeface="Calibri"/>
              </a:rPr>
              <a:t>⨯ UI/UX prototipo (esterno)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✨ AI generativa: gateway pluggable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Un'unica funzione generate() parla con tutti i provider. ADR-008.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A90A3"/>
                </a:solidFill>
                <a:latin typeface="Calibri"/>
              </a:rPr>
              <a:t>Provider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7373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A90A3"/>
                </a:solidFill>
                <a:latin typeface="Calibri"/>
              </a:rPr>
              <a:t>Modello (esempio)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A90A3"/>
                </a:solidFill>
                <a:latin typeface="Calibri"/>
              </a:rPr>
              <a:t>Credenziali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1737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A90A3"/>
                </a:solidFill>
                <a:latin typeface="Calibri"/>
              </a:rPr>
              <a:t>Sede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6E7EC"/>
                </a:solidFill>
                <a:latin typeface="Calibri"/>
              </a:rPr>
              <a:t>Anthropic (Claude)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103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0A3"/>
                </a:solidFill>
                <a:latin typeface="Calibri"/>
              </a:rPr>
              <a:t>claude-haiku-4-5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1031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0A3"/>
                </a:solidFill>
                <a:latin typeface="Calibri"/>
              </a:rPr>
              <a:t>ANTHROPIC_API_KEY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1031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C9CFF"/>
                </a:solidFill>
                <a:latin typeface="Calibri"/>
              </a:rPr>
              <a:t>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146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6E7EC"/>
                </a:solidFill>
                <a:latin typeface="Calibri"/>
              </a:rPr>
              <a:t>OpenAI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5146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0A3"/>
                </a:solidFill>
                <a:latin typeface="Calibri"/>
              </a:rPr>
              <a:t>openai/gpt-4o-mini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5146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0A3"/>
                </a:solidFill>
                <a:latin typeface="Calibri"/>
              </a:rPr>
              <a:t>OPENAI_API_KEY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5146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C9CFF"/>
                </a:solidFill>
                <a:latin typeface="Calibri"/>
              </a:rPr>
              <a:t>cloud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926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6E7EC"/>
                </a:solidFill>
                <a:latin typeface="Calibri"/>
              </a:rPr>
              <a:t>Ollama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9260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0A3"/>
                </a:solidFill>
                <a:latin typeface="Calibri"/>
              </a:rPr>
              <a:t>ollama/llama3.2:3b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9260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0A3"/>
                </a:solidFill>
                <a:latin typeface="Calibri"/>
              </a:rPr>
              <a:t>(nessuna)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29260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EC9A0"/>
                </a:solidFill>
                <a:latin typeface="Calibri"/>
              </a:rPr>
              <a:t>LOCALE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337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6E7EC"/>
                </a:solidFill>
                <a:latin typeface="Calibri"/>
              </a:rPr>
              <a:t>HuggingFace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3375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0A3"/>
                </a:solidFill>
                <a:latin typeface="Calibri"/>
              </a:rPr>
              <a:t>huggingface/Qwen2.5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33375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0A3"/>
                </a:solidFill>
                <a:latin typeface="Calibri"/>
              </a:rPr>
              <a:t>HF_TOKEN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33375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C9CFF"/>
                </a:solidFill>
                <a:latin typeface="Calibri"/>
              </a:rPr>
              <a:t>cloud / locale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023360"/>
            <a:ext cx="11155680" cy="2194560"/>
          </a:xfrm>
          <a:prstGeom prst="roundRect">
            <a:avLst/>
          </a:prstGeom>
          <a:solidFill>
            <a:srgbClr val="232734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C9CFF"/>
                </a:solidFill>
                <a:latin typeface="Calibri"/>
              </a:rPr>
              <a:t>Vantaggi: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• Cambio provider = un solo env var, nessun cambio di codice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• Ollama locale = privacy completa, nessuna API key, nessun costo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• Cache risposte in tabella llm_cache con TTL 24h (riduce costi e latenza)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• Graceful fallback: se LLM non disponibile, endpoint → 503 e UI nasconde i bottoni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✨ Try-on virtuale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Stable Diffusion 2 inpainting via diffusers. Anche locale. ADR-007.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6400800" cy="42976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Backend pluggable: TryOnBackend (ABC)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DisabledBackend (default) → 503 esplicito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DiffusersLocalBackend → SD 2 inpainting (5 GB pesi)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Pipeline MVP: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Upload ritratto (multipart) → resize/pad 512×512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Maschera 'torso' euristica (rettangolo centrale)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Prompt = 'a photorealistic portrait of a person wearing a {color} {category}'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Inferenza diffusers (20 step)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CPU: 30s-3min per immagine · GPU CUDA: 5-10s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Privacy: il ritratto NON viene salvato, solo l'output sintetico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920240"/>
            <a:ext cx="4572000" cy="4297680"/>
          </a:xfrm>
          <a:prstGeom prst="roundRect">
            <a:avLst/>
          </a:prstGeom>
          <a:solidFill>
            <a:srgbClr val="232734"/>
          </a:solidFill>
          <a:ln w="9525">
            <a:solidFill>
              <a:srgbClr val="4EC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4EC9A0"/>
                </a:solidFill>
                <a:latin typeface="Calibri"/>
              </a:rPr>
              <a:t>Path di sblocco IDM-VTON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Per try-on garment-aware: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class IdmVtonBackend(TryOnBackend):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    def generate(...):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A90A3"/>
                </a:solidFill>
                <a:latin typeface="Calibri"/>
              </a:rPr>
              <a:t>        # IDM-VTON inference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7C9CFF"/>
                </a:solidFill>
                <a:latin typeface="Calibri"/>
              </a:rPr>
              <a:t>Cambio: un env var.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7C9CFF"/>
                </a:solidFill>
                <a:latin typeface="Calibri"/>
              </a:rPr>
              <a:t>Nessuna modifica al chiamante.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Estensione: specchio smart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Raspberry Pi 5 + monitor portrait + Chromium kiosk → /mirror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6400800" cy="42976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Pagina /mirror minimalissima, fullscreen kiosk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Orologio 96px + data + meteo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Outfit suggerito del giorno (refresh 5 min)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Niente topbar/nav, percepibile come specchio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Setup hardware in docs/raspberry-pi.md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Chromium kiosk via scripts/start-mirror.sh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Autostart systemd o Wayfire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Variazione demo: monitor 24" su cavalletto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Sviluppo futuro: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Webcam + PIR → wear log automatico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'Ti ho visto: questo era l'outfit?'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920240"/>
            <a:ext cx="4572000" cy="4297680"/>
          </a:xfrm>
          <a:prstGeom prst="roundRect">
            <a:avLst/>
          </a:prstGeom>
          <a:solidFill>
            <a:srgbClr val="232734"/>
          </a:solidFill>
          <a:ln w="9525">
            <a:solidFill>
              <a:srgbClr val="7C9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1200"/>
              </a:spcAft>
            </a:pPr>
            <a:r>
              <a:rPr sz="1400" b="1">
                <a:solidFill>
                  <a:srgbClr val="8A90A3"/>
                </a:solidFill>
                <a:latin typeface="Calibri"/>
              </a:rPr>
              <a:t>[ render /mirror ]</a:t>
            </a:r>
          </a:p>
          <a:p>
            <a:pPr algn="ctr">
              <a:spcAft>
                <a:spcPts val="400"/>
              </a:spcAft>
            </a:pPr>
            <a:r>
              <a:rPr sz="4800" b="0">
                <a:solidFill>
                  <a:srgbClr val="E6E7EC"/>
                </a:solidFill>
                <a:latin typeface="Calibri"/>
              </a:rPr>
              <a:t>07:34</a:t>
            </a:r>
          </a:p>
          <a:p>
            <a:pPr algn="ctr">
              <a:spcAft>
                <a:spcPts val="12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martedì 15 ottobre</a:t>
            </a:r>
          </a:p>
          <a:p>
            <a:pPr algn="ctr">
              <a:spcAft>
                <a:spcPts val="1400"/>
              </a:spcAft>
            </a:pPr>
            <a:r>
              <a:rPr sz="2200" b="0">
                <a:solidFill>
                  <a:srgbClr val="E6E7EC"/>
                </a:solidFill>
                <a:latin typeface="Calibri"/>
              </a:rPr>
              <a:t>☀️ 18°C</a:t>
            </a:r>
          </a:p>
          <a:p>
            <a:pPr algn="ctr">
              <a:spcAft>
                <a:spcPts val="600"/>
              </a:spcAft>
            </a:pPr>
            <a:r>
              <a:rPr sz="1000" b="0">
                <a:solidFill>
                  <a:srgbClr val="8A90A3"/>
                </a:solidFill>
                <a:latin typeface="Calibri"/>
              </a:rPr>
              <a:t>OUTFIT DEL GIORNO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7C9CFF"/>
                </a:solidFill>
                <a:latin typeface="Calibri"/>
              </a:rPr>
              <a:t>camicia · jeans · scarpe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Privacy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Foto del corpo, della camera da letto, di vestiti: tutto sensibile.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4572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Nessun upload in cloud nell'MVP — tutto in data/ locale, gitignored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Foto capi salvate con UUID, non più collegabili al nome originale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Embedding vettoriali in ChromaDB → non reversibili a immagine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Try-on: il ritratto NON viene salvato; solo l'output sintetico in data/tryon/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LLM 'cloud': l'utente sceglie consapevolmente se mandare query a Claude/OpenAI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A90A3"/>
                </a:solidFill>
                <a:latin typeface="Calibri"/>
              </a:rPr>
              <a:t>◦  → alternativa Ollama locale: zero rete, zero API key, privacy completa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Roadmap ONNX export del classifier → inference nel browser dell'utente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E6E7EC"/>
                </a:solidFill>
                <a:latin typeface="Calibri"/>
              </a:rPr>
              <a:t>•  Niente PII salvata: il prototipo è single-user locale, no auth, no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Metriche di impatto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Ogni feature popola una metrica concreta.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3657600" cy="155448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7C9CFF"/>
                </a:solidFill>
                <a:latin typeface="Calibri"/>
              </a:rPr>
              <a:t>Utilizzi/capo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modulo M2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3657600" cy="155448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7C9CFF"/>
                </a:solidFill>
                <a:latin typeface="Calibri"/>
              </a:rPr>
              <a:t>Cost-per-wear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modulo M2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920240"/>
            <a:ext cx="3657600" cy="155448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E8C46C"/>
                </a:solidFill>
                <a:latin typeface="Calibri"/>
              </a:rPr>
              <a:t>Capi fantasma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modulo M2 + M6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49039"/>
            <a:ext cx="3657600" cy="155448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4EC9A0"/>
                </a:solidFill>
                <a:latin typeface="Calibri"/>
              </a:rPr>
              <a:t>CO₂ evitata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modulo M4 + M6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49039"/>
            <a:ext cx="3657600" cy="155448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4EC9A0"/>
                </a:solidFill>
                <a:latin typeface="Calibri"/>
              </a:rPr>
              <a:t>Capi salvati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modulo M4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749039"/>
            <a:ext cx="3657600" cy="155448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8A90A3"/>
                </a:solidFill>
                <a:latin typeface="Calibri"/>
              </a:rPr>
              <a:t>Acquisti evitati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modulo M3 (futuro)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A90A3"/>
                </a:solidFill>
                <a:latin typeface="Calibri"/>
              </a:rPr>
              <a:t>Equivalenze: 1 km auto media UE ≈ 0,18 kg CO₂eq · 1 m² foresta ≈ 8 kg/anno · 1 volo PSA-FCO ≈ 80 kg pro capite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Decisioni architetturali (ADR)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Otto decisioni documentate in docs/architecture.md con alternative e motivazioni.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7C9CFF"/>
                </a:solidFill>
                <a:latin typeface="Calibri"/>
              </a:rPr>
              <a:t>ADR-001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9202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6E7EC"/>
                </a:solidFill>
                <a:latin typeface="Calibri"/>
              </a:rPr>
              <a:t>Persistenza: SQLite + FS oggi, Postgres + S3 in prod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7C9CFF"/>
                </a:solidFill>
                <a:latin typeface="Calibri"/>
              </a:rPr>
              <a:t>ADR-002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4231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6E7EC"/>
                </a:solidFill>
                <a:latin typeface="Calibri"/>
              </a:rPr>
              <a:t>Migrazioni: create_all + ALTER TABLE idempotenti (no Alembic finché schema cambia)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7C9CFF"/>
                </a:solidFill>
                <a:latin typeface="Calibri"/>
              </a:rPr>
              <a:t>ADR-003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92608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6E7EC"/>
                </a:solidFill>
                <a:latin typeface="Calibri"/>
              </a:rPr>
              <a:t>Classifier: Fashion-CLIP (zero-shot + embedding 512d riusabili)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7C9CFF"/>
                </a:solidFill>
                <a:latin typeface="Calibri"/>
              </a:rPr>
              <a:t>ADR-004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4290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6E7EC"/>
                </a:solidFill>
                <a:latin typeface="Calibri"/>
              </a:rPr>
              <a:t>Embedding storage: ChromaDB persistente locale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7C9CFF"/>
                </a:solidFill>
                <a:latin typeface="Calibri"/>
              </a:rPr>
              <a:t>ADR-005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9319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6E7EC"/>
                </a:solidFill>
                <a:latin typeface="Calibri"/>
              </a:rPr>
              <a:t>Inference server-side oggi, ONNX/on-device come estensione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7C9CFF"/>
                </a:solidFill>
                <a:latin typeface="Calibri"/>
              </a:rPr>
              <a:t>ADR-006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4348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6E7EC"/>
                </a:solidFill>
                <a:latin typeface="Calibri"/>
              </a:rPr>
              <a:t>Colore dominante: PIL quantize + filtro sfondo chiaro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377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7C9CFF"/>
                </a:solidFill>
                <a:latin typeface="Calibri"/>
              </a:rPr>
              <a:t>ADR-007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937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6E7EC"/>
                </a:solidFill>
                <a:latin typeface="Calibri"/>
              </a:rPr>
              <a:t>Try-on: backend pluggable (DiffusersLocalBackend), default disabled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7C9CFF"/>
                </a:solidFill>
                <a:latin typeface="Calibri"/>
              </a:rPr>
              <a:t>ADR-008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544068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6E7EC"/>
                </a:solidFill>
                <a:latin typeface="Calibri"/>
              </a:rPr>
              <a:t>LLM gateway: litellm (Anthropic/OpenAI/Ollama/HF) + DB cache 24h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Modularità: 6 moduli per 6 sottogruppi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Ogni modulo è assegnabile in modo indipendente.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7C9CFF"/>
                </a:solidFill>
                <a:latin typeface="Calibri"/>
              </a:rPr>
              <a:t>M1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9202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6E7EC"/>
                </a:solidFill>
                <a:latin typeface="Calibri"/>
              </a:rPr>
              <a:t>Catalogazione capi (vision)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920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8A90A3"/>
                </a:solidFill>
                <a:latin typeface="Calibri"/>
              </a:rPr>
              <a:t>Fashion-CLIP, embedding, colore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6032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7C9CFF"/>
                </a:solidFill>
                <a:latin typeface="Calibri"/>
              </a:rPr>
              <a:t>M2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5603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6E7EC"/>
                </a:solidFill>
                <a:latin typeface="Calibri"/>
              </a:rPr>
              <a:t>Wear log + cost-per-wear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5603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8A90A3"/>
                </a:solidFill>
                <a:latin typeface="Calibri"/>
              </a:rPr>
              <a:t>CRUD + analytics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0040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7C9CFF"/>
                </a:solidFill>
                <a:latin typeface="Calibri"/>
              </a:rPr>
              <a:t>M3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6E7EC"/>
                </a:solidFill>
                <a:latin typeface="Calibri"/>
              </a:rPr>
              <a:t>Outfit recommender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2004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8A90A3"/>
                </a:solidFill>
                <a:latin typeface="Calibri"/>
              </a:rPr>
              <a:t>Regole + meteo + feedback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404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7C9CFF"/>
                </a:solidFill>
                <a:latin typeface="Calibri"/>
              </a:rPr>
              <a:t>M4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840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6E7EC"/>
                </a:solidFill>
                <a:latin typeface="Calibri"/>
              </a:rPr>
              <a:t>Diagnosi e azioni circolari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8404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8A90A3"/>
                </a:solidFill>
                <a:latin typeface="Calibri"/>
              </a:rPr>
              <a:t>Vision classifier + tabella CO₂ +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7C9CFF"/>
                </a:solidFill>
                <a:latin typeface="Calibri"/>
              </a:rPr>
              <a:t>M5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805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6E7EC"/>
                </a:solidFill>
                <a:latin typeface="Calibri"/>
              </a:rPr>
              <a:t>UI / Specchio fisico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4805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8A90A3"/>
                </a:solidFill>
                <a:latin typeface="Calibri"/>
              </a:rPr>
              <a:t>React + Vite, opz. RPi5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1206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7C9CFF"/>
                </a:solidFill>
                <a:latin typeface="Calibri"/>
              </a:rPr>
              <a:t>M6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20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6E7EC"/>
                </a:solidFill>
                <a:latin typeface="Calibri"/>
              </a:rPr>
              <a:t>Dashboard impatto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1206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8A90A3"/>
                </a:solidFill>
                <a:latin typeface="Calibri"/>
              </a:rPr>
              <a:t>Aggregazione metriche + visualizzazioni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Numeri del progetto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6 fasi + 1 estensione AI generativa.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651760" cy="192024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4EC9A0"/>
                </a:solidFill>
                <a:latin typeface="Calibri"/>
              </a:rPr>
              <a:t>106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test backend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828800"/>
            <a:ext cx="2651760" cy="192024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4EC9A0"/>
                </a:solidFill>
                <a:latin typeface="Calibri"/>
              </a:rPr>
              <a:t>100%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passing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651760" cy="192024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7C9CFF"/>
                </a:solidFill>
                <a:latin typeface="Calibri"/>
              </a:rPr>
              <a:t>325 kB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bundle JS (102 kB gzip)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651760" cy="192024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7C9CFF"/>
                </a:solidFill>
                <a:latin typeface="Calibri"/>
              </a:rPr>
              <a:t>64 ms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inferenza Fashion-CLIP (CPU)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2651760" cy="192024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7C9CFF"/>
                </a:solidFill>
                <a:latin typeface="Calibri"/>
              </a:rPr>
              <a:t>16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endpoint REST documentati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4023360"/>
            <a:ext cx="2651760" cy="192024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7C9CFF"/>
                </a:solidFill>
                <a:latin typeface="Calibri"/>
              </a:rPr>
              <a:t>8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ADR motivate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2651760" cy="192024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4EC9A0"/>
                </a:solidFill>
                <a:latin typeface="Calibri"/>
              </a:rPr>
              <a:t>18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endpoint AI generativa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4023360"/>
            <a:ext cx="2651760" cy="1920240"/>
          </a:xfrm>
          <a:prstGeom prst="roundRect">
            <a:avLst/>
          </a:prstGeom>
          <a:solidFill>
            <a:srgbClr val="1A1D27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4EC9A0"/>
                </a:solidFill>
                <a:latin typeface="Calibri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feature AI 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E6E7EC"/>
                </a:solidFill>
                <a:latin typeface="Calibri"/>
              </a:rPr>
              <a:t>Limitazioni note + estensioni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8A90A3"/>
                </a:solidFill>
                <a:latin typeface="Calibri"/>
              </a:rPr>
              <a:t>Onestà intellettuale: ecco cosa il prototipo NON copre.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731520" cy="30000"/>
          </a:xfrm>
          <a:prstGeom prst="rect">
            <a:avLst/>
          </a:prstGeom>
          <a:solidFill>
            <a:srgbClr val="7C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577840" cy="4297680"/>
          </a:xfrm>
          <a:prstGeom prst="roundRect">
            <a:avLst/>
          </a:prstGeom>
          <a:solidFill>
            <a:srgbClr val="232734"/>
          </a:solidFill>
          <a:ln w="9525">
            <a:solidFill>
              <a:srgbClr val="E85A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E85A6F"/>
                </a:solidFill>
                <a:latin typeface="Calibri"/>
              </a:rPr>
              <a:t>Limitazioni note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•  Bias dataset: moda occidentale, femminile, taglie standard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•  Stime CO₂ medie per categoria, non LCA puntuali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•  Try-on con maschera euristica (non garment-aware)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•  Auth: single-user locale (consapevole)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•  Privacy DPIA non eseguita per uso produzione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59" y="1920240"/>
            <a:ext cx="5577840" cy="4297680"/>
          </a:xfrm>
          <a:prstGeom prst="roundRect">
            <a:avLst/>
          </a:prstGeom>
          <a:solidFill>
            <a:srgbClr val="232734"/>
          </a:solidFill>
          <a:ln w="9525">
            <a:solidFill>
              <a:srgbClr val="4EC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4EC9A0"/>
                </a:solidFill>
                <a:latin typeface="Calibri"/>
              </a:rPr>
              <a:t>Estensioni future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•  Detection automatica outfit da foto (multi-label)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•  ONNX export per inference on-device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•  Marketplace second-hand (Vinted, Wallapop link)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•  Modalità famiglia / guardaroba condiviso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•  Gap analysis pre-acquisto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7EC"/>
                </a:solidFill>
                <a:latin typeface="Calibri"/>
              </a:rPr>
              <a:t>•  Notifiche push capi non indossati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ClosetAI · Virtual Worlds · Master in Informatica per la Salute Digitale · Università di Pisa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4EC9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E6E7EC"/>
                </a:solidFill>
                <a:latin typeface="Calibri"/>
              </a:rPr>
              <a:t>Grazie.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1">
                <a:solidFill>
                  <a:srgbClr val="4EC9A0"/>
                </a:solidFill>
                <a:latin typeface="Calibri"/>
              </a:rPr>
              <a:t>Vesti meglio. Compra meno. Compra usato.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7C9CFF"/>
                </a:solidFill>
                <a:latin typeface="Calibri"/>
              </a:rPr>
              <a:t>Domande?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754880"/>
            <a:ext cx="10515600" cy="1371600"/>
          </a:xfrm>
          <a:prstGeom prst="roundRect">
            <a:avLst/>
          </a:prstGeom>
          <a:solidFill>
            <a:srgbClr val="232734"/>
          </a:solidFill>
          <a:ln w="9525">
            <a:solidFill>
              <a:srgbClr val="232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 wrap="square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9CFF"/>
                </a:solidFill>
                <a:latin typeface="Calibri"/>
              </a:rPr>
              <a:t>Per provarlo: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7EC"/>
                </a:solidFill>
                <a:latin typeface="Calibri"/>
              </a:rPr>
              <a:t>./scripts/setup.sh &amp;&amp; ./scripts/run-backend.sh &amp;&amp; ./scripts/run-frontend.sh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EC9A0"/>
                </a:solidFill>
                <a:latin typeface="Calibri"/>
              </a:rPr>
              <a:t>→ http://localhost:5173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A90A3"/>
                </a:solidFill>
                <a:latin typeface="Calibri"/>
              </a:rPr>
              <a:t>Documentazione: README.md, PROJECT.md, PLAN.md, docs/architecture.md, docs/api.md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