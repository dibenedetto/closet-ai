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A6DDC"/>
                </a:solidFill>
                <a:latin typeface="Calibri"/>
              </a:rPr>
              <a:t>PRE-ESAME · PROGETTO AI ECO-SOSTENIBILE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0" b="1" i="0">
                <a:solidFill>
                  <a:srgbClr val="1A1D27"/>
                </a:solidFill>
                <a:latin typeface="Calibri"/>
              </a:rPr>
              <a:t>ClosetAI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 i="1">
                <a:solidFill>
                  <a:srgbClr val="2F8F6E"/>
                </a:solidFill>
                <a:latin typeface="Calibri"/>
              </a:rPr>
              <a:t>Il guardaroba intelligente che ti aiuta a vestire meglio comprando meno.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6B7182"/>
                </a:solidFill>
                <a:latin typeface="Calibri"/>
              </a:rPr>
              <a:t>Design per l'innovazione sostenibile — Università di Pisa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6B7182"/>
                </a:solidFill>
                <a:latin typeface="Calibri"/>
              </a:rPr>
              <a:t>Marco Di Benedetto · A.A. 2025/2026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01 · LA SFIDA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Compriamo troppi vestiti.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6B7182"/>
                </a:solidFill>
                <a:latin typeface="Calibri"/>
              </a:rPr>
              <a:t>L'industria della moda è una delle più impattanti del pianeta.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265176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600"/>
              </a:spcAft>
            </a:pPr>
            <a:r>
              <a:rPr sz="4400" b="1" i="0">
                <a:solidFill>
                  <a:srgbClr val="4A6DDC"/>
                </a:solidFill>
                <a:latin typeface="Calibri"/>
              </a:rPr>
              <a:t>10%</a:t>
            </a:r>
          </a:p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delle emissioni globali
di CO₂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2103120"/>
            <a:ext cx="265176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600"/>
              </a:spcAft>
            </a:pPr>
            <a:r>
              <a:rPr sz="4400" b="1" i="0">
                <a:solidFill>
                  <a:srgbClr val="C94A5C"/>
                </a:solidFill>
                <a:latin typeface="Calibri"/>
              </a:rPr>
              <a:t>5 mln</a:t>
            </a:r>
          </a:p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tonnellate di vestiti
buttati in Europa /anno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03120"/>
            <a:ext cx="265176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600"/>
              </a:spcAft>
            </a:pPr>
            <a:r>
              <a:rPr sz="4400" b="1" i="0">
                <a:solidFill>
                  <a:srgbClr val="C88B2E"/>
                </a:solidFill>
                <a:latin typeface="Calibri"/>
              </a:rPr>
              <a:t>7×</a:t>
            </a:r>
          </a:p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utilizzi medi di un
capo fast fashion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60" y="2103120"/>
            <a:ext cx="265176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600"/>
              </a:spcAft>
            </a:pPr>
            <a:r>
              <a:rPr sz="4400" b="1" i="0">
                <a:solidFill>
                  <a:srgbClr val="C94A5C"/>
                </a:solidFill>
                <a:latin typeface="Calibri"/>
              </a:rPr>
              <a:t>40%</a:t>
            </a:r>
          </a:p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del guardaroba medio
non viene mai indossato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3891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1D27"/>
                </a:solidFill>
                <a:latin typeface="Calibri"/>
              </a:rPr>
              <a:t>A casa nostra, tre comportamenti ricorrenti: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937760"/>
            <a:ext cx="10972800" cy="16459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A1D27"/>
                </a:solidFill>
                <a:latin typeface="Calibri"/>
              </a:rPr>
              <a:t>•  Compriamo d'impulso  — non sappiamo davvero cosa abbiamo già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A1D27"/>
                </a:solidFill>
                <a:latin typeface="Calibri"/>
              </a:rPr>
              <a:t>•  Capi 'fantasma'  — vestiti dimenticati nell'armadio, mai indossati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A1D27"/>
                </a:solidFill>
                <a:latin typeface="Calibri"/>
              </a:rPr>
              <a:t>•  Buttiamo invece di riparare, scambiare o donare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92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02 · LA SOLUZIONE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Un'app che fa tre cose, insieme.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365760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400"/>
              </a:spcAft>
            </a:pPr>
            <a:r>
              <a:rPr sz="4200" b="0" i="0">
                <a:solidFill>
                  <a:srgbClr val="4A6DDC"/>
                </a:solidFill>
                <a:latin typeface="Calibri"/>
              </a:rPr>
              <a:t>📷</a:t>
            </a:r>
          </a:p>
          <a:p>
            <a:pPr algn="ctr">
              <a:spcAft>
                <a:spcPts val="1000"/>
              </a:spcAft>
            </a:pPr>
            <a:r>
              <a:rPr sz="2200" b="1" i="0">
                <a:solidFill>
                  <a:srgbClr val="1A1D27"/>
                </a:solidFill>
                <a:latin typeface="Calibri"/>
              </a:rPr>
              <a:t>Digitalizza</a:t>
            </a:r>
          </a:p>
          <a:p>
            <a:pPr algn="ctr">
              <a:spcAft>
                <a:spcPts val="4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Fotografi un capo: l'app
lo cataloga in automatico
(categoria, colore).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103120"/>
            <a:ext cx="365760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400"/>
              </a:spcAft>
            </a:pPr>
            <a:r>
              <a:rPr sz="4200" b="0" i="0">
                <a:solidFill>
                  <a:srgbClr val="4A6DDC"/>
                </a:solidFill>
                <a:latin typeface="Calibri"/>
              </a:rPr>
              <a:t>📊</a:t>
            </a:r>
          </a:p>
          <a:p>
            <a:pPr algn="ctr">
              <a:spcAft>
                <a:spcPts val="1000"/>
              </a:spcAft>
            </a:pPr>
            <a:r>
              <a:rPr sz="2200" b="1" i="0">
                <a:solidFill>
                  <a:srgbClr val="1A1D27"/>
                </a:solidFill>
                <a:latin typeface="Calibri"/>
              </a:rPr>
              <a:t>Traccia</a:t>
            </a:r>
          </a:p>
          <a:p>
            <a:pPr algn="ctr">
              <a:spcAft>
                <a:spcPts val="4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Un click per dire
'l'ho indossato oggi':
calcola quanto vale
ogni capo nel tempo.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2103120"/>
            <a:ext cx="365760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400"/>
              </a:spcAft>
            </a:pPr>
            <a:r>
              <a:rPr sz="4200" b="0" i="0">
                <a:solidFill>
                  <a:srgbClr val="2F8F6E"/>
                </a:solidFill>
                <a:latin typeface="Calibri"/>
              </a:rPr>
              <a:t>♻️</a:t>
            </a:r>
          </a:p>
          <a:p>
            <a:pPr algn="ctr">
              <a:spcAft>
                <a:spcPts val="1000"/>
              </a:spcAft>
            </a:pPr>
            <a:r>
              <a:rPr sz="2200" b="1" i="0">
                <a:solidFill>
                  <a:srgbClr val="1A1D27"/>
                </a:solidFill>
                <a:latin typeface="Calibri"/>
              </a:rPr>
              <a:t>Allunga la vita</a:t>
            </a:r>
          </a:p>
          <a:p>
            <a:pPr algn="ctr">
              <a:spcAft>
                <a:spcPts val="4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Quando un capo è 'stanco',
ti suggerisce di ripararlo,
scambiarlo, venderlo o donarlo.
Misura la CO₂ risparmiata.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2F8F6E"/>
                </a:solidFill>
                <a:latin typeface="Calibri"/>
              </a:rPr>
              <a:t>Tutto questo dentro un'unica esperienza, senza dover saltare tra app diverse.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03 · L'ESPERIENZA UTENTE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Come si usa, in pratica.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210312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400"/>
              </a:spcAft>
            </a:pPr>
            <a:r>
              <a:rPr sz="3600" b="1" i="0">
                <a:solidFill>
                  <a:srgbClr val="4A6DDC"/>
                </a:solidFill>
                <a:latin typeface="Calibri"/>
              </a:rPr>
              <a:t>1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1A1D27"/>
                </a:solidFill>
                <a:latin typeface="Calibri"/>
              </a:rPr>
              <a:t>Fotografo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un nuovo capo
che ho comprato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60904" y="3200400"/>
            <a:ext cx="118872" cy="365760"/>
          </a:xfrm>
          <a:prstGeom prst="rightArrow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88920" y="2286000"/>
            <a:ext cx="210312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400"/>
              </a:spcAft>
            </a:pPr>
            <a:r>
              <a:rPr sz="3600" b="1" i="0">
                <a:solidFill>
                  <a:srgbClr val="4A6DDC"/>
                </a:solidFill>
                <a:latin typeface="Calibri"/>
              </a:rPr>
              <a:t>2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1A1D27"/>
                </a:solidFill>
                <a:latin typeface="Calibri"/>
              </a:rPr>
              <a:t>L'app riconosce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categoria e colore
in automatico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01184" y="3200400"/>
            <a:ext cx="118872" cy="365760"/>
          </a:xfrm>
          <a:prstGeom prst="rightArrow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0" y="2286000"/>
            <a:ext cx="210312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400"/>
              </a:spcAft>
            </a:pPr>
            <a:r>
              <a:rPr sz="3600" b="1" i="0">
                <a:solidFill>
                  <a:srgbClr val="4A6DDC"/>
                </a:solidFill>
                <a:latin typeface="Calibri"/>
              </a:rPr>
              <a:t>3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1A1D27"/>
                </a:solidFill>
                <a:latin typeface="Calibri"/>
              </a:rPr>
              <a:t>Indosso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il capo e clicco
'✓ oggi' nell'app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41464" y="3200400"/>
            <a:ext cx="118872" cy="365760"/>
          </a:xfrm>
          <a:prstGeom prst="rightArrow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69480" y="2286000"/>
            <a:ext cx="210312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400"/>
              </a:spcAft>
            </a:pPr>
            <a:r>
              <a:rPr sz="3600" b="1" i="0">
                <a:solidFill>
                  <a:srgbClr val="4A6DDC"/>
                </a:solidFill>
                <a:latin typeface="Calibri"/>
              </a:rPr>
              <a:t>4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1A1D27"/>
                </a:solidFill>
                <a:latin typeface="Calibri"/>
              </a:rPr>
              <a:t>Chiedo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'cosa metto oggi?'
mi propone outfit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1744" y="3200400"/>
            <a:ext cx="118872" cy="365760"/>
          </a:xfrm>
          <a:prstGeom prst="rightArrow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509760" y="2286000"/>
            <a:ext cx="210312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400"/>
              </a:spcAft>
            </a:pPr>
            <a:r>
              <a:rPr sz="3600" b="1" i="0">
                <a:solidFill>
                  <a:srgbClr val="4A6DDC"/>
                </a:solidFill>
                <a:latin typeface="Calibri"/>
              </a:rPr>
              <a:t>5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1A1D27"/>
                </a:solidFill>
                <a:latin typeface="Calibri"/>
              </a:rPr>
              <a:t>Vedo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il mio impatto
sulla dashboard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6B7182"/>
                </a:solidFill>
                <a:latin typeface="Calibri"/>
              </a:rPr>
              <a:t>Nessun obbligo, nessun questionario. Tutto avviene con foto e tap.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577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 i="1">
                <a:solidFill>
                  <a:srgbClr val="2F8F6E"/>
                </a:solidFill>
                <a:latin typeface="Calibri"/>
              </a:rPr>
              <a:t>🪞  Estensione opzionale: uno specchio smart in camera mostra orologio, meteo e l'outfit suggerito.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92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04 · DEMO · SCHERMATA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Il guardaroba digitale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6B7182"/>
                </a:solidFill>
                <a:latin typeface="Calibri"/>
              </a:rPr>
              <a:t>In cima trovo subito le metriche chiave del mio armadio.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1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7315200" cy="42976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38160" y="1920240"/>
            <a:ext cx="3657600" cy="429768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4A6DDC"/>
                </a:solidFill>
                <a:latin typeface="Calibri"/>
              </a:rPr>
              <a:t>Cosa si vede: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→ N° capi attivi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→ Utilizzi totali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→ Quanti 'fantasma'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→ Cost-per-wear medio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Filtri per categoria,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colore, stato attivo/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ritirato + ricerca.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F8F6E"/>
                </a:solidFill>
                <a:latin typeface="Calibri"/>
              </a:rPr>
              <a:t>Tasto rapido 'indossato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F8F6E"/>
                </a:solidFill>
                <a:latin typeface="Calibri"/>
              </a:rPr>
              <a:t>oggi' sulla card.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04 · DEMO · SCHERMATE 2 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Cosa metto oggi? + Dashboard impatto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6B7182"/>
                </a:solidFill>
                <a:latin typeface="Calibri"/>
              </a:rPr>
              <a:t>L'AI propone outfit basati sul meteo. La dashboard mostra l'impatto.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5486400" cy="429768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800"/>
              </a:spcAft>
            </a:pPr>
            <a:r>
              <a:rPr sz="1400" b="1" i="0">
                <a:solidFill>
                  <a:srgbClr val="4A6DDC"/>
                </a:solidFill>
                <a:latin typeface="Calibri"/>
              </a:rPr>
              <a:t>[ screenshot ]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04-today.png</a:t>
            </a:r>
          </a:p>
          <a:p>
            <a:pPr algn="ctr">
              <a:spcAft>
                <a:spcPts val="400"/>
              </a:spcAft>
            </a:pPr>
            <a:r>
              <a:rPr sz="1100" b="0" i="1">
                <a:solidFill>
                  <a:srgbClr val="6B7182"/>
                </a:solidFill>
                <a:latin typeface="Calibri"/>
              </a:rPr>
              <a:t>Proposte outfit del giorno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920240"/>
            <a:ext cx="5486400" cy="429768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800"/>
              </a:spcAft>
            </a:pPr>
            <a:r>
              <a:rPr sz="1400" b="1" i="0">
                <a:solidFill>
                  <a:srgbClr val="4A6DDC"/>
                </a:solidFill>
                <a:latin typeface="Calibri"/>
              </a:rPr>
              <a:t>[ screenshot ]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05-dashboard.png</a:t>
            </a:r>
          </a:p>
          <a:p>
            <a:pPr algn="ctr">
              <a:spcAft>
                <a:spcPts val="400"/>
              </a:spcAft>
            </a:pPr>
            <a:r>
              <a:rPr sz="1100" b="0" i="1">
                <a:solidFill>
                  <a:srgbClr val="6B7182"/>
                </a:solidFill>
                <a:latin typeface="Calibri"/>
              </a:rPr>
              <a:t>Dashboard impatto sostenibilità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05 · IL CUORE DEL PROGETTO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Dove c'è l'intelligenza artificiale.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6B7182"/>
                </a:solidFill>
                <a:latin typeface="Calibri"/>
              </a:rPr>
              <a:t>Sette punti del prodotto in cui un modello AI fa il lavoro al posto tuo.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2788920" cy="109728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A1D27"/>
                </a:solidFill>
                <a:latin typeface="Calibri"/>
              </a:rPr>
              <a:t>📷  Riconosce il capo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Capisce da sola se è una
t-shirt blu o una giacca
marrone.</a:t>
            </a:r>
          </a:p>
          <a:p>
            <a:pPr algn="l">
              <a:spcAft>
                <a:spcPts val="400"/>
              </a:spcAft>
            </a:pPr>
            <a:r>
              <a:rPr sz="900" b="1" i="1">
                <a:solidFill>
                  <a:srgbClr val="4A6DDC"/>
                </a:solidFill>
                <a:latin typeface="Calibri"/>
              </a:rPr>
              <a:t>Vision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920240"/>
            <a:ext cx="2788920" cy="109728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A1D27"/>
                </a:solidFill>
                <a:latin typeface="Calibri"/>
              </a:rPr>
              <a:t>🎨  Estrae il colore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Trova il colore dominante
ignorando lo sfondo bianco.</a:t>
            </a:r>
          </a:p>
          <a:p>
            <a:pPr algn="l">
              <a:spcAft>
                <a:spcPts val="400"/>
              </a:spcAft>
            </a:pPr>
            <a:r>
              <a:rPr sz="900" b="1" i="1">
                <a:solidFill>
                  <a:srgbClr val="4A6DDC"/>
                </a:solidFill>
                <a:latin typeface="Calibri"/>
              </a:rPr>
              <a:t>Vision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920240"/>
            <a:ext cx="2788920" cy="109728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A1D27"/>
                </a:solidFill>
                <a:latin typeface="Calibri"/>
              </a:rPr>
              <a:t>👗  Suggerisce outfit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Combina i capi che hai
con meteo + regole estetiche.</a:t>
            </a:r>
          </a:p>
          <a:p>
            <a:pPr algn="l">
              <a:spcAft>
                <a:spcPts val="400"/>
              </a:spcAft>
            </a:pPr>
            <a:r>
              <a:rPr sz="900" b="1" i="1">
                <a:solidFill>
                  <a:srgbClr val="4A6DDC"/>
                </a:solidFill>
                <a:latin typeface="Calibri"/>
              </a:rPr>
              <a:t>Regole + 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89720" y="1920240"/>
            <a:ext cx="2788920" cy="109728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A1D27"/>
                </a:solidFill>
                <a:latin typeface="Calibri"/>
              </a:rPr>
              <a:t>🛠️  Diagnostica la condizione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Capisce se un capo è nuovo,
buono, usurato o danneggiato.</a:t>
            </a:r>
          </a:p>
          <a:p>
            <a:pPr algn="l">
              <a:spcAft>
                <a:spcPts val="400"/>
              </a:spcAft>
            </a:pPr>
            <a:r>
              <a:rPr sz="900" b="1" i="1">
                <a:solidFill>
                  <a:srgbClr val="4A6DDC"/>
                </a:solidFill>
                <a:latin typeface="Calibri"/>
              </a:rPr>
              <a:t>Regole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127248"/>
            <a:ext cx="2788920" cy="1097280"/>
          </a:xfrm>
          <a:prstGeom prst="roundRect">
            <a:avLst/>
          </a:prstGeom>
          <a:solidFill>
            <a:srgbClr val="DCEFE7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A1D27"/>
                </a:solidFill>
                <a:latin typeface="Calibri"/>
              </a:rPr>
              <a:t>✍️  Descrive il capo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Scrive una breve descrizione
del capo in italiano.</a:t>
            </a:r>
          </a:p>
          <a:p>
            <a:pPr algn="l">
              <a:spcAft>
                <a:spcPts val="400"/>
              </a:spcAft>
            </a:pPr>
            <a:r>
              <a:rPr sz="900" b="1" i="1">
                <a:solidFill>
                  <a:srgbClr val="2F8F6E"/>
                </a:solidFill>
                <a:latin typeface="Calibri"/>
              </a:rPr>
              <a:t>AI generativa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3127248"/>
            <a:ext cx="2788920" cy="1097280"/>
          </a:xfrm>
          <a:prstGeom prst="roundRect">
            <a:avLst/>
          </a:prstGeom>
          <a:solidFill>
            <a:srgbClr val="DCEFE7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A1D27"/>
                </a:solidFill>
                <a:latin typeface="Calibri"/>
              </a:rPr>
              <a:t>💬  Coach sostenibilità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Ti dà consigli personalizzati
sul tuo guardaroba.</a:t>
            </a:r>
          </a:p>
          <a:p>
            <a:pPr algn="l">
              <a:spcAft>
                <a:spcPts val="400"/>
              </a:spcAft>
            </a:pPr>
            <a:r>
              <a:rPr sz="900" b="1" i="1">
                <a:solidFill>
                  <a:srgbClr val="2F8F6E"/>
                </a:solidFill>
                <a:latin typeface="Calibri"/>
              </a:rPr>
              <a:t>AI generativa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3127248"/>
            <a:ext cx="2788920" cy="1097280"/>
          </a:xfrm>
          <a:prstGeom prst="roundRect">
            <a:avLst/>
          </a:prstGeom>
          <a:solidFill>
            <a:srgbClr val="DCEFE7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A1D27"/>
                </a:solidFill>
                <a:latin typeface="Calibri"/>
              </a:rPr>
              <a:t>📖  Tutorial riparazione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Crea istruzioni passo-passo
per riparare il difetto.</a:t>
            </a:r>
          </a:p>
          <a:p>
            <a:pPr algn="l">
              <a:spcAft>
                <a:spcPts val="400"/>
              </a:spcAft>
            </a:pPr>
            <a:r>
              <a:rPr sz="900" b="1" i="1">
                <a:solidFill>
                  <a:srgbClr val="2F8F6E"/>
                </a:solidFill>
                <a:latin typeface="Calibri"/>
              </a:rPr>
              <a:t>AI generativa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89720" y="3127248"/>
            <a:ext cx="2788920" cy="1097280"/>
          </a:xfrm>
          <a:prstGeom prst="roundRect">
            <a:avLst/>
          </a:prstGeom>
          <a:solidFill>
            <a:srgbClr val="DCEFE7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A1D27"/>
                </a:solidFill>
                <a:latin typeface="Calibri"/>
              </a:rPr>
              <a:t>🪞  Prova virtuale (try-on)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Genera un'immagine di te
che indossi il capo.</a:t>
            </a:r>
          </a:p>
          <a:p>
            <a:pPr algn="l">
              <a:spcAft>
                <a:spcPts val="400"/>
              </a:spcAft>
            </a:pPr>
            <a:r>
              <a:rPr sz="900" b="1" i="1">
                <a:solidFill>
                  <a:srgbClr val="2F8F6E"/>
                </a:solidFill>
                <a:latin typeface="Calibri"/>
              </a:rPr>
              <a:t>AI generativa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389120"/>
            <a:ext cx="1124712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1A1D27"/>
                </a:solidFill>
                <a:latin typeface="Calibri"/>
              </a:rPr>
              <a:t>Due tipi di AI, due ruoli ben distinti: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6DDC"/>
                </a:solidFill>
                <a:latin typeface="Calibri"/>
              </a:rPr>
              <a:t>🟦  AI applicata  → riconoscere, classificare, dare suggerimenti basati su regole.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F8F6E"/>
                </a:solidFill>
                <a:latin typeface="Calibri"/>
              </a:rPr>
              <a:t>🟩  AI generativa  → produrre nuovi contenuti (testi, immagini) personalizzati per te.</a:t>
            </a:r>
          </a:p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6B7182"/>
                </a:solidFill>
                <a:latin typeface="Calibri"/>
              </a:rPr>
              <a:t>Questa distinzione era proprio quello che il corso ci chiedeva di dimostrare.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92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05B · LA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Come lavorano insieme i modelli AI.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6B7182"/>
                </a:solidFill>
                <a:latin typeface="Calibri"/>
              </a:rPr>
              <a:t>Blu = pre-addestrato · Verde = rete addestrata da noi. Due livelli collegati dai dati.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A1D27"/>
                </a:solidFill>
                <a:latin typeface="Calibri"/>
              </a:rPr>
              <a:t>📷  PER OGNI CAPO · dalla foto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48840"/>
            <a:ext cx="3657600" cy="173736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A1D27"/>
                </a:solidFill>
                <a:latin typeface="Calibri"/>
              </a:rPr>
              <a:t>Fashion-CLIP</a:t>
            </a:r>
          </a:p>
          <a:p>
            <a:pPr algn="l">
              <a:spcAft>
                <a:spcPts val="800"/>
              </a:spcAft>
            </a:pPr>
            <a:r>
              <a:rPr sz="1000" b="0" i="1">
                <a:solidFill>
                  <a:srgbClr val="4A6DDC"/>
                </a:solidFill>
                <a:latin typeface="Calibri"/>
              </a:rPr>
              <a:t>pre-addestrato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→ categoria + colore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1688" y="2148840"/>
            <a:ext cx="3657600" cy="1737360"/>
          </a:xfrm>
          <a:prstGeom prst="roundRect">
            <a:avLst/>
          </a:prstGeom>
          <a:solidFill>
            <a:srgbClr val="DCEFE7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A1D27"/>
                </a:solidFill>
                <a:latin typeface="Calibri"/>
              </a:rPr>
              <a:t>Rete stato + tutorial</a:t>
            </a:r>
          </a:p>
          <a:p>
            <a:pPr algn="l">
              <a:spcAft>
                <a:spcPts val="800"/>
              </a:spcAft>
            </a:pPr>
            <a:r>
              <a:rPr sz="1000" b="0" i="1">
                <a:solidFill>
                  <a:srgbClr val="2F8F6E"/>
                </a:solidFill>
                <a:latin typeface="Calibri"/>
              </a:rPr>
              <a:t>addestrata da noi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→ nuovo / usurato /
danneggiato
→ tutorial di recupero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74736" y="2148840"/>
            <a:ext cx="3657600" cy="1737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88B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A1D27"/>
                </a:solidFill>
                <a:latin typeface="Calibri"/>
              </a:rPr>
              <a:t>Tabella CO₂</a:t>
            </a:r>
          </a:p>
          <a:p>
            <a:pPr algn="l">
              <a:spcAft>
                <a:spcPts val="800"/>
              </a:spcAft>
            </a:pPr>
            <a:r>
              <a:rPr sz="1000" b="0" i="1">
                <a:solidFill>
                  <a:srgbClr val="C88B2E"/>
                </a:solidFill>
                <a:latin typeface="Calibri"/>
              </a:rPr>
              <a:t>Ellen MacArthur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→ impatto energetico
del singolo capo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760720" y="3977639"/>
            <a:ext cx="640080" cy="411480"/>
          </a:xfrm>
          <a:prstGeom prst="downArrow">
            <a:avLst/>
          </a:prstGeom>
          <a:solidFill>
            <a:srgbClr val="1A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4041648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B7182"/>
                </a:solidFill>
                <a:latin typeface="Calibri"/>
              </a:rPr>
              <a:t>le etichette di ogni capo si accumulano nel guardaroba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5262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A1D27"/>
                </a:solidFill>
                <a:latin typeface="Calibri"/>
              </a:rPr>
              <a:t>🧩  SU TUTTO IL GUARDAROBA · sull'insieme dei capi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92040"/>
            <a:ext cx="5532120" cy="1280160"/>
          </a:xfrm>
          <a:prstGeom prst="roundRect">
            <a:avLst/>
          </a:prstGeom>
          <a:solidFill>
            <a:srgbClr val="DCEFE7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A1D27"/>
                </a:solidFill>
                <a:latin typeface="Calibri"/>
              </a:rPr>
              <a:t>Rete gap analysis</a:t>
            </a:r>
          </a:p>
          <a:p>
            <a:pPr algn="l">
              <a:spcAft>
                <a:spcPts val="600"/>
              </a:spcAft>
            </a:pPr>
            <a:r>
              <a:rPr sz="1000" b="0" i="1">
                <a:solidFill>
                  <a:srgbClr val="2F8F6E"/>
                </a:solidFill>
                <a:latin typeface="Calibri"/>
              </a:rPr>
              <a:t>addestrata da noi · non guarda le foto, guarda l'inventario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→ vuoti funzionali: "manca una giacca", "troppe t-shirt"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4892040"/>
            <a:ext cx="5532120" cy="1280160"/>
          </a:xfrm>
          <a:prstGeom prst="roundRect">
            <a:avLst/>
          </a:prstGeom>
          <a:solidFill>
            <a:srgbClr val="DCEFE7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A1D27"/>
                </a:solidFill>
                <a:latin typeface="Calibri"/>
              </a:rPr>
              <a:t>Somma impatti evitati</a:t>
            </a:r>
          </a:p>
          <a:p>
            <a:pPr algn="l">
              <a:spcAft>
                <a:spcPts val="600"/>
              </a:spcAft>
            </a:pPr>
            <a:r>
              <a:rPr sz="1000" b="0" i="1">
                <a:solidFill>
                  <a:srgbClr val="2F8F6E"/>
                </a:solidFill>
                <a:latin typeface="Calibri"/>
              </a:rPr>
              <a:t>azioni circolari × % di CO₂ risparmiata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→ CO₂ totale evitata, mostrata nella dashboard impatto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92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06 ·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Come ho usato l'AI generativa per costruire il progetto.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6B7182"/>
                </a:solidFill>
                <a:latin typeface="Calibri"/>
              </a:rPr>
              <a:t>Strumenti, prompt, confronto e (sì) allucinazioni incontrate.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548640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800"/>
              </a:spcAft>
            </a:pPr>
            <a:r>
              <a:rPr sz="1100" b="1" i="0">
                <a:solidFill>
                  <a:srgbClr val="4A6DDC"/>
                </a:solidFill>
                <a:latin typeface="Calibri"/>
              </a:rPr>
              <a:t>STRUMENTI USATI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D27"/>
                </a:solidFill>
                <a:latin typeface="Calibri"/>
              </a:rPr>
              <a:t>Claude (Anthropic)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Codice, design dell'architettura,</a:t>
            </a:r>
          </a:p>
          <a:p>
            <a:pPr algn="l">
              <a:spcAft>
                <a:spcPts val="10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scrittura della documentazione.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D27"/>
                </a:solidFill>
                <a:latin typeface="Calibri"/>
              </a:rPr>
              <a:t>Fashion-CLIP (HuggingFace)</a:t>
            </a:r>
          </a:p>
          <a:p>
            <a:pPr algn="l">
              <a:spcAft>
                <a:spcPts val="10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Modello pre-addestrato che riconosce i capi.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D27"/>
                </a:solidFill>
                <a:latin typeface="Calibri"/>
              </a:rPr>
              <a:t>Stable Diffusion (HuggingFace)</a:t>
            </a:r>
          </a:p>
          <a:p>
            <a:pPr algn="l">
              <a:spcAft>
                <a:spcPts val="10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Modello generativo per il try-on virtuale.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D27"/>
                </a:solidFill>
                <a:latin typeface="Calibri"/>
              </a:rPr>
              <a:t>python-pptx + Claude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Questa stessa presentazione è generata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automaticamente da uno script.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920240"/>
            <a:ext cx="5486400" cy="205740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4A6DDC"/>
                </a:solidFill>
                <a:latin typeface="Calibri"/>
              </a:rPr>
              <a:t>CONFRONTO ALTERNATIVE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1D27"/>
                </a:solidFill>
                <a:latin typeface="Calibri"/>
              </a:rPr>
              <a:t>Cloud (Claude, OpenAI) vs Locale (Ollama):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→ cloud = qualità superiore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→ locale = privacy + zero costi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1D27"/>
                </a:solidFill>
                <a:latin typeface="Calibri"/>
              </a:rPr>
              <a:t>Fashion-CLIP vs CLIP generico: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→ il primo conosce 700k immagini di moda,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riconosce molto meglio i capi.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4160520"/>
            <a:ext cx="5486400" cy="2057400"/>
          </a:xfrm>
          <a:prstGeom prst="roundRect">
            <a:avLst/>
          </a:prstGeom>
          <a:solidFill>
            <a:srgbClr val="DCEFE7"/>
          </a:solidFill>
          <a:ln w="9525">
            <a:solidFill>
              <a:srgbClr val="C9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C94A5C"/>
                </a:solidFill>
                <a:latin typeface="Calibri"/>
              </a:rPr>
              <a:t>ALLUCINAZIONI INCONTRATE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A1D27"/>
                </a:solidFill>
                <a:latin typeface="Calibri"/>
              </a:rPr>
              <a:t>• AI che propone materiali poco realistici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  per riparare una zip (es. colla termica)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A1D27"/>
                </a:solidFill>
                <a:latin typeface="Calibri"/>
              </a:rPr>
              <a:t>• AI che inventa funzioni del linguaggio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  TypeScript non ancora disponibili</a:t>
            </a:r>
          </a:p>
          <a:p>
            <a:pPr algn="l">
              <a:spcAft>
                <a:spcPts val="200"/>
              </a:spcAft>
            </a:pPr>
            <a:r>
              <a:rPr sz="1100" b="0" i="1">
                <a:solidFill>
                  <a:srgbClr val="6B7182"/>
                </a:solidFill>
                <a:latin typeface="Calibri"/>
              </a:rPr>
              <a:t>Soluzione: verifica umana + fallback su una</a:t>
            </a:r>
          </a:p>
          <a:p>
            <a:pPr algn="l">
              <a:spcAft>
                <a:spcPts val="400"/>
              </a:spcAft>
            </a:pPr>
            <a:r>
              <a:rPr sz="1100" b="0" i="1">
                <a:solidFill>
                  <a:srgbClr val="6B7182"/>
                </a:solidFill>
                <a:latin typeface="Calibri"/>
              </a:rPr>
              <a:t>base di tutorial 'sicuri' scritti a mano.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07A · ML APPLICATO — MODELLO PRE-ADDESTRATO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Riconoscere il capo (Fashion-CLIP)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6B7182"/>
                </a:solidFill>
                <a:latin typeface="Calibri"/>
              </a:rPr>
              <a:t>Un modello vision già addestrato che adattiamo al nostro guardaroba.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548640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4A6DDC"/>
                </a:solidFill>
                <a:latin typeface="Calibri"/>
              </a:rPr>
              <a:t>MODELLO</a:t>
            </a:r>
          </a:p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1A1D27"/>
                </a:solidFill>
                <a:latin typeface="Calibri"/>
              </a:rPr>
              <a:t>Fashion-CLIP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Sviluppato da Patrick John Chia (2023), pre-addestrato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su 700.000 immagini di capi di abbigliamento.</a:t>
            </a:r>
          </a:p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2F8F6E"/>
                </a:solidFill>
                <a:latin typeface="Calibri"/>
              </a:rPr>
              <a:t>Open-source, gratuito, scaricabile da HuggingFace.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920240"/>
            <a:ext cx="548640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4A6DDC"/>
                </a:solidFill>
                <a:latin typeface="Calibri"/>
              </a:rPr>
              <a:t>OBIETTIVO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A1D27"/>
                </a:solidFill>
                <a:latin typeface="Calibri"/>
              </a:rPr>
              <a:t>Classificazione zero-shot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Una foto in ingresso → l'AI decide a quale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delle 14 categorie appartiene (t-shirt, jeans,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camicia, vestito, scarpe, …) e quanto è sicura.</a:t>
            </a:r>
          </a:p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2F8F6E"/>
                </a:solidFill>
                <a:latin typeface="Calibri"/>
              </a:rPr>
              <a:t>Non serve riaddestrare: le categorie le scelgo 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51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1D27"/>
                </a:solidFill>
                <a:latin typeface="Calibri"/>
              </a:rPr>
              <a:t>Il flusso, semplificato: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754880"/>
            <a:ext cx="2468880" cy="137160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200"/>
              </a:spcAft>
            </a:pPr>
            <a:r>
              <a:rPr sz="2800" b="0" i="0">
                <a:solidFill>
                  <a:srgbClr val="4A6DDC"/>
                </a:solidFill>
                <a:latin typeface="Calibri"/>
              </a:rPr>
              <a:t>📷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1A1D27"/>
                </a:solidFill>
                <a:latin typeface="Calibri"/>
              </a:rPr>
              <a:t>Foto del capo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63240" y="5349240"/>
            <a:ext cx="182880" cy="274320"/>
          </a:xfrm>
          <a:prstGeom prst="rightArrow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91840" y="4754880"/>
            <a:ext cx="2468880" cy="137160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200"/>
              </a:spcAft>
            </a:pPr>
            <a:r>
              <a:rPr sz="2800" b="0" i="0">
                <a:solidFill>
                  <a:srgbClr val="4A6DDC"/>
                </a:solidFill>
                <a:latin typeface="Calibri"/>
              </a:rPr>
              <a:t>🧠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1A1D27"/>
                </a:solidFill>
                <a:latin typeface="Calibri"/>
              </a:rPr>
              <a:t>Fashion-CLIP la 'guarda'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806440" y="5349240"/>
            <a:ext cx="182880" cy="274320"/>
          </a:xfrm>
          <a:prstGeom prst="rightArrow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0" y="4754880"/>
            <a:ext cx="2468880" cy="137160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200"/>
              </a:spcAft>
            </a:pPr>
            <a:r>
              <a:rPr sz="2800" b="0" i="0">
                <a:solidFill>
                  <a:srgbClr val="4A6DDC"/>
                </a:solidFill>
                <a:latin typeface="Calibri"/>
              </a:rPr>
              <a:t>🏷️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1A1D27"/>
                </a:solidFill>
                <a:latin typeface="Calibri"/>
              </a:rPr>
              <a:t>Restituisce: categoria,
colore, confidenza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549640" y="5349240"/>
            <a:ext cx="182880" cy="274320"/>
          </a:xfrm>
          <a:prstGeom prst="rightArrow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778240" y="4754880"/>
            <a:ext cx="2468880" cy="137160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200"/>
              </a:spcAft>
            </a:pPr>
            <a:r>
              <a:rPr sz="2800" b="0" i="0">
                <a:solidFill>
                  <a:srgbClr val="4A6DDC"/>
                </a:solidFill>
                <a:latin typeface="Calibri"/>
              </a:rPr>
              <a:t>💾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1A1D27"/>
                </a:solidFill>
                <a:latin typeface="Calibri"/>
              </a:rPr>
              <a:t>Salvo nel guardaroba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92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07B · ML APPLICATO — CODICE PYTHON IN 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Tre modelli addestrati da noi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6B7182"/>
                </a:solidFill>
                <a:latin typeface="Calibri"/>
              </a:rPr>
              <a:t>ml/notebooks/closetai_ml.ipynb: classificazione + regressione + clustering.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3657600" cy="365760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A1D27"/>
                </a:solidFill>
                <a:latin typeface="Calibri"/>
              </a:rPr>
              <a:t>🎯  Classificazione</a:t>
            </a:r>
          </a:p>
          <a:p>
            <a:pPr algn="l">
              <a:spcAft>
                <a:spcPts val="10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Predire se un capo diventerà 'fantasma'.
Modello: Logistic Regression
Es.: 'Attenzione, hai già 3
cappotti acquistati a maggio.'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F8F6E"/>
                </a:solidFill>
                <a:latin typeface="Calibri"/>
              </a:rPr>
              <a:t>AUC ≈ 0,80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920240"/>
            <a:ext cx="3657600" cy="365760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A1D27"/>
                </a:solidFill>
                <a:latin typeface="Calibri"/>
              </a:rPr>
              <a:t>📈  Regressione</a:t>
            </a:r>
          </a:p>
          <a:p>
            <a:pPr algn="l">
              <a:spcAft>
                <a:spcPts val="10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Stimare gli utilizzi nei prossimi
90 giorni.
Modello: Random Forest
Es.: 'Questo capo verrà indossato
~6 volte → cost-per-wear € 5,80'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F8F6E"/>
                </a:solidFill>
                <a:latin typeface="Calibri"/>
              </a:rPr>
              <a:t>MAE ≈ 2-3 utilizzi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920240"/>
            <a:ext cx="3657600" cy="365760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A1D27"/>
                </a:solidFill>
                <a:latin typeface="Calibri"/>
              </a:rPr>
              <a:t>🧩  Clustering</a:t>
            </a:r>
          </a:p>
          <a:p>
            <a:pPr algn="l">
              <a:spcAft>
                <a:spcPts val="10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Raggruppare i capi in 'stili'
senza etichette.
Modello: K-Means (K=5) + PCA
Es.: 'cluster casual estivo',
'occasioni formali'.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F8F6E"/>
                </a:solidFill>
                <a:latin typeface="Calibri"/>
              </a:rPr>
              <a:t>Silhouette ≈ 0,30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669280"/>
            <a:ext cx="11247120" cy="640080"/>
          </a:xfrm>
          <a:prstGeom prst="roundRect">
            <a:avLst/>
          </a:prstGeom>
          <a:solidFill>
            <a:srgbClr val="DCEFE7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1A1D27"/>
                </a:solidFill>
                <a:latin typeface="Calibri"/>
              </a:rPr>
              <a:t>Tutto su dati realistici sintetici (300 capi). Per il prodotto reale, basta sostituirli col wear log dell'utente.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08 · L'IMPATTO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Analisi di sostenibilità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6B7182"/>
                </a:solidFill>
                <a:latin typeface="Calibri"/>
              </a:rPr>
              <a:t>Ogni azione viene tradotta in CO₂ risparmiata, con equivalenze concrete.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4572000" cy="4297680"/>
          </a:xfrm>
          <a:prstGeom prst="roundRect">
            <a:avLst/>
          </a:prstGeom>
          <a:solidFill>
            <a:srgbClr val="DCEFE7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1200"/>
              </a:spcAft>
            </a:pPr>
            <a:r>
              <a:rPr sz="1100" b="1" i="0">
                <a:solidFill>
                  <a:srgbClr val="2F8F6E"/>
                </a:solidFill>
                <a:latin typeface="Calibri"/>
              </a:rPr>
              <a:t>ESEMPIO DI DEMO</a:t>
            </a:r>
          </a:p>
          <a:p>
            <a:pPr algn="ctr">
              <a:spcAft>
                <a:spcPts val="400"/>
              </a:spcAft>
            </a:pPr>
            <a:r>
              <a:rPr sz="7200" b="1" i="0">
                <a:solidFill>
                  <a:srgbClr val="2F8F6E"/>
                </a:solidFill>
                <a:latin typeface="Calibri"/>
              </a:rPr>
              <a:t>65 kg</a:t>
            </a:r>
          </a:p>
          <a:p>
            <a:pPr algn="ctr">
              <a:spcAft>
                <a:spcPts val="2000"/>
              </a:spcAft>
            </a:pPr>
            <a:r>
              <a:rPr sz="1800" b="0" i="0">
                <a:solidFill>
                  <a:srgbClr val="1A1D27"/>
                </a:solidFill>
                <a:latin typeface="Calibri"/>
              </a:rPr>
              <a:t>di CO₂ evitati</a:t>
            </a:r>
          </a:p>
          <a:p>
            <a:pPr algn="ctr">
              <a:spcAft>
                <a:spcPts val="10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equivalente a:</a:t>
            </a:r>
          </a:p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A1D27"/>
                </a:solidFill>
                <a:latin typeface="Calibri"/>
              </a:rPr>
              <a:t>≈ 360 km in auto risparmiati</a:t>
            </a:r>
          </a:p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A1D27"/>
                </a:solidFill>
                <a:latin typeface="Calibri"/>
              </a:rPr>
              <a:t>≈ 8 m² di foresta /anno</a:t>
            </a:r>
          </a:p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A1D27"/>
                </a:solidFill>
                <a:latin typeface="Calibri"/>
              </a:rPr>
              <a:t>≈ 0,8 voli Pisa-Roma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60" y="1920240"/>
            <a:ext cx="640080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800"/>
              </a:spcAft>
            </a:pPr>
            <a:r>
              <a:rPr sz="1100" b="1" i="0">
                <a:solidFill>
                  <a:srgbClr val="4A6DDC"/>
                </a:solidFill>
                <a:latin typeface="Calibri"/>
              </a:rPr>
              <a:t>COME LO MISURIAMO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Per ogni capo, conosciamo la sua impronta CO₂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di produzione (fonte: Ellen MacArthur Foundation):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• T-shirt:  7 kg     • Jeans:    32 kg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• Camicia: 10 kg     • Giacca:   25 kg</a:t>
            </a:r>
          </a:p>
          <a:p>
            <a:pPr algn="l">
              <a:spcAft>
                <a:spcPts val="16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• Maglione: 14 kg    • Cappotto: 40 kg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Per ogni azione circolare, una % evitata: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F8F6E"/>
                </a:solidFill>
                <a:latin typeface="Calibri"/>
              </a:rPr>
              <a:t>• Donare / scambiare / vendere → 100%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2F8F6E"/>
                </a:solidFill>
                <a:latin typeface="Calibri"/>
              </a:rPr>
              <a:t>• Riparare → 70%   • Riciclare → 30%</a:t>
            </a:r>
          </a:p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6B7182"/>
                </a:solidFill>
                <a:latin typeface="Calibri"/>
              </a:rPr>
              <a:t>Es. donare una giacca = 25 kg risparmiati.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09 · COSTI, MATERIALI, SCALABILITÀ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Studio di fattibilità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6B7182"/>
                </a:solidFill>
                <a:latin typeface="Calibri"/>
              </a:rPr>
              <a:t>Si può davvero portare un prodotto del genere sul mercato?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365760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4A6DDC"/>
                </a:solidFill>
                <a:latin typeface="Calibri"/>
              </a:rPr>
              <a:t>💰 Costi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Hardware: laptop + telefono.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Modelli AI: tutti gratuiti / open-source.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Cloud opzionale: ~€ 0,01 a utente/mese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(grazie al caching delle risposte).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Specchio smart: ~€ 200 una tantum.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920240"/>
            <a:ext cx="365760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2F8F6E"/>
                </a:solidFill>
                <a:latin typeface="Calibri"/>
              </a:rPr>
              <a:t>🧱 Materiali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Tutto open-source (no licenze):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FastAPI, React, Fashion-CLIP,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Stable Diffusion, ChromaDB.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Ne consegue piena trasparenza,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audit possibile, no lock-in vendor.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920240"/>
            <a:ext cx="365760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88B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C88B2E"/>
                </a:solidFill>
                <a:latin typeface="Calibri"/>
              </a:rPr>
              <a:t>📈 Scalabilità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MVP: single-user, locale.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→ Cloud per multi-utente (Postgres+S3).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→ AI on-device per privacy estrema.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→ Versione enterprise con marketplace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second-hand integrato.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10 · ONESTÀ INTELLETTUALE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Cosa il prototipo non fa (ancora).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6B7182"/>
                </a:solidFill>
                <a:latin typeface="Calibri"/>
              </a:rPr>
              <a:t>E dove potrebbe andare in futuro.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557784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9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94A5C"/>
                </a:solidFill>
                <a:latin typeface="Calibri"/>
              </a:rPr>
              <a:t>Limitazioni di oggi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•  I modelli AI sono pensati per moda occidentale: meno precisi su capi etnici.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•  Le stime di CO₂ sono medie per categoria, non una vera analisi del ciclo di vita.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•  Il try-on virtuale è un'illusione visiva, non un vero camerino digitale.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•  Per ora è personale: non ci sono account né condivisione.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59" y="1920240"/>
            <a:ext cx="557784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2F8F6E"/>
                </a:solidFill>
                <a:latin typeface="Calibri"/>
              </a:rPr>
              <a:t>Estensioni naturali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•  Riconoscere automaticamente l'outfit dalla foto di uno specchio.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•  Integrare marketplace second-hand (Vinted, Wallapop) per chiudere il cerchio della vendita.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•  Modalità famiglia / armadio condiviso.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•  Suggerimento pre-acquisto: 'questo capo riempie un vuoto del tuo guardaroba?'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F8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200" b="1" i="0">
                <a:solidFill>
                  <a:srgbClr val="1A1D27"/>
                </a:solidFill>
                <a:latin typeface="Calibri"/>
              </a:rPr>
              <a:t>Grazie.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 i="1">
                <a:solidFill>
                  <a:srgbClr val="2F8F6E"/>
                </a:solidFill>
                <a:latin typeface="Calibri"/>
              </a:rPr>
              <a:t>Vesti meglio. Compra meno. Allunga la vita dei tuoi capi.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4A6DDC"/>
                </a:solidFill>
                <a:latin typeface="Calibri"/>
              </a:rPr>
              <a:t>Domande?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937760"/>
            <a:ext cx="10515600" cy="1280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A6DDC"/>
                </a:solidFill>
                <a:latin typeface="Calibri"/>
              </a:rPr>
              <a:t>Materiale di approfondimento (per chi vuole guardare):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→ Codice, documentazione e roadmap completi su questo repository.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→ Architettura, decisioni tecniche e analisi di impatto in docs/.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