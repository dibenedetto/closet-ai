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70" r:id="rId12"/>
    <p:sldId id="266" r:id="rId13"/>
    <p:sldId id="267" r:id="rId14"/>
    <p:sldId id="268" r:id="rId15"/>
    <p:sldId id="271" r:id="rId16"/>
    <p:sldId id="269" r:id="rId17"/>
    <p:sldId id="272" r:id="rId18"/>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5238" autoAdjust="0"/>
  </p:normalViewPr>
  <p:slideViewPr>
    <p:cSldViewPr snapToGrid="0">
      <p:cViewPr varScale="1">
        <p:scale>
          <a:sx n="134" d="100"/>
          <a:sy n="134" d="100"/>
        </p:scale>
        <p:origin x="126"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Oggi non vorrei partire dagli algoritmi, ma da una decisione quotidiana: prima di comprare un altro capo, possiamo usare meglio ciò che possediamo? ClosetAI nasce per rispondere a questa domanda. Ve lo raccontiamo seguendo Marta, una persona immaginaria ma rappresentativa, dal primo inserimento di un capo fino alla cura o alla seconda vita. In questo percorso vedremo quattro segnali concreti: utilizzo, capi fantasma, stato di conservazione e gap del guardaroba. Solo nella seconda parte apriremo la scatola tecnica e distingueremo con precisione ciò che abbiamo addestrato noi, ciò che è pre-addestrato, ciò che è una regola e ciò che è generativo. La nostra tesi è semplice: l’AI ha valore quando riduce un’incertezza utile; il resto deve rimanere trasparente.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 capire il bisogno, immaginiamo Marta davanti all’armadio. Ha molti capi, ma finisce quasi sempre per scegliere gli stessi. In fondo c’è una giacca verde che non ricorda più di avere. Precisiamo subito che Marta è un personaggio narrativo, non il risultato di uno studio utenti. Il contesto ambientale, invece, è reale: secondo l’EEA, nel 2022 nell’Unione Europea si consumavano circa 19 chilogrammi di tessili per persona e se ne generavano circa 16 come rifiuto. Con ClosetAI non vogliamo colpevolizzare Marta e non vogliamo dirle automaticamente di comprare. Vogliamo restituirle memoria e contesto: cosa possiede, cosa usa, cosa sta trascurando e quale decisione può allungare la vita di un capo.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 cominciamo il percorso con una foto. Marta fotografa un capo e crea una scheda con immagine, categoria, colore, prezzo e data di acquisto, quando disponibili. Sottolineiamo un punto: la scheda non è una verità prodotta dall’AI. I dati restano visibili e Marta può correggerli. La foto diventa l’ingresso semplice a un record strutturato, che collegheremo agli utilizzi, allo stato e alle azioni successive. Separiamo anche due concetti che è facile confondere: descrivere il capo serve a organizzarlo; diagnosticare il suo stato di conservazione è un’analisi distinta, che vedremo fra poco. Dal lato utente vogliamo mantenere il gesto molto semplice: una foto, pochi controlli e il capo entra nel guardaroba digitale.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Passiamo ora all’uso quotidiano. Quando Marta indossa un capo, registra un utilizzo. Questo gesto costruisce nel tempo la cronologia reale del guardaroba e rende leggibile ciò che prima era soltanto una sensazione. Mostriamo quante volte il capo è stato usato e calcoliamo il cost-per-wear, cioè il prezzo diviso per il numero di utilizzi registrati. Precisiamo che non è una misura del valore affettivo e non vuole spingere a usare ossessivamente ogni oggetto: è un indicatore orientativo. Se gli utilizzi non sono stati registrati, il dato è incompleto. Con questa cautela, Marta può confrontare acquisto e uso effettivo, riconoscere i capi centrali e capire quali invece stanno occupando spazio senza entrare nella sua routine.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Ora apriamo la schermata Oggi. Qui proponiamo combinazioni usando regole comprensibili. Il punteggio pesa per il 55 per cento la compatibilità dei colori e per il 35 per cento il meteo; può aggiungere fino al 15 per cento per un capo fantasma eleggibile e applica un piccolo aggiustamento dal feedback, pari a più o meno 4 per cento. Così possiamo far riemergere la giacca di Marta senza imporla. Ci teniamo a dirlo chiaramente: questo recommender non è una rete neurale addestrata e, nel ranking attuale, non usa né Chroma né gli embedding Fashion-CLIP. L’occasione scelta viene salvata, ma oggi non modifica ancora il punteggio. La presentiamo quindi come sviluppo futuro, non come funzione già realizzata.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questo punto rispondiamo direttamente alla domanda sui ghost garments: sì, li rileviamo. La regola è deterministica, non machine learning. Consideriamo fantasma un capo ancora attivo, senza alcun utilizzo registrato e posseduto da almeno la soglia scelta, 30 giorni per default. Usiamo la data di acquisto e, se manca, la data di inserimento. Quindi intendiamo “mai indossato dopo almeno 30 giorni”, non semplicemente “usato poco”: un capo indossato una volta non è ghost secondo questa definizione. Nell’interfaccia lo mostriamo come metrica “Capi fantasma” e lista “Capi da riscoprire” nella dashboard, come badge “Fantasma · mai indossato da 30+ giorni” nel dettaglio e come segnale “Anti-fantasma” nella proposta di oggi.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Ritrovata la giacca, ci chiediamo in che stato sia. Distinguiamo tre classi: buono, usurato e danneggiato, e colleghiamo l’esito a una decisione di cura. Se abbiamo foto e checkpoint, usiamo Fashion-CLIP pre-addestrato come estrattore visivo e la nostra piccola rete MLP per classificare. Se il modello o l’immagine non sono disponibili, passiamo a un’euristica basata su età e numero di utilizzi; nel risultato indichiamo anche quale sorgente è stata usata. Marta può poi correggere manualmente lo stato. Non lo presentiamo come una certificazione professionale: il modello riduce l’incertezza visiva, il fallback mantiene il flusso utilizzabile e la persona conserva l’ultima parola.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Ora allarghiamo lo sguardo dal singolo capo all’intero guardaroba. Con la gap analysis non chiediamo semplicemente “cosa manca da comprare?”, ma “il guardaroba copre davvero le esigenze principali?”. Consideriamo quantità per categoria, stagionalità, varietà cromatica, presenza di neutri e quota di capi fantasma. Possiamo suggerire un capospalla versatile, ma possiamo anche concludere che non serve acquistare nulla o avvertire che ci sono già troppe magliette. La rete produce sei etichette possibili e noi le traduciamo in un consiglio leggibile, preferendo riuso e seconda mano. Se il checkpoint non è disponibile o la predizione fallisce, ricadiamo sulle regole esperte usate come riferimento. Anche qui il modello aggiunge probabilità, ma la decisione rimane spiegabile e verificabile.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Torniamo infine alla giacca di Marta e chiudiamo il ciclo con un’azione: continuare a usarla, ripararla, donarla, venderla oppure avviarla alla corretta seconda vita. L’impatto verde che mostriamo è una stima di scenario, non una misura fisica e non una Life Cycle Assessment completa. Il calcolo è trasparente: media indicativa della categoria moltiplicata per il fattore associato all’azione, con risultato in chilogrammi di CO₂ equivalente stimata. Ci serve per confrontare ordini di grandezza e rendere visibile l’effetto potenziale di una scelta. Dipende però dall’ipotesi che quella scelta eviti davvero, almeno in parte, un nuovo acquisto. Per correttezza parliamo sempre di “stima” e di “scenario”; come sviluppo proponiamo dati per materiale, intervalli d’incertezza e fonti LCA più granulari.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questo punto possiamo rileggere tutta la storia: Marta fotografa, registra gli utilizzi, riscopre la giacca, ne valuta lo stato, controlla se esiste un vero gap e sceglie come prendersene cura. Nel database dimostrativo locale abbiamo 12 capi, 148 utilizzi registrati, 2 capi fantasma e 57,5 chilogrammi di CO₂ equivalente stimata da 2 azioni circolari. Precisiamo che questi numeri rendono la demo coerente e ripetibile: non sono risultati di un test con utenti e non dimostrano un impatto ambientale reale. Fin qui abbiamo mostrato che ogni numero corrisponde a una decisione visibile nell’interfaccia. Ora cambiamo prospettiva e rispondiamo alla domanda tecnica: quale tipo di intelligenza produce ciascun risultato?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C0030-93D9-B958-B0C5-54170505A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2C73E0-649C-452B-0BCF-6A12DE270A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EFFF69-905A-0AC4-9AB8-B8B02F9393BF}"/>
              </a:ext>
            </a:extLst>
          </p:cNvPr>
          <p:cNvSpPr>
            <a:spLocks noGrp="1"/>
          </p:cNvSpPr>
          <p:nvPr>
            <p:ph type="body" idx="1"/>
          </p:nvPr>
        </p:nvSpPr>
        <p:spPr/>
        <p:txBody>
          <a:bodyPr/>
          <a:lstStyle/>
          <a:p>
            <a:r>
              <a:t>Torniamo infine alla giacca di Marta e chiudiamo il ciclo con un’azione: continuare a usarla, ripararla, donarla, venderla oppure avviarla alla corretta seconda vita. L’impatto verde che mostriamo è una stima di scenario, non una misura fisica e non una Life Cycle Assessment completa. Il calcolo è trasparente: media indicativa della categoria moltiplicata per il fattore associato all’azione, con risultato in chilogrammi di CO₂ equivalente stimata. Ci serve per confrontare ordini di grandezza e rendere visibile l’effetto potenziale di una scelta. Dipende però dall’ipotesi che quella scelta eviti davvero, almeno in parte, un nuovo acquisto. Per correttezza parliamo sempre di “stima” e di “scenario”; come sviluppo proponiamo dati per materiale, intervalli d’incertezza e fonti LCA più granulari.</a:t>
            </a:r>
          </a:p>
        </p:txBody>
      </p:sp>
      <p:sp>
        <p:nvSpPr>
          <p:cNvPr id="4" name="Slide Number Placeholder 3">
            <a:extLst>
              <a:ext uri="{FF2B5EF4-FFF2-40B4-BE49-F238E27FC236}">
                <a16:creationId xmlns:a16="http://schemas.microsoft.com/office/drawing/2014/main" id="{58266C91-85AA-F6BE-6B94-47F3791755D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304500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 non chiamare tutto “AI”, separiamo quattro categorie. Primo: Fashion-CLIP è un modello visivo pre-addestrato da altri; noi lo usiamo congelato, senza riaddestrarlo. Secondo: le due teste MLP per stato e gap sono modelli che abbiamo addestrato noi e di cui salviamo i checkpoint. Terzo: ghost garments, cost-per-wear, ranking outfit e stima dell’impatto sono formule, regole o tabelle esplicite. Quarto: descrizioni, coach testuale e virtual try-on possono usare modelli generativi esterni, ma sono opzionali. Se ci chiedete di approfondire una funzione, possiamo quindi dichiarare con precisione input, trasformazione, output, metrica e limite. La nostra scelta progettuale non è massimizzare il numero di modelli, ma usare il livello di complessità giusto per ogni problema.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Entriamo ora nei due modelli che abbiamo addestrato e che entrano nel prodotto. Per lo stato, Fashion-CLIP rimane congelato e produce un embedding di 512 valori; una nostra MLP lo trasforma nelle classi buono, usurato e danneggiato. Sul holdout locale di un dataset di circa 600 immagini otteniamo circa il 94 per cento di accuracy, ma non abbiamo ancora una validazione esterna: è una prova di prototipo, non una garanzia su qualsiasi foto. Per i gap, una seconda MLP riceve 14 segnali aggregati e produce 6 etichette; su 5.000 guardaroba simulati raggiungiamo una micro-F1 di circa 0,945. Le label derivano da regole, quindi servono dati reali. Abbiamo preparato cinque notebook autonomi e commentati: due riproducono i modelli runtime; tre documentano esperimenti accademici su rischio ghost, previsione degli utilizzi e clustering, che non sono collegati alla UI.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Ora possiamo chiarire perché una parte importante dell’app funziona anche senza AI generativa. La regola ghost è un controllo logico; il cost-per-wear è una divisione; outfit e impatto sono punteggi e fattori dichiarati. Li abbiamo mantenuti espliciti perché qui il criterio deve essere stabile e spiegabile. La generazione entra invece come livello opzionale: un LLM può rendere più naturale una descrizione o il coach, mentre un modello diffusion può creare una prova visuale di virtual try-on. Sono modelli esterni e non addestrati da noi. Inoltre il try-on è una simulazione estetica: non verifica taglia, vestibilità o comportamento reale del tessuto. Se i servizi generativi non sono configurati, il nucleo del prodotto continua a funzionare con testi e logiche locali. Per noi questo è un punto di robustezza, oltre che di trasparenza.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57122-406F-CFBD-90A5-145358AE3A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05D176-54B8-B4F3-D8C9-FD9170A9E2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60264A-60A1-C85D-8BA1-E526FE02B6B0}"/>
              </a:ext>
            </a:extLst>
          </p:cNvPr>
          <p:cNvSpPr>
            <a:spLocks noGrp="1"/>
          </p:cNvSpPr>
          <p:nvPr>
            <p:ph type="body" idx="1"/>
          </p:nvPr>
        </p:nvSpPr>
        <p:spPr/>
        <p:txBody>
          <a:bodyPr/>
          <a:lstStyle/>
          <a:p>
            <a:r>
              <a:t>Torniamo infine alla giacca di Marta e chiudiamo il ciclo con un’azione: continuare a usarla, ripararla, donarla, venderla oppure avviarla alla corretta seconda vita. L’impatto verde che mostriamo è una stima di scenario, non una misura fisica e non una Life Cycle Assessment completa. Il calcolo è trasparente: media indicativa della categoria moltiplicata per il fattore associato all’azione, con risultato in chilogrammi di CO₂ equivalente stimata. Ci serve per confrontare ordini di grandezza e rendere visibile l’effetto potenziale di una scelta. Dipende però dall’ipotesi che quella scelta eviti davvero, almeno in parte, un nuovo acquisto. Per correttezza parliamo sempre di “stima” e di “scenario”; come sviluppo proponiamo dati per materiale, intervalli d’incertezza e fonti LCA più granulari.</a:t>
            </a:r>
          </a:p>
        </p:txBody>
      </p:sp>
      <p:sp>
        <p:nvSpPr>
          <p:cNvPr id="4" name="Slide Number Placeholder 3">
            <a:extLst>
              <a:ext uri="{FF2B5EF4-FFF2-40B4-BE49-F238E27FC236}">
                <a16:creationId xmlns:a16="http://schemas.microsoft.com/office/drawing/2014/main" id="{2A8DDD0F-D8CA-7818-5BFC-3EA06538057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007511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Dal punto di vista architetturale, il client React responsive parla con API FastAPI; i servizi gestiscono guardaroba, utilizzi, ghost, raccomandazioni, gap e circolarità; SQLite, immagini e checkpoint costituiscono lo strato dati del prototipo. Questa separazione permette di creare una versione smartphone senza riscrivere il backend. Il passo più rapido è una PWA con manifest, service worker e supporto offline; Capacitor può portare la stessa interfaccia negli store, mentre React Native avrebbe senso solo per un’esperienza nativa più profonda. Prima della produzione servono autenticazione, isolamento tra utenti, HTTPS, storage sicuro, politiche sulle immagini e verifica GDPR. Chiudo quindi con la scelta guida del progetto: usare l’AI dove riduce davvero l’incertezza e mantenere spiegabile tutto il resto. ClosetAI vuole aiutare a comprare meno usando meglio ciò che c’è già.</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D4F64-F3A0-214F-9EE6-25E3D25F41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E67737-5B4D-9A89-B934-F0401BF3A6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5E9F98-8A9E-EB5F-0E9E-B5DD20F04609}"/>
              </a:ext>
            </a:extLst>
          </p:cNvPr>
          <p:cNvSpPr>
            <a:spLocks noGrp="1"/>
          </p:cNvSpPr>
          <p:nvPr>
            <p:ph type="body" idx="1"/>
          </p:nvPr>
        </p:nvSpPr>
        <p:spPr/>
        <p:txBody>
          <a:bodyPr/>
          <a:lstStyle/>
          <a:p>
            <a:r>
              <a:t>Torniamo infine alla giacca di Marta e chiudiamo il ciclo con un’azione: continuare a usarla, ripararla, donarla, venderla oppure avviarla alla corretta seconda vita. L’impatto verde che mostriamo è una stima di scenario, non una misura fisica e non una Life Cycle Assessment completa. Il calcolo è trasparente: media indicativa della categoria moltiplicata per il fattore associato all’azione, con risultato in chilogrammi di CO₂ equivalente stimata. Ci serve per confrontare ordini di grandezza e rendere visibile l’effetto potenziale di una scelta. Dipende però dall’ipotesi che quella scelta eviti davvero, almeno in parte, un nuovo acquisto. Per correttezza parliamo sempre di “stima” e di “scenario”; come sviluppo proponiamo dati per materiale, intervalli d’incertezza e fonti LCA più granulari.</a:t>
            </a:r>
          </a:p>
        </p:txBody>
      </p:sp>
      <p:sp>
        <p:nvSpPr>
          <p:cNvPr id="4" name="Slide Number Placeholder 3">
            <a:extLst>
              <a:ext uri="{FF2B5EF4-FFF2-40B4-BE49-F238E27FC236}">
                <a16:creationId xmlns:a16="http://schemas.microsoft.com/office/drawing/2014/main" id="{5CA493A8-5420-B388-2C4E-3391140F62F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7287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2.svg"/><Relationship Id="rId7" Type="http://schemas.openxmlformats.org/officeDocument/2006/relationships/image" Target="../media/image25.sv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4.svg"/><Relationship Id="rId5" Type="http://schemas.openxmlformats.org/officeDocument/2006/relationships/image" Target="../media/image14.svg"/><Relationship Id="rId4" Type="http://schemas.openxmlformats.org/officeDocument/2006/relationships/image" Target="../media/image23.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7" b="27"/>
          <a:stretch>
            <a:fillRect/>
          </a:stretch>
        </p:blipFill>
        <p:spPr>
          <a:xfrm>
            <a:off x="0" y="0"/>
            <a:ext cx="12192000" cy="6858000"/>
          </a:xfrm>
          <a:prstGeom prst="rect">
            <a:avLst/>
          </a:prstGeom>
        </p:spPr>
      </p:pic>
      <p:sp>
        <p:nvSpPr>
          <p:cNvPr id="2" name="title-panel">
            <a:extLst>
              <a:ext uri="{FF2B5EF4-FFF2-40B4-BE49-F238E27FC236}">
                <a16:creationId xmlns:a16="http://schemas.microsoft.com/office/drawing/2014/main" id="{0F45600B-EF60-4889-A8FE-222AEA6FA78D}"/>
              </a:ext>
            </a:extLst>
          </p:cNvPr>
          <p:cNvSpPr>
            <a:spLocks noGrp="1"/>
          </p:cNvSpPr>
          <p:nvPr/>
        </p:nvSpPr>
        <p:spPr>
          <a:xfrm>
            <a:off x="0" y="0"/>
            <a:ext cx="6667500" cy="6858000"/>
          </a:xfrm>
          <a:prstGeom prst="rect">
            <a:avLst/>
          </a:prstGeom>
          <a:solidFill>
            <a:srgbClr val="123C31"/>
          </a:solidFill>
          <a:ln w="0">
            <a:solidFill>
              <a:srgbClr val="000000">
                <a:alpha val="0"/>
              </a:srgbClr>
            </a:solidFill>
            <a:prstDash val="solid"/>
          </a:ln>
        </p:spPr>
        <p:txBody>
          <a:bodyPr/>
          <a:lstStyle/>
          <a:p>
            <a:endParaRPr lang="en-US"/>
          </a:p>
        </p:txBody>
      </p:sp>
      <p:sp>
        <p:nvSpPr>
          <p:cNvPr id="3" name="photo-transition">
            <a:extLst>
              <a:ext uri="{FF2B5EF4-FFF2-40B4-BE49-F238E27FC236}">
                <a16:creationId xmlns:a16="http://schemas.microsoft.com/office/drawing/2014/main" id="{83A3389F-89C7-431E-BD2D-B049B9724613}"/>
              </a:ext>
            </a:extLst>
          </p:cNvPr>
          <p:cNvSpPr>
            <a:spLocks noGrp="1"/>
          </p:cNvSpPr>
          <p:nvPr/>
        </p:nvSpPr>
        <p:spPr>
          <a:xfrm>
            <a:off x="6667500" y="0"/>
            <a:ext cx="762000" cy="6858000"/>
          </a:xfrm>
          <a:prstGeom prst="rect">
            <a:avLst/>
          </a:prstGeom>
          <a:solidFill>
            <a:srgbClr val="123C31">
              <a:alpha val="65882"/>
            </a:srgbClr>
          </a:solidFill>
          <a:ln w="0">
            <a:solidFill>
              <a:srgbClr val="000000">
                <a:alpha val="0"/>
              </a:srgbClr>
            </a:solidFill>
            <a:prstDash val="solid"/>
          </a:ln>
        </p:spPr>
        <p:txBody>
          <a:bodyPr/>
          <a:lstStyle/>
          <a:p>
            <a:endParaRPr lang="en-US"/>
          </a:p>
        </p:txBody>
      </p:sp>
      <p:sp>
        <p:nvSpPr>
          <p:cNvPr id="4" name="kicker-marker">
            <a:extLst>
              <a:ext uri="{FF2B5EF4-FFF2-40B4-BE49-F238E27FC236}">
                <a16:creationId xmlns:a16="http://schemas.microsoft.com/office/drawing/2014/main" id="{A203B099-C579-4193-AF3F-449A7A5C41DD}"/>
              </a:ext>
            </a:extLst>
          </p:cNvPr>
          <p:cNvSpPr>
            <a:spLocks noGrp="1"/>
          </p:cNvSpPr>
          <p:nvPr/>
        </p:nvSpPr>
        <p:spPr>
          <a:xfrm>
            <a:off x="552450" y="400050"/>
            <a:ext cx="95250" cy="95250"/>
          </a:xfrm>
          <a:prstGeom prst="ellipse">
            <a:avLst/>
          </a:prstGeom>
          <a:solidFill>
            <a:srgbClr val="B9D94A"/>
          </a:solidFill>
          <a:ln w="0">
            <a:solidFill>
              <a:srgbClr val="000000">
                <a:alpha val="0"/>
              </a:srgbClr>
            </a:solidFill>
            <a:prstDash val="solid"/>
          </a:ln>
        </p:spPr>
        <p:txBody>
          <a:bodyPr/>
          <a:lstStyle/>
          <a:p>
            <a:endParaRPr lang="en-US"/>
          </a:p>
        </p:txBody>
      </p:sp>
      <p:sp>
        <p:nvSpPr>
          <p:cNvPr id="5" name="kicker-label">
            <a:extLst>
              <a:ext uri="{FF2B5EF4-FFF2-40B4-BE49-F238E27FC236}">
                <a16:creationId xmlns:a16="http://schemas.microsoft.com/office/drawing/2014/main" id="{494AA3FD-1D1E-458A-92AD-07B83550992B}"/>
              </a:ext>
            </a:extLst>
          </p:cNvPr>
          <p:cNvSpPr>
            <a:spLocks noGrp="1"/>
          </p:cNvSpPr>
          <p:nvPr/>
        </p:nvSpPr>
        <p:spPr>
          <a:xfrm>
            <a:off x="762000" y="361950"/>
            <a:ext cx="571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DDE5DD"/>
                </a:solidFill>
                <a:latin typeface="Aptos"/>
                <a:ea typeface="Aptos"/>
                <a:cs typeface="Aptos"/>
              </a:defRPr>
            </a:pPr>
            <a:r>
              <a:rPr sz="675" b="1">
                <a:solidFill>
                  <a:srgbClr val="DDE5DD"/>
                </a:solidFill>
                <a:latin typeface="Aptos"/>
                <a:ea typeface="Aptos"/>
                <a:cs typeface="Aptos"/>
              </a:rPr>
              <a:t>E S A M E   U N I V E R S I T A R I O   U F F I C I A L E   ·   A . A .   2 0 2 5 / 2 0 2 6</a:t>
            </a:r>
          </a:p>
        </p:txBody>
      </p:sp>
      <p:sp>
        <p:nvSpPr>
          <p:cNvPr id="6" name="Rectangle 5">
            <a:extLst>
              <a:ext uri="{FF2B5EF4-FFF2-40B4-BE49-F238E27FC236}">
                <a16:creationId xmlns:a16="http://schemas.microsoft.com/office/drawing/2014/main" id="{F6CA9031-21EA-4048-93EA-1B64E327EA27}"/>
              </a:ext>
            </a:extLst>
          </p:cNvPr>
          <p:cNvSpPr>
            <a:spLocks noGrp="1"/>
          </p:cNvSpPr>
          <p:nvPr/>
        </p:nvSpPr>
        <p:spPr>
          <a:xfrm>
            <a:off x="552450" y="1257300"/>
            <a:ext cx="533400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4800" b="1">
                <a:solidFill>
                  <a:srgbClr val="FFFFFF"/>
                </a:solidFill>
                <a:latin typeface="Georgia"/>
                <a:ea typeface="Georgia"/>
                <a:cs typeface="Georgia"/>
              </a:defRPr>
            </a:pPr>
            <a:r>
              <a:rPr sz="4800" b="1">
                <a:solidFill>
                  <a:srgbClr val="FFFFFF"/>
                </a:solidFill>
                <a:latin typeface="Georgia"/>
                <a:ea typeface="Georgia"/>
                <a:cs typeface="Georgia"/>
              </a:rPr>
              <a:t>ClosetAI</a:t>
            </a:r>
          </a:p>
        </p:txBody>
      </p:sp>
      <p:sp>
        <p:nvSpPr>
          <p:cNvPr id="7" name="Rectangle 6">
            <a:extLst>
              <a:ext uri="{FF2B5EF4-FFF2-40B4-BE49-F238E27FC236}">
                <a16:creationId xmlns:a16="http://schemas.microsoft.com/office/drawing/2014/main" id="{EE02ED09-F989-441D-BF41-112FD9E62516}"/>
              </a:ext>
            </a:extLst>
          </p:cNvPr>
          <p:cNvSpPr>
            <a:spLocks noGrp="1"/>
          </p:cNvSpPr>
          <p:nvPr/>
        </p:nvSpPr>
        <p:spPr>
          <a:xfrm>
            <a:off x="552450" y="2209800"/>
            <a:ext cx="5429250" cy="1352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B9D94A"/>
                </a:solidFill>
                <a:latin typeface="Georgia"/>
                <a:ea typeface="Georgia"/>
                <a:cs typeface="Georgia"/>
              </a:defRPr>
            </a:pPr>
            <a:r>
              <a:rPr sz="2850" b="1">
                <a:solidFill>
                  <a:srgbClr val="B9D94A"/>
                </a:solidFill>
                <a:latin typeface="Georgia"/>
                <a:ea typeface="Georgia"/>
                <a:cs typeface="Georgia"/>
              </a:rPr>
              <a:t>Compra meno.</a:t>
            </a:r>
          </a:p>
          <a:p>
            <a:pPr algn="l">
              <a:defRPr sz="2850" b="1">
                <a:solidFill>
                  <a:srgbClr val="B9D94A"/>
                </a:solidFill>
                <a:latin typeface="Georgia"/>
                <a:ea typeface="Georgia"/>
                <a:cs typeface="Georgia"/>
              </a:defRPr>
            </a:pPr>
            <a:r>
              <a:rPr sz="2850" b="1">
                <a:solidFill>
                  <a:srgbClr val="B9D94A"/>
                </a:solidFill>
                <a:latin typeface="Georgia"/>
                <a:ea typeface="Georgia"/>
                <a:cs typeface="Georgia"/>
              </a:rPr>
              <a:t>Usa meglio ciò che hai già.</a:t>
            </a:r>
          </a:p>
        </p:txBody>
      </p:sp>
      <p:sp>
        <p:nvSpPr>
          <p:cNvPr id="8" name="Rectangle 7">
            <a:extLst>
              <a:ext uri="{FF2B5EF4-FFF2-40B4-BE49-F238E27FC236}">
                <a16:creationId xmlns:a16="http://schemas.microsoft.com/office/drawing/2014/main" id="{3D54DC21-9518-4F6E-BE0C-3CD5946BFA86}"/>
              </a:ext>
            </a:extLst>
          </p:cNvPr>
          <p:cNvSpPr>
            <a:spLocks noGrp="1"/>
          </p:cNvSpPr>
          <p:nvPr/>
        </p:nvSpPr>
        <p:spPr>
          <a:xfrm>
            <a:off x="552450" y="3981450"/>
            <a:ext cx="49530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DDE5DD"/>
                </a:solidFill>
                <a:latin typeface="Aptos"/>
                <a:ea typeface="Aptos"/>
                <a:cs typeface="Aptos"/>
              </a:defRPr>
            </a:pPr>
            <a:r>
              <a:rPr sz="1350" b="0">
                <a:solidFill>
                  <a:srgbClr val="DDE5DD"/>
                </a:solidFill>
                <a:latin typeface="Aptos"/>
                <a:ea typeface="Aptos"/>
                <a:cs typeface="Aptos"/>
              </a:rPr>
              <a:t>Una storia d’uso completa, dalla fotografia alla cura e alla seconda vita.</a:t>
            </a:r>
          </a:p>
        </p:txBody>
      </p:sp>
      <p:sp>
        <p:nvSpPr>
          <p:cNvPr id="9" name="Rectangle: Rounded Corners 8">
            <a:extLst>
              <a:ext uri="{FF2B5EF4-FFF2-40B4-BE49-F238E27FC236}">
                <a16:creationId xmlns:a16="http://schemas.microsoft.com/office/drawing/2014/main" id="{3AF10285-762F-4C48-8FC4-804539AC2049}"/>
              </a:ext>
            </a:extLst>
          </p:cNvPr>
          <p:cNvSpPr>
            <a:spLocks noGrp="1"/>
          </p:cNvSpPr>
          <p:nvPr/>
        </p:nvSpPr>
        <p:spPr>
          <a:xfrm>
            <a:off x="552450" y="5105400"/>
            <a:ext cx="2952750" cy="285750"/>
          </a:xfrm>
          <a:prstGeom prst="roundRect">
            <a:avLst>
              <a:gd name="adj" fmla="val 26667"/>
            </a:avLst>
          </a:prstGeom>
          <a:solidFill>
            <a:srgbClr val="285B49"/>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26182923-C5B4-49F2-A621-6E0B6991C05B}"/>
              </a:ext>
            </a:extLst>
          </p:cNvPr>
          <p:cNvSpPr>
            <a:spLocks noGrp="1"/>
          </p:cNvSpPr>
          <p:nvPr/>
        </p:nvSpPr>
        <p:spPr>
          <a:xfrm>
            <a:off x="647700" y="5124450"/>
            <a:ext cx="2762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1">
                <a:solidFill>
                  <a:srgbClr val="FFFFFF"/>
                </a:solidFill>
                <a:latin typeface="Aptos"/>
                <a:ea typeface="Aptos"/>
                <a:cs typeface="Aptos"/>
              </a:defRPr>
            </a:pPr>
            <a:r>
              <a:rPr sz="713" b="1">
                <a:solidFill>
                  <a:srgbClr val="FFFFFF"/>
                </a:solidFill>
                <a:latin typeface="Aptos"/>
                <a:ea typeface="Aptos"/>
                <a:cs typeface="Aptos"/>
              </a:rPr>
              <a:t>USER STORY → SCELTE TECNICHE</a:t>
            </a:r>
          </a:p>
        </p:txBody>
      </p:sp>
      <p:sp>
        <p:nvSpPr>
          <p:cNvPr id="11" name="Rectangle 10">
            <a:extLst>
              <a:ext uri="{FF2B5EF4-FFF2-40B4-BE49-F238E27FC236}">
                <a16:creationId xmlns:a16="http://schemas.microsoft.com/office/drawing/2014/main" id="{CF8B9E19-F27F-4DD4-9143-3D73F985DEC2}"/>
              </a:ext>
            </a:extLst>
          </p:cNvPr>
          <p:cNvSpPr>
            <a:spLocks noGrp="1"/>
          </p:cNvSpPr>
          <p:nvPr/>
        </p:nvSpPr>
        <p:spPr>
          <a:xfrm>
            <a:off x="552450" y="5981700"/>
            <a:ext cx="4095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9CB5AA"/>
                </a:solidFill>
                <a:latin typeface="Aptos"/>
                <a:ea typeface="Aptos"/>
                <a:cs typeface="Aptos"/>
              </a:defRPr>
            </a:pPr>
            <a:r>
              <a:rPr sz="638" b="0">
                <a:solidFill>
                  <a:srgbClr val="9CB5AA"/>
                </a:solidFill>
                <a:latin typeface="Aptos"/>
                <a:ea typeface="Aptos"/>
                <a:cs typeface="Aptos"/>
              </a:rPr>
              <a:t>Immagine illustrativa generata · persona fittizia</a:t>
            </a:r>
          </a:p>
        </p:txBody>
      </p:sp>
      <p:sp>
        <p:nvSpPr>
          <p:cNvPr id="12" name="footer-rule">
            <a:extLst>
              <a:ext uri="{FF2B5EF4-FFF2-40B4-BE49-F238E27FC236}">
                <a16:creationId xmlns:a16="http://schemas.microsoft.com/office/drawing/2014/main" id="{EA300249-B95E-4902-AC92-1255E4C1B5DE}"/>
              </a:ext>
            </a:extLst>
          </p:cNvPr>
          <p:cNvSpPr>
            <a:spLocks noGrp="1"/>
          </p:cNvSpPr>
          <p:nvPr/>
        </p:nvSpPr>
        <p:spPr>
          <a:xfrm>
            <a:off x="552450" y="6457950"/>
            <a:ext cx="11087100" cy="9525"/>
          </a:xfrm>
          <a:prstGeom prst="rect">
            <a:avLst/>
          </a:prstGeom>
          <a:solidFill>
            <a:srgbClr val="3F685A"/>
          </a:solidFill>
          <a:ln w="0">
            <a:solidFill>
              <a:srgbClr val="000000">
                <a:alpha val="0"/>
              </a:srgbClr>
            </a:solidFill>
            <a:prstDash val="solid"/>
          </a:ln>
        </p:spPr>
        <p:txBody>
          <a:bodyPr/>
          <a:lstStyle/>
          <a:p>
            <a:endParaRPr lang="en-US"/>
          </a:p>
        </p:txBody>
      </p:sp>
      <p:sp>
        <p:nvSpPr>
          <p:cNvPr id="13" name="footer-source">
            <a:extLst>
              <a:ext uri="{FF2B5EF4-FFF2-40B4-BE49-F238E27FC236}">
                <a16:creationId xmlns:a16="http://schemas.microsoft.com/office/drawing/2014/main" id="{037CEE4E-CDFF-404A-B95B-34D15D98C250}"/>
              </a:ext>
            </a:extLst>
          </p:cNvPr>
          <p:cNvSpPr>
            <a:spLocks noGrp="1"/>
          </p:cNvSpPr>
          <p:nvPr/>
        </p:nvSpPr>
        <p:spPr>
          <a:xfrm>
            <a:off x="552450" y="6534150"/>
            <a:ext cx="10001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8FA99E"/>
                </a:solidFill>
                <a:latin typeface="Aptos"/>
                <a:ea typeface="Aptos"/>
                <a:cs typeface="Aptos"/>
              </a:defRPr>
            </a:pPr>
            <a:r>
              <a:rPr sz="563" b="0">
                <a:solidFill>
                  <a:srgbClr val="8FA99E"/>
                </a:solidFill>
                <a:latin typeface="Aptos"/>
                <a:ea typeface="Aptos"/>
                <a:cs typeface="Aptos"/>
              </a:rPr>
              <a:t>ClosetAI · Presentazione semplificata con note orali</a:t>
            </a:r>
          </a:p>
        </p:txBody>
      </p:sp>
      <p:sp>
        <p:nvSpPr>
          <p:cNvPr id="14" name="page-marker">
            <a:extLst>
              <a:ext uri="{FF2B5EF4-FFF2-40B4-BE49-F238E27FC236}">
                <a16:creationId xmlns:a16="http://schemas.microsoft.com/office/drawing/2014/main" id="{0A69C74B-00B6-467F-B740-5BE38E2465DE}"/>
              </a:ext>
            </a:extLst>
          </p:cNvPr>
          <p:cNvSpPr>
            <a:spLocks noGrp="1"/>
          </p:cNvSpPr>
          <p:nvPr/>
        </p:nvSpPr>
        <p:spPr>
          <a:xfrm>
            <a:off x="11087100" y="6505575"/>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8FA99E"/>
                </a:solidFill>
                <a:latin typeface="Georgia"/>
                <a:ea typeface="Georgia"/>
                <a:cs typeface="Georgia"/>
              </a:defRPr>
            </a:pPr>
            <a:r>
              <a:rPr sz="750" b="1">
                <a:solidFill>
                  <a:srgbClr val="8FA99E"/>
                </a:solidFill>
                <a:latin typeface="Georgia"/>
                <a:ea typeface="Georgia"/>
                <a:cs typeface="Georgia"/>
              </a:rPr>
              <a:t>01</a:t>
            </a:r>
          </a:p>
        </p:txBody>
      </p:sp>
    </p:spTree>
    <p:extLst>
      <p:ext uri="{BB962C8B-B14F-4D97-AF65-F5344CB8AC3E}">
        <p14:creationId xmlns:p14="http://schemas.microsoft.com/office/powerpoint/2010/main" val="743374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background">
            <a:extLst>
              <a:ext uri="{FF2B5EF4-FFF2-40B4-BE49-F238E27FC236}">
                <a16:creationId xmlns:a16="http://schemas.microsoft.com/office/drawing/2014/main" id="{2C5A022E-7DE7-4955-97C0-4B1FC645C548}"/>
              </a:ext>
            </a:extLst>
          </p:cNvPr>
          <p:cNvSpPr>
            <a:spLocks noGrp="1"/>
          </p:cNvSpPr>
          <p:nvPr/>
        </p:nvSpPr>
        <p:spPr>
          <a:xfrm>
            <a:off x="0" y="0"/>
            <a:ext cx="12192000" cy="6858000"/>
          </a:xfrm>
          <a:prstGeom prst="rect">
            <a:avLst/>
          </a:prstGeom>
          <a:solidFill>
            <a:srgbClr val="F4F0E7"/>
          </a:solidFill>
          <a:ln w="0">
            <a:solidFill>
              <a:srgbClr val="000000">
                <a:alpha val="0"/>
              </a:srgbClr>
            </a:solidFill>
            <a:prstDash val="solid"/>
          </a:ln>
        </p:spPr>
        <p:txBody>
          <a:bodyPr/>
          <a:lstStyle/>
          <a:p>
            <a:endParaRPr lang="en-US"/>
          </a:p>
        </p:txBody>
      </p:sp>
      <p:pic>
        <p:nvPicPr>
          <p:cNvPr id="2" name="Picture 1"/>
          <p:cNvPicPr>
            <a:picLocks noChangeAspect="1"/>
          </p:cNvPicPr>
          <p:nvPr/>
        </p:nvPicPr>
        <p:blipFill>
          <a:blip r:embed="rId3"/>
          <a:srcRect l="24987" r="24987"/>
          <a:stretch>
            <a:fillRect/>
          </a:stretch>
        </p:blipFill>
        <p:spPr>
          <a:xfrm>
            <a:off x="6096000" y="0"/>
            <a:ext cx="6096000" cy="6858000"/>
          </a:xfrm>
          <a:prstGeom prst="rect">
            <a:avLst/>
          </a:prstGeom>
        </p:spPr>
      </p:pic>
      <p:sp>
        <p:nvSpPr>
          <p:cNvPr id="3" name="story-panel">
            <a:extLst>
              <a:ext uri="{FF2B5EF4-FFF2-40B4-BE49-F238E27FC236}">
                <a16:creationId xmlns:a16="http://schemas.microsoft.com/office/drawing/2014/main" id="{1AEDE848-C297-4F4D-BC61-30D55570D54A}"/>
              </a:ext>
            </a:extLst>
          </p:cNvPr>
          <p:cNvSpPr>
            <a:spLocks noGrp="1"/>
          </p:cNvSpPr>
          <p:nvPr/>
        </p:nvSpPr>
        <p:spPr>
          <a:xfrm>
            <a:off x="0" y="0"/>
            <a:ext cx="6477000" cy="6858000"/>
          </a:xfrm>
          <a:prstGeom prst="rect">
            <a:avLst/>
          </a:prstGeom>
          <a:solidFill>
            <a:srgbClr val="F4F0E7"/>
          </a:solidFill>
          <a:ln w="0">
            <a:solidFill>
              <a:srgbClr val="000000">
                <a:alpha val="0"/>
              </a:srgbClr>
            </a:solidFill>
            <a:prstDash val="solid"/>
          </a:ln>
        </p:spPr>
        <p:txBody>
          <a:bodyPr/>
          <a:lstStyle/>
          <a:p>
            <a:endParaRPr lang="en-US"/>
          </a:p>
        </p:txBody>
      </p:sp>
      <p:sp>
        <p:nvSpPr>
          <p:cNvPr id="4" name="kicker-marker">
            <a:extLst>
              <a:ext uri="{FF2B5EF4-FFF2-40B4-BE49-F238E27FC236}">
                <a16:creationId xmlns:a16="http://schemas.microsoft.com/office/drawing/2014/main" id="{DFDBC449-F63E-48FA-8968-4F221C88C9E9}"/>
              </a:ext>
            </a:extLst>
          </p:cNvPr>
          <p:cNvSpPr>
            <a:spLocks noGrp="1"/>
          </p:cNvSpPr>
          <p:nvPr/>
        </p:nvSpPr>
        <p:spPr>
          <a:xfrm>
            <a:off x="552450" y="400050"/>
            <a:ext cx="95250" cy="95250"/>
          </a:xfrm>
          <a:prstGeom prst="ellipse">
            <a:avLst/>
          </a:prstGeom>
          <a:solidFill>
            <a:srgbClr val="2F7D5B"/>
          </a:solidFill>
          <a:ln w="0">
            <a:solidFill>
              <a:srgbClr val="000000">
                <a:alpha val="0"/>
              </a:srgbClr>
            </a:solidFill>
            <a:prstDash val="solid"/>
          </a:ln>
        </p:spPr>
        <p:txBody>
          <a:bodyPr/>
          <a:lstStyle/>
          <a:p>
            <a:endParaRPr lang="en-US"/>
          </a:p>
        </p:txBody>
      </p:sp>
      <p:sp>
        <p:nvSpPr>
          <p:cNvPr id="5" name="kicker-label">
            <a:extLst>
              <a:ext uri="{FF2B5EF4-FFF2-40B4-BE49-F238E27FC236}">
                <a16:creationId xmlns:a16="http://schemas.microsoft.com/office/drawing/2014/main" id="{8193D69C-286D-4988-96BC-90301DCAC486}"/>
              </a:ext>
            </a:extLst>
          </p:cNvPr>
          <p:cNvSpPr>
            <a:spLocks noGrp="1"/>
          </p:cNvSpPr>
          <p:nvPr/>
        </p:nvSpPr>
        <p:spPr>
          <a:xfrm>
            <a:off x="762000" y="361950"/>
            <a:ext cx="571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5736B"/>
                </a:solidFill>
                <a:latin typeface="Aptos"/>
                <a:ea typeface="Aptos"/>
                <a:cs typeface="Aptos"/>
              </a:defRPr>
            </a:pPr>
            <a:r>
              <a:rPr sz="675" b="1">
                <a:solidFill>
                  <a:srgbClr val="65736B"/>
                </a:solidFill>
                <a:latin typeface="Aptos"/>
                <a:ea typeface="Aptos"/>
                <a:cs typeface="Aptos"/>
              </a:rPr>
              <a:t>U S E R   S T O R Y   ·   I L   P R O B L E M A</a:t>
            </a:r>
          </a:p>
        </p:txBody>
      </p:sp>
      <p:sp>
        <p:nvSpPr>
          <p:cNvPr id="6" name="claim-title">
            <a:extLst>
              <a:ext uri="{FF2B5EF4-FFF2-40B4-BE49-F238E27FC236}">
                <a16:creationId xmlns:a16="http://schemas.microsoft.com/office/drawing/2014/main" id="{DF51FE61-0DA5-463C-BDB0-59CF79567230}"/>
              </a:ext>
            </a:extLst>
          </p:cNvPr>
          <p:cNvSpPr>
            <a:spLocks noGrp="1"/>
          </p:cNvSpPr>
          <p:nvPr/>
        </p:nvSpPr>
        <p:spPr>
          <a:xfrm>
            <a:off x="552450" y="800100"/>
            <a:ext cx="5143500" cy="1428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17211D"/>
                </a:solidFill>
                <a:latin typeface="Georgia"/>
                <a:ea typeface="Georgia"/>
                <a:cs typeface="Georgia"/>
              </a:defRPr>
            </a:pPr>
            <a:r>
              <a:rPr sz="3150" b="1">
                <a:solidFill>
                  <a:srgbClr val="17211D"/>
                </a:solidFill>
                <a:latin typeface="Georgia"/>
                <a:ea typeface="Georgia"/>
                <a:cs typeface="Georgia"/>
              </a:rPr>
              <a:t>Marta ha molti capi, ma ogni mattina sceglie sempre gli stessi.</a:t>
            </a:r>
          </a:p>
        </p:txBody>
      </p:sp>
      <p:sp>
        <p:nvSpPr>
          <p:cNvPr id="7" name="Rectangle 6">
            <a:extLst>
              <a:ext uri="{FF2B5EF4-FFF2-40B4-BE49-F238E27FC236}">
                <a16:creationId xmlns:a16="http://schemas.microsoft.com/office/drawing/2014/main" id="{2A0B9058-F690-4004-8072-BD730EF5D4EC}"/>
              </a:ext>
            </a:extLst>
          </p:cNvPr>
          <p:cNvSpPr>
            <a:spLocks noGrp="1"/>
          </p:cNvSpPr>
          <p:nvPr/>
        </p:nvSpPr>
        <p:spPr>
          <a:xfrm>
            <a:off x="552450" y="2419350"/>
            <a:ext cx="47625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65736B"/>
                </a:solidFill>
                <a:latin typeface="Aptos"/>
                <a:ea typeface="Aptos"/>
                <a:cs typeface="Aptos"/>
              </a:defRPr>
            </a:pPr>
            <a:r>
              <a:rPr sz="1350" b="0">
                <a:solidFill>
                  <a:srgbClr val="65736B"/>
                </a:solidFill>
                <a:latin typeface="Aptos"/>
                <a:ea typeface="Aptos"/>
                <a:cs typeface="Aptos"/>
              </a:rPr>
              <a:t>Alcuni vestiti lavorano ogni settimana. Altri restano invisibili—e Marta pensa che le manchi ancora qualcosa.</a:t>
            </a:r>
          </a:p>
        </p:txBody>
      </p:sp>
      <p:sp>
        <p:nvSpPr>
          <p:cNvPr id="8" name="Rectangle 7">
            <a:extLst>
              <a:ext uri="{FF2B5EF4-FFF2-40B4-BE49-F238E27FC236}">
                <a16:creationId xmlns:a16="http://schemas.microsoft.com/office/drawing/2014/main" id="{6793109C-BB7D-4150-A750-E00BE7B7FD68}"/>
              </a:ext>
            </a:extLst>
          </p:cNvPr>
          <p:cNvSpPr>
            <a:spLocks noGrp="1"/>
          </p:cNvSpPr>
          <p:nvPr/>
        </p:nvSpPr>
        <p:spPr>
          <a:xfrm>
            <a:off x="552450" y="3752850"/>
            <a:ext cx="4762500" cy="9525"/>
          </a:xfrm>
          <a:prstGeom prst="rect">
            <a:avLst/>
          </a:prstGeom>
          <a:solidFill>
            <a:srgbClr val="B9C3BB"/>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7F527D0D-76CC-4C37-8753-BC3CDC3D5E12}"/>
              </a:ext>
            </a:extLst>
          </p:cNvPr>
          <p:cNvSpPr>
            <a:spLocks noGrp="1"/>
          </p:cNvSpPr>
          <p:nvPr/>
        </p:nvSpPr>
        <p:spPr>
          <a:xfrm>
            <a:off x="552450" y="4038600"/>
            <a:ext cx="16573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000" b="1">
                <a:solidFill>
                  <a:srgbClr val="123C31"/>
                </a:solidFill>
                <a:latin typeface="Georgia"/>
                <a:ea typeface="Georgia"/>
                <a:cs typeface="Georgia"/>
              </a:defRPr>
            </a:pPr>
            <a:r>
              <a:rPr sz="3000" b="1">
                <a:solidFill>
                  <a:srgbClr val="123C31"/>
                </a:solidFill>
                <a:latin typeface="Georgia"/>
                <a:ea typeface="Georgia"/>
                <a:cs typeface="Georgia"/>
              </a:rPr>
              <a:t>19 kg</a:t>
            </a:r>
          </a:p>
        </p:txBody>
      </p:sp>
      <p:sp>
        <p:nvSpPr>
          <p:cNvPr id="10" name="Rectangle 9">
            <a:extLst>
              <a:ext uri="{FF2B5EF4-FFF2-40B4-BE49-F238E27FC236}">
                <a16:creationId xmlns:a16="http://schemas.microsoft.com/office/drawing/2014/main" id="{70D5EB8A-B398-488C-9586-30124D37FC73}"/>
              </a:ext>
            </a:extLst>
          </p:cNvPr>
          <p:cNvSpPr>
            <a:spLocks noGrp="1"/>
          </p:cNvSpPr>
          <p:nvPr/>
        </p:nvSpPr>
        <p:spPr>
          <a:xfrm>
            <a:off x="552450" y="4610100"/>
            <a:ext cx="180975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1">
                <a:solidFill>
                  <a:srgbClr val="65736B"/>
                </a:solidFill>
                <a:latin typeface="Aptos"/>
                <a:ea typeface="Aptos"/>
                <a:cs typeface="Aptos"/>
              </a:defRPr>
            </a:pPr>
            <a:r>
              <a:rPr sz="863" b="1">
                <a:solidFill>
                  <a:srgbClr val="65736B"/>
                </a:solidFill>
                <a:latin typeface="Aptos"/>
                <a:ea typeface="Aptos"/>
                <a:cs typeface="Aptos"/>
              </a:rPr>
              <a:t>tessili consumati per persona</a:t>
            </a:r>
          </a:p>
        </p:txBody>
      </p:sp>
      <p:sp>
        <p:nvSpPr>
          <p:cNvPr id="11" name="Rectangle 10">
            <a:extLst>
              <a:ext uri="{FF2B5EF4-FFF2-40B4-BE49-F238E27FC236}">
                <a16:creationId xmlns:a16="http://schemas.microsoft.com/office/drawing/2014/main" id="{2EE39C51-0BFA-4EE5-9E0C-FF10E3F3C5BD}"/>
              </a:ext>
            </a:extLst>
          </p:cNvPr>
          <p:cNvSpPr>
            <a:spLocks noGrp="1"/>
          </p:cNvSpPr>
          <p:nvPr/>
        </p:nvSpPr>
        <p:spPr>
          <a:xfrm>
            <a:off x="2857500" y="4038600"/>
            <a:ext cx="16573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000" b="1">
                <a:solidFill>
                  <a:srgbClr val="D56E42"/>
                </a:solidFill>
                <a:latin typeface="Georgia"/>
                <a:ea typeface="Georgia"/>
                <a:cs typeface="Georgia"/>
              </a:defRPr>
            </a:pPr>
            <a:r>
              <a:rPr sz="3000" b="1">
                <a:solidFill>
                  <a:srgbClr val="D56E42"/>
                </a:solidFill>
                <a:latin typeface="Georgia"/>
                <a:ea typeface="Georgia"/>
                <a:cs typeface="Georgia"/>
              </a:rPr>
              <a:t>16 kg</a:t>
            </a:r>
          </a:p>
        </p:txBody>
      </p:sp>
      <p:sp>
        <p:nvSpPr>
          <p:cNvPr id="12" name="Rectangle 11">
            <a:extLst>
              <a:ext uri="{FF2B5EF4-FFF2-40B4-BE49-F238E27FC236}">
                <a16:creationId xmlns:a16="http://schemas.microsoft.com/office/drawing/2014/main" id="{83B1414F-A032-47B7-8806-A4CD9C431C3F}"/>
              </a:ext>
            </a:extLst>
          </p:cNvPr>
          <p:cNvSpPr>
            <a:spLocks noGrp="1"/>
          </p:cNvSpPr>
          <p:nvPr/>
        </p:nvSpPr>
        <p:spPr>
          <a:xfrm>
            <a:off x="2857500" y="4610100"/>
            <a:ext cx="180975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1">
                <a:solidFill>
                  <a:srgbClr val="65736B"/>
                </a:solidFill>
                <a:latin typeface="Aptos"/>
                <a:ea typeface="Aptos"/>
                <a:cs typeface="Aptos"/>
              </a:defRPr>
            </a:pPr>
            <a:r>
              <a:rPr sz="863" b="1">
                <a:solidFill>
                  <a:srgbClr val="65736B"/>
                </a:solidFill>
                <a:latin typeface="Aptos"/>
                <a:ea typeface="Aptos"/>
                <a:cs typeface="Aptos"/>
              </a:rPr>
              <a:t>diventano rifiuto</a:t>
            </a:r>
          </a:p>
        </p:txBody>
      </p:sp>
      <p:sp>
        <p:nvSpPr>
          <p:cNvPr id="13" name="Rectangle 12">
            <a:extLst>
              <a:ext uri="{FF2B5EF4-FFF2-40B4-BE49-F238E27FC236}">
                <a16:creationId xmlns:a16="http://schemas.microsoft.com/office/drawing/2014/main" id="{6CD40835-A548-4E09-8F93-8647B3AACFC0}"/>
              </a:ext>
            </a:extLst>
          </p:cNvPr>
          <p:cNvSpPr>
            <a:spLocks noGrp="1"/>
          </p:cNvSpPr>
          <p:nvPr/>
        </p:nvSpPr>
        <p:spPr>
          <a:xfrm>
            <a:off x="552450" y="5467350"/>
            <a:ext cx="49530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11D"/>
                </a:solidFill>
                <a:latin typeface="Georgia"/>
                <a:ea typeface="Georgia"/>
                <a:cs typeface="Georgia"/>
              </a:defRPr>
            </a:pPr>
            <a:r>
              <a:rPr sz="1350" b="1">
                <a:solidFill>
                  <a:srgbClr val="17211D"/>
                </a:solidFill>
                <a:latin typeface="Georgia"/>
                <a:ea typeface="Georgia"/>
                <a:cs typeface="Georgia"/>
              </a:rPr>
              <a:t>Il problema non è solo possedere: è non vedere l’uso reale.</a:t>
            </a:r>
          </a:p>
        </p:txBody>
      </p:sp>
      <p:sp>
        <p:nvSpPr>
          <p:cNvPr id="14" name="footer-rule">
            <a:extLst>
              <a:ext uri="{FF2B5EF4-FFF2-40B4-BE49-F238E27FC236}">
                <a16:creationId xmlns:a16="http://schemas.microsoft.com/office/drawing/2014/main" id="{8997A241-33A1-4C50-9FD1-08C3CAE29973}"/>
              </a:ext>
            </a:extLst>
          </p:cNvPr>
          <p:cNvSpPr>
            <a:spLocks noGrp="1"/>
          </p:cNvSpPr>
          <p:nvPr/>
        </p:nvSpPr>
        <p:spPr>
          <a:xfrm>
            <a:off x="552450" y="6457950"/>
            <a:ext cx="11087100" cy="9525"/>
          </a:xfrm>
          <a:prstGeom prst="rect">
            <a:avLst/>
          </a:prstGeom>
          <a:solidFill>
            <a:srgbClr val="B9C3BB"/>
          </a:solidFill>
          <a:ln w="0">
            <a:solidFill>
              <a:srgbClr val="000000">
                <a:alpha val="0"/>
              </a:srgbClr>
            </a:solidFill>
            <a:prstDash val="solid"/>
          </a:ln>
        </p:spPr>
        <p:txBody>
          <a:bodyPr/>
          <a:lstStyle/>
          <a:p>
            <a:endParaRPr lang="en-US"/>
          </a:p>
        </p:txBody>
      </p:sp>
      <p:sp>
        <p:nvSpPr>
          <p:cNvPr id="15" name="footer-source">
            <a:extLst>
              <a:ext uri="{FF2B5EF4-FFF2-40B4-BE49-F238E27FC236}">
                <a16:creationId xmlns:a16="http://schemas.microsoft.com/office/drawing/2014/main" id="{31DF8796-B436-46D4-9E48-9CD23308CFEA}"/>
              </a:ext>
            </a:extLst>
          </p:cNvPr>
          <p:cNvSpPr>
            <a:spLocks noGrp="1"/>
          </p:cNvSpPr>
          <p:nvPr/>
        </p:nvSpPr>
        <p:spPr>
          <a:xfrm>
            <a:off x="552450" y="6534150"/>
            <a:ext cx="10001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65736B"/>
                </a:solidFill>
                <a:latin typeface="Aptos"/>
                <a:ea typeface="Aptos"/>
                <a:cs typeface="Aptos"/>
              </a:defRPr>
            </a:pPr>
            <a:r>
              <a:rPr sz="563" b="0">
                <a:solidFill>
                  <a:srgbClr val="65736B"/>
                </a:solidFill>
                <a:latin typeface="Aptos"/>
                <a:ea typeface="Aptos"/>
                <a:cs typeface="Aptos"/>
              </a:rPr>
              <a:t>Persona e immagine illustrative · contesto: EEA, dati UE-27 2022</a:t>
            </a:r>
          </a:p>
        </p:txBody>
      </p:sp>
      <p:sp>
        <p:nvSpPr>
          <p:cNvPr id="16" name="page-marker">
            <a:extLst>
              <a:ext uri="{FF2B5EF4-FFF2-40B4-BE49-F238E27FC236}">
                <a16:creationId xmlns:a16="http://schemas.microsoft.com/office/drawing/2014/main" id="{1E9629EF-C582-439E-A1DA-1170AC267CEE}"/>
              </a:ext>
            </a:extLst>
          </p:cNvPr>
          <p:cNvSpPr>
            <a:spLocks noGrp="1"/>
          </p:cNvSpPr>
          <p:nvPr/>
        </p:nvSpPr>
        <p:spPr>
          <a:xfrm>
            <a:off x="11087100" y="6505575"/>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65736B"/>
                </a:solidFill>
                <a:latin typeface="Georgia"/>
                <a:ea typeface="Georgia"/>
                <a:cs typeface="Georgia"/>
              </a:defRPr>
            </a:pPr>
            <a:r>
              <a:rPr sz="750" b="1">
                <a:solidFill>
                  <a:srgbClr val="65736B"/>
                </a:solidFill>
                <a:latin typeface="Georgia"/>
                <a:ea typeface="Georgia"/>
                <a:cs typeface="Georgia"/>
              </a:rPr>
              <a:t>02</a:t>
            </a:r>
          </a:p>
        </p:txBody>
      </p:sp>
    </p:spTree>
    <p:extLst>
      <p:ext uri="{BB962C8B-B14F-4D97-AF65-F5344CB8AC3E}">
        <p14:creationId xmlns:p14="http://schemas.microsoft.com/office/powerpoint/2010/main" val="775617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background">
            <a:extLst>
              <a:ext uri="{FF2B5EF4-FFF2-40B4-BE49-F238E27FC236}">
                <a16:creationId xmlns:a16="http://schemas.microsoft.com/office/drawing/2014/main" id="{93C08BCC-BA28-416B-AC3D-45C79B122B2F}"/>
              </a:ext>
            </a:extLst>
          </p:cNvPr>
          <p:cNvSpPr>
            <a:spLocks noGrp="1"/>
          </p:cNvSpPr>
          <p:nvPr/>
        </p:nvSpPr>
        <p:spPr>
          <a:xfrm>
            <a:off x="0" y="0"/>
            <a:ext cx="12192000" cy="6858000"/>
          </a:xfrm>
          <a:prstGeom prst="rect">
            <a:avLst/>
          </a:prstGeom>
          <a:solidFill>
            <a:srgbClr val="F4F0E7"/>
          </a:solidFill>
          <a:ln w="0">
            <a:solidFill>
              <a:srgbClr val="000000">
                <a:alpha val="0"/>
              </a:srgbClr>
            </a:solidFill>
            <a:prstDash val="solid"/>
          </a:ln>
        </p:spPr>
        <p:txBody>
          <a:bodyPr/>
          <a:lstStyle/>
          <a:p>
            <a:endParaRPr lang="en-US"/>
          </a:p>
        </p:txBody>
      </p:sp>
      <p:sp>
        <p:nvSpPr>
          <p:cNvPr id="2" name="kicker-marker">
            <a:extLst>
              <a:ext uri="{FF2B5EF4-FFF2-40B4-BE49-F238E27FC236}">
                <a16:creationId xmlns:a16="http://schemas.microsoft.com/office/drawing/2014/main" id="{9A9EF444-1041-4AD7-ADCF-EADB712C336D}"/>
              </a:ext>
            </a:extLst>
          </p:cNvPr>
          <p:cNvSpPr>
            <a:spLocks noGrp="1"/>
          </p:cNvSpPr>
          <p:nvPr/>
        </p:nvSpPr>
        <p:spPr>
          <a:xfrm>
            <a:off x="552450" y="400050"/>
            <a:ext cx="95250" cy="95250"/>
          </a:xfrm>
          <a:prstGeom prst="ellipse">
            <a:avLst/>
          </a:prstGeom>
          <a:solidFill>
            <a:srgbClr val="2F7D5B"/>
          </a:solidFill>
          <a:ln w="0">
            <a:solidFill>
              <a:srgbClr val="000000">
                <a:alpha val="0"/>
              </a:srgbClr>
            </a:solidFill>
            <a:prstDash val="solid"/>
          </a:ln>
        </p:spPr>
        <p:txBody>
          <a:bodyPr/>
          <a:lstStyle/>
          <a:p>
            <a:endParaRPr lang="en-US"/>
          </a:p>
        </p:txBody>
      </p:sp>
      <p:sp>
        <p:nvSpPr>
          <p:cNvPr id="3" name="kicker-label">
            <a:extLst>
              <a:ext uri="{FF2B5EF4-FFF2-40B4-BE49-F238E27FC236}">
                <a16:creationId xmlns:a16="http://schemas.microsoft.com/office/drawing/2014/main" id="{C1DBEDC6-8FA8-47BA-A8E4-AFBE5CB77C61}"/>
              </a:ext>
            </a:extLst>
          </p:cNvPr>
          <p:cNvSpPr>
            <a:spLocks noGrp="1"/>
          </p:cNvSpPr>
          <p:nvPr/>
        </p:nvSpPr>
        <p:spPr>
          <a:xfrm>
            <a:off x="762000" y="361950"/>
            <a:ext cx="571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5736B"/>
                </a:solidFill>
                <a:latin typeface="Aptos"/>
                <a:ea typeface="Aptos"/>
                <a:cs typeface="Aptos"/>
              </a:defRPr>
            </a:pPr>
            <a:r>
              <a:rPr sz="675" b="1">
                <a:solidFill>
                  <a:srgbClr val="65736B"/>
                </a:solidFill>
                <a:latin typeface="Aptos"/>
                <a:ea typeface="Aptos"/>
                <a:cs typeface="Aptos"/>
              </a:rPr>
              <a:t>U S E R   S T O R Y   ·   1 .   C A T A L O G A R E</a:t>
            </a:r>
          </a:p>
        </p:txBody>
      </p:sp>
      <p:sp>
        <p:nvSpPr>
          <p:cNvPr id="4" name="claim-title">
            <a:extLst>
              <a:ext uri="{FF2B5EF4-FFF2-40B4-BE49-F238E27FC236}">
                <a16:creationId xmlns:a16="http://schemas.microsoft.com/office/drawing/2014/main" id="{498CA2C1-65CA-4DAE-8439-905E9EE2FAE2}"/>
              </a:ext>
            </a:extLst>
          </p:cNvPr>
          <p:cNvSpPr>
            <a:spLocks noGrp="1"/>
          </p:cNvSpPr>
          <p:nvPr/>
        </p:nvSpPr>
        <p:spPr>
          <a:xfrm>
            <a:off x="552450" y="723900"/>
            <a:ext cx="104775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925" b="1">
                <a:solidFill>
                  <a:srgbClr val="17211D"/>
                </a:solidFill>
                <a:latin typeface="Georgia"/>
                <a:ea typeface="Georgia"/>
                <a:cs typeface="Georgia"/>
              </a:defRPr>
            </a:pPr>
            <a:r>
              <a:rPr sz="2925" b="1">
                <a:solidFill>
                  <a:srgbClr val="17211D"/>
                </a:solidFill>
                <a:latin typeface="Georgia"/>
                <a:ea typeface="Georgia"/>
                <a:cs typeface="Georgia"/>
              </a:rPr>
              <a:t>Una foto trasforma un capo in una scheda che Marta può correggere.</a:t>
            </a:r>
          </a:p>
        </p:txBody>
      </p:sp>
      <p:sp>
        <p:nvSpPr>
          <p:cNvPr id="5" name="photo-container">
            <a:extLst>
              <a:ext uri="{FF2B5EF4-FFF2-40B4-BE49-F238E27FC236}">
                <a16:creationId xmlns:a16="http://schemas.microsoft.com/office/drawing/2014/main" id="{40C02C74-5F13-43F2-9BB7-53A101917767}"/>
              </a:ext>
            </a:extLst>
          </p:cNvPr>
          <p:cNvSpPr>
            <a:spLocks noGrp="1"/>
          </p:cNvSpPr>
          <p:nvPr/>
        </p:nvSpPr>
        <p:spPr>
          <a:xfrm>
            <a:off x="609600" y="1962150"/>
            <a:ext cx="2952750" cy="3562350"/>
          </a:xfrm>
          <a:prstGeom prst="roundRect">
            <a:avLst>
              <a:gd name="adj" fmla="val 2581"/>
            </a:avLst>
          </a:prstGeom>
          <a:solidFill>
            <a:srgbClr val="FFFFFF"/>
          </a:solidFill>
          <a:ln w="9525">
            <a:solidFill>
              <a:srgbClr val="B9C3BB"/>
            </a:solidFill>
            <a:prstDash val="solid"/>
          </a:ln>
        </p:spPr>
        <p:txBody>
          <a:bodyPr/>
          <a:lstStyle/>
          <a:p>
            <a:endParaRPr lang="en-US"/>
          </a:p>
        </p:txBody>
      </p:sp>
      <p:sp>
        <p:nvSpPr>
          <p:cNvPr id="6" name="photo-area">
            <a:extLst>
              <a:ext uri="{FF2B5EF4-FFF2-40B4-BE49-F238E27FC236}">
                <a16:creationId xmlns:a16="http://schemas.microsoft.com/office/drawing/2014/main" id="{FCEBE758-B825-420D-A77C-44803F804299}"/>
              </a:ext>
            </a:extLst>
          </p:cNvPr>
          <p:cNvSpPr>
            <a:spLocks noGrp="1"/>
          </p:cNvSpPr>
          <p:nvPr/>
        </p:nvSpPr>
        <p:spPr>
          <a:xfrm>
            <a:off x="838200" y="2190750"/>
            <a:ext cx="2495550" cy="2343150"/>
          </a:xfrm>
          <a:prstGeom prst="roundRect">
            <a:avLst>
              <a:gd name="adj" fmla="val 3252"/>
            </a:avLst>
          </a:prstGeom>
          <a:solidFill>
            <a:srgbClr val="DDE5DD"/>
          </a:solidFill>
          <a:ln w="0">
            <a:solidFill>
              <a:srgbClr val="000000">
                <a:alpha val="0"/>
              </a:srgbClr>
            </a:solidFill>
            <a:prstDash val="solid"/>
          </a:ln>
        </p:spPr>
        <p:txBody>
          <a:bodyPr/>
          <a:lstStyle/>
          <a:p>
            <a:endParaRPr lang="en-US"/>
          </a:p>
        </p:txBody>
      </p:sp>
      <p:pic>
        <p:nvPicPr>
          <p:cNvPr id="7" name="Graphic 6"/>
          <p:cNvPicPr>
            <a:picLocks noChangeAspect="1"/>
          </p:cNvPicPr>
          <p:nvPr/>
        </p:nvPicPr>
        <p:blipFill>
          <a:blip>
            <a:extLst>
              <a:ext uri="{96DAC541-7B7A-43D3-8B79-37D633B846F1}">
                <asvg:svgBlip xmlns:asvg="http://schemas.microsoft.com/office/drawing/2016/SVG/main" r:embed="rId3"/>
              </a:ext>
            </a:extLst>
          </a:blip>
          <a:stretch/>
        </p:blipFill>
        <p:spPr>
          <a:xfrm>
            <a:off x="1619250" y="2781300"/>
            <a:ext cx="914400" cy="914400"/>
          </a:xfrm>
          <a:prstGeom prst="rect">
            <a:avLst/>
          </a:prstGeom>
        </p:spPr>
      </p:pic>
      <p:sp>
        <p:nvSpPr>
          <p:cNvPr id="8" name="Rectangle 7">
            <a:extLst>
              <a:ext uri="{FF2B5EF4-FFF2-40B4-BE49-F238E27FC236}">
                <a16:creationId xmlns:a16="http://schemas.microsoft.com/office/drawing/2014/main" id="{E5A3923A-289F-4707-9BF0-2F187B699D2E}"/>
              </a:ext>
            </a:extLst>
          </p:cNvPr>
          <p:cNvSpPr>
            <a:spLocks noGrp="1"/>
          </p:cNvSpPr>
          <p:nvPr/>
        </p:nvSpPr>
        <p:spPr>
          <a:xfrm>
            <a:off x="990600" y="4724400"/>
            <a:ext cx="2190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1">
                <a:solidFill>
                  <a:srgbClr val="2F7D5B"/>
                </a:solidFill>
                <a:latin typeface="Aptos"/>
                <a:ea typeface="Aptos"/>
                <a:cs typeface="Aptos"/>
              </a:defRPr>
            </a:pPr>
            <a:r>
              <a:rPr sz="750" b="1">
                <a:solidFill>
                  <a:srgbClr val="2F7D5B"/>
                </a:solidFill>
                <a:latin typeface="Aptos"/>
                <a:ea typeface="Aptos"/>
                <a:cs typeface="Aptos"/>
              </a:rPr>
              <a:t>FOTO DEL CAPO</a:t>
            </a:r>
          </a:p>
        </p:txBody>
      </p:sp>
      <p:sp>
        <p:nvSpPr>
          <p:cNvPr id="9" name="Rectangle 8">
            <a:extLst>
              <a:ext uri="{FF2B5EF4-FFF2-40B4-BE49-F238E27FC236}">
                <a16:creationId xmlns:a16="http://schemas.microsoft.com/office/drawing/2014/main" id="{A040047B-2D4D-482E-963F-E982D7BF0EE3}"/>
              </a:ext>
            </a:extLst>
          </p:cNvPr>
          <p:cNvSpPr>
            <a:spLocks noGrp="1"/>
          </p:cNvSpPr>
          <p:nvPr/>
        </p:nvSpPr>
        <p:spPr>
          <a:xfrm>
            <a:off x="990600" y="4991100"/>
            <a:ext cx="219075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65736B"/>
                </a:solidFill>
                <a:latin typeface="Aptos"/>
                <a:ea typeface="Aptos"/>
                <a:cs typeface="Aptos"/>
              </a:defRPr>
            </a:pPr>
            <a:r>
              <a:rPr sz="900" b="0">
                <a:solidFill>
                  <a:srgbClr val="65736B"/>
                </a:solidFill>
                <a:latin typeface="Aptos"/>
                <a:ea typeface="Aptos"/>
                <a:cs typeface="Aptos"/>
              </a:rPr>
              <a:t>JPG · PNG · WebP</a:t>
            </a:r>
          </a:p>
          <a:p>
            <a:pPr algn="ctr">
              <a:defRPr sz="900" b="0">
                <a:solidFill>
                  <a:srgbClr val="65736B"/>
                </a:solidFill>
                <a:latin typeface="Aptos"/>
                <a:ea typeface="Aptos"/>
                <a:cs typeface="Aptos"/>
              </a:defRPr>
            </a:pPr>
            <a:r>
              <a:rPr sz="900" b="0">
                <a:solidFill>
                  <a:srgbClr val="65736B"/>
                </a:solidFill>
                <a:latin typeface="Aptos"/>
                <a:ea typeface="Aptos"/>
                <a:cs typeface="Aptos"/>
              </a:rPr>
              <a:t>massimo 10 MB</a:t>
            </a:r>
          </a:p>
        </p:txBody>
      </p:sp>
      <p:sp>
        <p:nvSpPr>
          <p:cNvPr id="10" name="photo-to-record">
            <a:extLst>
              <a:ext uri="{FF2B5EF4-FFF2-40B4-BE49-F238E27FC236}">
                <a16:creationId xmlns:a16="http://schemas.microsoft.com/office/drawing/2014/main" id="{77511ED2-5D55-4B3C-ACD9-F273869E1C97}"/>
              </a:ext>
            </a:extLst>
          </p:cNvPr>
          <p:cNvSpPr>
            <a:spLocks noGrp="1"/>
          </p:cNvSpPr>
          <p:nvPr/>
        </p:nvSpPr>
        <p:spPr>
          <a:xfrm>
            <a:off x="3562350" y="3638550"/>
            <a:ext cx="933450" cy="28575"/>
          </a:xfrm>
          <a:prstGeom prst="rect">
            <a:avLst/>
          </a:prstGeom>
          <a:solidFill>
            <a:srgbClr val="2F7D5B"/>
          </a:solidFill>
          <a:ln w="0">
            <a:solidFill>
              <a:srgbClr val="000000">
                <a:alpha val="0"/>
              </a:srgbClr>
            </a:solidFill>
            <a:prstDash val="solid"/>
          </a:ln>
        </p:spPr>
        <p:txBody>
          <a:bodyPr/>
          <a:lstStyle/>
          <a:p>
            <a:endParaRPr lang="en-US"/>
          </a:p>
        </p:txBody>
      </p:sp>
      <p:sp>
        <p:nvSpPr>
          <p:cNvPr id="11" name="photo-to-record-end">
            <a:extLst>
              <a:ext uri="{FF2B5EF4-FFF2-40B4-BE49-F238E27FC236}">
                <a16:creationId xmlns:a16="http://schemas.microsoft.com/office/drawing/2014/main" id="{B6175D67-E91D-4592-AA67-800E52C77E8B}"/>
              </a:ext>
            </a:extLst>
          </p:cNvPr>
          <p:cNvSpPr>
            <a:spLocks noGrp="1"/>
          </p:cNvSpPr>
          <p:nvPr/>
        </p:nvSpPr>
        <p:spPr>
          <a:xfrm>
            <a:off x="4438650" y="3590925"/>
            <a:ext cx="104775" cy="104775"/>
          </a:xfrm>
          <a:prstGeom prst="ellipse">
            <a:avLst/>
          </a:prstGeom>
          <a:solidFill>
            <a:srgbClr val="2F7D5B"/>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FE2EB9C4-9865-4D03-B2FE-3DDD337CF4BE}"/>
              </a:ext>
            </a:extLst>
          </p:cNvPr>
          <p:cNvSpPr>
            <a:spLocks noGrp="1"/>
          </p:cNvSpPr>
          <p:nvPr/>
        </p:nvSpPr>
        <p:spPr>
          <a:xfrm>
            <a:off x="3714750" y="3352800"/>
            <a:ext cx="666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75" b="1">
                <a:solidFill>
                  <a:srgbClr val="2F7D5B"/>
                </a:solidFill>
                <a:latin typeface="Aptos"/>
                <a:ea typeface="Aptos"/>
                <a:cs typeface="Aptos"/>
              </a:defRPr>
            </a:pPr>
            <a:r>
              <a:rPr sz="675" b="1">
                <a:solidFill>
                  <a:srgbClr val="2F7D5B"/>
                </a:solidFill>
                <a:latin typeface="Aptos"/>
                <a:ea typeface="Aptos"/>
                <a:cs typeface="Aptos"/>
              </a:rPr>
              <a:t>analisi</a:t>
            </a:r>
          </a:p>
        </p:txBody>
      </p:sp>
      <p:sp>
        <p:nvSpPr>
          <p:cNvPr id="13" name="record-container">
            <a:extLst>
              <a:ext uri="{FF2B5EF4-FFF2-40B4-BE49-F238E27FC236}">
                <a16:creationId xmlns:a16="http://schemas.microsoft.com/office/drawing/2014/main" id="{34D66018-43A2-4AAD-A08A-0A7829D7AEFE}"/>
              </a:ext>
            </a:extLst>
          </p:cNvPr>
          <p:cNvSpPr>
            <a:spLocks noGrp="1"/>
          </p:cNvSpPr>
          <p:nvPr/>
        </p:nvSpPr>
        <p:spPr>
          <a:xfrm>
            <a:off x="4495800" y="1809750"/>
            <a:ext cx="6686550" cy="3943350"/>
          </a:xfrm>
          <a:prstGeom prst="roundRect">
            <a:avLst>
              <a:gd name="adj" fmla="val 1932"/>
            </a:avLst>
          </a:prstGeom>
          <a:solidFill>
            <a:srgbClr val="FFFFFF"/>
          </a:solidFill>
          <a:ln w="9525">
            <a:solidFill>
              <a:srgbClr val="B9C3BB"/>
            </a:solidFill>
            <a:prstDash val="solid"/>
          </a:ln>
        </p:spPr>
        <p:txBody>
          <a:bodyPr/>
          <a:lstStyle/>
          <a:p>
            <a:endParaRPr lang="en-US"/>
          </a:p>
        </p:txBody>
      </p:sp>
      <p:sp>
        <p:nvSpPr>
          <p:cNvPr id="14" name="Rectangle 13">
            <a:extLst>
              <a:ext uri="{FF2B5EF4-FFF2-40B4-BE49-F238E27FC236}">
                <a16:creationId xmlns:a16="http://schemas.microsoft.com/office/drawing/2014/main" id="{FABE5A55-F40F-49E2-B3DF-D95118DA7966}"/>
              </a:ext>
            </a:extLst>
          </p:cNvPr>
          <p:cNvSpPr>
            <a:spLocks noGrp="1"/>
          </p:cNvSpPr>
          <p:nvPr/>
        </p:nvSpPr>
        <p:spPr>
          <a:xfrm>
            <a:off x="4800600" y="20764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2F7D5B"/>
                </a:solidFill>
                <a:latin typeface="Aptos"/>
                <a:ea typeface="Aptos"/>
                <a:cs typeface="Aptos"/>
              </a:defRPr>
            </a:pPr>
            <a:r>
              <a:rPr sz="675" b="1">
                <a:solidFill>
                  <a:srgbClr val="2F7D5B"/>
                </a:solidFill>
                <a:latin typeface="Aptos"/>
                <a:ea typeface="Aptos"/>
                <a:cs typeface="Aptos"/>
              </a:rPr>
              <a:t>SCHEDA DEL CAPO</a:t>
            </a:r>
          </a:p>
        </p:txBody>
      </p:sp>
      <p:sp>
        <p:nvSpPr>
          <p:cNvPr id="15" name="Rectangle 14">
            <a:extLst>
              <a:ext uri="{FF2B5EF4-FFF2-40B4-BE49-F238E27FC236}">
                <a16:creationId xmlns:a16="http://schemas.microsoft.com/office/drawing/2014/main" id="{C9163566-65C1-45E5-A220-C08AB0BF2C63}"/>
              </a:ext>
            </a:extLst>
          </p:cNvPr>
          <p:cNvSpPr>
            <a:spLocks noGrp="1"/>
          </p:cNvSpPr>
          <p:nvPr/>
        </p:nvSpPr>
        <p:spPr>
          <a:xfrm>
            <a:off x="4800600" y="2400300"/>
            <a:ext cx="40005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7211D"/>
                </a:solidFill>
                <a:latin typeface="Georgia"/>
                <a:ea typeface="Georgia"/>
                <a:cs typeface="Georgia"/>
              </a:defRPr>
            </a:pPr>
            <a:r>
              <a:rPr sz="2175" b="1">
                <a:solidFill>
                  <a:srgbClr val="17211D"/>
                </a:solidFill>
                <a:latin typeface="Georgia"/>
                <a:ea typeface="Georgia"/>
                <a:cs typeface="Georgia"/>
              </a:rPr>
              <a:t>Giacca verde</a:t>
            </a:r>
          </a:p>
        </p:txBody>
      </p:sp>
      <p:sp>
        <p:nvSpPr>
          <p:cNvPr id="16" name="Rectangle 15">
            <a:extLst>
              <a:ext uri="{FF2B5EF4-FFF2-40B4-BE49-F238E27FC236}">
                <a16:creationId xmlns:a16="http://schemas.microsoft.com/office/drawing/2014/main" id="{4D64E021-3D72-4827-9BD2-D996AA5EE20F}"/>
              </a:ext>
            </a:extLst>
          </p:cNvPr>
          <p:cNvSpPr>
            <a:spLocks noGrp="1"/>
          </p:cNvSpPr>
          <p:nvPr/>
        </p:nvSpPr>
        <p:spPr>
          <a:xfrm>
            <a:off x="4800600" y="3486150"/>
            <a:ext cx="4572000" cy="9525"/>
          </a:xfrm>
          <a:prstGeom prst="rect">
            <a:avLst/>
          </a:prstGeom>
          <a:solidFill>
            <a:srgbClr val="DDE5DD"/>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B4ADD9CC-28EC-4D4D-B63E-7F6EB8AC10B0}"/>
              </a:ext>
            </a:extLst>
          </p:cNvPr>
          <p:cNvSpPr>
            <a:spLocks noGrp="1"/>
          </p:cNvSpPr>
          <p:nvPr/>
        </p:nvSpPr>
        <p:spPr>
          <a:xfrm>
            <a:off x="4800600" y="3124200"/>
            <a:ext cx="2000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65736B"/>
                </a:solidFill>
                <a:latin typeface="Aptos"/>
                <a:ea typeface="Aptos"/>
                <a:cs typeface="Aptos"/>
              </a:defRPr>
            </a:pPr>
            <a:r>
              <a:rPr sz="900" b="1">
                <a:solidFill>
                  <a:srgbClr val="65736B"/>
                </a:solidFill>
                <a:latin typeface="Aptos"/>
                <a:ea typeface="Aptos"/>
                <a:cs typeface="Aptos"/>
              </a:rPr>
              <a:t>Categoria</a:t>
            </a:r>
          </a:p>
        </p:txBody>
      </p:sp>
      <p:sp>
        <p:nvSpPr>
          <p:cNvPr id="18" name="Rectangle 17">
            <a:extLst>
              <a:ext uri="{FF2B5EF4-FFF2-40B4-BE49-F238E27FC236}">
                <a16:creationId xmlns:a16="http://schemas.microsoft.com/office/drawing/2014/main" id="{AF0CDF01-7DBE-4FA1-85AD-806778103F06}"/>
              </a:ext>
            </a:extLst>
          </p:cNvPr>
          <p:cNvSpPr>
            <a:spLocks noGrp="1"/>
          </p:cNvSpPr>
          <p:nvPr/>
        </p:nvSpPr>
        <p:spPr>
          <a:xfrm>
            <a:off x="6896100" y="3124200"/>
            <a:ext cx="2190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125" b="1">
                <a:solidFill>
                  <a:srgbClr val="17211D"/>
                </a:solidFill>
                <a:latin typeface="Georgia"/>
                <a:ea typeface="Georgia"/>
                <a:cs typeface="Georgia"/>
              </a:defRPr>
            </a:pPr>
            <a:r>
              <a:rPr sz="1125" b="1">
                <a:solidFill>
                  <a:srgbClr val="17211D"/>
                </a:solidFill>
                <a:latin typeface="Georgia"/>
                <a:ea typeface="Georgia"/>
                <a:cs typeface="Georgia"/>
              </a:rPr>
              <a:t>giacca</a:t>
            </a:r>
          </a:p>
        </p:txBody>
      </p:sp>
      <p:sp>
        <p:nvSpPr>
          <p:cNvPr id="19" name="Rectangle: Rounded Corners 18">
            <a:extLst>
              <a:ext uri="{FF2B5EF4-FFF2-40B4-BE49-F238E27FC236}">
                <a16:creationId xmlns:a16="http://schemas.microsoft.com/office/drawing/2014/main" id="{FE6CEE1E-C30F-4E31-99F3-01338582E841}"/>
              </a:ext>
            </a:extLst>
          </p:cNvPr>
          <p:cNvSpPr>
            <a:spLocks noGrp="1"/>
          </p:cNvSpPr>
          <p:nvPr/>
        </p:nvSpPr>
        <p:spPr>
          <a:xfrm>
            <a:off x="9525000" y="3114675"/>
            <a:ext cx="1162050" cy="285750"/>
          </a:xfrm>
          <a:prstGeom prst="roundRect">
            <a:avLst>
              <a:gd name="adj" fmla="val 26667"/>
            </a:avLst>
          </a:prstGeom>
          <a:solidFill>
            <a:srgbClr val="DDE8EE"/>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78226259-B8F0-486A-9C74-48C6013C3779}"/>
              </a:ext>
            </a:extLst>
          </p:cNvPr>
          <p:cNvSpPr>
            <a:spLocks noGrp="1"/>
          </p:cNvSpPr>
          <p:nvPr/>
        </p:nvSpPr>
        <p:spPr>
          <a:xfrm>
            <a:off x="9620250" y="3133725"/>
            <a:ext cx="971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1">
                <a:solidFill>
                  <a:srgbClr val="466D86"/>
                </a:solidFill>
                <a:latin typeface="Aptos"/>
                <a:ea typeface="Aptos"/>
                <a:cs typeface="Aptos"/>
              </a:defRPr>
            </a:pPr>
            <a:r>
              <a:rPr sz="713" b="1">
                <a:solidFill>
                  <a:srgbClr val="466D86"/>
                </a:solidFill>
                <a:latin typeface="Aptos"/>
                <a:ea typeface="Aptos"/>
                <a:cs typeface="Aptos"/>
              </a:rPr>
              <a:t>stimato</a:t>
            </a:r>
          </a:p>
        </p:txBody>
      </p:sp>
      <p:sp>
        <p:nvSpPr>
          <p:cNvPr id="21" name="Rectangle 20">
            <a:extLst>
              <a:ext uri="{FF2B5EF4-FFF2-40B4-BE49-F238E27FC236}">
                <a16:creationId xmlns:a16="http://schemas.microsoft.com/office/drawing/2014/main" id="{02C36A8A-8098-4206-96A8-AD9B197C2517}"/>
              </a:ext>
            </a:extLst>
          </p:cNvPr>
          <p:cNvSpPr>
            <a:spLocks noGrp="1"/>
          </p:cNvSpPr>
          <p:nvPr/>
        </p:nvSpPr>
        <p:spPr>
          <a:xfrm>
            <a:off x="4800600" y="4010025"/>
            <a:ext cx="4572000" cy="9525"/>
          </a:xfrm>
          <a:prstGeom prst="rect">
            <a:avLst/>
          </a:prstGeom>
          <a:solidFill>
            <a:srgbClr val="DDE5DD"/>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0FB8AF18-DEE1-4001-97B2-3556CFE2A758}"/>
              </a:ext>
            </a:extLst>
          </p:cNvPr>
          <p:cNvSpPr>
            <a:spLocks noGrp="1"/>
          </p:cNvSpPr>
          <p:nvPr/>
        </p:nvSpPr>
        <p:spPr>
          <a:xfrm>
            <a:off x="4800600" y="3648075"/>
            <a:ext cx="2000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65736B"/>
                </a:solidFill>
                <a:latin typeface="Aptos"/>
                <a:ea typeface="Aptos"/>
                <a:cs typeface="Aptos"/>
              </a:defRPr>
            </a:pPr>
            <a:r>
              <a:rPr sz="900" b="1">
                <a:solidFill>
                  <a:srgbClr val="65736B"/>
                </a:solidFill>
                <a:latin typeface="Aptos"/>
                <a:ea typeface="Aptos"/>
                <a:cs typeface="Aptos"/>
              </a:rPr>
              <a:t>Colore</a:t>
            </a:r>
          </a:p>
        </p:txBody>
      </p:sp>
      <p:sp>
        <p:nvSpPr>
          <p:cNvPr id="23" name="Rectangle 22">
            <a:extLst>
              <a:ext uri="{FF2B5EF4-FFF2-40B4-BE49-F238E27FC236}">
                <a16:creationId xmlns:a16="http://schemas.microsoft.com/office/drawing/2014/main" id="{860AFCE5-8586-4F36-A8A6-B1251F9E2B82}"/>
              </a:ext>
            </a:extLst>
          </p:cNvPr>
          <p:cNvSpPr>
            <a:spLocks noGrp="1"/>
          </p:cNvSpPr>
          <p:nvPr/>
        </p:nvSpPr>
        <p:spPr>
          <a:xfrm>
            <a:off x="6896100" y="3648075"/>
            <a:ext cx="2190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125" b="1">
                <a:solidFill>
                  <a:srgbClr val="17211D"/>
                </a:solidFill>
                <a:latin typeface="Georgia"/>
                <a:ea typeface="Georgia"/>
                <a:cs typeface="Georgia"/>
              </a:defRPr>
            </a:pPr>
            <a:r>
              <a:rPr sz="1125" b="1">
                <a:solidFill>
                  <a:srgbClr val="17211D"/>
                </a:solidFill>
                <a:latin typeface="Georgia"/>
                <a:ea typeface="Georgia"/>
                <a:cs typeface="Georgia"/>
              </a:rPr>
              <a:t>verde</a:t>
            </a:r>
          </a:p>
        </p:txBody>
      </p:sp>
      <p:sp>
        <p:nvSpPr>
          <p:cNvPr id="24" name="Rectangle: Rounded Corners 23">
            <a:extLst>
              <a:ext uri="{FF2B5EF4-FFF2-40B4-BE49-F238E27FC236}">
                <a16:creationId xmlns:a16="http://schemas.microsoft.com/office/drawing/2014/main" id="{880CE383-DF0B-4BC9-8B0D-2320659457F8}"/>
              </a:ext>
            </a:extLst>
          </p:cNvPr>
          <p:cNvSpPr>
            <a:spLocks noGrp="1"/>
          </p:cNvSpPr>
          <p:nvPr/>
        </p:nvSpPr>
        <p:spPr>
          <a:xfrm>
            <a:off x="9525000" y="3638550"/>
            <a:ext cx="1162050" cy="285750"/>
          </a:xfrm>
          <a:prstGeom prst="roundRect">
            <a:avLst>
              <a:gd name="adj" fmla="val 26667"/>
            </a:avLst>
          </a:prstGeom>
          <a:solidFill>
            <a:srgbClr val="DDE8EE"/>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621B8672-D8D2-4654-8142-99D8EDDF784E}"/>
              </a:ext>
            </a:extLst>
          </p:cNvPr>
          <p:cNvSpPr>
            <a:spLocks noGrp="1"/>
          </p:cNvSpPr>
          <p:nvPr/>
        </p:nvSpPr>
        <p:spPr>
          <a:xfrm>
            <a:off x="9620250" y="3657600"/>
            <a:ext cx="971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1">
                <a:solidFill>
                  <a:srgbClr val="466D86"/>
                </a:solidFill>
                <a:latin typeface="Aptos"/>
                <a:ea typeface="Aptos"/>
                <a:cs typeface="Aptos"/>
              </a:defRPr>
            </a:pPr>
            <a:r>
              <a:rPr sz="713" b="1">
                <a:solidFill>
                  <a:srgbClr val="466D86"/>
                </a:solidFill>
                <a:latin typeface="Aptos"/>
                <a:ea typeface="Aptos"/>
                <a:cs typeface="Aptos"/>
              </a:rPr>
              <a:t>stimato</a:t>
            </a:r>
          </a:p>
        </p:txBody>
      </p:sp>
      <p:sp>
        <p:nvSpPr>
          <p:cNvPr id="26" name="Rectangle 25">
            <a:extLst>
              <a:ext uri="{FF2B5EF4-FFF2-40B4-BE49-F238E27FC236}">
                <a16:creationId xmlns:a16="http://schemas.microsoft.com/office/drawing/2014/main" id="{3C77D526-AD09-4830-B6AB-B9C4A168847A}"/>
              </a:ext>
            </a:extLst>
          </p:cNvPr>
          <p:cNvSpPr>
            <a:spLocks noGrp="1"/>
          </p:cNvSpPr>
          <p:nvPr/>
        </p:nvSpPr>
        <p:spPr>
          <a:xfrm>
            <a:off x="4800600" y="4533900"/>
            <a:ext cx="4572000" cy="9525"/>
          </a:xfrm>
          <a:prstGeom prst="rect">
            <a:avLst/>
          </a:prstGeom>
          <a:solidFill>
            <a:srgbClr val="DDE5DD"/>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F378BA47-E63E-4224-93CD-04055C962F3D}"/>
              </a:ext>
            </a:extLst>
          </p:cNvPr>
          <p:cNvSpPr>
            <a:spLocks noGrp="1"/>
          </p:cNvSpPr>
          <p:nvPr/>
        </p:nvSpPr>
        <p:spPr>
          <a:xfrm>
            <a:off x="4800600" y="4171950"/>
            <a:ext cx="2000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65736B"/>
                </a:solidFill>
                <a:latin typeface="Aptos"/>
                <a:ea typeface="Aptos"/>
                <a:cs typeface="Aptos"/>
              </a:defRPr>
            </a:pPr>
            <a:r>
              <a:rPr sz="900" b="1">
                <a:solidFill>
                  <a:srgbClr val="65736B"/>
                </a:solidFill>
                <a:latin typeface="Aptos"/>
                <a:ea typeface="Aptos"/>
                <a:cs typeface="Aptos"/>
              </a:rPr>
              <a:t>Prezzo</a:t>
            </a:r>
          </a:p>
        </p:txBody>
      </p:sp>
      <p:sp>
        <p:nvSpPr>
          <p:cNvPr id="28" name="Rectangle 27">
            <a:extLst>
              <a:ext uri="{FF2B5EF4-FFF2-40B4-BE49-F238E27FC236}">
                <a16:creationId xmlns:a16="http://schemas.microsoft.com/office/drawing/2014/main" id="{41383B69-2E77-471F-BE9C-5D7991A98E54}"/>
              </a:ext>
            </a:extLst>
          </p:cNvPr>
          <p:cNvSpPr>
            <a:spLocks noGrp="1"/>
          </p:cNvSpPr>
          <p:nvPr/>
        </p:nvSpPr>
        <p:spPr>
          <a:xfrm>
            <a:off x="6896100" y="4171950"/>
            <a:ext cx="2190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125" b="1">
                <a:solidFill>
                  <a:srgbClr val="17211D"/>
                </a:solidFill>
                <a:latin typeface="Georgia"/>
                <a:ea typeface="Georgia"/>
                <a:cs typeface="Georgia"/>
              </a:defRPr>
            </a:pPr>
            <a:r>
              <a:rPr sz="1125" b="1">
                <a:solidFill>
                  <a:srgbClr val="17211D"/>
                </a:solidFill>
                <a:latin typeface="Georgia"/>
                <a:ea typeface="Georgia"/>
                <a:cs typeface="Georgia"/>
              </a:rPr>
              <a:t>facoltativo</a:t>
            </a:r>
          </a:p>
        </p:txBody>
      </p:sp>
      <p:sp>
        <p:nvSpPr>
          <p:cNvPr id="29" name="Rectangle 28">
            <a:extLst>
              <a:ext uri="{FF2B5EF4-FFF2-40B4-BE49-F238E27FC236}">
                <a16:creationId xmlns:a16="http://schemas.microsoft.com/office/drawing/2014/main" id="{74F72218-EC07-42D7-9C15-CEF68FB52AC7}"/>
              </a:ext>
            </a:extLst>
          </p:cNvPr>
          <p:cNvSpPr>
            <a:spLocks noGrp="1"/>
          </p:cNvSpPr>
          <p:nvPr/>
        </p:nvSpPr>
        <p:spPr>
          <a:xfrm>
            <a:off x="4800600" y="5057775"/>
            <a:ext cx="4572000" cy="9525"/>
          </a:xfrm>
          <a:prstGeom prst="rect">
            <a:avLst/>
          </a:prstGeom>
          <a:solidFill>
            <a:srgbClr val="DDE5DD"/>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FF7058C2-0F8C-4E13-9569-2EB5A06DBA06}"/>
              </a:ext>
            </a:extLst>
          </p:cNvPr>
          <p:cNvSpPr>
            <a:spLocks noGrp="1"/>
          </p:cNvSpPr>
          <p:nvPr/>
        </p:nvSpPr>
        <p:spPr>
          <a:xfrm>
            <a:off x="4800600" y="4695825"/>
            <a:ext cx="2000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65736B"/>
                </a:solidFill>
                <a:latin typeface="Aptos"/>
                <a:ea typeface="Aptos"/>
                <a:cs typeface="Aptos"/>
              </a:defRPr>
            </a:pPr>
            <a:r>
              <a:rPr sz="900" b="1">
                <a:solidFill>
                  <a:srgbClr val="65736B"/>
                </a:solidFill>
                <a:latin typeface="Aptos"/>
                <a:ea typeface="Aptos"/>
                <a:cs typeface="Aptos"/>
              </a:rPr>
              <a:t>Data di acquisto</a:t>
            </a:r>
          </a:p>
        </p:txBody>
      </p:sp>
      <p:sp>
        <p:nvSpPr>
          <p:cNvPr id="31" name="Rectangle 30">
            <a:extLst>
              <a:ext uri="{FF2B5EF4-FFF2-40B4-BE49-F238E27FC236}">
                <a16:creationId xmlns:a16="http://schemas.microsoft.com/office/drawing/2014/main" id="{305FA494-C145-4121-A7E4-FD1A3E09F2FB}"/>
              </a:ext>
            </a:extLst>
          </p:cNvPr>
          <p:cNvSpPr>
            <a:spLocks noGrp="1"/>
          </p:cNvSpPr>
          <p:nvPr/>
        </p:nvSpPr>
        <p:spPr>
          <a:xfrm>
            <a:off x="6896100" y="4695825"/>
            <a:ext cx="2190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125" b="1">
                <a:solidFill>
                  <a:srgbClr val="17211D"/>
                </a:solidFill>
                <a:latin typeface="Georgia"/>
                <a:ea typeface="Georgia"/>
                <a:cs typeface="Georgia"/>
              </a:defRPr>
            </a:pPr>
            <a:r>
              <a:rPr sz="1125" b="1">
                <a:solidFill>
                  <a:srgbClr val="17211D"/>
                </a:solidFill>
                <a:latin typeface="Georgia"/>
                <a:ea typeface="Georgia"/>
                <a:cs typeface="Georgia"/>
              </a:rPr>
              <a:t>facoltativa</a:t>
            </a:r>
          </a:p>
        </p:txBody>
      </p:sp>
      <p:pic>
        <p:nvPicPr>
          <p:cNvPr id="32" name="Graphic 31"/>
          <p:cNvPicPr>
            <a:picLocks noChangeAspect="1"/>
          </p:cNvPicPr>
          <p:nvPr/>
        </p:nvPicPr>
        <p:blipFill>
          <a:blip>
            <a:extLst>
              <a:ext uri="{96DAC541-7B7A-43D3-8B79-37D633B846F1}">
                <asvg:svgBlip xmlns:asvg="http://schemas.microsoft.com/office/drawing/2016/SVG/main" r:embed="rId4"/>
              </a:ext>
            </a:extLst>
          </a:blip>
          <a:stretch/>
        </p:blipFill>
        <p:spPr>
          <a:xfrm>
            <a:off x="9734550" y="2381250"/>
            <a:ext cx="285750" cy="285750"/>
          </a:xfrm>
          <a:prstGeom prst="rect">
            <a:avLst/>
          </a:prstGeom>
        </p:spPr>
      </p:pic>
      <p:sp>
        <p:nvSpPr>
          <p:cNvPr id="33" name="Rectangle 32">
            <a:extLst>
              <a:ext uri="{FF2B5EF4-FFF2-40B4-BE49-F238E27FC236}">
                <a16:creationId xmlns:a16="http://schemas.microsoft.com/office/drawing/2014/main" id="{6397D21C-6FF6-4D56-A1B8-3FD46313BBFF}"/>
              </a:ext>
            </a:extLst>
          </p:cNvPr>
          <p:cNvSpPr>
            <a:spLocks noGrp="1"/>
          </p:cNvSpPr>
          <p:nvPr/>
        </p:nvSpPr>
        <p:spPr>
          <a:xfrm>
            <a:off x="10096500" y="2381250"/>
            <a:ext cx="9525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D56E42"/>
                </a:solidFill>
                <a:latin typeface="Aptos"/>
                <a:ea typeface="Aptos"/>
                <a:cs typeface="Aptos"/>
              </a:defRPr>
            </a:pPr>
            <a:r>
              <a:rPr sz="713" b="1">
                <a:solidFill>
                  <a:srgbClr val="D56E42"/>
                </a:solidFill>
                <a:latin typeface="Aptos"/>
                <a:ea typeface="Aptos"/>
                <a:cs typeface="Aptos"/>
              </a:rPr>
              <a:t>Sempre correggibile</a:t>
            </a:r>
          </a:p>
        </p:txBody>
      </p:sp>
      <p:sp>
        <p:nvSpPr>
          <p:cNvPr id="34" name="Rectangle: Rounded Corners 33">
            <a:extLst>
              <a:ext uri="{FF2B5EF4-FFF2-40B4-BE49-F238E27FC236}">
                <a16:creationId xmlns:a16="http://schemas.microsoft.com/office/drawing/2014/main" id="{C6C1540B-713F-4E4B-B67F-FAFABFD5F556}"/>
              </a:ext>
            </a:extLst>
          </p:cNvPr>
          <p:cNvSpPr>
            <a:spLocks noGrp="1"/>
          </p:cNvSpPr>
          <p:nvPr/>
        </p:nvSpPr>
        <p:spPr>
          <a:xfrm>
            <a:off x="4800600" y="5257800"/>
            <a:ext cx="5886450" cy="304800"/>
          </a:xfrm>
          <a:prstGeom prst="roundRect">
            <a:avLst>
              <a:gd name="adj" fmla="val 25000"/>
            </a:avLst>
          </a:prstGeom>
          <a:solidFill>
            <a:srgbClr val="EAE5DA"/>
          </a:solidFill>
          <a:ln w="0">
            <a:solidFill>
              <a:srgbClr val="000000">
                <a:alpha val="0"/>
              </a:srgbClr>
            </a:solidFill>
            <a:prstDash val="solid"/>
          </a:ln>
        </p:spPr>
        <p:txBody>
          <a:bodyPr/>
          <a:lstStyle/>
          <a:p>
            <a:endParaRPr lang="en-US"/>
          </a:p>
        </p:txBody>
      </p:sp>
      <p:sp>
        <p:nvSpPr>
          <p:cNvPr id="35" name="Rectangle 34">
            <a:extLst>
              <a:ext uri="{FF2B5EF4-FFF2-40B4-BE49-F238E27FC236}">
                <a16:creationId xmlns:a16="http://schemas.microsoft.com/office/drawing/2014/main" id="{8BC91158-BA54-4C34-BC3B-EFF587B7803D}"/>
              </a:ext>
            </a:extLst>
          </p:cNvPr>
          <p:cNvSpPr>
            <a:spLocks noGrp="1"/>
          </p:cNvSpPr>
          <p:nvPr/>
        </p:nvSpPr>
        <p:spPr>
          <a:xfrm>
            <a:off x="4953000" y="5295900"/>
            <a:ext cx="5581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65736B"/>
                </a:solidFill>
                <a:latin typeface="Aptos"/>
                <a:ea typeface="Aptos"/>
                <a:cs typeface="Aptos"/>
              </a:defRPr>
            </a:pPr>
            <a:r>
              <a:rPr sz="825" b="0">
                <a:solidFill>
                  <a:srgbClr val="65736B"/>
                </a:solidFill>
                <a:latin typeface="Aptos"/>
                <a:ea typeface="Aptos"/>
                <a:cs typeface="Aptos"/>
              </a:rPr>
              <a:t>Lo stato del capo viene diagnosticato dopo, nel dettaglio.</a:t>
            </a:r>
          </a:p>
        </p:txBody>
      </p:sp>
      <p:sp>
        <p:nvSpPr>
          <p:cNvPr id="36" name="footer-rule">
            <a:extLst>
              <a:ext uri="{FF2B5EF4-FFF2-40B4-BE49-F238E27FC236}">
                <a16:creationId xmlns:a16="http://schemas.microsoft.com/office/drawing/2014/main" id="{4D61E1A1-E1A5-40AA-9CBC-28062E85C9C5}"/>
              </a:ext>
            </a:extLst>
          </p:cNvPr>
          <p:cNvSpPr>
            <a:spLocks noGrp="1"/>
          </p:cNvSpPr>
          <p:nvPr/>
        </p:nvSpPr>
        <p:spPr>
          <a:xfrm>
            <a:off x="552450" y="6457950"/>
            <a:ext cx="11087100" cy="9525"/>
          </a:xfrm>
          <a:prstGeom prst="rect">
            <a:avLst/>
          </a:prstGeom>
          <a:solidFill>
            <a:srgbClr val="B9C3BB"/>
          </a:solidFill>
          <a:ln w="0">
            <a:solidFill>
              <a:srgbClr val="000000">
                <a:alpha val="0"/>
              </a:srgbClr>
            </a:solidFill>
            <a:prstDash val="solid"/>
          </a:ln>
        </p:spPr>
        <p:txBody>
          <a:bodyPr/>
          <a:lstStyle/>
          <a:p>
            <a:endParaRPr lang="en-US"/>
          </a:p>
        </p:txBody>
      </p:sp>
      <p:sp>
        <p:nvSpPr>
          <p:cNvPr id="37" name="footer-source">
            <a:extLst>
              <a:ext uri="{FF2B5EF4-FFF2-40B4-BE49-F238E27FC236}">
                <a16:creationId xmlns:a16="http://schemas.microsoft.com/office/drawing/2014/main" id="{DAD679B7-800E-4CC6-9C91-13C4776D0C57}"/>
              </a:ext>
            </a:extLst>
          </p:cNvPr>
          <p:cNvSpPr>
            <a:spLocks noGrp="1"/>
          </p:cNvSpPr>
          <p:nvPr/>
        </p:nvSpPr>
        <p:spPr>
          <a:xfrm>
            <a:off x="552450" y="6534150"/>
            <a:ext cx="10001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65736B"/>
                </a:solidFill>
                <a:latin typeface="Aptos"/>
                <a:ea typeface="Aptos"/>
                <a:cs typeface="Aptos"/>
              </a:defRPr>
            </a:pPr>
            <a:r>
              <a:rPr sz="563" b="0">
                <a:solidFill>
                  <a:srgbClr val="65736B"/>
                </a:solidFill>
                <a:latin typeface="Aptos"/>
                <a:ea typeface="Aptos"/>
                <a:cs typeface="Aptos"/>
              </a:rPr>
              <a:t>Foto + nome obbligatori; categoria e colore stimabili; controllo umano sempre disponibile</a:t>
            </a:r>
          </a:p>
        </p:txBody>
      </p:sp>
      <p:sp>
        <p:nvSpPr>
          <p:cNvPr id="38" name="page-marker">
            <a:extLst>
              <a:ext uri="{FF2B5EF4-FFF2-40B4-BE49-F238E27FC236}">
                <a16:creationId xmlns:a16="http://schemas.microsoft.com/office/drawing/2014/main" id="{2E8EB2BE-C864-408B-8AC5-197066713250}"/>
              </a:ext>
            </a:extLst>
          </p:cNvPr>
          <p:cNvSpPr>
            <a:spLocks noGrp="1"/>
          </p:cNvSpPr>
          <p:nvPr/>
        </p:nvSpPr>
        <p:spPr>
          <a:xfrm>
            <a:off x="11087100" y="6505575"/>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65736B"/>
                </a:solidFill>
                <a:latin typeface="Georgia"/>
                <a:ea typeface="Georgia"/>
                <a:cs typeface="Georgia"/>
              </a:defRPr>
            </a:pPr>
            <a:r>
              <a:rPr sz="750" b="1">
                <a:solidFill>
                  <a:srgbClr val="65736B"/>
                </a:solidFill>
                <a:latin typeface="Georgia"/>
                <a:ea typeface="Georgia"/>
                <a:cs typeface="Georgia"/>
              </a:rPr>
              <a:t>03</a:t>
            </a:r>
          </a:p>
        </p:txBody>
      </p:sp>
    </p:spTree>
    <p:extLst>
      <p:ext uri="{BB962C8B-B14F-4D97-AF65-F5344CB8AC3E}">
        <p14:creationId xmlns:p14="http://schemas.microsoft.com/office/powerpoint/2010/main" val="47961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background">
            <a:extLst>
              <a:ext uri="{FF2B5EF4-FFF2-40B4-BE49-F238E27FC236}">
                <a16:creationId xmlns:a16="http://schemas.microsoft.com/office/drawing/2014/main" id="{789B7BC4-FB97-4F62-9968-B6E4891F2CA5}"/>
              </a:ext>
            </a:extLst>
          </p:cNvPr>
          <p:cNvSpPr>
            <a:spLocks noGrp="1"/>
          </p:cNvSpPr>
          <p:nvPr/>
        </p:nvSpPr>
        <p:spPr>
          <a:xfrm>
            <a:off x="0" y="0"/>
            <a:ext cx="12192000" cy="6858000"/>
          </a:xfrm>
          <a:prstGeom prst="rect">
            <a:avLst/>
          </a:prstGeom>
          <a:solidFill>
            <a:srgbClr val="123C31"/>
          </a:solidFill>
          <a:ln w="0">
            <a:solidFill>
              <a:srgbClr val="000000">
                <a:alpha val="0"/>
              </a:srgbClr>
            </a:solidFill>
            <a:prstDash val="solid"/>
          </a:ln>
        </p:spPr>
        <p:txBody>
          <a:bodyPr/>
          <a:lstStyle/>
          <a:p>
            <a:endParaRPr lang="en-US"/>
          </a:p>
        </p:txBody>
      </p:sp>
      <p:sp>
        <p:nvSpPr>
          <p:cNvPr id="2" name="kicker-marker">
            <a:extLst>
              <a:ext uri="{FF2B5EF4-FFF2-40B4-BE49-F238E27FC236}">
                <a16:creationId xmlns:a16="http://schemas.microsoft.com/office/drawing/2014/main" id="{98C2A308-037E-4576-A820-A5A57A9207B5}"/>
              </a:ext>
            </a:extLst>
          </p:cNvPr>
          <p:cNvSpPr>
            <a:spLocks noGrp="1"/>
          </p:cNvSpPr>
          <p:nvPr/>
        </p:nvSpPr>
        <p:spPr>
          <a:xfrm>
            <a:off x="552450" y="400050"/>
            <a:ext cx="95250" cy="95250"/>
          </a:xfrm>
          <a:prstGeom prst="ellipse">
            <a:avLst/>
          </a:prstGeom>
          <a:solidFill>
            <a:srgbClr val="B9D94A"/>
          </a:solidFill>
          <a:ln w="0">
            <a:solidFill>
              <a:srgbClr val="000000">
                <a:alpha val="0"/>
              </a:srgbClr>
            </a:solidFill>
            <a:prstDash val="solid"/>
          </a:ln>
        </p:spPr>
        <p:txBody>
          <a:bodyPr/>
          <a:lstStyle/>
          <a:p>
            <a:endParaRPr lang="en-US"/>
          </a:p>
        </p:txBody>
      </p:sp>
      <p:sp>
        <p:nvSpPr>
          <p:cNvPr id="3" name="kicker-label">
            <a:extLst>
              <a:ext uri="{FF2B5EF4-FFF2-40B4-BE49-F238E27FC236}">
                <a16:creationId xmlns:a16="http://schemas.microsoft.com/office/drawing/2014/main" id="{9AB5A628-A80B-4B84-80A3-B6095FD5DC86}"/>
              </a:ext>
            </a:extLst>
          </p:cNvPr>
          <p:cNvSpPr>
            <a:spLocks noGrp="1"/>
          </p:cNvSpPr>
          <p:nvPr/>
        </p:nvSpPr>
        <p:spPr>
          <a:xfrm>
            <a:off x="762000" y="361950"/>
            <a:ext cx="571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DDE5DD"/>
                </a:solidFill>
                <a:latin typeface="Aptos"/>
                <a:ea typeface="Aptos"/>
                <a:cs typeface="Aptos"/>
              </a:defRPr>
            </a:pPr>
            <a:r>
              <a:rPr sz="675" b="1">
                <a:solidFill>
                  <a:srgbClr val="DDE5DD"/>
                </a:solidFill>
                <a:latin typeface="Aptos"/>
                <a:ea typeface="Aptos"/>
                <a:cs typeface="Aptos"/>
              </a:rPr>
              <a:t>U S E R   S T O R Y   ·   2 .   U S A R E</a:t>
            </a:r>
          </a:p>
        </p:txBody>
      </p:sp>
      <p:sp>
        <p:nvSpPr>
          <p:cNvPr id="4" name="claim-title">
            <a:extLst>
              <a:ext uri="{FF2B5EF4-FFF2-40B4-BE49-F238E27FC236}">
                <a16:creationId xmlns:a16="http://schemas.microsoft.com/office/drawing/2014/main" id="{B2B9B3FE-7E5E-472E-AD53-0467DF31C36F}"/>
              </a:ext>
            </a:extLst>
          </p:cNvPr>
          <p:cNvSpPr>
            <a:spLocks noGrp="1"/>
          </p:cNvSpPr>
          <p:nvPr/>
        </p:nvSpPr>
        <p:spPr>
          <a:xfrm>
            <a:off x="552450" y="723900"/>
            <a:ext cx="104775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000" b="1">
                <a:solidFill>
                  <a:srgbClr val="FFFFFF"/>
                </a:solidFill>
                <a:latin typeface="Georgia"/>
                <a:ea typeface="Georgia"/>
                <a:cs typeface="Georgia"/>
              </a:defRPr>
            </a:pPr>
            <a:r>
              <a:rPr sz="3000" b="1">
                <a:solidFill>
                  <a:srgbClr val="FFFFFF"/>
                </a:solidFill>
                <a:latin typeface="Georgia"/>
                <a:ea typeface="Georgia"/>
                <a:cs typeface="Georgia"/>
              </a:rPr>
              <a:t>Registrare gli utilizzi rende visibile il valore reale del capo.</a:t>
            </a:r>
          </a:p>
        </p:txBody>
      </p:sp>
      <p:sp>
        <p:nvSpPr>
          <p:cNvPr id="5" name="Rectangle: Rounded Corners 4">
            <a:extLst>
              <a:ext uri="{FF2B5EF4-FFF2-40B4-BE49-F238E27FC236}">
                <a16:creationId xmlns:a16="http://schemas.microsoft.com/office/drawing/2014/main" id="{1934B594-CC2C-4E58-8E4C-BA2DA41C81E4}"/>
              </a:ext>
            </a:extLst>
          </p:cNvPr>
          <p:cNvSpPr>
            <a:spLocks noGrp="1"/>
          </p:cNvSpPr>
          <p:nvPr/>
        </p:nvSpPr>
        <p:spPr>
          <a:xfrm>
            <a:off x="552450" y="1790700"/>
            <a:ext cx="2381250" cy="285750"/>
          </a:xfrm>
          <a:prstGeom prst="roundRect">
            <a:avLst>
              <a:gd name="adj" fmla="val 26667"/>
            </a:avLst>
          </a:prstGeom>
          <a:solidFill>
            <a:srgbClr val="285B49"/>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6DD292F3-3E0D-466C-977F-B305864DBF92}"/>
              </a:ext>
            </a:extLst>
          </p:cNvPr>
          <p:cNvSpPr>
            <a:spLocks noGrp="1"/>
          </p:cNvSpPr>
          <p:nvPr/>
        </p:nvSpPr>
        <p:spPr>
          <a:xfrm>
            <a:off x="647700" y="1809750"/>
            <a:ext cx="2190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1">
                <a:solidFill>
                  <a:srgbClr val="FFFFFF"/>
                </a:solidFill>
                <a:latin typeface="Aptos"/>
                <a:ea typeface="Aptos"/>
                <a:cs typeface="Aptos"/>
              </a:defRPr>
            </a:pPr>
            <a:r>
              <a:rPr sz="713" b="1">
                <a:solidFill>
                  <a:srgbClr val="FFFFFF"/>
                </a:solidFill>
                <a:latin typeface="Aptos"/>
                <a:ea typeface="Aptos"/>
                <a:cs typeface="Aptos"/>
              </a:rPr>
              <a:t>ESEMPIO · CAPO DA 100 €</a:t>
            </a:r>
          </a:p>
        </p:txBody>
      </p:sp>
      <p:sp>
        <p:nvSpPr>
          <p:cNvPr id="7" name="wear-timeline">
            <a:extLst>
              <a:ext uri="{FF2B5EF4-FFF2-40B4-BE49-F238E27FC236}">
                <a16:creationId xmlns:a16="http://schemas.microsoft.com/office/drawing/2014/main" id="{A5D3F7EA-3A25-4279-B844-78C08D150B40}"/>
              </a:ext>
            </a:extLst>
          </p:cNvPr>
          <p:cNvSpPr>
            <a:spLocks noGrp="1"/>
          </p:cNvSpPr>
          <p:nvPr/>
        </p:nvSpPr>
        <p:spPr>
          <a:xfrm>
            <a:off x="1485900" y="3467100"/>
            <a:ext cx="8877300" cy="38100"/>
          </a:xfrm>
          <a:prstGeom prst="rect">
            <a:avLst/>
          </a:prstGeom>
          <a:solidFill>
            <a:srgbClr val="4B7567"/>
          </a:solidFill>
          <a:ln w="0">
            <a:solidFill>
              <a:srgbClr val="000000">
                <a:alpha val="0"/>
              </a:srgbClr>
            </a:solidFill>
            <a:prstDash val="solid"/>
          </a:ln>
        </p:spPr>
        <p:txBody>
          <a:bodyPr/>
          <a:lstStyle/>
          <a:p>
            <a:endParaRPr lang="en-US"/>
          </a:p>
        </p:txBody>
      </p:sp>
      <p:sp>
        <p:nvSpPr>
          <p:cNvPr id="8" name="wear-1">
            <a:extLst>
              <a:ext uri="{FF2B5EF4-FFF2-40B4-BE49-F238E27FC236}">
                <a16:creationId xmlns:a16="http://schemas.microsoft.com/office/drawing/2014/main" id="{9F090327-4EE1-4FB9-B706-9D4BE98EFE1D}"/>
              </a:ext>
            </a:extLst>
          </p:cNvPr>
          <p:cNvSpPr>
            <a:spLocks noGrp="1"/>
          </p:cNvSpPr>
          <p:nvPr/>
        </p:nvSpPr>
        <p:spPr>
          <a:xfrm>
            <a:off x="1143000" y="3124200"/>
            <a:ext cx="685800" cy="685800"/>
          </a:xfrm>
          <a:prstGeom prst="ellipse">
            <a:avLst/>
          </a:prstGeom>
          <a:solidFill>
            <a:srgbClr val="D56E42"/>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CFB59BD6-BB6E-4FE9-8262-C47FF54EDADD}"/>
              </a:ext>
            </a:extLst>
          </p:cNvPr>
          <p:cNvSpPr>
            <a:spLocks noGrp="1"/>
          </p:cNvSpPr>
          <p:nvPr/>
        </p:nvSpPr>
        <p:spPr>
          <a:xfrm>
            <a:off x="1143000" y="3219450"/>
            <a:ext cx="6858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FFFFFF"/>
                </a:solidFill>
                <a:latin typeface="Georgia"/>
                <a:ea typeface="Georgia"/>
                <a:cs typeface="Georgia"/>
              </a:defRPr>
            </a:pPr>
            <a:r>
              <a:rPr sz="1800" b="1">
                <a:solidFill>
                  <a:srgbClr val="FFFFFF"/>
                </a:solidFill>
                <a:latin typeface="Georgia"/>
                <a:ea typeface="Georgia"/>
                <a:cs typeface="Georgia"/>
              </a:rPr>
              <a:t>1</a:t>
            </a:r>
          </a:p>
        </p:txBody>
      </p:sp>
      <p:sp>
        <p:nvSpPr>
          <p:cNvPr id="10" name="Rectangle 9">
            <a:extLst>
              <a:ext uri="{FF2B5EF4-FFF2-40B4-BE49-F238E27FC236}">
                <a16:creationId xmlns:a16="http://schemas.microsoft.com/office/drawing/2014/main" id="{45BCFC91-2D90-4B4B-A850-079CE7DA5617}"/>
              </a:ext>
            </a:extLst>
          </p:cNvPr>
          <p:cNvSpPr>
            <a:spLocks noGrp="1"/>
          </p:cNvSpPr>
          <p:nvPr/>
        </p:nvSpPr>
        <p:spPr>
          <a:xfrm>
            <a:off x="628650" y="4038600"/>
            <a:ext cx="1714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DDE5DD"/>
                </a:solidFill>
                <a:latin typeface="Aptos"/>
                <a:ea typeface="Aptos"/>
                <a:cs typeface="Aptos"/>
              </a:defRPr>
            </a:pPr>
            <a:r>
              <a:rPr sz="1050" b="1">
                <a:solidFill>
                  <a:srgbClr val="DDE5DD"/>
                </a:solidFill>
                <a:latin typeface="Aptos"/>
                <a:ea typeface="Aptos"/>
                <a:cs typeface="Aptos"/>
              </a:rPr>
              <a:t>1 uso</a:t>
            </a:r>
          </a:p>
        </p:txBody>
      </p:sp>
      <p:sp>
        <p:nvSpPr>
          <p:cNvPr id="11" name="Rectangle 10">
            <a:extLst>
              <a:ext uri="{FF2B5EF4-FFF2-40B4-BE49-F238E27FC236}">
                <a16:creationId xmlns:a16="http://schemas.microsoft.com/office/drawing/2014/main" id="{7502E265-BE5A-4A1A-8B2C-D2A7973DD0A1}"/>
              </a:ext>
            </a:extLst>
          </p:cNvPr>
          <p:cNvSpPr>
            <a:spLocks noGrp="1"/>
          </p:cNvSpPr>
          <p:nvPr/>
        </p:nvSpPr>
        <p:spPr>
          <a:xfrm>
            <a:off x="533400" y="4438650"/>
            <a:ext cx="1905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850" b="1">
                <a:solidFill>
                  <a:srgbClr val="D56E42"/>
                </a:solidFill>
                <a:latin typeface="Georgia"/>
                <a:ea typeface="Georgia"/>
                <a:cs typeface="Georgia"/>
              </a:defRPr>
            </a:pPr>
            <a:r>
              <a:rPr sz="2850" b="1">
                <a:solidFill>
                  <a:srgbClr val="D56E42"/>
                </a:solidFill>
                <a:latin typeface="Georgia"/>
                <a:ea typeface="Georgia"/>
                <a:cs typeface="Georgia"/>
              </a:rPr>
              <a:t>100 €</a:t>
            </a:r>
          </a:p>
        </p:txBody>
      </p:sp>
      <p:sp>
        <p:nvSpPr>
          <p:cNvPr id="12" name="Rectangle 11">
            <a:extLst>
              <a:ext uri="{FF2B5EF4-FFF2-40B4-BE49-F238E27FC236}">
                <a16:creationId xmlns:a16="http://schemas.microsoft.com/office/drawing/2014/main" id="{661AE6C9-A3BB-4119-AE9D-1F5B90C1BFB6}"/>
              </a:ext>
            </a:extLst>
          </p:cNvPr>
          <p:cNvSpPr>
            <a:spLocks noGrp="1"/>
          </p:cNvSpPr>
          <p:nvPr/>
        </p:nvSpPr>
        <p:spPr>
          <a:xfrm>
            <a:off x="533400" y="5010150"/>
            <a:ext cx="1905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A9C0B5"/>
                </a:solidFill>
                <a:latin typeface="Aptos"/>
                <a:ea typeface="Aptos"/>
                <a:cs typeface="Aptos"/>
              </a:defRPr>
            </a:pPr>
            <a:r>
              <a:rPr sz="750" b="0">
                <a:solidFill>
                  <a:srgbClr val="A9C0B5"/>
                </a:solidFill>
                <a:latin typeface="Aptos"/>
                <a:ea typeface="Aptos"/>
                <a:cs typeface="Aptos"/>
              </a:rPr>
              <a:t>cost-per-wear</a:t>
            </a:r>
          </a:p>
        </p:txBody>
      </p:sp>
      <p:sp>
        <p:nvSpPr>
          <p:cNvPr id="13" name="wear-5">
            <a:extLst>
              <a:ext uri="{FF2B5EF4-FFF2-40B4-BE49-F238E27FC236}">
                <a16:creationId xmlns:a16="http://schemas.microsoft.com/office/drawing/2014/main" id="{052C78DD-8EBA-476D-B1E5-8CD900BDEBB9}"/>
              </a:ext>
            </a:extLst>
          </p:cNvPr>
          <p:cNvSpPr>
            <a:spLocks noGrp="1"/>
          </p:cNvSpPr>
          <p:nvPr/>
        </p:nvSpPr>
        <p:spPr>
          <a:xfrm>
            <a:off x="5581650" y="3124200"/>
            <a:ext cx="685800" cy="685800"/>
          </a:xfrm>
          <a:prstGeom prst="ellipse">
            <a:avLst/>
          </a:prstGeom>
          <a:solidFill>
            <a:srgbClr val="466D86"/>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D76D8275-6FF1-4AA3-AE4C-3EB5888A9BAF}"/>
              </a:ext>
            </a:extLst>
          </p:cNvPr>
          <p:cNvSpPr>
            <a:spLocks noGrp="1"/>
          </p:cNvSpPr>
          <p:nvPr/>
        </p:nvSpPr>
        <p:spPr>
          <a:xfrm>
            <a:off x="5581650" y="3219450"/>
            <a:ext cx="6858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FFFFFF"/>
                </a:solidFill>
                <a:latin typeface="Georgia"/>
                <a:ea typeface="Georgia"/>
                <a:cs typeface="Georgia"/>
              </a:defRPr>
            </a:pPr>
            <a:r>
              <a:rPr sz="1800" b="1">
                <a:solidFill>
                  <a:srgbClr val="FFFFFF"/>
                </a:solidFill>
                <a:latin typeface="Georgia"/>
                <a:ea typeface="Georgia"/>
                <a:cs typeface="Georgia"/>
              </a:rPr>
              <a:t>5</a:t>
            </a:r>
          </a:p>
        </p:txBody>
      </p:sp>
      <p:sp>
        <p:nvSpPr>
          <p:cNvPr id="15" name="Rectangle 14">
            <a:extLst>
              <a:ext uri="{FF2B5EF4-FFF2-40B4-BE49-F238E27FC236}">
                <a16:creationId xmlns:a16="http://schemas.microsoft.com/office/drawing/2014/main" id="{A14AB844-FDE5-4820-B17F-24DA9B4FDA1C}"/>
              </a:ext>
            </a:extLst>
          </p:cNvPr>
          <p:cNvSpPr>
            <a:spLocks noGrp="1"/>
          </p:cNvSpPr>
          <p:nvPr/>
        </p:nvSpPr>
        <p:spPr>
          <a:xfrm>
            <a:off x="5067300" y="4038600"/>
            <a:ext cx="1714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DDE5DD"/>
                </a:solidFill>
                <a:latin typeface="Aptos"/>
                <a:ea typeface="Aptos"/>
                <a:cs typeface="Aptos"/>
              </a:defRPr>
            </a:pPr>
            <a:r>
              <a:rPr sz="1050" b="1">
                <a:solidFill>
                  <a:srgbClr val="DDE5DD"/>
                </a:solidFill>
                <a:latin typeface="Aptos"/>
                <a:ea typeface="Aptos"/>
                <a:cs typeface="Aptos"/>
              </a:rPr>
              <a:t>5 usi</a:t>
            </a:r>
          </a:p>
        </p:txBody>
      </p:sp>
      <p:sp>
        <p:nvSpPr>
          <p:cNvPr id="16" name="Rectangle 15">
            <a:extLst>
              <a:ext uri="{FF2B5EF4-FFF2-40B4-BE49-F238E27FC236}">
                <a16:creationId xmlns:a16="http://schemas.microsoft.com/office/drawing/2014/main" id="{A3E9CC49-AB08-4F01-9023-C66BD6AFD3C7}"/>
              </a:ext>
            </a:extLst>
          </p:cNvPr>
          <p:cNvSpPr>
            <a:spLocks noGrp="1"/>
          </p:cNvSpPr>
          <p:nvPr/>
        </p:nvSpPr>
        <p:spPr>
          <a:xfrm>
            <a:off x="4972050" y="4438650"/>
            <a:ext cx="1905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850" b="1">
                <a:solidFill>
                  <a:srgbClr val="466D86"/>
                </a:solidFill>
                <a:latin typeface="Georgia"/>
                <a:ea typeface="Georgia"/>
                <a:cs typeface="Georgia"/>
              </a:defRPr>
            </a:pPr>
            <a:r>
              <a:rPr sz="2850" b="1">
                <a:solidFill>
                  <a:srgbClr val="466D86"/>
                </a:solidFill>
                <a:latin typeface="Georgia"/>
                <a:ea typeface="Georgia"/>
                <a:cs typeface="Georgia"/>
              </a:rPr>
              <a:t>20 €</a:t>
            </a:r>
          </a:p>
        </p:txBody>
      </p:sp>
      <p:sp>
        <p:nvSpPr>
          <p:cNvPr id="17" name="Rectangle 16">
            <a:extLst>
              <a:ext uri="{FF2B5EF4-FFF2-40B4-BE49-F238E27FC236}">
                <a16:creationId xmlns:a16="http://schemas.microsoft.com/office/drawing/2014/main" id="{0D65886A-D0F2-4DB9-91AF-8FA4EB65ED14}"/>
              </a:ext>
            </a:extLst>
          </p:cNvPr>
          <p:cNvSpPr>
            <a:spLocks noGrp="1"/>
          </p:cNvSpPr>
          <p:nvPr/>
        </p:nvSpPr>
        <p:spPr>
          <a:xfrm>
            <a:off x="4972050" y="5010150"/>
            <a:ext cx="1905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A9C0B5"/>
                </a:solidFill>
                <a:latin typeface="Aptos"/>
                <a:ea typeface="Aptos"/>
                <a:cs typeface="Aptos"/>
              </a:defRPr>
            </a:pPr>
            <a:r>
              <a:rPr sz="750" b="0">
                <a:solidFill>
                  <a:srgbClr val="A9C0B5"/>
                </a:solidFill>
                <a:latin typeface="Aptos"/>
                <a:ea typeface="Aptos"/>
                <a:cs typeface="Aptos"/>
              </a:rPr>
              <a:t>cost-per-wear</a:t>
            </a:r>
          </a:p>
        </p:txBody>
      </p:sp>
      <p:sp>
        <p:nvSpPr>
          <p:cNvPr id="18" name="wear-10">
            <a:extLst>
              <a:ext uri="{FF2B5EF4-FFF2-40B4-BE49-F238E27FC236}">
                <a16:creationId xmlns:a16="http://schemas.microsoft.com/office/drawing/2014/main" id="{82695CBC-839C-44C5-A561-6B3DEAE4BF06}"/>
              </a:ext>
            </a:extLst>
          </p:cNvPr>
          <p:cNvSpPr>
            <a:spLocks noGrp="1"/>
          </p:cNvSpPr>
          <p:nvPr/>
        </p:nvSpPr>
        <p:spPr>
          <a:xfrm>
            <a:off x="10020300" y="3124200"/>
            <a:ext cx="685800" cy="685800"/>
          </a:xfrm>
          <a:prstGeom prst="ellipse">
            <a:avLst/>
          </a:prstGeom>
          <a:solidFill>
            <a:srgbClr val="B9D94A"/>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F2C45B21-7A8F-4E20-8D9A-25265BD95682}"/>
              </a:ext>
            </a:extLst>
          </p:cNvPr>
          <p:cNvSpPr>
            <a:spLocks noGrp="1"/>
          </p:cNvSpPr>
          <p:nvPr/>
        </p:nvSpPr>
        <p:spPr>
          <a:xfrm>
            <a:off x="10020300" y="3219450"/>
            <a:ext cx="6858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123C31"/>
                </a:solidFill>
                <a:latin typeface="Georgia"/>
                <a:ea typeface="Georgia"/>
                <a:cs typeface="Georgia"/>
              </a:defRPr>
            </a:pPr>
            <a:r>
              <a:rPr sz="1800" b="1">
                <a:solidFill>
                  <a:srgbClr val="123C31"/>
                </a:solidFill>
                <a:latin typeface="Georgia"/>
                <a:ea typeface="Georgia"/>
                <a:cs typeface="Georgia"/>
              </a:rPr>
              <a:t>10</a:t>
            </a:r>
          </a:p>
        </p:txBody>
      </p:sp>
      <p:sp>
        <p:nvSpPr>
          <p:cNvPr id="20" name="Rectangle 19">
            <a:extLst>
              <a:ext uri="{FF2B5EF4-FFF2-40B4-BE49-F238E27FC236}">
                <a16:creationId xmlns:a16="http://schemas.microsoft.com/office/drawing/2014/main" id="{DFA69633-EB52-4A78-841E-07EEB68A0EFB}"/>
              </a:ext>
            </a:extLst>
          </p:cNvPr>
          <p:cNvSpPr>
            <a:spLocks noGrp="1"/>
          </p:cNvSpPr>
          <p:nvPr/>
        </p:nvSpPr>
        <p:spPr>
          <a:xfrm>
            <a:off x="9505950" y="4038600"/>
            <a:ext cx="1714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DDE5DD"/>
                </a:solidFill>
                <a:latin typeface="Aptos"/>
                <a:ea typeface="Aptos"/>
                <a:cs typeface="Aptos"/>
              </a:defRPr>
            </a:pPr>
            <a:r>
              <a:rPr sz="1050" b="1">
                <a:solidFill>
                  <a:srgbClr val="DDE5DD"/>
                </a:solidFill>
                <a:latin typeface="Aptos"/>
                <a:ea typeface="Aptos"/>
                <a:cs typeface="Aptos"/>
              </a:rPr>
              <a:t>10 usi</a:t>
            </a:r>
          </a:p>
        </p:txBody>
      </p:sp>
      <p:sp>
        <p:nvSpPr>
          <p:cNvPr id="21" name="Rectangle 20">
            <a:extLst>
              <a:ext uri="{FF2B5EF4-FFF2-40B4-BE49-F238E27FC236}">
                <a16:creationId xmlns:a16="http://schemas.microsoft.com/office/drawing/2014/main" id="{2C47345F-013F-4EB2-85F0-20EDC8C4F36E}"/>
              </a:ext>
            </a:extLst>
          </p:cNvPr>
          <p:cNvSpPr>
            <a:spLocks noGrp="1"/>
          </p:cNvSpPr>
          <p:nvPr/>
        </p:nvSpPr>
        <p:spPr>
          <a:xfrm>
            <a:off x="9410700" y="4438650"/>
            <a:ext cx="1905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850" b="1">
                <a:solidFill>
                  <a:srgbClr val="B9D94A"/>
                </a:solidFill>
                <a:latin typeface="Georgia"/>
                <a:ea typeface="Georgia"/>
                <a:cs typeface="Georgia"/>
              </a:defRPr>
            </a:pPr>
            <a:r>
              <a:rPr sz="2850" b="1">
                <a:solidFill>
                  <a:srgbClr val="B9D94A"/>
                </a:solidFill>
                <a:latin typeface="Georgia"/>
                <a:ea typeface="Georgia"/>
                <a:cs typeface="Georgia"/>
              </a:rPr>
              <a:t>10 €</a:t>
            </a:r>
          </a:p>
        </p:txBody>
      </p:sp>
      <p:sp>
        <p:nvSpPr>
          <p:cNvPr id="22" name="Rectangle 21">
            <a:extLst>
              <a:ext uri="{FF2B5EF4-FFF2-40B4-BE49-F238E27FC236}">
                <a16:creationId xmlns:a16="http://schemas.microsoft.com/office/drawing/2014/main" id="{7E729060-CD2B-4A90-9925-6EDC9144A23A}"/>
              </a:ext>
            </a:extLst>
          </p:cNvPr>
          <p:cNvSpPr>
            <a:spLocks noGrp="1"/>
          </p:cNvSpPr>
          <p:nvPr/>
        </p:nvSpPr>
        <p:spPr>
          <a:xfrm>
            <a:off x="9410700" y="5010150"/>
            <a:ext cx="1905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A9C0B5"/>
                </a:solidFill>
                <a:latin typeface="Aptos"/>
                <a:ea typeface="Aptos"/>
                <a:cs typeface="Aptos"/>
              </a:defRPr>
            </a:pPr>
            <a:r>
              <a:rPr sz="750" b="0">
                <a:solidFill>
                  <a:srgbClr val="A9C0B5"/>
                </a:solidFill>
                <a:latin typeface="Aptos"/>
                <a:ea typeface="Aptos"/>
                <a:cs typeface="Aptos"/>
              </a:rPr>
              <a:t>cost-per-wear</a:t>
            </a:r>
          </a:p>
        </p:txBody>
      </p:sp>
      <p:sp>
        <p:nvSpPr>
          <p:cNvPr id="23" name="Rectangle 22">
            <a:extLst>
              <a:ext uri="{FF2B5EF4-FFF2-40B4-BE49-F238E27FC236}">
                <a16:creationId xmlns:a16="http://schemas.microsoft.com/office/drawing/2014/main" id="{6FF825ED-066B-4C3B-93D9-64072EDB9559}"/>
              </a:ext>
            </a:extLst>
          </p:cNvPr>
          <p:cNvSpPr>
            <a:spLocks noGrp="1"/>
          </p:cNvSpPr>
          <p:nvPr/>
        </p:nvSpPr>
        <p:spPr>
          <a:xfrm>
            <a:off x="4514850" y="2381250"/>
            <a:ext cx="314325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025" b="1">
                <a:solidFill>
                  <a:srgbClr val="FFFFFF"/>
                </a:solidFill>
                <a:latin typeface="Georgia"/>
                <a:ea typeface="Georgia"/>
                <a:cs typeface="Georgia"/>
              </a:defRPr>
            </a:pPr>
            <a:r>
              <a:rPr sz="2025" b="1">
                <a:solidFill>
                  <a:srgbClr val="FFFFFF"/>
                </a:solidFill>
                <a:latin typeface="Georgia"/>
                <a:ea typeface="Georgia"/>
                <a:cs typeface="Georgia"/>
              </a:rPr>
              <a:t>prezzo ÷ utilizzi</a:t>
            </a:r>
          </a:p>
        </p:txBody>
      </p:sp>
      <p:sp>
        <p:nvSpPr>
          <p:cNvPr id="24" name="Rectangle: Rounded Corners 23">
            <a:extLst>
              <a:ext uri="{FF2B5EF4-FFF2-40B4-BE49-F238E27FC236}">
                <a16:creationId xmlns:a16="http://schemas.microsoft.com/office/drawing/2014/main" id="{7F1F5595-CFAB-4212-8435-4B2A8B0F8C85}"/>
              </a:ext>
            </a:extLst>
          </p:cNvPr>
          <p:cNvSpPr>
            <a:spLocks noGrp="1"/>
          </p:cNvSpPr>
          <p:nvPr/>
        </p:nvSpPr>
        <p:spPr>
          <a:xfrm>
            <a:off x="2857500" y="5581650"/>
            <a:ext cx="6477000" cy="457200"/>
          </a:xfrm>
          <a:prstGeom prst="roundRect">
            <a:avLst>
              <a:gd name="adj" fmla="val 16667"/>
            </a:avLst>
          </a:prstGeom>
          <a:solidFill>
            <a:srgbClr val="1B4A3C"/>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1FB73A71-F9AC-45AE-8599-9D1F3FFC2DBC}"/>
              </a:ext>
            </a:extLst>
          </p:cNvPr>
          <p:cNvSpPr>
            <a:spLocks noGrp="1"/>
          </p:cNvSpPr>
          <p:nvPr/>
        </p:nvSpPr>
        <p:spPr>
          <a:xfrm>
            <a:off x="3067050" y="5686425"/>
            <a:ext cx="60579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DDE5DD"/>
                </a:solidFill>
                <a:latin typeface="Aptos"/>
                <a:ea typeface="Aptos"/>
                <a:cs typeface="Aptos"/>
              </a:defRPr>
            </a:pPr>
            <a:r>
              <a:rPr sz="1050" b="0">
                <a:solidFill>
                  <a:srgbClr val="DDE5DD"/>
                </a:solidFill>
                <a:latin typeface="Aptos"/>
                <a:ea typeface="Aptos"/>
                <a:cs typeface="Aptos"/>
              </a:rPr>
              <a:t>È costo per uso, non valore di mercato del capo.</a:t>
            </a:r>
          </a:p>
        </p:txBody>
      </p:sp>
      <p:sp>
        <p:nvSpPr>
          <p:cNvPr id="26" name="footer-rule">
            <a:extLst>
              <a:ext uri="{FF2B5EF4-FFF2-40B4-BE49-F238E27FC236}">
                <a16:creationId xmlns:a16="http://schemas.microsoft.com/office/drawing/2014/main" id="{57CAB830-4B38-4B84-A290-FF572B708F9F}"/>
              </a:ext>
            </a:extLst>
          </p:cNvPr>
          <p:cNvSpPr>
            <a:spLocks noGrp="1"/>
          </p:cNvSpPr>
          <p:nvPr/>
        </p:nvSpPr>
        <p:spPr>
          <a:xfrm>
            <a:off x="552450" y="6457950"/>
            <a:ext cx="11087100" cy="9525"/>
          </a:xfrm>
          <a:prstGeom prst="rect">
            <a:avLst/>
          </a:prstGeom>
          <a:solidFill>
            <a:srgbClr val="3F685A"/>
          </a:solidFill>
          <a:ln w="0">
            <a:solidFill>
              <a:srgbClr val="000000">
                <a:alpha val="0"/>
              </a:srgbClr>
            </a:solidFill>
            <a:prstDash val="solid"/>
          </a:ln>
        </p:spPr>
        <p:txBody>
          <a:bodyPr/>
          <a:lstStyle/>
          <a:p>
            <a:endParaRPr lang="en-US"/>
          </a:p>
        </p:txBody>
      </p:sp>
      <p:sp>
        <p:nvSpPr>
          <p:cNvPr id="27" name="footer-source">
            <a:extLst>
              <a:ext uri="{FF2B5EF4-FFF2-40B4-BE49-F238E27FC236}">
                <a16:creationId xmlns:a16="http://schemas.microsoft.com/office/drawing/2014/main" id="{B2E50CD5-DB06-40C9-9803-F83C9D0DD167}"/>
              </a:ext>
            </a:extLst>
          </p:cNvPr>
          <p:cNvSpPr>
            <a:spLocks noGrp="1"/>
          </p:cNvSpPr>
          <p:nvPr/>
        </p:nvSpPr>
        <p:spPr>
          <a:xfrm>
            <a:off x="552450" y="6534150"/>
            <a:ext cx="10001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8FA99E"/>
                </a:solidFill>
                <a:latin typeface="Aptos"/>
                <a:ea typeface="Aptos"/>
                <a:cs typeface="Aptos"/>
              </a:defRPr>
            </a:pPr>
            <a:r>
              <a:rPr sz="563" b="0">
                <a:solidFill>
                  <a:srgbClr val="8FA99E"/>
                </a:solidFill>
                <a:latin typeface="Aptos"/>
                <a:ea typeface="Aptos"/>
                <a:cs typeface="Aptos"/>
              </a:rPr>
              <a:t>Ogni “Indossato” crea un evento datato e aggiorna storia, ultimo uso e statistiche</a:t>
            </a:r>
          </a:p>
        </p:txBody>
      </p:sp>
      <p:sp>
        <p:nvSpPr>
          <p:cNvPr id="28" name="page-marker">
            <a:extLst>
              <a:ext uri="{FF2B5EF4-FFF2-40B4-BE49-F238E27FC236}">
                <a16:creationId xmlns:a16="http://schemas.microsoft.com/office/drawing/2014/main" id="{5F0067D2-223E-4BBA-99F8-1B8E75B126A2}"/>
              </a:ext>
            </a:extLst>
          </p:cNvPr>
          <p:cNvSpPr>
            <a:spLocks noGrp="1"/>
          </p:cNvSpPr>
          <p:nvPr/>
        </p:nvSpPr>
        <p:spPr>
          <a:xfrm>
            <a:off x="11087100" y="6505575"/>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8FA99E"/>
                </a:solidFill>
                <a:latin typeface="Georgia"/>
                <a:ea typeface="Georgia"/>
                <a:cs typeface="Georgia"/>
              </a:defRPr>
            </a:pPr>
            <a:r>
              <a:rPr sz="750" b="1">
                <a:solidFill>
                  <a:srgbClr val="8FA99E"/>
                </a:solidFill>
                <a:latin typeface="Georgia"/>
                <a:ea typeface="Georgia"/>
                <a:cs typeface="Georgia"/>
              </a:rPr>
              <a:t>04</a:t>
            </a:r>
          </a:p>
        </p:txBody>
      </p:sp>
    </p:spTree>
    <p:extLst>
      <p:ext uri="{BB962C8B-B14F-4D97-AF65-F5344CB8AC3E}">
        <p14:creationId xmlns:p14="http://schemas.microsoft.com/office/powerpoint/2010/main" val="763646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background">
            <a:extLst>
              <a:ext uri="{FF2B5EF4-FFF2-40B4-BE49-F238E27FC236}">
                <a16:creationId xmlns:a16="http://schemas.microsoft.com/office/drawing/2014/main" id="{A5585158-6B19-4896-AA1B-E88E2BFC8BBD}"/>
              </a:ext>
            </a:extLst>
          </p:cNvPr>
          <p:cNvSpPr>
            <a:spLocks noGrp="1"/>
          </p:cNvSpPr>
          <p:nvPr/>
        </p:nvSpPr>
        <p:spPr>
          <a:xfrm>
            <a:off x="0" y="0"/>
            <a:ext cx="12192000" cy="6858000"/>
          </a:xfrm>
          <a:prstGeom prst="rect">
            <a:avLst/>
          </a:prstGeom>
          <a:solidFill>
            <a:srgbClr val="F4F0E7"/>
          </a:solidFill>
          <a:ln w="0">
            <a:solidFill>
              <a:srgbClr val="000000">
                <a:alpha val="0"/>
              </a:srgbClr>
            </a:solidFill>
            <a:prstDash val="solid"/>
          </a:ln>
        </p:spPr>
        <p:txBody>
          <a:bodyPr/>
          <a:lstStyle/>
          <a:p>
            <a:endParaRPr lang="en-US"/>
          </a:p>
        </p:txBody>
      </p:sp>
      <p:sp>
        <p:nvSpPr>
          <p:cNvPr id="2" name="kicker-marker">
            <a:extLst>
              <a:ext uri="{FF2B5EF4-FFF2-40B4-BE49-F238E27FC236}">
                <a16:creationId xmlns:a16="http://schemas.microsoft.com/office/drawing/2014/main" id="{13A19FE5-80E8-45A3-8D3B-FBB0CEA4CC31}"/>
              </a:ext>
            </a:extLst>
          </p:cNvPr>
          <p:cNvSpPr>
            <a:spLocks noGrp="1"/>
          </p:cNvSpPr>
          <p:nvPr/>
        </p:nvSpPr>
        <p:spPr>
          <a:xfrm>
            <a:off x="552450" y="400050"/>
            <a:ext cx="95250" cy="95250"/>
          </a:xfrm>
          <a:prstGeom prst="ellipse">
            <a:avLst/>
          </a:prstGeom>
          <a:solidFill>
            <a:srgbClr val="2F7D5B"/>
          </a:solidFill>
          <a:ln w="0">
            <a:solidFill>
              <a:srgbClr val="000000">
                <a:alpha val="0"/>
              </a:srgbClr>
            </a:solidFill>
            <a:prstDash val="solid"/>
          </a:ln>
        </p:spPr>
        <p:txBody>
          <a:bodyPr/>
          <a:lstStyle/>
          <a:p>
            <a:endParaRPr lang="en-US"/>
          </a:p>
        </p:txBody>
      </p:sp>
      <p:sp>
        <p:nvSpPr>
          <p:cNvPr id="3" name="kicker-label">
            <a:extLst>
              <a:ext uri="{FF2B5EF4-FFF2-40B4-BE49-F238E27FC236}">
                <a16:creationId xmlns:a16="http://schemas.microsoft.com/office/drawing/2014/main" id="{CD19025B-2E59-4628-B1E8-C6D783C2F03D}"/>
              </a:ext>
            </a:extLst>
          </p:cNvPr>
          <p:cNvSpPr>
            <a:spLocks noGrp="1"/>
          </p:cNvSpPr>
          <p:nvPr/>
        </p:nvSpPr>
        <p:spPr>
          <a:xfrm>
            <a:off x="762000" y="361950"/>
            <a:ext cx="571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5736B"/>
                </a:solidFill>
                <a:latin typeface="Aptos"/>
                <a:ea typeface="Aptos"/>
                <a:cs typeface="Aptos"/>
              </a:defRPr>
            </a:pPr>
            <a:r>
              <a:rPr sz="675" b="1">
                <a:solidFill>
                  <a:srgbClr val="65736B"/>
                </a:solidFill>
                <a:latin typeface="Aptos"/>
                <a:ea typeface="Aptos"/>
                <a:cs typeface="Aptos"/>
              </a:rPr>
              <a:t>U S E R   S T O R Y   ·   3 .   S C E G L I E R E</a:t>
            </a:r>
          </a:p>
        </p:txBody>
      </p:sp>
      <p:sp>
        <p:nvSpPr>
          <p:cNvPr id="4" name="claim-title">
            <a:extLst>
              <a:ext uri="{FF2B5EF4-FFF2-40B4-BE49-F238E27FC236}">
                <a16:creationId xmlns:a16="http://schemas.microsoft.com/office/drawing/2014/main" id="{E9306315-4499-4CE8-854C-E3BF0F0F5F5C}"/>
              </a:ext>
            </a:extLst>
          </p:cNvPr>
          <p:cNvSpPr>
            <a:spLocks noGrp="1"/>
          </p:cNvSpPr>
          <p:nvPr/>
        </p:nvSpPr>
        <p:spPr>
          <a:xfrm>
            <a:off x="552450" y="723900"/>
            <a:ext cx="10287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075" b="1">
                <a:solidFill>
                  <a:srgbClr val="17211D"/>
                </a:solidFill>
                <a:latin typeface="Georgia"/>
                <a:ea typeface="Georgia"/>
                <a:cs typeface="Georgia"/>
              </a:defRPr>
            </a:pPr>
            <a:r>
              <a:rPr sz="3075" b="1">
                <a:solidFill>
                  <a:srgbClr val="17211D"/>
                </a:solidFill>
                <a:latin typeface="Georgia"/>
                <a:ea typeface="Georgia"/>
                <a:cs typeface="Georgia"/>
              </a:rPr>
              <a:t>L’outfit di oggi recupera ciò che Marta possiede già.</a:t>
            </a:r>
          </a:p>
        </p:txBody>
      </p:sp>
      <p:sp>
        <p:nvSpPr>
          <p:cNvPr id="5" name="Rectangle 4">
            <a:extLst>
              <a:ext uri="{FF2B5EF4-FFF2-40B4-BE49-F238E27FC236}">
                <a16:creationId xmlns:a16="http://schemas.microsoft.com/office/drawing/2014/main" id="{AEAE0B82-DEB6-4D54-9DE9-B651C03BEAFA}"/>
              </a:ext>
            </a:extLst>
          </p:cNvPr>
          <p:cNvSpPr>
            <a:spLocks noGrp="1"/>
          </p:cNvSpPr>
          <p:nvPr/>
        </p:nvSpPr>
        <p:spPr>
          <a:xfrm>
            <a:off x="552450" y="186690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2F7D5B"/>
                </a:solidFill>
                <a:latin typeface="Aptos"/>
                <a:ea typeface="Aptos"/>
                <a:cs typeface="Aptos"/>
              </a:defRPr>
            </a:pPr>
            <a:r>
              <a:rPr sz="675" b="1">
                <a:solidFill>
                  <a:srgbClr val="2F7D5B"/>
                </a:solidFill>
                <a:latin typeface="Aptos"/>
                <a:ea typeface="Aptos"/>
                <a:cs typeface="Aptos"/>
              </a:rPr>
              <a:t>COMBINAZIONE PROPOSTA</a:t>
            </a:r>
          </a:p>
        </p:txBody>
      </p:sp>
      <p:sp>
        <p:nvSpPr>
          <p:cNvPr id="6" name="garment-1">
            <a:extLst>
              <a:ext uri="{FF2B5EF4-FFF2-40B4-BE49-F238E27FC236}">
                <a16:creationId xmlns:a16="http://schemas.microsoft.com/office/drawing/2014/main" id="{9E541AF1-EBEA-4890-B5B9-D7A370E4F9D1}"/>
              </a:ext>
            </a:extLst>
          </p:cNvPr>
          <p:cNvSpPr>
            <a:spLocks noGrp="1"/>
          </p:cNvSpPr>
          <p:nvPr/>
        </p:nvSpPr>
        <p:spPr>
          <a:xfrm>
            <a:off x="552450" y="2247900"/>
            <a:ext cx="2266950" cy="2076450"/>
          </a:xfrm>
          <a:prstGeom prst="roundRect">
            <a:avLst>
              <a:gd name="adj" fmla="val 3670"/>
            </a:avLst>
          </a:prstGeom>
          <a:solidFill>
            <a:srgbClr val="FFFFFF"/>
          </a:solidFill>
          <a:ln w="9525">
            <a:solidFill>
              <a:srgbClr val="B9C3BB"/>
            </a:solidFill>
            <a:prstDash val="solid"/>
          </a:ln>
        </p:spPr>
        <p:txBody>
          <a:bodyPr/>
          <a:lstStyle/>
          <a:p>
            <a:endParaRPr lang="en-US"/>
          </a:p>
        </p:txBody>
      </p:sp>
      <p:pic>
        <p:nvPicPr>
          <p:cNvPr id="7" name="Graphic 6"/>
          <p:cNvPicPr>
            <a:picLocks noChangeAspect="1"/>
          </p:cNvPicPr>
          <p:nvPr/>
        </p:nvPicPr>
        <p:blipFill>
          <a:blip>
            <a:extLst>
              <a:ext uri="{96DAC541-7B7A-43D3-8B79-37D633B846F1}">
                <asvg:svgBlip xmlns:asvg="http://schemas.microsoft.com/office/drawing/2016/SVG/main" r:embed="rId3"/>
              </a:ext>
            </a:extLst>
          </a:blip>
          <a:stretch/>
        </p:blipFill>
        <p:spPr>
          <a:xfrm>
            <a:off x="1304925" y="2571750"/>
            <a:ext cx="762000" cy="762000"/>
          </a:xfrm>
          <a:prstGeom prst="rect">
            <a:avLst/>
          </a:prstGeom>
        </p:spPr>
      </p:pic>
      <p:sp>
        <p:nvSpPr>
          <p:cNvPr id="8" name="Rectangle 7">
            <a:extLst>
              <a:ext uri="{FF2B5EF4-FFF2-40B4-BE49-F238E27FC236}">
                <a16:creationId xmlns:a16="http://schemas.microsoft.com/office/drawing/2014/main" id="{EDD1C25D-35EB-4099-A22E-2048B9E08389}"/>
              </a:ext>
            </a:extLst>
          </p:cNvPr>
          <p:cNvSpPr>
            <a:spLocks noGrp="1"/>
          </p:cNvSpPr>
          <p:nvPr/>
        </p:nvSpPr>
        <p:spPr>
          <a:xfrm>
            <a:off x="723900" y="3524250"/>
            <a:ext cx="19240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7211D"/>
                </a:solidFill>
                <a:latin typeface="Georgia"/>
                <a:ea typeface="Georgia"/>
                <a:cs typeface="Georgia"/>
              </a:defRPr>
            </a:pPr>
            <a:r>
              <a:rPr sz="1350" b="1">
                <a:solidFill>
                  <a:srgbClr val="17211D"/>
                </a:solidFill>
                <a:latin typeface="Georgia"/>
                <a:ea typeface="Georgia"/>
                <a:cs typeface="Georgia"/>
              </a:rPr>
              <a:t>Camicia bianca</a:t>
            </a:r>
          </a:p>
        </p:txBody>
      </p:sp>
      <p:sp>
        <p:nvSpPr>
          <p:cNvPr id="9" name="Rectangle 8">
            <a:extLst>
              <a:ext uri="{FF2B5EF4-FFF2-40B4-BE49-F238E27FC236}">
                <a16:creationId xmlns:a16="http://schemas.microsoft.com/office/drawing/2014/main" id="{E4DE167C-E372-4E8D-A347-AE806FA8989A}"/>
              </a:ext>
            </a:extLst>
          </p:cNvPr>
          <p:cNvSpPr>
            <a:spLocks noGrp="1"/>
          </p:cNvSpPr>
          <p:nvPr/>
        </p:nvSpPr>
        <p:spPr>
          <a:xfrm>
            <a:off x="723900" y="3924300"/>
            <a:ext cx="1924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65736B"/>
                </a:solidFill>
                <a:latin typeface="Aptos"/>
                <a:ea typeface="Aptos"/>
                <a:cs typeface="Aptos"/>
              </a:defRPr>
            </a:pPr>
            <a:r>
              <a:rPr sz="750" b="0">
                <a:solidFill>
                  <a:srgbClr val="65736B"/>
                </a:solidFill>
                <a:latin typeface="Aptos"/>
                <a:ea typeface="Aptos"/>
                <a:cs typeface="Aptos"/>
              </a:rPr>
              <a:t>top</a:t>
            </a:r>
          </a:p>
        </p:txBody>
      </p:sp>
      <p:sp>
        <p:nvSpPr>
          <p:cNvPr id="10" name="garment-2">
            <a:extLst>
              <a:ext uri="{FF2B5EF4-FFF2-40B4-BE49-F238E27FC236}">
                <a16:creationId xmlns:a16="http://schemas.microsoft.com/office/drawing/2014/main" id="{8566F652-1A0A-494E-BBC7-5DACDA077CCD}"/>
              </a:ext>
            </a:extLst>
          </p:cNvPr>
          <p:cNvSpPr>
            <a:spLocks noGrp="1"/>
          </p:cNvSpPr>
          <p:nvPr/>
        </p:nvSpPr>
        <p:spPr>
          <a:xfrm>
            <a:off x="3200400" y="2247900"/>
            <a:ext cx="2266950" cy="2076450"/>
          </a:xfrm>
          <a:prstGeom prst="roundRect">
            <a:avLst>
              <a:gd name="adj" fmla="val 3670"/>
            </a:avLst>
          </a:prstGeom>
          <a:solidFill>
            <a:srgbClr val="41668E"/>
          </a:solidFill>
          <a:ln w="9525">
            <a:solidFill>
              <a:srgbClr val="41668E"/>
            </a:solidFill>
            <a:prstDash val="solid"/>
          </a:ln>
        </p:spPr>
        <p:txBody>
          <a:bodyPr/>
          <a:lstStyle/>
          <a:p>
            <a:endParaRPr lang="en-US"/>
          </a:p>
        </p:txBody>
      </p:sp>
      <p:pic>
        <p:nvPicPr>
          <p:cNvPr id="11" name="Graphic 10"/>
          <p:cNvPicPr>
            <a:picLocks noChangeAspect="1"/>
          </p:cNvPicPr>
          <p:nvPr/>
        </p:nvPicPr>
        <p:blipFill>
          <a:blip>
            <a:extLst>
              <a:ext uri="{96DAC541-7B7A-43D3-8B79-37D633B846F1}">
                <asvg:svgBlip xmlns:asvg="http://schemas.microsoft.com/office/drawing/2016/SVG/main" r:embed="rId4"/>
              </a:ext>
            </a:extLst>
          </a:blip>
          <a:stretch/>
        </p:blipFill>
        <p:spPr>
          <a:xfrm>
            <a:off x="3952875" y="2571750"/>
            <a:ext cx="762000" cy="762000"/>
          </a:xfrm>
          <a:prstGeom prst="rect">
            <a:avLst/>
          </a:prstGeom>
        </p:spPr>
      </p:pic>
      <p:sp>
        <p:nvSpPr>
          <p:cNvPr id="12" name="Rectangle 11">
            <a:extLst>
              <a:ext uri="{FF2B5EF4-FFF2-40B4-BE49-F238E27FC236}">
                <a16:creationId xmlns:a16="http://schemas.microsoft.com/office/drawing/2014/main" id="{7F281FF6-1A13-4A8A-9738-E6F2E04FEF16}"/>
              </a:ext>
            </a:extLst>
          </p:cNvPr>
          <p:cNvSpPr>
            <a:spLocks noGrp="1"/>
          </p:cNvSpPr>
          <p:nvPr/>
        </p:nvSpPr>
        <p:spPr>
          <a:xfrm>
            <a:off x="3371850" y="3524250"/>
            <a:ext cx="19240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FFFFFF"/>
                </a:solidFill>
                <a:latin typeface="Georgia"/>
                <a:ea typeface="Georgia"/>
                <a:cs typeface="Georgia"/>
              </a:defRPr>
            </a:pPr>
            <a:r>
              <a:rPr sz="1350" b="1">
                <a:solidFill>
                  <a:srgbClr val="FFFFFF"/>
                </a:solidFill>
                <a:latin typeface="Georgia"/>
                <a:ea typeface="Georgia"/>
                <a:cs typeface="Georgia"/>
              </a:rPr>
              <a:t>Jeans blu</a:t>
            </a:r>
          </a:p>
        </p:txBody>
      </p:sp>
      <p:sp>
        <p:nvSpPr>
          <p:cNvPr id="13" name="Rectangle 12">
            <a:extLst>
              <a:ext uri="{FF2B5EF4-FFF2-40B4-BE49-F238E27FC236}">
                <a16:creationId xmlns:a16="http://schemas.microsoft.com/office/drawing/2014/main" id="{C080BA37-FBC3-4140-92F2-A50AB9AF5648}"/>
              </a:ext>
            </a:extLst>
          </p:cNvPr>
          <p:cNvSpPr>
            <a:spLocks noGrp="1"/>
          </p:cNvSpPr>
          <p:nvPr/>
        </p:nvSpPr>
        <p:spPr>
          <a:xfrm>
            <a:off x="3371850" y="3924300"/>
            <a:ext cx="1924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DDE5DD"/>
                </a:solidFill>
                <a:latin typeface="Aptos"/>
                <a:ea typeface="Aptos"/>
                <a:cs typeface="Aptos"/>
              </a:defRPr>
            </a:pPr>
            <a:r>
              <a:rPr sz="750" b="0">
                <a:solidFill>
                  <a:srgbClr val="DDE5DD"/>
                </a:solidFill>
                <a:latin typeface="Aptos"/>
                <a:ea typeface="Aptos"/>
                <a:cs typeface="Aptos"/>
              </a:rPr>
              <a:t>bottom</a:t>
            </a:r>
          </a:p>
        </p:txBody>
      </p:sp>
      <p:sp>
        <p:nvSpPr>
          <p:cNvPr id="14" name="garment-3">
            <a:extLst>
              <a:ext uri="{FF2B5EF4-FFF2-40B4-BE49-F238E27FC236}">
                <a16:creationId xmlns:a16="http://schemas.microsoft.com/office/drawing/2014/main" id="{C2E18FAE-5944-4DB6-AAB4-F19A50CA6E0D}"/>
              </a:ext>
            </a:extLst>
          </p:cNvPr>
          <p:cNvSpPr>
            <a:spLocks noGrp="1"/>
          </p:cNvSpPr>
          <p:nvPr/>
        </p:nvSpPr>
        <p:spPr>
          <a:xfrm>
            <a:off x="5848350" y="2247900"/>
            <a:ext cx="2266950" cy="2076450"/>
          </a:xfrm>
          <a:prstGeom prst="roundRect">
            <a:avLst>
              <a:gd name="adj" fmla="val 3670"/>
            </a:avLst>
          </a:prstGeom>
          <a:solidFill>
            <a:srgbClr val="1D5946"/>
          </a:solidFill>
          <a:ln w="9525">
            <a:solidFill>
              <a:srgbClr val="1D5946"/>
            </a:solidFill>
            <a:prstDash val="solid"/>
          </a:ln>
        </p:spPr>
        <p:txBody>
          <a:bodyPr/>
          <a:lstStyle/>
          <a:p>
            <a:endParaRPr lang="en-US"/>
          </a:p>
        </p:txBody>
      </p:sp>
      <p:pic>
        <p:nvPicPr>
          <p:cNvPr id="15" name="Graphic 14"/>
          <p:cNvPicPr>
            <a:picLocks noChangeAspect="1"/>
          </p:cNvPicPr>
          <p:nvPr/>
        </p:nvPicPr>
        <p:blipFill>
          <a:blip>
            <a:extLst>
              <a:ext uri="{96DAC541-7B7A-43D3-8B79-37D633B846F1}">
                <asvg:svgBlip xmlns:asvg="http://schemas.microsoft.com/office/drawing/2016/SVG/main" r:embed="rId4"/>
              </a:ext>
            </a:extLst>
          </a:blip>
          <a:stretch/>
        </p:blipFill>
        <p:spPr>
          <a:xfrm>
            <a:off x="6600825" y="2571750"/>
            <a:ext cx="762000" cy="762000"/>
          </a:xfrm>
          <a:prstGeom prst="rect">
            <a:avLst/>
          </a:prstGeom>
        </p:spPr>
      </p:pic>
      <p:sp>
        <p:nvSpPr>
          <p:cNvPr id="16" name="Rectangle 15">
            <a:extLst>
              <a:ext uri="{FF2B5EF4-FFF2-40B4-BE49-F238E27FC236}">
                <a16:creationId xmlns:a16="http://schemas.microsoft.com/office/drawing/2014/main" id="{34701B77-D6A9-40F3-AA80-F81781D73E30}"/>
              </a:ext>
            </a:extLst>
          </p:cNvPr>
          <p:cNvSpPr>
            <a:spLocks noGrp="1"/>
          </p:cNvSpPr>
          <p:nvPr/>
        </p:nvSpPr>
        <p:spPr>
          <a:xfrm>
            <a:off x="6019800" y="3524250"/>
            <a:ext cx="19240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FFFFFF"/>
                </a:solidFill>
                <a:latin typeface="Georgia"/>
                <a:ea typeface="Georgia"/>
                <a:cs typeface="Georgia"/>
              </a:defRPr>
            </a:pPr>
            <a:r>
              <a:rPr sz="1350" b="1">
                <a:solidFill>
                  <a:srgbClr val="FFFFFF"/>
                </a:solidFill>
                <a:latin typeface="Georgia"/>
                <a:ea typeface="Georgia"/>
                <a:cs typeface="Georgia"/>
              </a:rPr>
              <a:t>Giacca verde</a:t>
            </a:r>
          </a:p>
        </p:txBody>
      </p:sp>
      <p:sp>
        <p:nvSpPr>
          <p:cNvPr id="17" name="Rectangle 16">
            <a:extLst>
              <a:ext uri="{FF2B5EF4-FFF2-40B4-BE49-F238E27FC236}">
                <a16:creationId xmlns:a16="http://schemas.microsoft.com/office/drawing/2014/main" id="{1443A0D8-7D95-4FE3-A72B-3CC2E7377204}"/>
              </a:ext>
            </a:extLst>
          </p:cNvPr>
          <p:cNvSpPr>
            <a:spLocks noGrp="1"/>
          </p:cNvSpPr>
          <p:nvPr/>
        </p:nvSpPr>
        <p:spPr>
          <a:xfrm>
            <a:off x="6019800" y="3924300"/>
            <a:ext cx="1924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DDE5DD"/>
                </a:solidFill>
                <a:latin typeface="Aptos"/>
                <a:ea typeface="Aptos"/>
                <a:cs typeface="Aptos"/>
              </a:defRPr>
            </a:pPr>
            <a:r>
              <a:rPr sz="750" b="0">
                <a:solidFill>
                  <a:srgbClr val="DDE5DD"/>
                </a:solidFill>
                <a:latin typeface="Aptos"/>
                <a:ea typeface="Aptos"/>
                <a:cs typeface="Aptos"/>
              </a:rPr>
              <a:t>capospalla</a:t>
            </a:r>
          </a:p>
        </p:txBody>
      </p:sp>
      <p:sp>
        <p:nvSpPr>
          <p:cNvPr id="18" name="decision-panel">
            <a:extLst>
              <a:ext uri="{FF2B5EF4-FFF2-40B4-BE49-F238E27FC236}">
                <a16:creationId xmlns:a16="http://schemas.microsoft.com/office/drawing/2014/main" id="{47CF8ADF-38C9-4304-B13B-F864FA2CC16E}"/>
              </a:ext>
            </a:extLst>
          </p:cNvPr>
          <p:cNvSpPr>
            <a:spLocks noGrp="1"/>
          </p:cNvSpPr>
          <p:nvPr/>
        </p:nvSpPr>
        <p:spPr>
          <a:xfrm>
            <a:off x="8763000" y="2038350"/>
            <a:ext cx="2876550" cy="3105150"/>
          </a:xfrm>
          <a:prstGeom prst="roundRect">
            <a:avLst>
              <a:gd name="adj" fmla="val 2649"/>
            </a:avLst>
          </a:prstGeom>
          <a:solidFill>
            <a:srgbClr val="123C31"/>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D227CFCE-30C0-47E9-8D5B-D2D24CCBE17B}"/>
              </a:ext>
            </a:extLst>
          </p:cNvPr>
          <p:cNvSpPr>
            <a:spLocks noGrp="1"/>
          </p:cNvSpPr>
          <p:nvPr/>
        </p:nvSpPr>
        <p:spPr>
          <a:xfrm>
            <a:off x="9048750" y="2343150"/>
            <a:ext cx="23050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725" b="1">
                <a:solidFill>
                  <a:srgbClr val="FFFFFF"/>
                </a:solidFill>
                <a:latin typeface="Georgia"/>
                <a:ea typeface="Georgia"/>
                <a:cs typeface="Georgia"/>
              </a:defRPr>
            </a:pPr>
            <a:r>
              <a:rPr sz="1725" b="1">
                <a:solidFill>
                  <a:srgbClr val="FFFFFF"/>
                </a:solidFill>
                <a:latin typeface="Georgia"/>
                <a:ea typeface="Georgia"/>
                <a:cs typeface="Georgia"/>
              </a:rPr>
              <a:t>Perché questa?</a:t>
            </a:r>
          </a:p>
        </p:txBody>
      </p:sp>
      <p:sp>
        <p:nvSpPr>
          <p:cNvPr id="20" name="Oval 19">
            <a:extLst>
              <a:ext uri="{FF2B5EF4-FFF2-40B4-BE49-F238E27FC236}">
                <a16:creationId xmlns:a16="http://schemas.microsoft.com/office/drawing/2014/main" id="{5086DA2F-AA47-4190-8EBD-A4694806A7D7}"/>
              </a:ext>
            </a:extLst>
          </p:cNvPr>
          <p:cNvSpPr>
            <a:spLocks noGrp="1"/>
          </p:cNvSpPr>
          <p:nvPr/>
        </p:nvSpPr>
        <p:spPr>
          <a:xfrm>
            <a:off x="9029700" y="3048000"/>
            <a:ext cx="152400" cy="152400"/>
          </a:xfrm>
          <a:prstGeom prst="ellipse">
            <a:avLst/>
          </a:prstGeom>
          <a:solidFill>
            <a:srgbClr val="B9D94A"/>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830D9B5F-5518-48B0-BBB3-01D31EFB44B3}"/>
              </a:ext>
            </a:extLst>
          </p:cNvPr>
          <p:cNvSpPr>
            <a:spLocks noGrp="1"/>
          </p:cNvSpPr>
          <p:nvPr/>
        </p:nvSpPr>
        <p:spPr>
          <a:xfrm>
            <a:off x="9315450" y="2990850"/>
            <a:ext cx="1809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B9D94A"/>
                </a:solidFill>
                <a:latin typeface="Aptos"/>
                <a:ea typeface="Aptos"/>
                <a:cs typeface="Aptos"/>
              </a:defRPr>
            </a:pPr>
            <a:r>
              <a:rPr sz="900" b="1">
                <a:solidFill>
                  <a:srgbClr val="B9D94A"/>
                </a:solidFill>
                <a:latin typeface="Aptos"/>
                <a:ea typeface="Aptos"/>
                <a:cs typeface="Aptos"/>
              </a:rPr>
              <a:t>Palette</a:t>
            </a:r>
          </a:p>
        </p:txBody>
      </p:sp>
      <p:sp>
        <p:nvSpPr>
          <p:cNvPr id="22" name="Rectangle 21">
            <a:extLst>
              <a:ext uri="{FF2B5EF4-FFF2-40B4-BE49-F238E27FC236}">
                <a16:creationId xmlns:a16="http://schemas.microsoft.com/office/drawing/2014/main" id="{6C2FF72A-E155-49A2-804B-0B125A199BDC}"/>
              </a:ext>
            </a:extLst>
          </p:cNvPr>
          <p:cNvSpPr>
            <a:spLocks noGrp="1"/>
          </p:cNvSpPr>
          <p:nvPr/>
        </p:nvSpPr>
        <p:spPr>
          <a:xfrm>
            <a:off x="9315450" y="3238500"/>
            <a:ext cx="1809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DDE5DD"/>
                </a:solidFill>
                <a:latin typeface="Aptos"/>
                <a:ea typeface="Aptos"/>
                <a:cs typeface="Aptos"/>
              </a:defRPr>
            </a:pPr>
            <a:r>
              <a:rPr sz="788" b="0">
                <a:solidFill>
                  <a:srgbClr val="DDE5DD"/>
                </a:solidFill>
                <a:latin typeface="Aptos"/>
                <a:ea typeface="Aptos"/>
                <a:cs typeface="Aptos"/>
              </a:rPr>
              <a:t>colori compatibili</a:t>
            </a:r>
          </a:p>
        </p:txBody>
      </p:sp>
      <p:sp>
        <p:nvSpPr>
          <p:cNvPr id="23" name="Oval 22">
            <a:extLst>
              <a:ext uri="{FF2B5EF4-FFF2-40B4-BE49-F238E27FC236}">
                <a16:creationId xmlns:a16="http://schemas.microsoft.com/office/drawing/2014/main" id="{EFAB441A-1073-4532-9321-6B2BBD5F6F62}"/>
              </a:ext>
            </a:extLst>
          </p:cNvPr>
          <p:cNvSpPr>
            <a:spLocks noGrp="1"/>
          </p:cNvSpPr>
          <p:nvPr/>
        </p:nvSpPr>
        <p:spPr>
          <a:xfrm>
            <a:off x="9029700" y="3695700"/>
            <a:ext cx="152400" cy="152400"/>
          </a:xfrm>
          <a:prstGeom prst="ellipse">
            <a:avLst/>
          </a:prstGeom>
          <a:solidFill>
            <a:srgbClr val="8BB7CE"/>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8A5B2165-6197-4B25-8C05-7E352C3C7910}"/>
              </a:ext>
            </a:extLst>
          </p:cNvPr>
          <p:cNvSpPr>
            <a:spLocks noGrp="1"/>
          </p:cNvSpPr>
          <p:nvPr/>
        </p:nvSpPr>
        <p:spPr>
          <a:xfrm>
            <a:off x="9315450" y="3638550"/>
            <a:ext cx="1809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8BB7CE"/>
                </a:solidFill>
                <a:latin typeface="Aptos"/>
                <a:ea typeface="Aptos"/>
                <a:cs typeface="Aptos"/>
              </a:defRPr>
            </a:pPr>
            <a:r>
              <a:rPr sz="900" b="1">
                <a:solidFill>
                  <a:srgbClr val="8BB7CE"/>
                </a:solidFill>
                <a:latin typeface="Aptos"/>
                <a:ea typeface="Aptos"/>
                <a:cs typeface="Aptos"/>
              </a:rPr>
              <a:t>Meteo</a:t>
            </a:r>
          </a:p>
        </p:txBody>
      </p:sp>
      <p:sp>
        <p:nvSpPr>
          <p:cNvPr id="25" name="Rectangle 24">
            <a:extLst>
              <a:ext uri="{FF2B5EF4-FFF2-40B4-BE49-F238E27FC236}">
                <a16:creationId xmlns:a16="http://schemas.microsoft.com/office/drawing/2014/main" id="{6A5F5849-2F37-4336-99D3-A908D172FDA8}"/>
              </a:ext>
            </a:extLst>
          </p:cNvPr>
          <p:cNvSpPr>
            <a:spLocks noGrp="1"/>
          </p:cNvSpPr>
          <p:nvPr/>
        </p:nvSpPr>
        <p:spPr>
          <a:xfrm>
            <a:off x="9315450" y="3886200"/>
            <a:ext cx="1809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DDE5DD"/>
                </a:solidFill>
                <a:latin typeface="Aptos"/>
                <a:ea typeface="Aptos"/>
                <a:cs typeface="Aptos"/>
              </a:defRPr>
            </a:pPr>
            <a:r>
              <a:rPr sz="788" b="0">
                <a:solidFill>
                  <a:srgbClr val="DDE5DD"/>
                </a:solidFill>
                <a:latin typeface="Aptos"/>
                <a:ea typeface="Aptos"/>
                <a:cs typeface="Aptos"/>
              </a:rPr>
              <a:t>adatta alla giornata</a:t>
            </a:r>
          </a:p>
        </p:txBody>
      </p:sp>
      <p:sp>
        <p:nvSpPr>
          <p:cNvPr id="26" name="Oval 25">
            <a:extLst>
              <a:ext uri="{FF2B5EF4-FFF2-40B4-BE49-F238E27FC236}">
                <a16:creationId xmlns:a16="http://schemas.microsoft.com/office/drawing/2014/main" id="{124F916B-FA93-4D0F-8467-6DBB68D3AF04}"/>
              </a:ext>
            </a:extLst>
          </p:cNvPr>
          <p:cNvSpPr>
            <a:spLocks noGrp="1"/>
          </p:cNvSpPr>
          <p:nvPr/>
        </p:nvSpPr>
        <p:spPr>
          <a:xfrm>
            <a:off x="9029700" y="4343400"/>
            <a:ext cx="152400" cy="152400"/>
          </a:xfrm>
          <a:prstGeom prst="ellipse">
            <a:avLst/>
          </a:prstGeom>
          <a:solidFill>
            <a:srgbClr val="D56E42"/>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83E00D33-7C13-4FD0-BA47-45B346C0C788}"/>
              </a:ext>
            </a:extLst>
          </p:cNvPr>
          <p:cNvSpPr>
            <a:spLocks noGrp="1"/>
          </p:cNvSpPr>
          <p:nvPr/>
        </p:nvSpPr>
        <p:spPr>
          <a:xfrm>
            <a:off x="9315450" y="4286250"/>
            <a:ext cx="1809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D56E42"/>
                </a:solidFill>
                <a:latin typeface="Aptos"/>
                <a:ea typeface="Aptos"/>
                <a:cs typeface="Aptos"/>
              </a:defRPr>
            </a:pPr>
            <a:r>
              <a:rPr sz="900" b="1">
                <a:solidFill>
                  <a:srgbClr val="D56E42"/>
                </a:solidFill>
                <a:latin typeface="Aptos"/>
                <a:ea typeface="Aptos"/>
                <a:cs typeface="Aptos"/>
              </a:rPr>
              <a:t>Anti-fantasma</a:t>
            </a:r>
          </a:p>
        </p:txBody>
      </p:sp>
      <p:sp>
        <p:nvSpPr>
          <p:cNvPr id="28" name="Rectangle 27">
            <a:extLst>
              <a:ext uri="{FF2B5EF4-FFF2-40B4-BE49-F238E27FC236}">
                <a16:creationId xmlns:a16="http://schemas.microsoft.com/office/drawing/2014/main" id="{A0435958-41D1-47AA-97E0-38EA96CD2085}"/>
              </a:ext>
            </a:extLst>
          </p:cNvPr>
          <p:cNvSpPr>
            <a:spLocks noGrp="1"/>
          </p:cNvSpPr>
          <p:nvPr/>
        </p:nvSpPr>
        <p:spPr>
          <a:xfrm>
            <a:off x="9315450" y="4533900"/>
            <a:ext cx="1809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DDE5DD"/>
                </a:solidFill>
                <a:latin typeface="Aptos"/>
                <a:ea typeface="Aptos"/>
                <a:cs typeface="Aptos"/>
              </a:defRPr>
            </a:pPr>
            <a:r>
              <a:rPr sz="788" b="0">
                <a:solidFill>
                  <a:srgbClr val="DDE5DD"/>
                </a:solidFill>
                <a:latin typeface="Aptos"/>
                <a:ea typeface="Aptos"/>
                <a:cs typeface="Aptos"/>
              </a:rPr>
              <a:t>riporta la giacca in rotazione</a:t>
            </a:r>
          </a:p>
        </p:txBody>
      </p:sp>
      <p:sp>
        <p:nvSpPr>
          <p:cNvPr id="29" name="Rectangle: Rounded Corners 28">
            <a:extLst>
              <a:ext uri="{FF2B5EF4-FFF2-40B4-BE49-F238E27FC236}">
                <a16:creationId xmlns:a16="http://schemas.microsoft.com/office/drawing/2014/main" id="{41416316-AE6E-4AFF-A5F4-12AFCBD2A2F3}"/>
              </a:ext>
            </a:extLst>
          </p:cNvPr>
          <p:cNvSpPr>
            <a:spLocks noGrp="1"/>
          </p:cNvSpPr>
          <p:nvPr/>
        </p:nvSpPr>
        <p:spPr>
          <a:xfrm>
            <a:off x="552450" y="4762500"/>
            <a:ext cx="7581900" cy="838200"/>
          </a:xfrm>
          <a:prstGeom prst="roundRect">
            <a:avLst>
              <a:gd name="adj" fmla="val 9091"/>
            </a:avLst>
          </a:prstGeom>
          <a:solidFill>
            <a:srgbClr val="DDE5DD"/>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EE16977D-0059-449E-AA31-A9B036D19C2A}"/>
              </a:ext>
            </a:extLst>
          </p:cNvPr>
          <p:cNvSpPr>
            <a:spLocks noGrp="1"/>
          </p:cNvSpPr>
          <p:nvPr/>
        </p:nvSpPr>
        <p:spPr>
          <a:xfrm>
            <a:off x="781050" y="4953000"/>
            <a:ext cx="2095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23C31"/>
                </a:solidFill>
                <a:latin typeface="Georgia"/>
                <a:ea typeface="Georgia"/>
                <a:cs typeface="Georgia"/>
              </a:defRPr>
            </a:pPr>
            <a:r>
              <a:rPr sz="1200" b="1">
                <a:solidFill>
                  <a:srgbClr val="123C31"/>
                </a:solidFill>
                <a:latin typeface="Georgia"/>
                <a:ea typeface="Georgia"/>
                <a:cs typeface="Georgia"/>
              </a:rPr>
              <a:t>“Indosso questo”</a:t>
            </a:r>
          </a:p>
        </p:txBody>
      </p:sp>
      <p:sp>
        <p:nvSpPr>
          <p:cNvPr id="31" name="Rectangle 30">
            <a:extLst>
              <a:ext uri="{FF2B5EF4-FFF2-40B4-BE49-F238E27FC236}">
                <a16:creationId xmlns:a16="http://schemas.microsoft.com/office/drawing/2014/main" id="{293DE613-D7F4-4840-AE45-6C32A74C3EA3}"/>
              </a:ext>
            </a:extLst>
          </p:cNvPr>
          <p:cNvSpPr>
            <a:spLocks noGrp="1"/>
          </p:cNvSpPr>
          <p:nvPr/>
        </p:nvSpPr>
        <p:spPr>
          <a:xfrm>
            <a:off x="3028950" y="4953000"/>
            <a:ext cx="2286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17211D"/>
                </a:solidFill>
                <a:latin typeface="Aptos"/>
                <a:ea typeface="Aptos"/>
                <a:cs typeface="Aptos"/>
              </a:defRPr>
            </a:pPr>
            <a:r>
              <a:rPr sz="975" b="0">
                <a:solidFill>
                  <a:srgbClr val="17211D"/>
                </a:solidFill>
                <a:latin typeface="Aptos"/>
                <a:ea typeface="Aptos"/>
                <a:cs typeface="Aptos"/>
              </a:rPr>
              <a:t>registra insieme i 3 utilizzi</a:t>
            </a:r>
          </a:p>
        </p:txBody>
      </p:sp>
      <p:sp>
        <p:nvSpPr>
          <p:cNvPr id="32" name="Rectangle 31">
            <a:extLst>
              <a:ext uri="{FF2B5EF4-FFF2-40B4-BE49-F238E27FC236}">
                <a16:creationId xmlns:a16="http://schemas.microsoft.com/office/drawing/2014/main" id="{DD9900B2-D2A8-4954-BA74-041F5D3FF617}"/>
              </a:ext>
            </a:extLst>
          </p:cNvPr>
          <p:cNvSpPr>
            <a:spLocks noGrp="1"/>
          </p:cNvSpPr>
          <p:nvPr/>
        </p:nvSpPr>
        <p:spPr>
          <a:xfrm>
            <a:off x="5905500" y="4905375"/>
            <a:ext cx="8191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D56E42"/>
                </a:solidFill>
                <a:latin typeface="Aptos"/>
                <a:ea typeface="Aptos"/>
                <a:cs typeface="Aptos"/>
              </a:defRPr>
            </a:pPr>
            <a:r>
              <a:rPr sz="1650" b="1">
                <a:solidFill>
                  <a:srgbClr val="D56E42"/>
                </a:solidFill>
                <a:latin typeface="Aptos"/>
                <a:ea typeface="Aptos"/>
                <a:cs typeface="Aptos"/>
              </a:rPr>
              <a:t>♥ / ×</a:t>
            </a:r>
          </a:p>
        </p:txBody>
      </p:sp>
      <p:sp>
        <p:nvSpPr>
          <p:cNvPr id="33" name="Rectangle 32">
            <a:extLst>
              <a:ext uri="{FF2B5EF4-FFF2-40B4-BE49-F238E27FC236}">
                <a16:creationId xmlns:a16="http://schemas.microsoft.com/office/drawing/2014/main" id="{C5E379D6-4117-4AC0-BB66-53E74F54DB3F}"/>
              </a:ext>
            </a:extLst>
          </p:cNvPr>
          <p:cNvSpPr>
            <a:spLocks noGrp="1"/>
          </p:cNvSpPr>
          <p:nvPr/>
        </p:nvSpPr>
        <p:spPr>
          <a:xfrm>
            <a:off x="6743700" y="4857750"/>
            <a:ext cx="12001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0">
                <a:solidFill>
                  <a:srgbClr val="65736B"/>
                </a:solidFill>
                <a:latin typeface="Aptos"/>
                <a:ea typeface="Aptos"/>
                <a:cs typeface="Aptos"/>
              </a:defRPr>
            </a:pPr>
            <a:r>
              <a:rPr sz="713" b="0">
                <a:solidFill>
                  <a:srgbClr val="65736B"/>
                </a:solidFill>
                <a:latin typeface="Aptos"/>
                <a:ea typeface="Aptos"/>
                <a:cs typeface="Aptos"/>
              </a:rPr>
              <a:t>il feedback modifica leggermente l’ordine futuro</a:t>
            </a:r>
          </a:p>
        </p:txBody>
      </p:sp>
      <p:sp>
        <p:nvSpPr>
          <p:cNvPr id="34" name="Rectangle 33">
            <a:extLst>
              <a:ext uri="{FF2B5EF4-FFF2-40B4-BE49-F238E27FC236}">
                <a16:creationId xmlns:a16="http://schemas.microsoft.com/office/drawing/2014/main" id="{185B56E7-BE03-46F0-AB38-D34CE1F5AC9D}"/>
              </a:ext>
            </a:extLst>
          </p:cNvPr>
          <p:cNvSpPr>
            <a:spLocks noGrp="1"/>
          </p:cNvSpPr>
          <p:nvPr/>
        </p:nvSpPr>
        <p:spPr>
          <a:xfrm>
            <a:off x="552450" y="5848350"/>
            <a:ext cx="10668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65736B"/>
                </a:solidFill>
                <a:latin typeface="Aptos"/>
                <a:ea typeface="Aptos"/>
                <a:cs typeface="Aptos"/>
              </a:defRPr>
            </a:pPr>
            <a:r>
              <a:rPr sz="825" b="0">
                <a:solidFill>
                  <a:srgbClr val="65736B"/>
                </a:solidFill>
                <a:latin typeface="Aptos"/>
                <a:ea typeface="Aptos"/>
                <a:cs typeface="Aptos"/>
              </a:rPr>
              <a:t>Lo score ordina le proposte: non è una probabilità assoluta di gradimento.</a:t>
            </a:r>
          </a:p>
        </p:txBody>
      </p:sp>
      <p:sp>
        <p:nvSpPr>
          <p:cNvPr id="35" name="footer-rule">
            <a:extLst>
              <a:ext uri="{FF2B5EF4-FFF2-40B4-BE49-F238E27FC236}">
                <a16:creationId xmlns:a16="http://schemas.microsoft.com/office/drawing/2014/main" id="{657BE0A6-C255-4FE9-A5F7-8993B451C321}"/>
              </a:ext>
            </a:extLst>
          </p:cNvPr>
          <p:cNvSpPr>
            <a:spLocks noGrp="1"/>
          </p:cNvSpPr>
          <p:nvPr/>
        </p:nvSpPr>
        <p:spPr>
          <a:xfrm>
            <a:off x="552450" y="6457950"/>
            <a:ext cx="11087100" cy="9525"/>
          </a:xfrm>
          <a:prstGeom prst="rect">
            <a:avLst/>
          </a:prstGeom>
          <a:solidFill>
            <a:srgbClr val="B9C3BB"/>
          </a:solidFill>
          <a:ln w="0">
            <a:solidFill>
              <a:srgbClr val="000000">
                <a:alpha val="0"/>
              </a:srgbClr>
            </a:solidFill>
            <a:prstDash val="solid"/>
          </a:ln>
        </p:spPr>
        <p:txBody>
          <a:bodyPr/>
          <a:lstStyle/>
          <a:p>
            <a:endParaRPr lang="en-US"/>
          </a:p>
        </p:txBody>
      </p:sp>
      <p:sp>
        <p:nvSpPr>
          <p:cNvPr id="36" name="footer-source">
            <a:extLst>
              <a:ext uri="{FF2B5EF4-FFF2-40B4-BE49-F238E27FC236}">
                <a16:creationId xmlns:a16="http://schemas.microsoft.com/office/drawing/2014/main" id="{C9DFDE93-4C4C-4FDF-B20E-E1B32A94200C}"/>
              </a:ext>
            </a:extLst>
          </p:cNvPr>
          <p:cNvSpPr>
            <a:spLocks noGrp="1"/>
          </p:cNvSpPr>
          <p:nvPr/>
        </p:nvSpPr>
        <p:spPr>
          <a:xfrm>
            <a:off x="552450" y="6534150"/>
            <a:ext cx="10001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65736B"/>
                </a:solidFill>
                <a:latin typeface="Aptos"/>
                <a:ea typeface="Aptos"/>
                <a:cs typeface="Aptos"/>
              </a:defRPr>
            </a:pPr>
            <a:r>
              <a:rPr sz="563" b="0">
                <a:solidFill>
                  <a:srgbClr val="65736B"/>
                </a:solidFill>
                <a:latin typeface="Aptos"/>
                <a:ea typeface="Aptos"/>
                <a:cs typeface="Aptos"/>
              </a:rPr>
              <a:t>Combinazioni di capi attivi, meteo, colore, ghost e feedback leggero</a:t>
            </a:r>
          </a:p>
        </p:txBody>
      </p:sp>
      <p:sp>
        <p:nvSpPr>
          <p:cNvPr id="37" name="page-marker">
            <a:extLst>
              <a:ext uri="{FF2B5EF4-FFF2-40B4-BE49-F238E27FC236}">
                <a16:creationId xmlns:a16="http://schemas.microsoft.com/office/drawing/2014/main" id="{6FF9D9B9-529B-49AE-88F2-0E67578757CB}"/>
              </a:ext>
            </a:extLst>
          </p:cNvPr>
          <p:cNvSpPr>
            <a:spLocks noGrp="1"/>
          </p:cNvSpPr>
          <p:nvPr/>
        </p:nvSpPr>
        <p:spPr>
          <a:xfrm>
            <a:off x="11087100" y="6505575"/>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65736B"/>
                </a:solidFill>
                <a:latin typeface="Georgia"/>
                <a:ea typeface="Georgia"/>
                <a:cs typeface="Georgia"/>
              </a:defRPr>
            </a:pPr>
            <a:r>
              <a:rPr sz="750" b="1">
                <a:solidFill>
                  <a:srgbClr val="65736B"/>
                </a:solidFill>
                <a:latin typeface="Georgia"/>
                <a:ea typeface="Georgia"/>
                <a:cs typeface="Georgia"/>
              </a:rPr>
              <a:t>05</a:t>
            </a:r>
          </a:p>
        </p:txBody>
      </p:sp>
    </p:spTree>
    <p:extLst>
      <p:ext uri="{BB962C8B-B14F-4D97-AF65-F5344CB8AC3E}">
        <p14:creationId xmlns:p14="http://schemas.microsoft.com/office/powerpoint/2010/main" val="1827285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background">
            <a:extLst>
              <a:ext uri="{FF2B5EF4-FFF2-40B4-BE49-F238E27FC236}">
                <a16:creationId xmlns:a16="http://schemas.microsoft.com/office/drawing/2014/main" id="{C9F9F27D-8E4E-4CE2-B39F-16E412075F6E}"/>
              </a:ext>
            </a:extLst>
          </p:cNvPr>
          <p:cNvSpPr>
            <a:spLocks noGrp="1"/>
          </p:cNvSpPr>
          <p:nvPr/>
        </p:nvSpPr>
        <p:spPr>
          <a:xfrm>
            <a:off x="0" y="0"/>
            <a:ext cx="12192000" cy="6858000"/>
          </a:xfrm>
          <a:prstGeom prst="rect">
            <a:avLst/>
          </a:prstGeom>
          <a:solidFill>
            <a:srgbClr val="123C31"/>
          </a:solidFill>
          <a:ln w="0">
            <a:solidFill>
              <a:srgbClr val="000000">
                <a:alpha val="0"/>
              </a:srgbClr>
            </a:solidFill>
            <a:prstDash val="solid"/>
          </a:ln>
        </p:spPr>
        <p:txBody>
          <a:bodyPr/>
          <a:lstStyle/>
          <a:p>
            <a:endParaRPr lang="en-US"/>
          </a:p>
        </p:txBody>
      </p:sp>
      <p:sp>
        <p:nvSpPr>
          <p:cNvPr id="2" name="kicker-marker">
            <a:extLst>
              <a:ext uri="{FF2B5EF4-FFF2-40B4-BE49-F238E27FC236}">
                <a16:creationId xmlns:a16="http://schemas.microsoft.com/office/drawing/2014/main" id="{657E187A-CB2B-49BA-ABBB-6A53124217BD}"/>
              </a:ext>
            </a:extLst>
          </p:cNvPr>
          <p:cNvSpPr>
            <a:spLocks noGrp="1"/>
          </p:cNvSpPr>
          <p:nvPr/>
        </p:nvSpPr>
        <p:spPr>
          <a:xfrm>
            <a:off x="552450" y="400050"/>
            <a:ext cx="95250" cy="95250"/>
          </a:xfrm>
          <a:prstGeom prst="ellipse">
            <a:avLst/>
          </a:prstGeom>
          <a:solidFill>
            <a:srgbClr val="B9D94A"/>
          </a:solidFill>
          <a:ln w="0">
            <a:solidFill>
              <a:srgbClr val="000000">
                <a:alpha val="0"/>
              </a:srgbClr>
            </a:solidFill>
            <a:prstDash val="solid"/>
          </a:ln>
        </p:spPr>
        <p:txBody>
          <a:bodyPr/>
          <a:lstStyle/>
          <a:p>
            <a:endParaRPr lang="en-US"/>
          </a:p>
        </p:txBody>
      </p:sp>
      <p:sp>
        <p:nvSpPr>
          <p:cNvPr id="3" name="kicker-label">
            <a:extLst>
              <a:ext uri="{FF2B5EF4-FFF2-40B4-BE49-F238E27FC236}">
                <a16:creationId xmlns:a16="http://schemas.microsoft.com/office/drawing/2014/main" id="{4BF622DB-5322-429C-A8B8-CEDA27394967}"/>
              </a:ext>
            </a:extLst>
          </p:cNvPr>
          <p:cNvSpPr>
            <a:spLocks noGrp="1"/>
          </p:cNvSpPr>
          <p:nvPr/>
        </p:nvSpPr>
        <p:spPr>
          <a:xfrm>
            <a:off x="762000" y="361950"/>
            <a:ext cx="571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DDE5DD"/>
                </a:solidFill>
                <a:latin typeface="Aptos"/>
                <a:ea typeface="Aptos"/>
                <a:cs typeface="Aptos"/>
              </a:defRPr>
            </a:pPr>
            <a:r>
              <a:rPr sz="675" b="1">
                <a:solidFill>
                  <a:srgbClr val="DDE5DD"/>
                </a:solidFill>
                <a:latin typeface="Aptos"/>
                <a:ea typeface="Aptos"/>
                <a:cs typeface="Aptos"/>
              </a:rPr>
              <a:t>U S E R   S T O R Y   ·   4 .   R I S C O P R I R E</a:t>
            </a:r>
          </a:p>
        </p:txBody>
      </p:sp>
      <p:sp>
        <p:nvSpPr>
          <p:cNvPr id="4" name="claim-title">
            <a:extLst>
              <a:ext uri="{FF2B5EF4-FFF2-40B4-BE49-F238E27FC236}">
                <a16:creationId xmlns:a16="http://schemas.microsoft.com/office/drawing/2014/main" id="{95041085-A2D5-4838-B739-F4C32302C781}"/>
              </a:ext>
            </a:extLst>
          </p:cNvPr>
          <p:cNvSpPr>
            <a:spLocks noGrp="1"/>
          </p:cNvSpPr>
          <p:nvPr/>
        </p:nvSpPr>
        <p:spPr>
          <a:xfrm>
            <a:off x="552450" y="723900"/>
            <a:ext cx="1057275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000" b="1">
                <a:solidFill>
                  <a:srgbClr val="FFFFFF"/>
                </a:solidFill>
                <a:latin typeface="Georgia"/>
                <a:ea typeface="Georgia"/>
                <a:cs typeface="Georgia"/>
              </a:defRPr>
            </a:pPr>
            <a:r>
              <a:rPr sz="3000" b="1">
                <a:solidFill>
                  <a:srgbClr val="FFFFFF"/>
                </a:solidFill>
                <a:latin typeface="Georgia"/>
                <a:ea typeface="Georgia"/>
                <a:cs typeface="Georgia"/>
              </a:rPr>
              <a:t>La giacca dimenticata riappare prima di un nuovo acquisto.</a:t>
            </a:r>
          </a:p>
        </p:txBody>
      </p:sp>
      <p:sp>
        <p:nvSpPr>
          <p:cNvPr id="5" name="Rectangle 4">
            <a:extLst>
              <a:ext uri="{FF2B5EF4-FFF2-40B4-BE49-F238E27FC236}">
                <a16:creationId xmlns:a16="http://schemas.microsoft.com/office/drawing/2014/main" id="{22FF9052-D8E7-420A-9E75-70D6212695E3}"/>
              </a:ext>
            </a:extLst>
          </p:cNvPr>
          <p:cNvSpPr>
            <a:spLocks noGrp="1"/>
          </p:cNvSpPr>
          <p:nvPr/>
        </p:nvSpPr>
        <p:spPr>
          <a:xfrm>
            <a:off x="552450" y="1714500"/>
            <a:ext cx="8096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DDE5DD"/>
                </a:solidFill>
                <a:latin typeface="Aptos"/>
                <a:ea typeface="Aptos"/>
                <a:cs typeface="Aptos"/>
              </a:defRPr>
            </a:pPr>
            <a:r>
              <a:rPr sz="1200" b="0">
                <a:solidFill>
                  <a:srgbClr val="DDE5DD"/>
                </a:solidFill>
                <a:latin typeface="Aptos"/>
                <a:ea typeface="Aptos"/>
                <a:cs typeface="Aptos"/>
              </a:rPr>
              <a:t>Un capo è fantasma solo quando tutte e tre le condizioni sono vere.</a:t>
            </a:r>
          </a:p>
        </p:txBody>
      </p:sp>
      <p:sp>
        <p:nvSpPr>
          <p:cNvPr id="6" name="ghost-condition-1">
            <a:extLst>
              <a:ext uri="{FF2B5EF4-FFF2-40B4-BE49-F238E27FC236}">
                <a16:creationId xmlns:a16="http://schemas.microsoft.com/office/drawing/2014/main" id="{ABC2949C-F8E3-4324-806D-A2443EB64FBE}"/>
              </a:ext>
            </a:extLst>
          </p:cNvPr>
          <p:cNvSpPr>
            <a:spLocks noGrp="1"/>
          </p:cNvSpPr>
          <p:nvPr/>
        </p:nvSpPr>
        <p:spPr>
          <a:xfrm>
            <a:off x="552450" y="2514600"/>
            <a:ext cx="495300" cy="495300"/>
          </a:xfrm>
          <a:prstGeom prst="ellipse">
            <a:avLst/>
          </a:prstGeom>
          <a:solidFill>
            <a:srgbClr val="2F7D5B"/>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F18911C4-F43B-45BB-A569-0C0BF22D1AD2}"/>
              </a:ext>
            </a:extLst>
          </p:cNvPr>
          <p:cNvSpPr>
            <a:spLocks noGrp="1"/>
          </p:cNvSpPr>
          <p:nvPr/>
        </p:nvSpPr>
        <p:spPr>
          <a:xfrm>
            <a:off x="552450" y="2571750"/>
            <a:ext cx="4953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FFFFFF"/>
                </a:solidFill>
                <a:latin typeface="Georgia"/>
                <a:ea typeface="Georgia"/>
                <a:cs typeface="Georgia"/>
              </a:defRPr>
            </a:pPr>
            <a:r>
              <a:rPr sz="1350" b="1">
                <a:solidFill>
                  <a:srgbClr val="FFFFFF"/>
                </a:solidFill>
                <a:latin typeface="Georgia"/>
                <a:ea typeface="Georgia"/>
                <a:cs typeface="Georgia"/>
              </a:rPr>
              <a:t>1</a:t>
            </a:r>
          </a:p>
        </p:txBody>
      </p:sp>
      <p:sp>
        <p:nvSpPr>
          <p:cNvPr id="8" name="Rectangle 7">
            <a:extLst>
              <a:ext uri="{FF2B5EF4-FFF2-40B4-BE49-F238E27FC236}">
                <a16:creationId xmlns:a16="http://schemas.microsoft.com/office/drawing/2014/main" id="{B6A0F02A-4EC2-47A3-8FD7-C77EC1110DB8}"/>
              </a:ext>
            </a:extLst>
          </p:cNvPr>
          <p:cNvSpPr>
            <a:spLocks noGrp="1"/>
          </p:cNvSpPr>
          <p:nvPr/>
        </p:nvSpPr>
        <p:spPr>
          <a:xfrm>
            <a:off x="1219200" y="2381250"/>
            <a:ext cx="20383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FFFFFF"/>
                </a:solidFill>
                <a:latin typeface="Georgia"/>
                <a:ea typeface="Georgia"/>
                <a:cs typeface="Georgia"/>
              </a:defRPr>
            </a:pPr>
            <a:r>
              <a:rPr sz="1500" b="1">
                <a:solidFill>
                  <a:srgbClr val="FFFFFF"/>
                </a:solidFill>
                <a:latin typeface="Georgia"/>
                <a:ea typeface="Georgia"/>
                <a:cs typeface="Georgia"/>
              </a:rPr>
              <a:t>È attivo</a:t>
            </a:r>
          </a:p>
        </p:txBody>
      </p:sp>
      <p:sp>
        <p:nvSpPr>
          <p:cNvPr id="9" name="Rectangle 8">
            <a:extLst>
              <a:ext uri="{FF2B5EF4-FFF2-40B4-BE49-F238E27FC236}">
                <a16:creationId xmlns:a16="http://schemas.microsoft.com/office/drawing/2014/main" id="{5B1F43B5-B338-49F9-85CD-1FA32E7B64B4}"/>
              </a:ext>
            </a:extLst>
          </p:cNvPr>
          <p:cNvSpPr>
            <a:spLocks noGrp="1"/>
          </p:cNvSpPr>
          <p:nvPr/>
        </p:nvSpPr>
        <p:spPr>
          <a:xfrm>
            <a:off x="1219200" y="2876550"/>
            <a:ext cx="203835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A9C0B5"/>
                </a:solidFill>
                <a:latin typeface="Aptos"/>
                <a:ea typeface="Aptos"/>
                <a:cs typeface="Aptos"/>
              </a:defRPr>
            </a:pPr>
            <a:r>
              <a:rPr sz="825" b="0">
                <a:solidFill>
                  <a:srgbClr val="A9C0B5"/>
                </a:solidFill>
                <a:latin typeface="Aptos"/>
                <a:ea typeface="Aptos"/>
                <a:cs typeface="Aptos"/>
              </a:rPr>
              <a:t>non è stato venduto, donato o riciclato</a:t>
            </a:r>
          </a:p>
        </p:txBody>
      </p:sp>
      <p:sp>
        <p:nvSpPr>
          <p:cNvPr id="10" name="ghost-link-1">
            <a:extLst>
              <a:ext uri="{FF2B5EF4-FFF2-40B4-BE49-F238E27FC236}">
                <a16:creationId xmlns:a16="http://schemas.microsoft.com/office/drawing/2014/main" id="{D28023E3-21BE-45BA-B887-9348A970E583}"/>
              </a:ext>
            </a:extLst>
          </p:cNvPr>
          <p:cNvSpPr>
            <a:spLocks noGrp="1"/>
          </p:cNvSpPr>
          <p:nvPr/>
        </p:nvSpPr>
        <p:spPr>
          <a:xfrm>
            <a:off x="3257550" y="2762250"/>
            <a:ext cx="304800" cy="19050"/>
          </a:xfrm>
          <a:prstGeom prst="rect">
            <a:avLst/>
          </a:prstGeom>
          <a:solidFill>
            <a:srgbClr val="50796B"/>
          </a:solidFill>
          <a:ln w="0">
            <a:solidFill>
              <a:srgbClr val="000000">
                <a:alpha val="0"/>
              </a:srgbClr>
            </a:solidFill>
            <a:prstDash val="solid"/>
          </a:ln>
        </p:spPr>
        <p:txBody>
          <a:bodyPr/>
          <a:lstStyle/>
          <a:p>
            <a:endParaRPr lang="en-US"/>
          </a:p>
        </p:txBody>
      </p:sp>
      <p:sp>
        <p:nvSpPr>
          <p:cNvPr id="11" name="ghost-link-1-end">
            <a:extLst>
              <a:ext uri="{FF2B5EF4-FFF2-40B4-BE49-F238E27FC236}">
                <a16:creationId xmlns:a16="http://schemas.microsoft.com/office/drawing/2014/main" id="{813C3C1F-36E7-4EE7-B456-18E85A6033EC}"/>
              </a:ext>
            </a:extLst>
          </p:cNvPr>
          <p:cNvSpPr>
            <a:spLocks noGrp="1"/>
          </p:cNvSpPr>
          <p:nvPr/>
        </p:nvSpPr>
        <p:spPr>
          <a:xfrm>
            <a:off x="3505200" y="2714625"/>
            <a:ext cx="104775" cy="104775"/>
          </a:xfrm>
          <a:prstGeom prst="ellipse">
            <a:avLst/>
          </a:prstGeom>
          <a:solidFill>
            <a:srgbClr val="50796B"/>
          </a:solidFill>
          <a:ln w="0">
            <a:solidFill>
              <a:srgbClr val="000000">
                <a:alpha val="0"/>
              </a:srgbClr>
            </a:solidFill>
            <a:prstDash val="solid"/>
          </a:ln>
        </p:spPr>
        <p:txBody>
          <a:bodyPr/>
          <a:lstStyle/>
          <a:p>
            <a:endParaRPr lang="en-US"/>
          </a:p>
        </p:txBody>
      </p:sp>
      <p:sp>
        <p:nvSpPr>
          <p:cNvPr id="12" name="ghost-condition-2">
            <a:extLst>
              <a:ext uri="{FF2B5EF4-FFF2-40B4-BE49-F238E27FC236}">
                <a16:creationId xmlns:a16="http://schemas.microsoft.com/office/drawing/2014/main" id="{5CEABC99-6E18-4FB0-95C2-9321A8224D54}"/>
              </a:ext>
            </a:extLst>
          </p:cNvPr>
          <p:cNvSpPr>
            <a:spLocks noGrp="1"/>
          </p:cNvSpPr>
          <p:nvPr/>
        </p:nvSpPr>
        <p:spPr>
          <a:xfrm>
            <a:off x="3562350" y="2514600"/>
            <a:ext cx="495300" cy="495300"/>
          </a:xfrm>
          <a:prstGeom prst="ellipse">
            <a:avLst/>
          </a:prstGeom>
          <a:solidFill>
            <a:srgbClr val="2F7D5B"/>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C1525515-79B1-41E9-9DC5-DEA564DA8FF4}"/>
              </a:ext>
            </a:extLst>
          </p:cNvPr>
          <p:cNvSpPr>
            <a:spLocks noGrp="1"/>
          </p:cNvSpPr>
          <p:nvPr/>
        </p:nvSpPr>
        <p:spPr>
          <a:xfrm>
            <a:off x="3562350" y="2571750"/>
            <a:ext cx="4953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FFFFFF"/>
                </a:solidFill>
                <a:latin typeface="Georgia"/>
                <a:ea typeface="Georgia"/>
                <a:cs typeface="Georgia"/>
              </a:defRPr>
            </a:pPr>
            <a:r>
              <a:rPr sz="1350" b="1">
                <a:solidFill>
                  <a:srgbClr val="FFFFFF"/>
                </a:solidFill>
                <a:latin typeface="Georgia"/>
                <a:ea typeface="Georgia"/>
                <a:cs typeface="Georgia"/>
              </a:rPr>
              <a:t>2</a:t>
            </a:r>
          </a:p>
        </p:txBody>
      </p:sp>
      <p:sp>
        <p:nvSpPr>
          <p:cNvPr id="14" name="Rectangle 13">
            <a:extLst>
              <a:ext uri="{FF2B5EF4-FFF2-40B4-BE49-F238E27FC236}">
                <a16:creationId xmlns:a16="http://schemas.microsoft.com/office/drawing/2014/main" id="{0FFAA058-648B-4A2F-8530-F467F24F7117}"/>
              </a:ext>
            </a:extLst>
          </p:cNvPr>
          <p:cNvSpPr>
            <a:spLocks noGrp="1"/>
          </p:cNvSpPr>
          <p:nvPr/>
        </p:nvSpPr>
        <p:spPr>
          <a:xfrm>
            <a:off x="4229100" y="2381250"/>
            <a:ext cx="20383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FFFFFF"/>
                </a:solidFill>
                <a:latin typeface="Georgia"/>
                <a:ea typeface="Georgia"/>
                <a:cs typeface="Georgia"/>
              </a:defRPr>
            </a:pPr>
            <a:r>
              <a:rPr sz="1500" b="1">
                <a:solidFill>
                  <a:srgbClr val="FFFFFF"/>
                </a:solidFill>
                <a:latin typeface="Georgia"/>
                <a:ea typeface="Georgia"/>
                <a:cs typeface="Georgia"/>
              </a:rPr>
              <a:t>Ha 0 utilizzi</a:t>
            </a:r>
          </a:p>
        </p:txBody>
      </p:sp>
      <p:sp>
        <p:nvSpPr>
          <p:cNvPr id="15" name="Rectangle 14">
            <a:extLst>
              <a:ext uri="{FF2B5EF4-FFF2-40B4-BE49-F238E27FC236}">
                <a16:creationId xmlns:a16="http://schemas.microsoft.com/office/drawing/2014/main" id="{F7BBE5F0-95B4-4366-BA2D-8FC739B92E46}"/>
              </a:ext>
            </a:extLst>
          </p:cNvPr>
          <p:cNvSpPr>
            <a:spLocks noGrp="1"/>
          </p:cNvSpPr>
          <p:nvPr/>
        </p:nvSpPr>
        <p:spPr>
          <a:xfrm>
            <a:off x="4229100" y="2876550"/>
            <a:ext cx="203835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A9C0B5"/>
                </a:solidFill>
                <a:latin typeface="Aptos"/>
                <a:ea typeface="Aptos"/>
                <a:cs typeface="Aptos"/>
              </a:defRPr>
            </a:pPr>
            <a:r>
              <a:rPr sz="825" b="0">
                <a:solidFill>
                  <a:srgbClr val="A9C0B5"/>
                </a:solidFill>
                <a:latin typeface="Aptos"/>
                <a:ea typeface="Aptos"/>
                <a:cs typeface="Aptos"/>
              </a:rPr>
              <a:t>mai registrato come indossato</a:t>
            </a:r>
          </a:p>
        </p:txBody>
      </p:sp>
      <p:sp>
        <p:nvSpPr>
          <p:cNvPr id="16" name="ghost-link-2">
            <a:extLst>
              <a:ext uri="{FF2B5EF4-FFF2-40B4-BE49-F238E27FC236}">
                <a16:creationId xmlns:a16="http://schemas.microsoft.com/office/drawing/2014/main" id="{C7383ABF-0848-4783-A527-240DB31A79C1}"/>
              </a:ext>
            </a:extLst>
          </p:cNvPr>
          <p:cNvSpPr>
            <a:spLocks noGrp="1"/>
          </p:cNvSpPr>
          <p:nvPr/>
        </p:nvSpPr>
        <p:spPr>
          <a:xfrm>
            <a:off x="6267450" y="2762250"/>
            <a:ext cx="304800" cy="19050"/>
          </a:xfrm>
          <a:prstGeom prst="rect">
            <a:avLst/>
          </a:prstGeom>
          <a:solidFill>
            <a:srgbClr val="50796B"/>
          </a:solidFill>
          <a:ln w="0">
            <a:solidFill>
              <a:srgbClr val="000000">
                <a:alpha val="0"/>
              </a:srgbClr>
            </a:solidFill>
            <a:prstDash val="solid"/>
          </a:ln>
        </p:spPr>
        <p:txBody>
          <a:bodyPr/>
          <a:lstStyle/>
          <a:p>
            <a:endParaRPr lang="en-US"/>
          </a:p>
        </p:txBody>
      </p:sp>
      <p:sp>
        <p:nvSpPr>
          <p:cNvPr id="17" name="ghost-link-2-end">
            <a:extLst>
              <a:ext uri="{FF2B5EF4-FFF2-40B4-BE49-F238E27FC236}">
                <a16:creationId xmlns:a16="http://schemas.microsoft.com/office/drawing/2014/main" id="{27E44898-10DA-4871-8568-EA34B57F21EC}"/>
              </a:ext>
            </a:extLst>
          </p:cNvPr>
          <p:cNvSpPr>
            <a:spLocks noGrp="1"/>
          </p:cNvSpPr>
          <p:nvPr/>
        </p:nvSpPr>
        <p:spPr>
          <a:xfrm>
            <a:off x="6515100" y="2714625"/>
            <a:ext cx="104775" cy="104775"/>
          </a:xfrm>
          <a:prstGeom prst="ellipse">
            <a:avLst/>
          </a:prstGeom>
          <a:solidFill>
            <a:srgbClr val="50796B"/>
          </a:solidFill>
          <a:ln w="0">
            <a:solidFill>
              <a:srgbClr val="000000">
                <a:alpha val="0"/>
              </a:srgbClr>
            </a:solidFill>
            <a:prstDash val="solid"/>
          </a:ln>
        </p:spPr>
        <p:txBody>
          <a:bodyPr/>
          <a:lstStyle/>
          <a:p>
            <a:endParaRPr lang="en-US"/>
          </a:p>
        </p:txBody>
      </p:sp>
      <p:sp>
        <p:nvSpPr>
          <p:cNvPr id="18" name="ghost-condition-3">
            <a:extLst>
              <a:ext uri="{FF2B5EF4-FFF2-40B4-BE49-F238E27FC236}">
                <a16:creationId xmlns:a16="http://schemas.microsoft.com/office/drawing/2014/main" id="{E377B5AA-FBB5-4B5A-9105-B722E02F243E}"/>
              </a:ext>
            </a:extLst>
          </p:cNvPr>
          <p:cNvSpPr>
            <a:spLocks noGrp="1"/>
          </p:cNvSpPr>
          <p:nvPr/>
        </p:nvSpPr>
        <p:spPr>
          <a:xfrm>
            <a:off x="6572250" y="2514600"/>
            <a:ext cx="495300" cy="495300"/>
          </a:xfrm>
          <a:prstGeom prst="ellipse">
            <a:avLst/>
          </a:prstGeom>
          <a:solidFill>
            <a:srgbClr val="B9D94A"/>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0B1A85E4-9E1C-4E72-B2BE-25190B2D429B}"/>
              </a:ext>
            </a:extLst>
          </p:cNvPr>
          <p:cNvSpPr>
            <a:spLocks noGrp="1"/>
          </p:cNvSpPr>
          <p:nvPr/>
        </p:nvSpPr>
        <p:spPr>
          <a:xfrm>
            <a:off x="6572250" y="2571750"/>
            <a:ext cx="4953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23C31"/>
                </a:solidFill>
                <a:latin typeface="Georgia"/>
                <a:ea typeface="Georgia"/>
                <a:cs typeface="Georgia"/>
              </a:defRPr>
            </a:pPr>
            <a:r>
              <a:rPr sz="1350" b="1">
                <a:solidFill>
                  <a:srgbClr val="123C31"/>
                </a:solidFill>
                <a:latin typeface="Georgia"/>
                <a:ea typeface="Georgia"/>
                <a:cs typeface="Georgia"/>
              </a:rPr>
              <a:t>3</a:t>
            </a:r>
          </a:p>
        </p:txBody>
      </p:sp>
      <p:sp>
        <p:nvSpPr>
          <p:cNvPr id="20" name="Rectangle 19">
            <a:extLst>
              <a:ext uri="{FF2B5EF4-FFF2-40B4-BE49-F238E27FC236}">
                <a16:creationId xmlns:a16="http://schemas.microsoft.com/office/drawing/2014/main" id="{8D1EE6CE-6F50-4055-90E8-13D58D64662E}"/>
              </a:ext>
            </a:extLst>
          </p:cNvPr>
          <p:cNvSpPr>
            <a:spLocks noGrp="1"/>
          </p:cNvSpPr>
          <p:nvPr/>
        </p:nvSpPr>
        <p:spPr>
          <a:xfrm>
            <a:off x="7239000" y="2381250"/>
            <a:ext cx="20383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FFFFFF"/>
                </a:solidFill>
                <a:latin typeface="Georgia"/>
                <a:ea typeface="Georgia"/>
                <a:cs typeface="Georgia"/>
              </a:defRPr>
            </a:pPr>
            <a:r>
              <a:rPr sz="1500" b="1">
                <a:solidFill>
                  <a:srgbClr val="FFFFFF"/>
                </a:solidFill>
                <a:latin typeface="Georgia"/>
                <a:ea typeface="Georgia"/>
                <a:cs typeface="Georgia"/>
              </a:rPr>
              <a:t>È posseduto da 30+ giorni</a:t>
            </a:r>
          </a:p>
        </p:txBody>
      </p:sp>
      <p:sp>
        <p:nvSpPr>
          <p:cNvPr id="21" name="Rectangle 20">
            <a:extLst>
              <a:ext uri="{FF2B5EF4-FFF2-40B4-BE49-F238E27FC236}">
                <a16:creationId xmlns:a16="http://schemas.microsoft.com/office/drawing/2014/main" id="{A36E7C04-ADF0-4AF3-A56E-71CA2388E4A3}"/>
              </a:ext>
            </a:extLst>
          </p:cNvPr>
          <p:cNvSpPr>
            <a:spLocks noGrp="1"/>
          </p:cNvSpPr>
          <p:nvPr/>
        </p:nvSpPr>
        <p:spPr>
          <a:xfrm>
            <a:off x="7239000" y="2876550"/>
            <a:ext cx="203835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A9C0B5"/>
                </a:solidFill>
                <a:latin typeface="Aptos"/>
                <a:ea typeface="Aptos"/>
                <a:cs typeface="Aptos"/>
              </a:defRPr>
            </a:pPr>
            <a:r>
              <a:rPr sz="825" b="0">
                <a:solidFill>
                  <a:srgbClr val="A9C0B5"/>
                </a:solidFill>
                <a:latin typeface="Aptos"/>
                <a:ea typeface="Aptos"/>
                <a:cs typeface="Aptos"/>
              </a:rPr>
              <a:t>soglia modificabile in dashboard</a:t>
            </a:r>
          </a:p>
        </p:txBody>
      </p:sp>
      <p:sp>
        <p:nvSpPr>
          <p:cNvPr id="22" name="ghost-output">
            <a:extLst>
              <a:ext uri="{FF2B5EF4-FFF2-40B4-BE49-F238E27FC236}">
                <a16:creationId xmlns:a16="http://schemas.microsoft.com/office/drawing/2014/main" id="{DBFCF0BB-2B63-430E-820F-DA6B3F2D0FB8}"/>
              </a:ext>
            </a:extLst>
          </p:cNvPr>
          <p:cNvSpPr>
            <a:spLocks noGrp="1"/>
          </p:cNvSpPr>
          <p:nvPr/>
        </p:nvSpPr>
        <p:spPr>
          <a:xfrm>
            <a:off x="9410700" y="2266950"/>
            <a:ext cx="2228850" cy="1352550"/>
          </a:xfrm>
          <a:prstGeom prst="roundRect">
            <a:avLst>
              <a:gd name="adj" fmla="val 5634"/>
            </a:avLst>
          </a:prstGeom>
          <a:solidFill>
            <a:srgbClr val="B9D94A"/>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8F1F17B6-D40F-46AF-85EC-4059C5F41E5E}"/>
              </a:ext>
            </a:extLst>
          </p:cNvPr>
          <p:cNvSpPr>
            <a:spLocks noGrp="1"/>
          </p:cNvSpPr>
          <p:nvPr/>
        </p:nvSpPr>
        <p:spPr>
          <a:xfrm>
            <a:off x="9620250" y="2457450"/>
            <a:ext cx="180975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123C31"/>
                </a:solidFill>
                <a:latin typeface="Georgia"/>
                <a:ea typeface="Georgia"/>
                <a:cs typeface="Georgia"/>
              </a:defRPr>
            </a:pPr>
            <a:r>
              <a:rPr sz="1875" b="1">
                <a:solidFill>
                  <a:srgbClr val="123C31"/>
                </a:solidFill>
                <a:latin typeface="Georgia"/>
                <a:ea typeface="Georgia"/>
                <a:cs typeface="Georgia"/>
              </a:rPr>
              <a:t>CAPO</a:t>
            </a:r>
          </a:p>
          <a:p>
            <a:pPr algn="ctr">
              <a:defRPr sz="1875" b="1">
                <a:solidFill>
                  <a:srgbClr val="123C31"/>
                </a:solidFill>
                <a:latin typeface="Georgia"/>
                <a:ea typeface="Georgia"/>
                <a:cs typeface="Georgia"/>
              </a:defRPr>
            </a:pPr>
            <a:r>
              <a:rPr sz="1875" b="1">
                <a:solidFill>
                  <a:srgbClr val="123C31"/>
                </a:solidFill>
                <a:latin typeface="Georgia"/>
                <a:ea typeface="Georgia"/>
                <a:cs typeface="Georgia"/>
              </a:rPr>
              <a:t>FANTASMA</a:t>
            </a:r>
          </a:p>
        </p:txBody>
      </p:sp>
      <p:sp>
        <p:nvSpPr>
          <p:cNvPr id="24" name="Rectangle 23">
            <a:extLst>
              <a:ext uri="{FF2B5EF4-FFF2-40B4-BE49-F238E27FC236}">
                <a16:creationId xmlns:a16="http://schemas.microsoft.com/office/drawing/2014/main" id="{94082DDA-5BC4-434F-9433-A8AB178BBFC4}"/>
              </a:ext>
            </a:extLst>
          </p:cNvPr>
          <p:cNvSpPr>
            <a:spLocks noGrp="1"/>
          </p:cNvSpPr>
          <p:nvPr/>
        </p:nvSpPr>
        <p:spPr>
          <a:xfrm>
            <a:off x="552450" y="4000500"/>
            <a:ext cx="11087100" cy="9525"/>
          </a:xfrm>
          <a:prstGeom prst="rect">
            <a:avLst/>
          </a:prstGeom>
          <a:solidFill>
            <a:srgbClr val="466D60"/>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C52DAC93-685B-4F2F-AE5A-A24240DA30ED}"/>
              </a:ext>
            </a:extLst>
          </p:cNvPr>
          <p:cNvSpPr>
            <a:spLocks noGrp="1"/>
          </p:cNvSpPr>
          <p:nvPr/>
        </p:nvSpPr>
        <p:spPr>
          <a:xfrm>
            <a:off x="552450" y="4381500"/>
            <a:ext cx="3143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B9D94A"/>
                </a:solidFill>
                <a:latin typeface="Aptos"/>
                <a:ea typeface="Aptos"/>
                <a:cs typeface="Aptos"/>
              </a:defRPr>
            </a:pPr>
            <a:r>
              <a:rPr sz="750" b="1">
                <a:solidFill>
                  <a:srgbClr val="B9D94A"/>
                </a:solidFill>
                <a:latin typeface="Aptos"/>
                <a:ea typeface="Aptos"/>
                <a:cs typeface="Aptos"/>
              </a:rPr>
              <a:t>Dashboard</a:t>
            </a:r>
          </a:p>
        </p:txBody>
      </p:sp>
      <p:sp>
        <p:nvSpPr>
          <p:cNvPr id="26" name="Rectangle 25">
            <a:extLst>
              <a:ext uri="{FF2B5EF4-FFF2-40B4-BE49-F238E27FC236}">
                <a16:creationId xmlns:a16="http://schemas.microsoft.com/office/drawing/2014/main" id="{3F9378D6-2E51-46AE-B635-E736A5EFCF41}"/>
              </a:ext>
            </a:extLst>
          </p:cNvPr>
          <p:cNvSpPr>
            <a:spLocks noGrp="1"/>
          </p:cNvSpPr>
          <p:nvPr/>
        </p:nvSpPr>
        <p:spPr>
          <a:xfrm>
            <a:off x="552450" y="4705350"/>
            <a:ext cx="32385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FFFFFF"/>
                </a:solidFill>
                <a:latin typeface="Georgia"/>
                <a:ea typeface="Georgia"/>
                <a:cs typeface="Georgia"/>
              </a:defRPr>
            </a:pPr>
            <a:r>
              <a:rPr sz="1350" b="1">
                <a:solidFill>
                  <a:srgbClr val="FFFFFF"/>
                </a:solidFill>
                <a:latin typeface="Georgia"/>
                <a:ea typeface="Georgia"/>
                <a:cs typeface="Georgia"/>
              </a:rPr>
              <a:t>Capi fantasma</a:t>
            </a:r>
          </a:p>
        </p:txBody>
      </p:sp>
      <p:sp>
        <p:nvSpPr>
          <p:cNvPr id="27" name="Rectangle 26">
            <a:extLst>
              <a:ext uri="{FF2B5EF4-FFF2-40B4-BE49-F238E27FC236}">
                <a16:creationId xmlns:a16="http://schemas.microsoft.com/office/drawing/2014/main" id="{75A565D8-5907-466A-A071-7873B6D051EE}"/>
              </a:ext>
            </a:extLst>
          </p:cNvPr>
          <p:cNvSpPr>
            <a:spLocks noGrp="1"/>
          </p:cNvSpPr>
          <p:nvPr/>
        </p:nvSpPr>
        <p:spPr>
          <a:xfrm>
            <a:off x="552450" y="5124450"/>
            <a:ext cx="3143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DDE5DD"/>
                </a:solidFill>
                <a:latin typeface="Aptos"/>
                <a:ea typeface="Aptos"/>
                <a:cs typeface="Aptos"/>
              </a:defRPr>
            </a:pPr>
            <a:r>
              <a:rPr sz="825" b="0">
                <a:solidFill>
                  <a:srgbClr val="DDE5DD"/>
                </a:solidFill>
                <a:latin typeface="Aptos"/>
                <a:ea typeface="Aptos"/>
                <a:cs typeface="Aptos"/>
              </a:rPr>
              <a:t>conteggio, lista e soglia</a:t>
            </a:r>
          </a:p>
        </p:txBody>
      </p:sp>
      <p:sp>
        <p:nvSpPr>
          <p:cNvPr id="28" name="Rectangle 27">
            <a:extLst>
              <a:ext uri="{FF2B5EF4-FFF2-40B4-BE49-F238E27FC236}">
                <a16:creationId xmlns:a16="http://schemas.microsoft.com/office/drawing/2014/main" id="{D66864F9-1FB4-4A59-88D6-C4D594F374EB}"/>
              </a:ext>
            </a:extLst>
          </p:cNvPr>
          <p:cNvSpPr>
            <a:spLocks noGrp="1"/>
          </p:cNvSpPr>
          <p:nvPr/>
        </p:nvSpPr>
        <p:spPr>
          <a:xfrm>
            <a:off x="4267200" y="4381500"/>
            <a:ext cx="3143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B9D94A"/>
                </a:solidFill>
                <a:latin typeface="Aptos"/>
                <a:ea typeface="Aptos"/>
                <a:cs typeface="Aptos"/>
              </a:defRPr>
            </a:pPr>
            <a:r>
              <a:rPr sz="750" b="1">
                <a:solidFill>
                  <a:srgbClr val="B9D94A"/>
                </a:solidFill>
                <a:latin typeface="Aptos"/>
                <a:ea typeface="Aptos"/>
                <a:cs typeface="Aptos"/>
              </a:rPr>
              <a:t>Dettaglio</a:t>
            </a:r>
          </a:p>
        </p:txBody>
      </p:sp>
      <p:sp>
        <p:nvSpPr>
          <p:cNvPr id="29" name="Rectangle 28">
            <a:extLst>
              <a:ext uri="{FF2B5EF4-FFF2-40B4-BE49-F238E27FC236}">
                <a16:creationId xmlns:a16="http://schemas.microsoft.com/office/drawing/2014/main" id="{4B0527A3-0C7E-474E-B95B-6433372A03A5}"/>
              </a:ext>
            </a:extLst>
          </p:cNvPr>
          <p:cNvSpPr>
            <a:spLocks noGrp="1"/>
          </p:cNvSpPr>
          <p:nvPr/>
        </p:nvSpPr>
        <p:spPr>
          <a:xfrm>
            <a:off x="4267200" y="4705350"/>
            <a:ext cx="32385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FFFFFF"/>
                </a:solidFill>
                <a:latin typeface="Georgia"/>
                <a:ea typeface="Georgia"/>
                <a:cs typeface="Georgia"/>
              </a:defRPr>
            </a:pPr>
            <a:r>
              <a:rPr sz="1350" b="1">
                <a:solidFill>
                  <a:srgbClr val="FFFFFF"/>
                </a:solidFill>
                <a:latin typeface="Georgia"/>
                <a:ea typeface="Georgia"/>
                <a:cs typeface="Georgia"/>
              </a:rPr>
              <a:t>Fantasma · mai indossato…</a:t>
            </a:r>
          </a:p>
        </p:txBody>
      </p:sp>
      <p:sp>
        <p:nvSpPr>
          <p:cNvPr id="30" name="Rectangle 29">
            <a:extLst>
              <a:ext uri="{FF2B5EF4-FFF2-40B4-BE49-F238E27FC236}">
                <a16:creationId xmlns:a16="http://schemas.microsoft.com/office/drawing/2014/main" id="{C4109644-50B5-4372-A024-2F37451130B1}"/>
              </a:ext>
            </a:extLst>
          </p:cNvPr>
          <p:cNvSpPr>
            <a:spLocks noGrp="1"/>
          </p:cNvSpPr>
          <p:nvPr/>
        </p:nvSpPr>
        <p:spPr>
          <a:xfrm>
            <a:off x="4267200" y="5124450"/>
            <a:ext cx="3143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DDE5DD"/>
                </a:solidFill>
                <a:latin typeface="Aptos"/>
                <a:ea typeface="Aptos"/>
                <a:cs typeface="Aptos"/>
              </a:defRPr>
            </a:pPr>
            <a:r>
              <a:rPr sz="825" b="0">
                <a:solidFill>
                  <a:srgbClr val="DDE5DD"/>
                </a:solidFill>
                <a:latin typeface="Aptos"/>
                <a:ea typeface="Aptos"/>
                <a:cs typeface="Aptos"/>
              </a:rPr>
              <a:t>badge sul singolo capo</a:t>
            </a:r>
          </a:p>
        </p:txBody>
      </p:sp>
      <p:sp>
        <p:nvSpPr>
          <p:cNvPr id="31" name="Rectangle 30">
            <a:extLst>
              <a:ext uri="{FF2B5EF4-FFF2-40B4-BE49-F238E27FC236}">
                <a16:creationId xmlns:a16="http://schemas.microsoft.com/office/drawing/2014/main" id="{B5133C4F-7DA1-42DD-B336-3C8A7474F259}"/>
              </a:ext>
            </a:extLst>
          </p:cNvPr>
          <p:cNvSpPr>
            <a:spLocks noGrp="1"/>
          </p:cNvSpPr>
          <p:nvPr/>
        </p:nvSpPr>
        <p:spPr>
          <a:xfrm>
            <a:off x="7981950" y="4381500"/>
            <a:ext cx="3143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B9D94A"/>
                </a:solidFill>
                <a:latin typeface="Aptos"/>
                <a:ea typeface="Aptos"/>
                <a:cs typeface="Aptos"/>
              </a:defRPr>
            </a:pPr>
            <a:r>
              <a:rPr sz="750" b="1">
                <a:solidFill>
                  <a:srgbClr val="B9D94A"/>
                </a:solidFill>
                <a:latin typeface="Aptos"/>
                <a:ea typeface="Aptos"/>
                <a:cs typeface="Aptos"/>
              </a:rPr>
              <a:t>Cosa metto?</a:t>
            </a:r>
          </a:p>
        </p:txBody>
      </p:sp>
      <p:sp>
        <p:nvSpPr>
          <p:cNvPr id="32" name="Rectangle 31">
            <a:extLst>
              <a:ext uri="{FF2B5EF4-FFF2-40B4-BE49-F238E27FC236}">
                <a16:creationId xmlns:a16="http://schemas.microsoft.com/office/drawing/2014/main" id="{5A3A6842-C26C-4780-9D5B-696FB329A8B6}"/>
              </a:ext>
            </a:extLst>
          </p:cNvPr>
          <p:cNvSpPr>
            <a:spLocks noGrp="1"/>
          </p:cNvSpPr>
          <p:nvPr/>
        </p:nvSpPr>
        <p:spPr>
          <a:xfrm>
            <a:off x="7981950" y="4705350"/>
            <a:ext cx="32385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FFFFFF"/>
                </a:solidFill>
                <a:latin typeface="Georgia"/>
                <a:ea typeface="Georgia"/>
                <a:cs typeface="Georgia"/>
              </a:defRPr>
            </a:pPr>
            <a:r>
              <a:rPr sz="1350" b="1">
                <a:solidFill>
                  <a:srgbClr val="FFFFFF"/>
                </a:solidFill>
                <a:latin typeface="Georgia"/>
                <a:ea typeface="Georgia"/>
                <a:cs typeface="Georgia"/>
              </a:rPr>
              <a:t>Anti-fantasma</a:t>
            </a:r>
          </a:p>
        </p:txBody>
      </p:sp>
      <p:sp>
        <p:nvSpPr>
          <p:cNvPr id="33" name="Rectangle 32">
            <a:extLst>
              <a:ext uri="{FF2B5EF4-FFF2-40B4-BE49-F238E27FC236}">
                <a16:creationId xmlns:a16="http://schemas.microsoft.com/office/drawing/2014/main" id="{2EF311B2-E998-42BB-92B5-558FA3CD54E7}"/>
              </a:ext>
            </a:extLst>
          </p:cNvPr>
          <p:cNvSpPr>
            <a:spLocks noGrp="1"/>
          </p:cNvSpPr>
          <p:nvPr/>
        </p:nvSpPr>
        <p:spPr>
          <a:xfrm>
            <a:off x="7981950" y="5124450"/>
            <a:ext cx="3143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DDE5DD"/>
                </a:solidFill>
                <a:latin typeface="Aptos"/>
                <a:ea typeface="Aptos"/>
                <a:cs typeface="Aptos"/>
              </a:defRPr>
            </a:pPr>
            <a:r>
              <a:rPr sz="825" b="0">
                <a:solidFill>
                  <a:srgbClr val="DDE5DD"/>
                </a:solidFill>
                <a:latin typeface="Aptos"/>
                <a:ea typeface="Aptos"/>
                <a:cs typeface="Aptos"/>
              </a:rPr>
              <a:t>bonus nella proposta</a:t>
            </a:r>
          </a:p>
        </p:txBody>
      </p:sp>
      <p:sp>
        <p:nvSpPr>
          <p:cNvPr id="34" name="Rectangle: Rounded Corners 33">
            <a:extLst>
              <a:ext uri="{FF2B5EF4-FFF2-40B4-BE49-F238E27FC236}">
                <a16:creationId xmlns:a16="http://schemas.microsoft.com/office/drawing/2014/main" id="{64DFCD73-4D71-464B-92A1-71458A690BCE}"/>
              </a:ext>
            </a:extLst>
          </p:cNvPr>
          <p:cNvSpPr>
            <a:spLocks noGrp="1"/>
          </p:cNvSpPr>
          <p:nvPr/>
        </p:nvSpPr>
        <p:spPr>
          <a:xfrm>
            <a:off x="552450" y="5791200"/>
            <a:ext cx="10572750" cy="342900"/>
          </a:xfrm>
          <a:prstGeom prst="roundRect">
            <a:avLst>
              <a:gd name="adj" fmla="val 22222"/>
            </a:avLst>
          </a:prstGeom>
          <a:solidFill>
            <a:srgbClr val="1B4A3C"/>
          </a:solidFill>
          <a:ln w="0">
            <a:solidFill>
              <a:srgbClr val="000000">
                <a:alpha val="0"/>
              </a:srgbClr>
            </a:solidFill>
            <a:prstDash val="solid"/>
          </a:ln>
        </p:spPr>
        <p:txBody>
          <a:bodyPr/>
          <a:lstStyle/>
          <a:p>
            <a:endParaRPr lang="en-US"/>
          </a:p>
        </p:txBody>
      </p:sp>
      <p:sp>
        <p:nvSpPr>
          <p:cNvPr id="35" name="Rectangle 34">
            <a:extLst>
              <a:ext uri="{FF2B5EF4-FFF2-40B4-BE49-F238E27FC236}">
                <a16:creationId xmlns:a16="http://schemas.microsoft.com/office/drawing/2014/main" id="{518C5F23-12DD-4D92-9AA1-8B23DECE5C5C}"/>
              </a:ext>
            </a:extLst>
          </p:cNvPr>
          <p:cNvSpPr>
            <a:spLocks noGrp="1"/>
          </p:cNvSpPr>
          <p:nvPr/>
        </p:nvSpPr>
        <p:spPr>
          <a:xfrm>
            <a:off x="723900" y="5848350"/>
            <a:ext cx="102298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63" b="0">
                <a:solidFill>
                  <a:srgbClr val="DDE5DD"/>
                </a:solidFill>
                <a:latin typeface="Aptos"/>
                <a:ea typeface="Aptos"/>
                <a:cs typeface="Aptos"/>
              </a:defRPr>
            </a:pPr>
            <a:r>
              <a:rPr sz="863" b="0">
                <a:solidFill>
                  <a:srgbClr val="DDE5DD"/>
                </a:solidFill>
                <a:latin typeface="Aptos"/>
                <a:ea typeface="Aptos"/>
                <a:cs typeface="Aptos"/>
              </a:rPr>
              <a:t>È una regola deterministica, non machine learning. Il primo utilizzo rimuove subito lo stato ghost.</a:t>
            </a:r>
          </a:p>
        </p:txBody>
      </p:sp>
      <p:sp>
        <p:nvSpPr>
          <p:cNvPr id="36" name="footer-rule">
            <a:extLst>
              <a:ext uri="{FF2B5EF4-FFF2-40B4-BE49-F238E27FC236}">
                <a16:creationId xmlns:a16="http://schemas.microsoft.com/office/drawing/2014/main" id="{844545B0-46AD-4973-A2AF-78C1BBAE5EB8}"/>
              </a:ext>
            </a:extLst>
          </p:cNvPr>
          <p:cNvSpPr>
            <a:spLocks noGrp="1"/>
          </p:cNvSpPr>
          <p:nvPr/>
        </p:nvSpPr>
        <p:spPr>
          <a:xfrm>
            <a:off x="552450" y="6457950"/>
            <a:ext cx="11087100" cy="9525"/>
          </a:xfrm>
          <a:prstGeom prst="rect">
            <a:avLst/>
          </a:prstGeom>
          <a:solidFill>
            <a:srgbClr val="3F685A"/>
          </a:solidFill>
          <a:ln w="0">
            <a:solidFill>
              <a:srgbClr val="000000">
                <a:alpha val="0"/>
              </a:srgbClr>
            </a:solidFill>
            <a:prstDash val="solid"/>
          </a:ln>
        </p:spPr>
        <p:txBody>
          <a:bodyPr/>
          <a:lstStyle/>
          <a:p>
            <a:endParaRPr lang="en-US"/>
          </a:p>
        </p:txBody>
      </p:sp>
      <p:sp>
        <p:nvSpPr>
          <p:cNvPr id="37" name="footer-source">
            <a:extLst>
              <a:ext uri="{FF2B5EF4-FFF2-40B4-BE49-F238E27FC236}">
                <a16:creationId xmlns:a16="http://schemas.microsoft.com/office/drawing/2014/main" id="{3F25C342-DFB5-4A48-BFA1-918183D589B6}"/>
              </a:ext>
            </a:extLst>
          </p:cNvPr>
          <p:cNvSpPr>
            <a:spLocks noGrp="1"/>
          </p:cNvSpPr>
          <p:nvPr/>
        </p:nvSpPr>
        <p:spPr>
          <a:xfrm>
            <a:off x="552450" y="6534150"/>
            <a:ext cx="10001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8FA99E"/>
                </a:solidFill>
                <a:latin typeface="Aptos"/>
                <a:ea typeface="Aptos"/>
                <a:cs typeface="Aptos"/>
              </a:defRPr>
            </a:pPr>
            <a:r>
              <a:rPr sz="563" b="0">
                <a:solidFill>
                  <a:srgbClr val="8FA99E"/>
                </a:solidFill>
                <a:latin typeface="Aptos"/>
                <a:ea typeface="Aptos"/>
                <a:cs typeface="Aptos"/>
              </a:rPr>
              <a:t>Soglia predefinita 30 giorni · data acquisto, fallback data inserimento</a:t>
            </a:r>
          </a:p>
        </p:txBody>
      </p:sp>
      <p:sp>
        <p:nvSpPr>
          <p:cNvPr id="38" name="page-marker">
            <a:extLst>
              <a:ext uri="{FF2B5EF4-FFF2-40B4-BE49-F238E27FC236}">
                <a16:creationId xmlns:a16="http://schemas.microsoft.com/office/drawing/2014/main" id="{F4A6FD53-6B6A-43EA-84F5-E93FA21928ED}"/>
              </a:ext>
            </a:extLst>
          </p:cNvPr>
          <p:cNvSpPr>
            <a:spLocks noGrp="1"/>
          </p:cNvSpPr>
          <p:nvPr/>
        </p:nvSpPr>
        <p:spPr>
          <a:xfrm>
            <a:off x="11087100" y="6505575"/>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8FA99E"/>
                </a:solidFill>
                <a:latin typeface="Georgia"/>
                <a:ea typeface="Georgia"/>
                <a:cs typeface="Georgia"/>
              </a:defRPr>
            </a:pPr>
            <a:r>
              <a:rPr sz="750" b="1">
                <a:solidFill>
                  <a:srgbClr val="8FA99E"/>
                </a:solidFill>
                <a:latin typeface="Georgia"/>
                <a:ea typeface="Georgia"/>
                <a:cs typeface="Georgia"/>
              </a:rPr>
              <a:t>06</a:t>
            </a:r>
          </a:p>
        </p:txBody>
      </p:sp>
    </p:spTree>
    <p:extLst>
      <p:ext uri="{BB962C8B-B14F-4D97-AF65-F5344CB8AC3E}">
        <p14:creationId xmlns:p14="http://schemas.microsoft.com/office/powerpoint/2010/main" val="362235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background">
            <a:extLst>
              <a:ext uri="{FF2B5EF4-FFF2-40B4-BE49-F238E27FC236}">
                <a16:creationId xmlns:a16="http://schemas.microsoft.com/office/drawing/2014/main" id="{812EF266-6C5C-435A-80CE-50F9A1D85FAA}"/>
              </a:ext>
            </a:extLst>
          </p:cNvPr>
          <p:cNvSpPr>
            <a:spLocks noGrp="1"/>
          </p:cNvSpPr>
          <p:nvPr/>
        </p:nvSpPr>
        <p:spPr>
          <a:xfrm>
            <a:off x="0" y="0"/>
            <a:ext cx="12192000" cy="6858000"/>
          </a:xfrm>
          <a:prstGeom prst="rect">
            <a:avLst/>
          </a:prstGeom>
          <a:solidFill>
            <a:srgbClr val="F4F0E7"/>
          </a:solidFill>
          <a:ln w="0">
            <a:solidFill>
              <a:srgbClr val="000000">
                <a:alpha val="0"/>
              </a:srgbClr>
            </a:solidFill>
            <a:prstDash val="solid"/>
          </a:ln>
        </p:spPr>
        <p:txBody>
          <a:bodyPr/>
          <a:lstStyle/>
          <a:p>
            <a:endParaRPr lang="en-US"/>
          </a:p>
        </p:txBody>
      </p:sp>
      <p:sp>
        <p:nvSpPr>
          <p:cNvPr id="2" name="kicker-marker">
            <a:extLst>
              <a:ext uri="{FF2B5EF4-FFF2-40B4-BE49-F238E27FC236}">
                <a16:creationId xmlns:a16="http://schemas.microsoft.com/office/drawing/2014/main" id="{4BBA3917-80FE-43AD-BDBC-E45BD823338E}"/>
              </a:ext>
            </a:extLst>
          </p:cNvPr>
          <p:cNvSpPr>
            <a:spLocks noGrp="1"/>
          </p:cNvSpPr>
          <p:nvPr/>
        </p:nvSpPr>
        <p:spPr>
          <a:xfrm>
            <a:off x="552450" y="400050"/>
            <a:ext cx="95250" cy="95250"/>
          </a:xfrm>
          <a:prstGeom prst="ellipse">
            <a:avLst/>
          </a:prstGeom>
          <a:solidFill>
            <a:srgbClr val="2F7D5B"/>
          </a:solidFill>
          <a:ln w="0">
            <a:solidFill>
              <a:srgbClr val="000000">
                <a:alpha val="0"/>
              </a:srgbClr>
            </a:solidFill>
            <a:prstDash val="solid"/>
          </a:ln>
        </p:spPr>
        <p:txBody>
          <a:bodyPr/>
          <a:lstStyle/>
          <a:p>
            <a:endParaRPr lang="en-US"/>
          </a:p>
        </p:txBody>
      </p:sp>
      <p:sp>
        <p:nvSpPr>
          <p:cNvPr id="3" name="kicker-label">
            <a:extLst>
              <a:ext uri="{FF2B5EF4-FFF2-40B4-BE49-F238E27FC236}">
                <a16:creationId xmlns:a16="http://schemas.microsoft.com/office/drawing/2014/main" id="{347BC4CB-D7FA-4732-A616-F1C507501DBF}"/>
              </a:ext>
            </a:extLst>
          </p:cNvPr>
          <p:cNvSpPr>
            <a:spLocks noGrp="1"/>
          </p:cNvSpPr>
          <p:nvPr/>
        </p:nvSpPr>
        <p:spPr>
          <a:xfrm>
            <a:off x="762000" y="361950"/>
            <a:ext cx="571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5736B"/>
                </a:solidFill>
                <a:latin typeface="Aptos"/>
                <a:ea typeface="Aptos"/>
                <a:cs typeface="Aptos"/>
              </a:defRPr>
            </a:pPr>
            <a:r>
              <a:rPr sz="675" b="1">
                <a:solidFill>
                  <a:srgbClr val="65736B"/>
                </a:solidFill>
                <a:latin typeface="Aptos"/>
                <a:ea typeface="Aptos"/>
                <a:cs typeface="Aptos"/>
              </a:rPr>
              <a:t>U S E R   S T O R Y   ·   5 .   C U R A R E</a:t>
            </a:r>
          </a:p>
        </p:txBody>
      </p:sp>
      <p:sp>
        <p:nvSpPr>
          <p:cNvPr id="4" name="claim-title">
            <a:extLst>
              <a:ext uri="{FF2B5EF4-FFF2-40B4-BE49-F238E27FC236}">
                <a16:creationId xmlns:a16="http://schemas.microsoft.com/office/drawing/2014/main" id="{02FB1613-38FA-4022-9356-15F9DECCE53D}"/>
              </a:ext>
            </a:extLst>
          </p:cNvPr>
          <p:cNvSpPr>
            <a:spLocks noGrp="1"/>
          </p:cNvSpPr>
          <p:nvPr/>
        </p:nvSpPr>
        <p:spPr>
          <a:xfrm>
            <a:off x="552450" y="723900"/>
            <a:ext cx="1057275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925" b="1">
                <a:solidFill>
                  <a:srgbClr val="17211D"/>
                </a:solidFill>
                <a:latin typeface="Georgia"/>
                <a:ea typeface="Georgia"/>
                <a:cs typeface="Georgia"/>
              </a:defRPr>
            </a:pPr>
            <a:r>
              <a:rPr sz="2925" b="1">
                <a:solidFill>
                  <a:srgbClr val="17211D"/>
                </a:solidFill>
                <a:latin typeface="Georgia"/>
                <a:ea typeface="Georgia"/>
                <a:cs typeface="Georgia"/>
              </a:rPr>
              <a:t>Lo stato del capo diventa una decisione di cura, non un verdetto.</a:t>
            </a:r>
          </a:p>
        </p:txBody>
      </p:sp>
      <p:sp>
        <p:nvSpPr>
          <p:cNvPr id="5" name="state-1">
            <a:extLst>
              <a:ext uri="{FF2B5EF4-FFF2-40B4-BE49-F238E27FC236}">
                <a16:creationId xmlns:a16="http://schemas.microsoft.com/office/drawing/2014/main" id="{EC4DA21C-F642-464A-B701-B4FAC2B42F7D}"/>
              </a:ext>
            </a:extLst>
          </p:cNvPr>
          <p:cNvSpPr>
            <a:spLocks noGrp="1"/>
          </p:cNvSpPr>
          <p:nvPr/>
        </p:nvSpPr>
        <p:spPr>
          <a:xfrm>
            <a:off x="552450" y="2095500"/>
            <a:ext cx="2686050" cy="1714500"/>
          </a:xfrm>
          <a:prstGeom prst="roundRect">
            <a:avLst>
              <a:gd name="adj" fmla="val 4444"/>
            </a:avLst>
          </a:prstGeom>
          <a:solidFill>
            <a:srgbClr val="FFFFFF"/>
          </a:solidFill>
          <a:ln w="9525">
            <a:solidFill>
              <a:srgbClr val="B9C3BB"/>
            </a:solidFill>
            <a:prstDash val="solid"/>
          </a:ln>
        </p:spPr>
        <p:txBody>
          <a:bodyPr/>
          <a:lstStyle/>
          <a:p>
            <a:endParaRPr lang="en-US"/>
          </a:p>
        </p:txBody>
      </p:sp>
      <p:sp>
        <p:nvSpPr>
          <p:cNvPr id="6" name="Oval 5">
            <a:extLst>
              <a:ext uri="{FF2B5EF4-FFF2-40B4-BE49-F238E27FC236}">
                <a16:creationId xmlns:a16="http://schemas.microsoft.com/office/drawing/2014/main" id="{2143060D-B33C-418E-9E91-59F73AAEFBFA}"/>
              </a:ext>
            </a:extLst>
          </p:cNvPr>
          <p:cNvSpPr>
            <a:spLocks noGrp="1"/>
          </p:cNvSpPr>
          <p:nvPr/>
        </p:nvSpPr>
        <p:spPr>
          <a:xfrm>
            <a:off x="781050" y="2324100"/>
            <a:ext cx="457200" cy="457200"/>
          </a:xfrm>
          <a:prstGeom prst="ellipse">
            <a:avLst/>
          </a:prstGeom>
          <a:solidFill>
            <a:srgbClr val="2F7D5B"/>
          </a:solidFill>
          <a:ln w="0">
            <a:solidFill>
              <a:srgbClr val="000000">
                <a:alpha val="0"/>
              </a:srgbClr>
            </a:solidFill>
            <a:prstDash val="solid"/>
          </a:ln>
        </p:spPr>
        <p:txBody>
          <a:bodyPr/>
          <a:lstStyle/>
          <a:p>
            <a:endParaRPr lang="en-US"/>
          </a:p>
        </p:txBody>
      </p:sp>
      <p:pic>
        <p:nvPicPr>
          <p:cNvPr id="7" name="Graphic 6"/>
          <p:cNvPicPr>
            <a:picLocks noChangeAspect="1"/>
          </p:cNvPicPr>
          <p:nvPr/>
        </p:nvPicPr>
        <p:blipFill>
          <a:blip>
            <a:extLst>
              <a:ext uri="{96DAC541-7B7A-43D3-8B79-37D633B846F1}">
                <asvg:svgBlip xmlns:asvg="http://schemas.microsoft.com/office/drawing/2016/SVG/main" r:embed="rId3"/>
              </a:ext>
            </a:extLst>
          </a:blip>
          <a:stretch/>
        </p:blipFill>
        <p:spPr>
          <a:xfrm>
            <a:off x="885825" y="2428875"/>
            <a:ext cx="247650" cy="247650"/>
          </a:xfrm>
          <a:prstGeom prst="rect">
            <a:avLst/>
          </a:prstGeom>
        </p:spPr>
      </p:pic>
      <p:sp>
        <p:nvSpPr>
          <p:cNvPr id="8" name="Rectangle 7">
            <a:extLst>
              <a:ext uri="{FF2B5EF4-FFF2-40B4-BE49-F238E27FC236}">
                <a16:creationId xmlns:a16="http://schemas.microsoft.com/office/drawing/2014/main" id="{D411C4F5-202E-46BA-B078-141D61E354ED}"/>
              </a:ext>
            </a:extLst>
          </p:cNvPr>
          <p:cNvSpPr>
            <a:spLocks noGrp="1"/>
          </p:cNvSpPr>
          <p:nvPr/>
        </p:nvSpPr>
        <p:spPr>
          <a:xfrm>
            <a:off x="1409700" y="2324100"/>
            <a:ext cx="16192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11D"/>
                </a:solidFill>
                <a:latin typeface="Georgia"/>
                <a:ea typeface="Georgia"/>
                <a:cs typeface="Georgia"/>
              </a:defRPr>
            </a:pPr>
            <a:r>
              <a:rPr sz="1350" b="1">
                <a:solidFill>
                  <a:srgbClr val="17211D"/>
                </a:solidFill>
                <a:latin typeface="Georgia"/>
                <a:ea typeface="Georgia"/>
                <a:cs typeface="Georgia"/>
              </a:rPr>
              <a:t>In buono stato</a:t>
            </a:r>
          </a:p>
        </p:txBody>
      </p:sp>
      <p:sp>
        <p:nvSpPr>
          <p:cNvPr id="9" name="Rectangle 8">
            <a:extLst>
              <a:ext uri="{FF2B5EF4-FFF2-40B4-BE49-F238E27FC236}">
                <a16:creationId xmlns:a16="http://schemas.microsoft.com/office/drawing/2014/main" id="{280C5AB7-3434-4229-A248-C14CEFF9A0D3}"/>
              </a:ext>
            </a:extLst>
          </p:cNvPr>
          <p:cNvSpPr>
            <a:spLocks noGrp="1"/>
          </p:cNvSpPr>
          <p:nvPr/>
        </p:nvSpPr>
        <p:spPr>
          <a:xfrm>
            <a:off x="781050" y="3009900"/>
            <a:ext cx="22288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38" b="0">
                <a:solidFill>
                  <a:srgbClr val="65736B"/>
                </a:solidFill>
                <a:latin typeface="Aptos"/>
                <a:ea typeface="Aptos"/>
                <a:cs typeface="Aptos"/>
              </a:defRPr>
            </a:pPr>
            <a:r>
              <a:rPr sz="938" b="0">
                <a:solidFill>
                  <a:srgbClr val="65736B"/>
                </a:solidFill>
                <a:latin typeface="Aptos"/>
                <a:ea typeface="Aptos"/>
                <a:cs typeface="Aptos"/>
              </a:rPr>
              <a:t>continua a usarlo</a:t>
            </a:r>
          </a:p>
        </p:txBody>
      </p:sp>
      <p:sp>
        <p:nvSpPr>
          <p:cNvPr id="10" name="state-2">
            <a:extLst>
              <a:ext uri="{FF2B5EF4-FFF2-40B4-BE49-F238E27FC236}">
                <a16:creationId xmlns:a16="http://schemas.microsoft.com/office/drawing/2014/main" id="{66E680B7-4C97-461C-BDA9-1CD5CB1F7263}"/>
              </a:ext>
            </a:extLst>
          </p:cNvPr>
          <p:cNvSpPr>
            <a:spLocks noGrp="1"/>
          </p:cNvSpPr>
          <p:nvPr/>
        </p:nvSpPr>
        <p:spPr>
          <a:xfrm>
            <a:off x="3543300" y="2095500"/>
            <a:ext cx="2686050" cy="1714500"/>
          </a:xfrm>
          <a:prstGeom prst="roundRect">
            <a:avLst>
              <a:gd name="adj" fmla="val 4444"/>
            </a:avLst>
          </a:prstGeom>
          <a:solidFill>
            <a:srgbClr val="FFFFFF"/>
          </a:solidFill>
          <a:ln w="9525">
            <a:solidFill>
              <a:srgbClr val="B9C3BB"/>
            </a:solidFill>
            <a:prstDash val="solid"/>
          </a:ln>
        </p:spPr>
        <p:txBody>
          <a:bodyPr/>
          <a:lstStyle/>
          <a:p>
            <a:endParaRPr lang="en-US"/>
          </a:p>
        </p:txBody>
      </p:sp>
      <p:sp>
        <p:nvSpPr>
          <p:cNvPr id="11" name="Oval 10">
            <a:extLst>
              <a:ext uri="{FF2B5EF4-FFF2-40B4-BE49-F238E27FC236}">
                <a16:creationId xmlns:a16="http://schemas.microsoft.com/office/drawing/2014/main" id="{BB73126F-DE37-4A91-917C-9AB9B14C9338}"/>
              </a:ext>
            </a:extLst>
          </p:cNvPr>
          <p:cNvSpPr>
            <a:spLocks noGrp="1"/>
          </p:cNvSpPr>
          <p:nvPr/>
        </p:nvSpPr>
        <p:spPr>
          <a:xfrm>
            <a:off x="3771900" y="2324100"/>
            <a:ext cx="457200" cy="457200"/>
          </a:xfrm>
          <a:prstGeom prst="ellipse">
            <a:avLst/>
          </a:prstGeom>
          <a:solidFill>
            <a:srgbClr val="D56E42"/>
          </a:solidFill>
          <a:ln w="0">
            <a:solidFill>
              <a:srgbClr val="000000">
                <a:alpha val="0"/>
              </a:srgbClr>
            </a:solidFill>
            <a:prstDash val="solid"/>
          </a:ln>
        </p:spPr>
        <p:txBody>
          <a:bodyPr/>
          <a:lstStyle/>
          <a:p>
            <a:endParaRPr lang="en-US"/>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3876675" y="2428875"/>
            <a:ext cx="247650" cy="247650"/>
          </a:xfrm>
          <a:prstGeom prst="rect">
            <a:avLst/>
          </a:prstGeom>
        </p:spPr>
      </p:pic>
      <p:sp>
        <p:nvSpPr>
          <p:cNvPr id="13" name="Rectangle 12">
            <a:extLst>
              <a:ext uri="{FF2B5EF4-FFF2-40B4-BE49-F238E27FC236}">
                <a16:creationId xmlns:a16="http://schemas.microsoft.com/office/drawing/2014/main" id="{9363D689-046B-4236-9EC0-4F4FAABCBDBE}"/>
              </a:ext>
            </a:extLst>
          </p:cNvPr>
          <p:cNvSpPr>
            <a:spLocks noGrp="1"/>
          </p:cNvSpPr>
          <p:nvPr/>
        </p:nvSpPr>
        <p:spPr>
          <a:xfrm>
            <a:off x="4400550" y="2324100"/>
            <a:ext cx="16192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11D"/>
                </a:solidFill>
                <a:latin typeface="Georgia"/>
                <a:ea typeface="Georgia"/>
                <a:cs typeface="Georgia"/>
              </a:defRPr>
            </a:pPr>
            <a:r>
              <a:rPr sz="1350" b="1">
                <a:solidFill>
                  <a:srgbClr val="17211D"/>
                </a:solidFill>
                <a:latin typeface="Georgia"/>
                <a:ea typeface="Georgia"/>
                <a:cs typeface="Georgia"/>
              </a:rPr>
              <a:t>Da curare</a:t>
            </a:r>
          </a:p>
        </p:txBody>
      </p:sp>
      <p:sp>
        <p:nvSpPr>
          <p:cNvPr id="14" name="Rectangle 13">
            <a:extLst>
              <a:ext uri="{FF2B5EF4-FFF2-40B4-BE49-F238E27FC236}">
                <a16:creationId xmlns:a16="http://schemas.microsoft.com/office/drawing/2014/main" id="{BE3F90C2-8C39-4786-99FB-54387CA5EC2D}"/>
              </a:ext>
            </a:extLst>
          </p:cNvPr>
          <p:cNvSpPr>
            <a:spLocks noGrp="1"/>
          </p:cNvSpPr>
          <p:nvPr/>
        </p:nvSpPr>
        <p:spPr>
          <a:xfrm>
            <a:off x="3771900" y="3009900"/>
            <a:ext cx="22288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38" b="0">
                <a:solidFill>
                  <a:srgbClr val="65736B"/>
                </a:solidFill>
                <a:latin typeface="Aptos"/>
                <a:ea typeface="Aptos"/>
                <a:cs typeface="Aptos"/>
              </a:defRPr>
            </a:pPr>
            <a:r>
              <a:rPr sz="938" b="0">
                <a:solidFill>
                  <a:srgbClr val="65736B"/>
                </a:solidFill>
                <a:latin typeface="Aptos"/>
                <a:ea typeface="Aptos"/>
                <a:cs typeface="Aptos"/>
              </a:rPr>
              <a:t>ripara o mantieni</a:t>
            </a:r>
          </a:p>
        </p:txBody>
      </p:sp>
      <p:sp>
        <p:nvSpPr>
          <p:cNvPr id="15" name="state-3">
            <a:extLst>
              <a:ext uri="{FF2B5EF4-FFF2-40B4-BE49-F238E27FC236}">
                <a16:creationId xmlns:a16="http://schemas.microsoft.com/office/drawing/2014/main" id="{AE12BF5A-2B51-44E5-893D-02BED0515DB9}"/>
              </a:ext>
            </a:extLst>
          </p:cNvPr>
          <p:cNvSpPr>
            <a:spLocks noGrp="1"/>
          </p:cNvSpPr>
          <p:nvPr/>
        </p:nvSpPr>
        <p:spPr>
          <a:xfrm>
            <a:off x="6534150" y="2095500"/>
            <a:ext cx="2686050" cy="1714500"/>
          </a:xfrm>
          <a:prstGeom prst="roundRect">
            <a:avLst>
              <a:gd name="adj" fmla="val 4444"/>
            </a:avLst>
          </a:prstGeom>
          <a:solidFill>
            <a:srgbClr val="FFFFFF"/>
          </a:solidFill>
          <a:ln w="9525">
            <a:solidFill>
              <a:srgbClr val="B9C3BB"/>
            </a:solidFill>
            <a:prstDash val="solid"/>
          </a:ln>
        </p:spPr>
        <p:txBody>
          <a:bodyPr/>
          <a:lstStyle/>
          <a:p>
            <a:endParaRPr lang="en-US"/>
          </a:p>
        </p:txBody>
      </p:sp>
      <p:sp>
        <p:nvSpPr>
          <p:cNvPr id="16" name="Oval 15">
            <a:extLst>
              <a:ext uri="{FF2B5EF4-FFF2-40B4-BE49-F238E27FC236}">
                <a16:creationId xmlns:a16="http://schemas.microsoft.com/office/drawing/2014/main" id="{AE83A3AF-1CD7-4038-88D2-F001DB4CC643}"/>
              </a:ext>
            </a:extLst>
          </p:cNvPr>
          <p:cNvSpPr>
            <a:spLocks noGrp="1"/>
          </p:cNvSpPr>
          <p:nvPr/>
        </p:nvSpPr>
        <p:spPr>
          <a:xfrm>
            <a:off x="6762750" y="2324100"/>
            <a:ext cx="457200" cy="457200"/>
          </a:xfrm>
          <a:prstGeom prst="ellipse">
            <a:avLst/>
          </a:prstGeom>
          <a:solidFill>
            <a:srgbClr val="123C31"/>
          </a:solidFill>
          <a:ln w="0">
            <a:solidFill>
              <a:srgbClr val="000000">
                <a:alpha val="0"/>
              </a:srgbClr>
            </a:solidFill>
            <a:prstDash val="solid"/>
          </a:ln>
        </p:spPr>
        <p:txBody>
          <a:bodyPr/>
          <a:lstStyle/>
          <a:p>
            <a:endParaRPr lang="en-US"/>
          </a:p>
        </p:txBody>
      </p:sp>
      <p:pic>
        <p:nvPicPr>
          <p:cNvPr id="17" name="Graphic 16"/>
          <p:cNvPicPr>
            <a:picLocks noChangeAspect="1"/>
          </p:cNvPicPr>
          <p:nvPr/>
        </p:nvPicPr>
        <p:blipFill>
          <a:blip>
            <a:extLst>
              <a:ext uri="{96DAC541-7B7A-43D3-8B79-37D633B846F1}">
                <asvg:svgBlip xmlns:asvg="http://schemas.microsoft.com/office/drawing/2016/SVG/main" r:embed="rId5"/>
              </a:ext>
            </a:extLst>
          </a:blip>
          <a:stretch/>
        </p:blipFill>
        <p:spPr>
          <a:xfrm>
            <a:off x="6867525" y="2428875"/>
            <a:ext cx="247650" cy="247650"/>
          </a:xfrm>
          <a:prstGeom prst="rect">
            <a:avLst/>
          </a:prstGeom>
        </p:spPr>
      </p:pic>
      <p:sp>
        <p:nvSpPr>
          <p:cNvPr id="18" name="Rectangle 17">
            <a:extLst>
              <a:ext uri="{FF2B5EF4-FFF2-40B4-BE49-F238E27FC236}">
                <a16:creationId xmlns:a16="http://schemas.microsoft.com/office/drawing/2014/main" id="{EBAD351D-C492-404C-AAD5-5D6352C0AE8B}"/>
              </a:ext>
            </a:extLst>
          </p:cNvPr>
          <p:cNvSpPr>
            <a:spLocks noGrp="1"/>
          </p:cNvSpPr>
          <p:nvPr/>
        </p:nvSpPr>
        <p:spPr>
          <a:xfrm>
            <a:off x="7391400" y="2324100"/>
            <a:ext cx="16192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11D"/>
                </a:solidFill>
                <a:latin typeface="Georgia"/>
                <a:ea typeface="Georgia"/>
                <a:cs typeface="Georgia"/>
              </a:defRPr>
            </a:pPr>
            <a:r>
              <a:rPr sz="1350" b="1">
                <a:solidFill>
                  <a:srgbClr val="17211D"/>
                </a:solidFill>
                <a:latin typeface="Georgia"/>
                <a:ea typeface="Georgia"/>
                <a:cs typeface="Georgia"/>
              </a:rPr>
              <a:t>Danneggiato</a:t>
            </a:r>
          </a:p>
        </p:txBody>
      </p:sp>
      <p:sp>
        <p:nvSpPr>
          <p:cNvPr id="19" name="Rectangle 18">
            <a:extLst>
              <a:ext uri="{FF2B5EF4-FFF2-40B4-BE49-F238E27FC236}">
                <a16:creationId xmlns:a16="http://schemas.microsoft.com/office/drawing/2014/main" id="{434DA79A-C1A3-4CBF-8429-89611F5D35D8}"/>
              </a:ext>
            </a:extLst>
          </p:cNvPr>
          <p:cNvSpPr>
            <a:spLocks noGrp="1"/>
          </p:cNvSpPr>
          <p:nvPr/>
        </p:nvSpPr>
        <p:spPr>
          <a:xfrm>
            <a:off x="6762750" y="3009900"/>
            <a:ext cx="22288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38" b="0">
                <a:solidFill>
                  <a:srgbClr val="65736B"/>
                </a:solidFill>
                <a:latin typeface="Aptos"/>
                <a:ea typeface="Aptos"/>
                <a:cs typeface="Aptos"/>
              </a:defRPr>
            </a:pPr>
            <a:r>
              <a:rPr sz="938" b="0">
                <a:solidFill>
                  <a:srgbClr val="65736B"/>
                </a:solidFill>
                <a:latin typeface="Aptos"/>
                <a:ea typeface="Aptos"/>
                <a:cs typeface="Aptos"/>
              </a:rPr>
              <a:t>ripara; ricicla solo se serve</a:t>
            </a:r>
          </a:p>
        </p:txBody>
      </p:sp>
      <p:sp>
        <p:nvSpPr>
          <p:cNvPr id="20" name="state-link-1">
            <a:extLst>
              <a:ext uri="{FF2B5EF4-FFF2-40B4-BE49-F238E27FC236}">
                <a16:creationId xmlns:a16="http://schemas.microsoft.com/office/drawing/2014/main" id="{B255BE44-5231-4C7A-A0E3-0F20FC0549F3}"/>
              </a:ext>
            </a:extLst>
          </p:cNvPr>
          <p:cNvSpPr>
            <a:spLocks noGrp="1"/>
          </p:cNvSpPr>
          <p:nvPr/>
        </p:nvSpPr>
        <p:spPr>
          <a:xfrm>
            <a:off x="3238500" y="2971800"/>
            <a:ext cx="304800" cy="19050"/>
          </a:xfrm>
          <a:prstGeom prst="rect">
            <a:avLst/>
          </a:prstGeom>
          <a:solidFill>
            <a:srgbClr val="B9C3BB"/>
          </a:solidFill>
          <a:ln w="0">
            <a:solidFill>
              <a:srgbClr val="000000">
                <a:alpha val="0"/>
              </a:srgbClr>
            </a:solidFill>
            <a:prstDash val="solid"/>
          </a:ln>
        </p:spPr>
        <p:txBody>
          <a:bodyPr/>
          <a:lstStyle/>
          <a:p>
            <a:endParaRPr lang="en-US"/>
          </a:p>
        </p:txBody>
      </p:sp>
      <p:sp>
        <p:nvSpPr>
          <p:cNvPr id="21" name="state-link-1-end">
            <a:extLst>
              <a:ext uri="{FF2B5EF4-FFF2-40B4-BE49-F238E27FC236}">
                <a16:creationId xmlns:a16="http://schemas.microsoft.com/office/drawing/2014/main" id="{BD934ED2-78E7-4D52-93BA-C43EB5E254E5}"/>
              </a:ext>
            </a:extLst>
          </p:cNvPr>
          <p:cNvSpPr>
            <a:spLocks noGrp="1"/>
          </p:cNvSpPr>
          <p:nvPr/>
        </p:nvSpPr>
        <p:spPr>
          <a:xfrm>
            <a:off x="3486150" y="2924175"/>
            <a:ext cx="104775" cy="104775"/>
          </a:xfrm>
          <a:prstGeom prst="ellipse">
            <a:avLst/>
          </a:prstGeom>
          <a:solidFill>
            <a:srgbClr val="B9C3BB"/>
          </a:solidFill>
          <a:ln w="0">
            <a:solidFill>
              <a:srgbClr val="000000">
                <a:alpha val="0"/>
              </a:srgbClr>
            </a:solidFill>
            <a:prstDash val="solid"/>
          </a:ln>
        </p:spPr>
        <p:txBody>
          <a:bodyPr/>
          <a:lstStyle/>
          <a:p>
            <a:endParaRPr lang="en-US"/>
          </a:p>
        </p:txBody>
      </p:sp>
      <p:sp>
        <p:nvSpPr>
          <p:cNvPr id="22" name="state-link-2">
            <a:extLst>
              <a:ext uri="{FF2B5EF4-FFF2-40B4-BE49-F238E27FC236}">
                <a16:creationId xmlns:a16="http://schemas.microsoft.com/office/drawing/2014/main" id="{916A4C8D-0991-49ED-AC3D-A619EB163BC8}"/>
              </a:ext>
            </a:extLst>
          </p:cNvPr>
          <p:cNvSpPr>
            <a:spLocks noGrp="1"/>
          </p:cNvSpPr>
          <p:nvPr/>
        </p:nvSpPr>
        <p:spPr>
          <a:xfrm>
            <a:off x="6229350" y="2971800"/>
            <a:ext cx="304800" cy="19050"/>
          </a:xfrm>
          <a:prstGeom prst="rect">
            <a:avLst/>
          </a:prstGeom>
          <a:solidFill>
            <a:srgbClr val="B9C3BB"/>
          </a:solidFill>
          <a:ln w="0">
            <a:solidFill>
              <a:srgbClr val="000000">
                <a:alpha val="0"/>
              </a:srgbClr>
            </a:solidFill>
            <a:prstDash val="solid"/>
          </a:ln>
        </p:spPr>
        <p:txBody>
          <a:bodyPr/>
          <a:lstStyle/>
          <a:p>
            <a:endParaRPr lang="en-US"/>
          </a:p>
        </p:txBody>
      </p:sp>
      <p:sp>
        <p:nvSpPr>
          <p:cNvPr id="23" name="state-link-2-end">
            <a:extLst>
              <a:ext uri="{FF2B5EF4-FFF2-40B4-BE49-F238E27FC236}">
                <a16:creationId xmlns:a16="http://schemas.microsoft.com/office/drawing/2014/main" id="{CE336D8A-7B4E-45BA-B0C4-3F8DF25FA549}"/>
              </a:ext>
            </a:extLst>
          </p:cNvPr>
          <p:cNvSpPr>
            <a:spLocks noGrp="1"/>
          </p:cNvSpPr>
          <p:nvPr/>
        </p:nvSpPr>
        <p:spPr>
          <a:xfrm>
            <a:off x="6477000" y="2924175"/>
            <a:ext cx="104775" cy="104775"/>
          </a:xfrm>
          <a:prstGeom prst="ellipse">
            <a:avLst/>
          </a:prstGeom>
          <a:solidFill>
            <a:srgbClr val="B9C3BB"/>
          </a:solidFill>
          <a:ln w="0">
            <a:solidFill>
              <a:srgbClr val="000000">
                <a:alpha val="0"/>
              </a:srgbClr>
            </a:solidFill>
            <a:prstDash val="solid"/>
          </a:ln>
        </p:spPr>
        <p:txBody>
          <a:bodyPr/>
          <a:lstStyle/>
          <a:p>
            <a:endParaRPr lang="en-US"/>
          </a:p>
        </p:txBody>
      </p:sp>
      <p:sp>
        <p:nvSpPr>
          <p:cNvPr id="24" name="human-choice">
            <a:extLst>
              <a:ext uri="{FF2B5EF4-FFF2-40B4-BE49-F238E27FC236}">
                <a16:creationId xmlns:a16="http://schemas.microsoft.com/office/drawing/2014/main" id="{D2683EFB-573A-4127-8CAF-3EE146D01AC9}"/>
              </a:ext>
            </a:extLst>
          </p:cNvPr>
          <p:cNvSpPr>
            <a:spLocks noGrp="1"/>
          </p:cNvSpPr>
          <p:nvPr/>
        </p:nvSpPr>
        <p:spPr>
          <a:xfrm>
            <a:off x="9810750" y="2000250"/>
            <a:ext cx="1828800" cy="1924050"/>
          </a:xfrm>
          <a:prstGeom prst="roundRect">
            <a:avLst>
              <a:gd name="adj" fmla="val 4167"/>
            </a:avLst>
          </a:prstGeom>
          <a:solidFill>
            <a:srgbClr val="123C31"/>
          </a:solidFill>
          <a:ln w="0">
            <a:solidFill>
              <a:srgbClr val="000000">
                <a:alpha val="0"/>
              </a:srgbClr>
            </a:solidFill>
            <a:prstDash val="solid"/>
          </a:ln>
        </p:spPr>
        <p:txBody>
          <a:bodyPr/>
          <a:lstStyle/>
          <a:p>
            <a:endParaRPr lang="en-US"/>
          </a:p>
        </p:txBody>
      </p:sp>
      <p:pic>
        <p:nvPicPr>
          <p:cNvPr id="25" name="Graphic 24"/>
          <p:cNvPicPr>
            <a:picLocks noChangeAspect="1"/>
          </p:cNvPicPr>
          <p:nvPr/>
        </p:nvPicPr>
        <p:blipFill>
          <a:blip>
            <a:extLst>
              <a:ext uri="{96DAC541-7B7A-43D3-8B79-37D633B846F1}">
                <asvg:svgBlip xmlns:asvg="http://schemas.microsoft.com/office/drawing/2016/SVG/main" r:embed="rId6"/>
              </a:ext>
            </a:extLst>
          </a:blip>
          <a:stretch/>
        </p:blipFill>
        <p:spPr>
          <a:xfrm>
            <a:off x="10439400" y="2266950"/>
            <a:ext cx="571500" cy="571500"/>
          </a:xfrm>
          <a:prstGeom prst="rect">
            <a:avLst/>
          </a:prstGeom>
        </p:spPr>
      </p:pic>
      <p:sp>
        <p:nvSpPr>
          <p:cNvPr id="26" name="Rectangle 25">
            <a:extLst>
              <a:ext uri="{FF2B5EF4-FFF2-40B4-BE49-F238E27FC236}">
                <a16:creationId xmlns:a16="http://schemas.microsoft.com/office/drawing/2014/main" id="{88C741C0-3375-40CF-9328-C980F16B6B40}"/>
              </a:ext>
            </a:extLst>
          </p:cNvPr>
          <p:cNvSpPr>
            <a:spLocks noGrp="1"/>
          </p:cNvSpPr>
          <p:nvPr/>
        </p:nvSpPr>
        <p:spPr>
          <a:xfrm>
            <a:off x="10001250" y="3028950"/>
            <a:ext cx="14478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FFFFFF"/>
                </a:solidFill>
                <a:latin typeface="Georgia"/>
                <a:ea typeface="Georgia"/>
                <a:cs typeface="Georgia"/>
              </a:defRPr>
            </a:pPr>
            <a:r>
              <a:rPr sz="1350" b="1">
                <a:solidFill>
                  <a:srgbClr val="FFFFFF"/>
                </a:solidFill>
                <a:latin typeface="Georgia"/>
                <a:ea typeface="Georgia"/>
                <a:cs typeface="Georgia"/>
              </a:rPr>
              <a:t>Marta verifica</a:t>
            </a:r>
          </a:p>
        </p:txBody>
      </p:sp>
      <p:sp>
        <p:nvSpPr>
          <p:cNvPr id="27" name="Rectangle 26">
            <a:extLst>
              <a:ext uri="{FF2B5EF4-FFF2-40B4-BE49-F238E27FC236}">
                <a16:creationId xmlns:a16="http://schemas.microsoft.com/office/drawing/2014/main" id="{B5E9B456-525B-4FFE-AE34-BF305EC36D89}"/>
              </a:ext>
            </a:extLst>
          </p:cNvPr>
          <p:cNvSpPr>
            <a:spLocks noGrp="1"/>
          </p:cNvSpPr>
          <p:nvPr/>
        </p:nvSpPr>
        <p:spPr>
          <a:xfrm>
            <a:off x="10001250" y="3409950"/>
            <a:ext cx="14478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0">
                <a:solidFill>
                  <a:srgbClr val="DDE5DD"/>
                </a:solidFill>
                <a:latin typeface="Aptos"/>
                <a:ea typeface="Aptos"/>
                <a:cs typeface="Aptos"/>
              </a:defRPr>
            </a:pPr>
            <a:r>
              <a:rPr sz="788" b="0">
                <a:solidFill>
                  <a:srgbClr val="DDE5DD"/>
                </a:solidFill>
                <a:latin typeface="Aptos"/>
                <a:ea typeface="Aptos"/>
                <a:cs typeface="Aptos"/>
              </a:rPr>
              <a:t>può correggere lo stato</a:t>
            </a:r>
          </a:p>
        </p:txBody>
      </p:sp>
      <p:sp>
        <p:nvSpPr>
          <p:cNvPr id="28" name="Rectangle: Rounded Corners 27">
            <a:extLst>
              <a:ext uri="{FF2B5EF4-FFF2-40B4-BE49-F238E27FC236}">
                <a16:creationId xmlns:a16="http://schemas.microsoft.com/office/drawing/2014/main" id="{DA8CD698-FAFF-45A0-8B13-A20E83F56928}"/>
              </a:ext>
            </a:extLst>
          </p:cNvPr>
          <p:cNvSpPr>
            <a:spLocks noGrp="1"/>
          </p:cNvSpPr>
          <p:nvPr/>
        </p:nvSpPr>
        <p:spPr>
          <a:xfrm>
            <a:off x="552450" y="4438650"/>
            <a:ext cx="11087100" cy="1181100"/>
          </a:xfrm>
          <a:prstGeom prst="roundRect">
            <a:avLst>
              <a:gd name="adj" fmla="val 6452"/>
            </a:avLst>
          </a:prstGeom>
          <a:solidFill>
            <a:srgbClr val="DDE5DD"/>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4A89203F-CB3F-4B0E-8F60-ACFB30048DB5}"/>
              </a:ext>
            </a:extLst>
          </p:cNvPr>
          <p:cNvSpPr>
            <a:spLocks noGrp="1"/>
          </p:cNvSpPr>
          <p:nvPr/>
        </p:nvSpPr>
        <p:spPr>
          <a:xfrm>
            <a:off x="800100" y="4667250"/>
            <a:ext cx="11811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466D86"/>
                </a:solidFill>
                <a:latin typeface="Aptos"/>
                <a:ea typeface="Aptos"/>
                <a:cs typeface="Aptos"/>
              </a:defRPr>
            </a:pPr>
            <a:r>
              <a:rPr sz="675" b="1">
                <a:solidFill>
                  <a:srgbClr val="466D86"/>
                </a:solidFill>
                <a:latin typeface="Aptos"/>
                <a:ea typeface="Aptos"/>
                <a:cs typeface="Aptos"/>
              </a:rPr>
              <a:t>DIAGNOSI</a:t>
            </a:r>
          </a:p>
        </p:txBody>
      </p:sp>
      <p:sp>
        <p:nvSpPr>
          <p:cNvPr id="30" name="Rectangle 29">
            <a:extLst>
              <a:ext uri="{FF2B5EF4-FFF2-40B4-BE49-F238E27FC236}">
                <a16:creationId xmlns:a16="http://schemas.microsoft.com/office/drawing/2014/main" id="{54F8F247-FB97-440F-B6F6-029A11B52BA0}"/>
              </a:ext>
            </a:extLst>
          </p:cNvPr>
          <p:cNvSpPr>
            <a:spLocks noGrp="1"/>
          </p:cNvSpPr>
          <p:nvPr/>
        </p:nvSpPr>
        <p:spPr>
          <a:xfrm>
            <a:off x="800100" y="4953000"/>
            <a:ext cx="1524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7211D"/>
                </a:solidFill>
                <a:latin typeface="Georgia"/>
                <a:ea typeface="Georgia"/>
                <a:cs typeface="Georgia"/>
              </a:defRPr>
            </a:pPr>
            <a:r>
              <a:rPr sz="1500" b="1">
                <a:solidFill>
                  <a:srgbClr val="17211D"/>
                </a:solidFill>
                <a:latin typeface="Georgia"/>
                <a:ea typeface="Georgia"/>
                <a:cs typeface="Georgia"/>
              </a:rPr>
              <a:t>foto → stato</a:t>
            </a:r>
          </a:p>
        </p:txBody>
      </p:sp>
      <p:sp>
        <p:nvSpPr>
          <p:cNvPr id="31" name="Rectangle 30">
            <a:extLst>
              <a:ext uri="{FF2B5EF4-FFF2-40B4-BE49-F238E27FC236}">
                <a16:creationId xmlns:a16="http://schemas.microsoft.com/office/drawing/2014/main" id="{A15ECD7B-A964-4E36-A07E-6943AE911DA2}"/>
              </a:ext>
            </a:extLst>
          </p:cNvPr>
          <p:cNvSpPr>
            <a:spLocks noGrp="1"/>
          </p:cNvSpPr>
          <p:nvPr/>
        </p:nvSpPr>
        <p:spPr>
          <a:xfrm>
            <a:off x="3143250" y="4667250"/>
            <a:ext cx="1333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D56E42"/>
                </a:solidFill>
                <a:latin typeface="Aptos"/>
                <a:ea typeface="Aptos"/>
                <a:cs typeface="Aptos"/>
              </a:defRPr>
            </a:pPr>
            <a:r>
              <a:rPr sz="675" b="1">
                <a:solidFill>
                  <a:srgbClr val="D56E42"/>
                </a:solidFill>
                <a:latin typeface="Aptos"/>
                <a:ea typeface="Aptos"/>
                <a:cs typeface="Aptos"/>
              </a:rPr>
              <a:t>SCELTA UMANA</a:t>
            </a:r>
          </a:p>
        </p:txBody>
      </p:sp>
      <p:sp>
        <p:nvSpPr>
          <p:cNvPr id="32" name="Rectangle 31">
            <a:extLst>
              <a:ext uri="{FF2B5EF4-FFF2-40B4-BE49-F238E27FC236}">
                <a16:creationId xmlns:a16="http://schemas.microsoft.com/office/drawing/2014/main" id="{B023DCF8-655C-4B03-B21C-BA073C92E68B}"/>
              </a:ext>
            </a:extLst>
          </p:cNvPr>
          <p:cNvSpPr>
            <a:spLocks noGrp="1"/>
          </p:cNvSpPr>
          <p:nvPr/>
        </p:nvSpPr>
        <p:spPr>
          <a:xfrm>
            <a:off x="3143250" y="4953000"/>
            <a:ext cx="2095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7211D"/>
                </a:solidFill>
                <a:latin typeface="Georgia"/>
                <a:ea typeface="Georgia"/>
                <a:cs typeface="Georgia"/>
              </a:defRPr>
            </a:pPr>
            <a:r>
              <a:rPr sz="1500" b="1">
                <a:solidFill>
                  <a:srgbClr val="17211D"/>
                </a:solidFill>
                <a:latin typeface="Georgia"/>
                <a:ea typeface="Georgia"/>
                <a:cs typeface="Georgia"/>
              </a:rPr>
              <a:t>conferma o corregge</a:t>
            </a:r>
          </a:p>
        </p:txBody>
      </p:sp>
      <p:sp>
        <p:nvSpPr>
          <p:cNvPr id="33" name="Rectangle 32">
            <a:extLst>
              <a:ext uri="{FF2B5EF4-FFF2-40B4-BE49-F238E27FC236}">
                <a16:creationId xmlns:a16="http://schemas.microsoft.com/office/drawing/2014/main" id="{240B7CF2-0554-4CA2-95DB-3A784636253A}"/>
              </a:ext>
            </a:extLst>
          </p:cNvPr>
          <p:cNvSpPr>
            <a:spLocks noGrp="1"/>
          </p:cNvSpPr>
          <p:nvPr/>
        </p:nvSpPr>
        <p:spPr>
          <a:xfrm>
            <a:off x="6286500" y="4667250"/>
            <a:ext cx="95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2F7D5B"/>
                </a:solidFill>
                <a:latin typeface="Aptos"/>
                <a:ea typeface="Aptos"/>
                <a:cs typeface="Aptos"/>
              </a:defRPr>
            </a:pPr>
            <a:r>
              <a:rPr sz="675" b="1">
                <a:solidFill>
                  <a:srgbClr val="2F7D5B"/>
                </a:solidFill>
                <a:latin typeface="Aptos"/>
                <a:ea typeface="Aptos"/>
                <a:cs typeface="Aptos"/>
              </a:rPr>
              <a:t>AZIONE</a:t>
            </a:r>
          </a:p>
        </p:txBody>
      </p:sp>
      <p:sp>
        <p:nvSpPr>
          <p:cNvPr id="34" name="Rectangle 33">
            <a:extLst>
              <a:ext uri="{FF2B5EF4-FFF2-40B4-BE49-F238E27FC236}">
                <a16:creationId xmlns:a16="http://schemas.microsoft.com/office/drawing/2014/main" id="{14669ED5-2811-413B-8BEC-58DA12BD56B8}"/>
              </a:ext>
            </a:extLst>
          </p:cNvPr>
          <p:cNvSpPr>
            <a:spLocks noGrp="1"/>
          </p:cNvSpPr>
          <p:nvPr/>
        </p:nvSpPr>
        <p:spPr>
          <a:xfrm>
            <a:off x="6286500" y="4953000"/>
            <a:ext cx="4000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7211D"/>
                </a:solidFill>
                <a:latin typeface="Georgia"/>
                <a:ea typeface="Georgia"/>
                <a:cs typeface="Georgia"/>
              </a:defRPr>
            </a:pPr>
            <a:r>
              <a:rPr sz="1500" b="1">
                <a:solidFill>
                  <a:srgbClr val="17211D"/>
                </a:solidFill>
                <a:latin typeface="Georgia"/>
                <a:ea typeface="Georgia"/>
                <a:cs typeface="Georgia"/>
              </a:rPr>
              <a:t>continua · ripara · seconda vita</a:t>
            </a:r>
          </a:p>
        </p:txBody>
      </p:sp>
      <p:sp>
        <p:nvSpPr>
          <p:cNvPr id="35" name="Rectangle 34">
            <a:extLst>
              <a:ext uri="{FF2B5EF4-FFF2-40B4-BE49-F238E27FC236}">
                <a16:creationId xmlns:a16="http://schemas.microsoft.com/office/drawing/2014/main" id="{46D91D27-4AED-449B-9836-A57803923A49}"/>
              </a:ext>
            </a:extLst>
          </p:cNvPr>
          <p:cNvSpPr>
            <a:spLocks noGrp="1"/>
          </p:cNvSpPr>
          <p:nvPr/>
        </p:nvSpPr>
        <p:spPr>
          <a:xfrm>
            <a:off x="552450" y="5867400"/>
            <a:ext cx="11087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65736B"/>
                </a:solidFill>
                <a:latin typeface="Aptos"/>
                <a:ea typeface="Aptos"/>
                <a:cs typeface="Aptos"/>
              </a:defRPr>
            </a:pPr>
            <a:r>
              <a:rPr sz="825" b="0">
                <a:solidFill>
                  <a:srgbClr val="65736B"/>
                </a:solidFill>
                <a:latin typeface="Aptos"/>
                <a:ea typeface="Aptos"/>
                <a:cs typeface="Aptos"/>
              </a:rPr>
              <a:t>La rete supporta la decisione; non certifica il tessuto.</a:t>
            </a:r>
          </a:p>
        </p:txBody>
      </p:sp>
      <p:sp>
        <p:nvSpPr>
          <p:cNvPr id="36" name="footer-rule">
            <a:extLst>
              <a:ext uri="{FF2B5EF4-FFF2-40B4-BE49-F238E27FC236}">
                <a16:creationId xmlns:a16="http://schemas.microsoft.com/office/drawing/2014/main" id="{76977BA3-F6B5-4177-B597-7E7D8684D28E}"/>
              </a:ext>
            </a:extLst>
          </p:cNvPr>
          <p:cNvSpPr>
            <a:spLocks noGrp="1"/>
          </p:cNvSpPr>
          <p:nvPr/>
        </p:nvSpPr>
        <p:spPr>
          <a:xfrm>
            <a:off x="552450" y="6457950"/>
            <a:ext cx="11087100" cy="9525"/>
          </a:xfrm>
          <a:prstGeom prst="rect">
            <a:avLst/>
          </a:prstGeom>
          <a:solidFill>
            <a:srgbClr val="B9C3BB"/>
          </a:solidFill>
          <a:ln w="0">
            <a:solidFill>
              <a:srgbClr val="000000">
                <a:alpha val="0"/>
              </a:srgbClr>
            </a:solidFill>
            <a:prstDash val="solid"/>
          </a:ln>
        </p:spPr>
        <p:txBody>
          <a:bodyPr/>
          <a:lstStyle/>
          <a:p>
            <a:endParaRPr lang="en-US"/>
          </a:p>
        </p:txBody>
      </p:sp>
      <p:sp>
        <p:nvSpPr>
          <p:cNvPr id="37" name="footer-source">
            <a:extLst>
              <a:ext uri="{FF2B5EF4-FFF2-40B4-BE49-F238E27FC236}">
                <a16:creationId xmlns:a16="http://schemas.microsoft.com/office/drawing/2014/main" id="{F31E6E1C-F5B2-40CA-8BA7-16E12DC7BA43}"/>
              </a:ext>
            </a:extLst>
          </p:cNvPr>
          <p:cNvSpPr>
            <a:spLocks noGrp="1"/>
          </p:cNvSpPr>
          <p:nvPr/>
        </p:nvSpPr>
        <p:spPr>
          <a:xfrm>
            <a:off x="552450" y="6534150"/>
            <a:ext cx="10001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65736B"/>
                </a:solidFill>
                <a:latin typeface="Aptos"/>
                <a:ea typeface="Aptos"/>
                <a:cs typeface="Aptos"/>
              </a:defRPr>
            </a:pPr>
            <a:r>
              <a:rPr sz="563" b="0">
                <a:solidFill>
                  <a:srgbClr val="65736B"/>
                </a:solidFill>
                <a:latin typeface="Aptos"/>
                <a:ea typeface="Aptos"/>
                <a:cs typeface="Aptos"/>
              </a:rPr>
              <a:t>Tre stati runtime; fonte della diagnosi visibile e override manuale</a:t>
            </a:r>
          </a:p>
        </p:txBody>
      </p:sp>
      <p:sp>
        <p:nvSpPr>
          <p:cNvPr id="38" name="page-marker">
            <a:extLst>
              <a:ext uri="{FF2B5EF4-FFF2-40B4-BE49-F238E27FC236}">
                <a16:creationId xmlns:a16="http://schemas.microsoft.com/office/drawing/2014/main" id="{BB0BD573-C6F1-4C95-B662-0B24F29AE40F}"/>
              </a:ext>
            </a:extLst>
          </p:cNvPr>
          <p:cNvSpPr>
            <a:spLocks noGrp="1"/>
          </p:cNvSpPr>
          <p:nvPr/>
        </p:nvSpPr>
        <p:spPr>
          <a:xfrm>
            <a:off x="11087100" y="6505575"/>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65736B"/>
                </a:solidFill>
                <a:latin typeface="Georgia"/>
                <a:ea typeface="Georgia"/>
                <a:cs typeface="Georgia"/>
              </a:defRPr>
            </a:pPr>
            <a:r>
              <a:rPr sz="750" b="1">
                <a:solidFill>
                  <a:srgbClr val="65736B"/>
                </a:solidFill>
                <a:latin typeface="Georgia"/>
                <a:ea typeface="Georgia"/>
                <a:cs typeface="Georgia"/>
              </a:rPr>
              <a:t>07</a:t>
            </a:r>
          </a:p>
        </p:txBody>
      </p:sp>
    </p:spTree>
    <p:extLst>
      <p:ext uri="{BB962C8B-B14F-4D97-AF65-F5344CB8AC3E}">
        <p14:creationId xmlns:p14="http://schemas.microsoft.com/office/powerpoint/2010/main" val="868972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background">
            <a:extLst>
              <a:ext uri="{FF2B5EF4-FFF2-40B4-BE49-F238E27FC236}">
                <a16:creationId xmlns:a16="http://schemas.microsoft.com/office/drawing/2014/main" id="{E7763A2D-932D-4841-B578-FA77D43A549D}"/>
              </a:ext>
            </a:extLst>
          </p:cNvPr>
          <p:cNvSpPr>
            <a:spLocks noGrp="1"/>
          </p:cNvSpPr>
          <p:nvPr/>
        </p:nvSpPr>
        <p:spPr>
          <a:xfrm>
            <a:off x="0" y="0"/>
            <a:ext cx="12192000" cy="6858000"/>
          </a:xfrm>
          <a:prstGeom prst="rect">
            <a:avLst/>
          </a:prstGeom>
          <a:solidFill>
            <a:srgbClr val="F4F0E7"/>
          </a:solidFill>
          <a:ln w="0">
            <a:solidFill>
              <a:srgbClr val="000000">
                <a:alpha val="0"/>
              </a:srgbClr>
            </a:solidFill>
            <a:prstDash val="solid"/>
          </a:ln>
        </p:spPr>
        <p:txBody>
          <a:bodyPr/>
          <a:lstStyle/>
          <a:p>
            <a:endParaRPr lang="en-US"/>
          </a:p>
        </p:txBody>
      </p:sp>
      <p:sp>
        <p:nvSpPr>
          <p:cNvPr id="2" name="kicker-marker">
            <a:extLst>
              <a:ext uri="{FF2B5EF4-FFF2-40B4-BE49-F238E27FC236}">
                <a16:creationId xmlns:a16="http://schemas.microsoft.com/office/drawing/2014/main" id="{24168978-CB38-4922-B9DC-E208FC7E41AC}"/>
              </a:ext>
            </a:extLst>
          </p:cNvPr>
          <p:cNvSpPr>
            <a:spLocks noGrp="1"/>
          </p:cNvSpPr>
          <p:nvPr/>
        </p:nvSpPr>
        <p:spPr>
          <a:xfrm>
            <a:off x="552450" y="400050"/>
            <a:ext cx="95250" cy="95250"/>
          </a:xfrm>
          <a:prstGeom prst="ellipse">
            <a:avLst/>
          </a:prstGeom>
          <a:solidFill>
            <a:srgbClr val="2F7D5B"/>
          </a:solidFill>
          <a:ln w="0">
            <a:solidFill>
              <a:srgbClr val="000000">
                <a:alpha val="0"/>
              </a:srgbClr>
            </a:solidFill>
            <a:prstDash val="solid"/>
          </a:ln>
        </p:spPr>
        <p:txBody>
          <a:bodyPr/>
          <a:lstStyle/>
          <a:p>
            <a:endParaRPr lang="en-US"/>
          </a:p>
        </p:txBody>
      </p:sp>
      <p:sp>
        <p:nvSpPr>
          <p:cNvPr id="3" name="kicker-label">
            <a:extLst>
              <a:ext uri="{FF2B5EF4-FFF2-40B4-BE49-F238E27FC236}">
                <a16:creationId xmlns:a16="http://schemas.microsoft.com/office/drawing/2014/main" id="{0D03EB79-A165-46CF-9DF3-04FA73FCE8BB}"/>
              </a:ext>
            </a:extLst>
          </p:cNvPr>
          <p:cNvSpPr>
            <a:spLocks noGrp="1"/>
          </p:cNvSpPr>
          <p:nvPr/>
        </p:nvSpPr>
        <p:spPr>
          <a:xfrm>
            <a:off x="762000" y="361950"/>
            <a:ext cx="571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5736B"/>
                </a:solidFill>
                <a:latin typeface="Aptos"/>
                <a:ea typeface="Aptos"/>
                <a:cs typeface="Aptos"/>
              </a:defRPr>
            </a:pPr>
            <a:r>
              <a:rPr sz="675" b="1">
                <a:solidFill>
                  <a:srgbClr val="65736B"/>
                </a:solidFill>
                <a:latin typeface="Aptos"/>
                <a:ea typeface="Aptos"/>
                <a:cs typeface="Aptos"/>
              </a:rPr>
              <a:t>U S E R   S T O R Y   ·   6 .   C A P I R E   I   G A P</a:t>
            </a:r>
          </a:p>
        </p:txBody>
      </p:sp>
      <p:sp>
        <p:nvSpPr>
          <p:cNvPr id="4" name="claim-title">
            <a:extLst>
              <a:ext uri="{FF2B5EF4-FFF2-40B4-BE49-F238E27FC236}">
                <a16:creationId xmlns:a16="http://schemas.microsoft.com/office/drawing/2014/main" id="{370BC129-E233-445F-B77F-F602DFE2E71F}"/>
              </a:ext>
            </a:extLst>
          </p:cNvPr>
          <p:cNvSpPr>
            <a:spLocks noGrp="1"/>
          </p:cNvSpPr>
          <p:nvPr/>
        </p:nvSpPr>
        <p:spPr>
          <a:xfrm>
            <a:off x="552450" y="723900"/>
            <a:ext cx="10287000" cy="1009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075" b="1">
                <a:solidFill>
                  <a:srgbClr val="17211D"/>
                </a:solidFill>
                <a:latin typeface="Georgia"/>
                <a:ea typeface="Georgia"/>
                <a:cs typeface="Georgia"/>
              </a:defRPr>
            </a:pPr>
            <a:r>
              <a:rPr sz="3075" b="1">
                <a:solidFill>
                  <a:srgbClr val="17211D"/>
                </a:solidFill>
                <a:latin typeface="Georgia"/>
                <a:ea typeface="Georgia"/>
                <a:cs typeface="Georgia"/>
              </a:rPr>
              <a:t>Il gap può dire anche: “non serve comprare nulla”.</a:t>
            </a:r>
          </a:p>
        </p:txBody>
      </p:sp>
      <p:sp>
        <p:nvSpPr>
          <p:cNvPr id="5" name="Rectangle 4">
            <a:extLst>
              <a:ext uri="{FF2B5EF4-FFF2-40B4-BE49-F238E27FC236}">
                <a16:creationId xmlns:a16="http://schemas.microsoft.com/office/drawing/2014/main" id="{BA97DB36-A65C-47EA-8FF8-45D696D24463}"/>
              </a:ext>
            </a:extLst>
          </p:cNvPr>
          <p:cNvSpPr>
            <a:spLocks noGrp="1"/>
          </p:cNvSpPr>
          <p:nvPr/>
        </p:nvSpPr>
        <p:spPr>
          <a:xfrm>
            <a:off x="552450" y="1809750"/>
            <a:ext cx="8572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65736B"/>
                </a:solidFill>
                <a:latin typeface="Aptos"/>
                <a:ea typeface="Aptos"/>
                <a:cs typeface="Aptos"/>
              </a:defRPr>
            </a:pPr>
            <a:r>
              <a:rPr sz="1200" b="0">
                <a:solidFill>
                  <a:srgbClr val="65736B"/>
                </a:solidFill>
                <a:latin typeface="Aptos"/>
                <a:ea typeface="Aptos"/>
                <a:cs typeface="Aptos"/>
              </a:rPr>
              <a:t>Il sistema guarda l’equilibrio complessivo, non cerca una scusa per aggiungere prodotti.</a:t>
            </a:r>
          </a:p>
        </p:txBody>
      </p:sp>
      <p:sp>
        <p:nvSpPr>
          <p:cNvPr id="6" name="coverage-list">
            <a:extLst>
              <a:ext uri="{FF2B5EF4-FFF2-40B4-BE49-F238E27FC236}">
                <a16:creationId xmlns:a16="http://schemas.microsoft.com/office/drawing/2014/main" id="{2B23CEED-78E2-448E-B674-2935AFC67DD7}"/>
              </a:ext>
            </a:extLst>
          </p:cNvPr>
          <p:cNvSpPr>
            <a:spLocks noGrp="1"/>
          </p:cNvSpPr>
          <p:nvPr/>
        </p:nvSpPr>
        <p:spPr>
          <a:xfrm>
            <a:off x="552450" y="2343150"/>
            <a:ext cx="4953000" cy="3257550"/>
          </a:xfrm>
          <a:prstGeom prst="roundRect">
            <a:avLst>
              <a:gd name="adj" fmla="val 2339"/>
            </a:avLst>
          </a:prstGeom>
          <a:solidFill>
            <a:srgbClr val="FFFFFF"/>
          </a:solidFill>
          <a:ln w="9525">
            <a:solidFill>
              <a:srgbClr val="B9C3BB"/>
            </a:solidFill>
            <a:prstDash val="solid"/>
          </a:ln>
        </p:spPr>
        <p:txBody>
          <a:bodyPr/>
          <a:lstStyle/>
          <a:p>
            <a:endParaRPr lang="en-US"/>
          </a:p>
        </p:txBody>
      </p:sp>
      <p:sp>
        <p:nvSpPr>
          <p:cNvPr id="7" name="Rectangle 6">
            <a:extLst>
              <a:ext uri="{FF2B5EF4-FFF2-40B4-BE49-F238E27FC236}">
                <a16:creationId xmlns:a16="http://schemas.microsoft.com/office/drawing/2014/main" id="{25E1DE14-9C98-47D4-A665-3A68F05EA29D}"/>
              </a:ext>
            </a:extLst>
          </p:cNvPr>
          <p:cNvSpPr>
            <a:spLocks noGrp="1"/>
          </p:cNvSpPr>
          <p:nvPr/>
        </p:nvSpPr>
        <p:spPr>
          <a:xfrm>
            <a:off x="819150" y="25336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2F7D5B"/>
                </a:solidFill>
                <a:latin typeface="Aptos"/>
                <a:ea typeface="Aptos"/>
                <a:cs typeface="Aptos"/>
              </a:defRPr>
            </a:pPr>
            <a:r>
              <a:rPr sz="675" b="1">
                <a:solidFill>
                  <a:srgbClr val="2F7D5B"/>
                </a:solidFill>
                <a:latin typeface="Aptos"/>
                <a:ea typeface="Aptos"/>
                <a:cs typeface="Aptos"/>
              </a:rPr>
              <a:t>COPERTURA FUNZIONALE</a:t>
            </a:r>
          </a:p>
        </p:txBody>
      </p:sp>
      <p:sp>
        <p:nvSpPr>
          <p:cNvPr id="8" name="Oval 7">
            <a:extLst>
              <a:ext uri="{FF2B5EF4-FFF2-40B4-BE49-F238E27FC236}">
                <a16:creationId xmlns:a16="http://schemas.microsoft.com/office/drawing/2014/main" id="{A587D20C-F68C-4FF1-966A-2CC3686BF0B1}"/>
              </a:ext>
            </a:extLst>
          </p:cNvPr>
          <p:cNvSpPr>
            <a:spLocks noGrp="1"/>
          </p:cNvSpPr>
          <p:nvPr/>
        </p:nvSpPr>
        <p:spPr>
          <a:xfrm>
            <a:off x="838200" y="2952750"/>
            <a:ext cx="266700" cy="266700"/>
          </a:xfrm>
          <a:prstGeom prst="ellipse">
            <a:avLst/>
          </a:prstGeom>
          <a:solidFill>
            <a:srgbClr val="2F7D5B"/>
          </a:solidFill>
          <a:ln w="0">
            <a:solidFill>
              <a:srgbClr val="000000">
                <a:alpha val="0"/>
              </a:srgbClr>
            </a:solidFill>
            <a:prstDash val="solid"/>
          </a:ln>
        </p:spPr>
        <p:txBody>
          <a:bodyPr/>
          <a:lstStyle/>
          <a:p>
            <a:endParaRPr lang="en-US"/>
          </a:p>
        </p:txBody>
      </p:sp>
      <p:pic>
        <p:nvPicPr>
          <p:cNvPr id="9" name="Graphic 8"/>
          <p:cNvPicPr>
            <a:picLocks noChangeAspect="1"/>
          </p:cNvPicPr>
          <p:nvPr/>
        </p:nvPicPr>
        <p:blipFill>
          <a:blip>
            <a:extLst>
              <a:ext uri="{96DAC541-7B7A-43D3-8B79-37D633B846F1}">
                <asvg:svgBlip xmlns:asvg="http://schemas.microsoft.com/office/drawing/2016/SVG/main" r:embed="rId3"/>
              </a:ext>
            </a:extLst>
          </a:blip>
          <a:stretch/>
        </p:blipFill>
        <p:spPr>
          <a:xfrm>
            <a:off x="895350" y="3009900"/>
            <a:ext cx="152400" cy="152400"/>
          </a:xfrm>
          <a:prstGeom prst="rect">
            <a:avLst/>
          </a:prstGeom>
        </p:spPr>
      </p:pic>
      <p:sp>
        <p:nvSpPr>
          <p:cNvPr id="10" name="Rectangle 9">
            <a:extLst>
              <a:ext uri="{FF2B5EF4-FFF2-40B4-BE49-F238E27FC236}">
                <a16:creationId xmlns:a16="http://schemas.microsoft.com/office/drawing/2014/main" id="{0E76DDB7-1B79-43FD-A0BA-3DB9C437A40E}"/>
              </a:ext>
            </a:extLst>
          </p:cNvPr>
          <p:cNvSpPr>
            <a:spLocks noGrp="1"/>
          </p:cNvSpPr>
          <p:nvPr/>
        </p:nvSpPr>
        <p:spPr>
          <a:xfrm>
            <a:off x="1257300" y="2952750"/>
            <a:ext cx="2000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11D"/>
                </a:solidFill>
                <a:latin typeface="Aptos"/>
                <a:ea typeface="Aptos"/>
                <a:cs typeface="Aptos"/>
              </a:defRPr>
            </a:pPr>
            <a:r>
              <a:rPr sz="1050" b="1">
                <a:solidFill>
                  <a:srgbClr val="17211D"/>
                </a:solidFill>
                <a:latin typeface="Aptos"/>
                <a:ea typeface="Aptos"/>
                <a:cs typeface="Aptos"/>
              </a:rPr>
              <a:t>Top</a:t>
            </a:r>
          </a:p>
        </p:txBody>
      </p:sp>
      <p:sp>
        <p:nvSpPr>
          <p:cNvPr id="11" name="Rectangle 10">
            <a:extLst>
              <a:ext uri="{FF2B5EF4-FFF2-40B4-BE49-F238E27FC236}">
                <a16:creationId xmlns:a16="http://schemas.microsoft.com/office/drawing/2014/main" id="{149BDA56-55D5-4A74-9ED1-E6A6E3A7879A}"/>
              </a:ext>
            </a:extLst>
          </p:cNvPr>
          <p:cNvSpPr>
            <a:spLocks noGrp="1"/>
          </p:cNvSpPr>
          <p:nvPr/>
        </p:nvSpPr>
        <p:spPr>
          <a:xfrm>
            <a:off x="3219450" y="3076575"/>
            <a:ext cx="1847850" cy="76200"/>
          </a:xfrm>
          <a:prstGeom prst="rect">
            <a:avLst/>
          </a:prstGeom>
          <a:solidFill>
            <a:srgbClr val="DDE5DD"/>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3A1C2EB7-1A25-4099-851C-E3112BFF1919}"/>
              </a:ext>
            </a:extLst>
          </p:cNvPr>
          <p:cNvSpPr>
            <a:spLocks noGrp="1"/>
          </p:cNvSpPr>
          <p:nvPr/>
        </p:nvSpPr>
        <p:spPr>
          <a:xfrm>
            <a:off x="3219450" y="3076575"/>
            <a:ext cx="1562100" cy="76200"/>
          </a:xfrm>
          <a:prstGeom prst="rect">
            <a:avLst/>
          </a:prstGeom>
          <a:solidFill>
            <a:srgbClr val="2F7D5B"/>
          </a:solidFill>
          <a:ln w="0">
            <a:solidFill>
              <a:srgbClr val="000000">
                <a:alpha val="0"/>
              </a:srgbClr>
            </a:solidFill>
            <a:prstDash val="solid"/>
          </a:ln>
        </p:spPr>
        <p:txBody>
          <a:bodyPr/>
          <a:lstStyle/>
          <a:p>
            <a:endParaRPr lang="en-US"/>
          </a:p>
        </p:txBody>
      </p:sp>
      <p:sp>
        <p:nvSpPr>
          <p:cNvPr id="13" name="Oval 12">
            <a:extLst>
              <a:ext uri="{FF2B5EF4-FFF2-40B4-BE49-F238E27FC236}">
                <a16:creationId xmlns:a16="http://schemas.microsoft.com/office/drawing/2014/main" id="{CCBCAA37-D045-45B2-B60A-747A3B743E27}"/>
              </a:ext>
            </a:extLst>
          </p:cNvPr>
          <p:cNvSpPr>
            <a:spLocks noGrp="1"/>
          </p:cNvSpPr>
          <p:nvPr/>
        </p:nvSpPr>
        <p:spPr>
          <a:xfrm>
            <a:off x="838200" y="3448050"/>
            <a:ext cx="266700" cy="266700"/>
          </a:xfrm>
          <a:prstGeom prst="ellipse">
            <a:avLst/>
          </a:prstGeom>
          <a:solidFill>
            <a:srgbClr val="2F7D5B"/>
          </a:solidFill>
          <a:ln w="0">
            <a:solidFill>
              <a:srgbClr val="000000">
                <a:alpha val="0"/>
              </a:srgbClr>
            </a:solidFill>
            <a:prstDash val="solid"/>
          </a:ln>
        </p:spPr>
        <p:txBody>
          <a:bodyPr/>
          <a:lstStyle/>
          <a:p>
            <a:endParaRPr lang="en-US"/>
          </a:p>
        </p:txBody>
      </p:sp>
      <p:pic>
        <p:nvPicPr>
          <p:cNvPr id="14" name="Graphic 13"/>
          <p:cNvPicPr>
            <a:picLocks noChangeAspect="1"/>
          </p:cNvPicPr>
          <p:nvPr/>
        </p:nvPicPr>
        <p:blipFill>
          <a:blip>
            <a:extLst>
              <a:ext uri="{96DAC541-7B7A-43D3-8B79-37D633B846F1}">
                <asvg:svgBlip xmlns:asvg="http://schemas.microsoft.com/office/drawing/2016/SVG/main" r:embed="rId3"/>
              </a:ext>
            </a:extLst>
          </a:blip>
          <a:stretch/>
        </p:blipFill>
        <p:spPr>
          <a:xfrm>
            <a:off x="895350" y="3505200"/>
            <a:ext cx="152400" cy="152400"/>
          </a:xfrm>
          <a:prstGeom prst="rect">
            <a:avLst/>
          </a:prstGeom>
        </p:spPr>
      </p:pic>
      <p:sp>
        <p:nvSpPr>
          <p:cNvPr id="15" name="Rectangle 14">
            <a:extLst>
              <a:ext uri="{FF2B5EF4-FFF2-40B4-BE49-F238E27FC236}">
                <a16:creationId xmlns:a16="http://schemas.microsoft.com/office/drawing/2014/main" id="{AFC58F7D-2508-4EDE-816A-91D0199659E6}"/>
              </a:ext>
            </a:extLst>
          </p:cNvPr>
          <p:cNvSpPr>
            <a:spLocks noGrp="1"/>
          </p:cNvSpPr>
          <p:nvPr/>
        </p:nvSpPr>
        <p:spPr>
          <a:xfrm>
            <a:off x="1257300" y="3448050"/>
            <a:ext cx="2000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11D"/>
                </a:solidFill>
                <a:latin typeface="Aptos"/>
                <a:ea typeface="Aptos"/>
                <a:cs typeface="Aptos"/>
              </a:defRPr>
            </a:pPr>
            <a:r>
              <a:rPr sz="1050" b="1">
                <a:solidFill>
                  <a:srgbClr val="17211D"/>
                </a:solidFill>
                <a:latin typeface="Aptos"/>
                <a:ea typeface="Aptos"/>
                <a:cs typeface="Aptos"/>
              </a:rPr>
              <a:t>Bottom</a:t>
            </a:r>
          </a:p>
        </p:txBody>
      </p:sp>
      <p:sp>
        <p:nvSpPr>
          <p:cNvPr id="16" name="Rectangle 15">
            <a:extLst>
              <a:ext uri="{FF2B5EF4-FFF2-40B4-BE49-F238E27FC236}">
                <a16:creationId xmlns:a16="http://schemas.microsoft.com/office/drawing/2014/main" id="{F0394912-6B7C-4C33-919F-CAE2D17B1948}"/>
              </a:ext>
            </a:extLst>
          </p:cNvPr>
          <p:cNvSpPr>
            <a:spLocks noGrp="1"/>
          </p:cNvSpPr>
          <p:nvPr/>
        </p:nvSpPr>
        <p:spPr>
          <a:xfrm>
            <a:off x="3219450" y="3571875"/>
            <a:ext cx="1847850" cy="76200"/>
          </a:xfrm>
          <a:prstGeom prst="rect">
            <a:avLst/>
          </a:prstGeom>
          <a:solidFill>
            <a:srgbClr val="DDE5DD"/>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54BAD6C6-78B4-4C74-9ED2-B68295288DFE}"/>
              </a:ext>
            </a:extLst>
          </p:cNvPr>
          <p:cNvSpPr>
            <a:spLocks noGrp="1"/>
          </p:cNvSpPr>
          <p:nvPr/>
        </p:nvSpPr>
        <p:spPr>
          <a:xfrm>
            <a:off x="3219450" y="3571875"/>
            <a:ext cx="1476375" cy="76200"/>
          </a:xfrm>
          <a:prstGeom prst="rect">
            <a:avLst/>
          </a:prstGeom>
          <a:solidFill>
            <a:srgbClr val="2F7D5B"/>
          </a:solidFill>
          <a:ln w="0">
            <a:solidFill>
              <a:srgbClr val="000000">
                <a:alpha val="0"/>
              </a:srgbClr>
            </a:solidFill>
            <a:prstDash val="solid"/>
          </a:ln>
        </p:spPr>
        <p:txBody>
          <a:bodyPr/>
          <a:lstStyle/>
          <a:p>
            <a:endParaRPr lang="en-US"/>
          </a:p>
        </p:txBody>
      </p:sp>
      <p:sp>
        <p:nvSpPr>
          <p:cNvPr id="18" name="Oval 17">
            <a:extLst>
              <a:ext uri="{FF2B5EF4-FFF2-40B4-BE49-F238E27FC236}">
                <a16:creationId xmlns:a16="http://schemas.microsoft.com/office/drawing/2014/main" id="{59E5BE77-D0A9-4777-A4E3-570BA08F432B}"/>
              </a:ext>
            </a:extLst>
          </p:cNvPr>
          <p:cNvSpPr>
            <a:spLocks noGrp="1"/>
          </p:cNvSpPr>
          <p:nvPr/>
        </p:nvSpPr>
        <p:spPr>
          <a:xfrm>
            <a:off x="838200" y="3943350"/>
            <a:ext cx="266700" cy="266700"/>
          </a:xfrm>
          <a:prstGeom prst="ellipse">
            <a:avLst/>
          </a:prstGeom>
          <a:solidFill>
            <a:srgbClr val="2F7D5B"/>
          </a:solidFill>
          <a:ln w="0">
            <a:solidFill>
              <a:srgbClr val="000000">
                <a:alpha val="0"/>
              </a:srgbClr>
            </a:solidFill>
            <a:prstDash val="solid"/>
          </a:ln>
        </p:spPr>
        <p:txBody>
          <a:bodyPr/>
          <a:lstStyle/>
          <a:p>
            <a:endParaRPr lang="en-US"/>
          </a:p>
        </p:txBody>
      </p:sp>
      <p:pic>
        <p:nvPicPr>
          <p:cNvPr id="19" name="Graphic 18"/>
          <p:cNvPicPr>
            <a:picLocks noChangeAspect="1"/>
          </p:cNvPicPr>
          <p:nvPr/>
        </p:nvPicPr>
        <p:blipFill>
          <a:blip>
            <a:extLst>
              <a:ext uri="{96DAC541-7B7A-43D3-8B79-37D633B846F1}">
                <asvg:svgBlip xmlns:asvg="http://schemas.microsoft.com/office/drawing/2016/SVG/main" r:embed="rId3"/>
              </a:ext>
            </a:extLst>
          </a:blip>
          <a:stretch/>
        </p:blipFill>
        <p:spPr>
          <a:xfrm>
            <a:off x="895350" y="4000500"/>
            <a:ext cx="152400" cy="152400"/>
          </a:xfrm>
          <a:prstGeom prst="rect">
            <a:avLst/>
          </a:prstGeom>
        </p:spPr>
      </p:pic>
      <p:sp>
        <p:nvSpPr>
          <p:cNvPr id="20" name="Rectangle 19">
            <a:extLst>
              <a:ext uri="{FF2B5EF4-FFF2-40B4-BE49-F238E27FC236}">
                <a16:creationId xmlns:a16="http://schemas.microsoft.com/office/drawing/2014/main" id="{B97E64B3-2092-478F-98B2-BAFB939FC087}"/>
              </a:ext>
            </a:extLst>
          </p:cNvPr>
          <p:cNvSpPr>
            <a:spLocks noGrp="1"/>
          </p:cNvSpPr>
          <p:nvPr/>
        </p:nvSpPr>
        <p:spPr>
          <a:xfrm>
            <a:off x="1257300" y="3943350"/>
            <a:ext cx="2000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11D"/>
                </a:solidFill>
                <a:latin typeface="Aptos"/>
                <a:ea typeface="Aptos"/>
                <a:cs typeface="Aptos"/>
              </a:defRPr>
            </a:pPr>
            <a:r>
              <a:rPr sz="1050" b="1">
                <a:solidFill>
                  <a:srgbClr val="17211D"/>
                </a:solidFill>
                <a:latin typeface="Aptos"/>
                <a:ea typeface="Aptos"/>
                <a:cs typeface="Aptos"/>
              </a:rPr>
              <a:t>Capospalla</a:t>
            </a:r>
          </a:p>
        </p:txBody>
      </p:sp>
      <p:sp>
        <p:nvSpPr>
          <p:cNvPr id="21" name="Rectangle 20">
            <a:extLst>
              <a:ext uri="{FF2B5EF4-FFF2-40B4-BE49-F238E27FC236}">
                <a16:creationId xmlns:a16="http://schemas.microsoft.com/office/drawing/2014/main" id="{D4CEF7B4-1145-49E7-B492-342F996AA7BC}"/>
              </a:ext>
            </a:extLst>
          </p:cNvPr>
          <p:cNvSpPr>
            <a:spLocks noGrp="1"/>
          </p:cNvSpPr>
          <p:nvPr/>
        </p:nvSpPr>
        <p:spPr>
          <a:xfrm>
            <a:off x="3219450" y="4067175"/>
            <a:ext cx="1847850" cy="76200"/>
          </a:xfrm>
          <a:prstGeom prst="rect">
            <a:avLst/>
          </a:prstGeom>
          <a:solidFill>
            <a:srgbClr val="DDE5DD"/>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D9B1B39D-FDD0-45EF-91F5-03345D892ABE}"/>
              </a:ext>
            </a:extLst>
          </p:cNvPr>
          <p:cNvSpPr>
            <a:spLocks noGrp="1"/>
          </p:cNvSpPr>
          <p:nvPr/>
        </p:nvSpPr>
        <p:spPr>
          <a:xfrm>
            <a:off x="3219450" y="4067175"/>
            <a:ext cx="1390650" cy="76200"/>
          </a:xfrm>
          <a:prstGeom prst="rect">
            <a:avLst/>
          </a:prstGeom>
          <a:solidFill>
            <a:srgbClr val="2F7D5B"/>
          </a:solidFill>
          <a:ln w="0">
            <a:solidFill>
              <a:srgbClr val="000000">
                <a:alpha val="0"/>
              </a:srgbClr>
            </a:solidFill>
            <a:prstDash val="solid"/>
          </a:ln>
        </p:spPr>
        <p:txBody>
          <a:bodyPr/>
          <a:lstStyle/>
          <a:p>
            <a:endParaRPr lang="en-US"/>
          </a:p>
        </p:txBody>
      </p:sp>
      <p:sp>
        <p:nvSpPr>
          <p:cNvPr id="23" name="Oval 22">
            <a:extLst>
              <a:ext uri="{FF2B5EF4-FFF2-40B4-BE49-F238E27FC236}">
                <a16:creationId xmlns:a16="http://schemas.microsoft.com/office/drawing/2014/main" id="{AD4586DA-0A57-4FEE-89AF-7BEACB60D599}"/>
              </a:ext>
            </a:extLst>
          </p:cNvPr>
          <p:cNvSpPr>
            <a:spLocks noGrp="1"/>
          </p:cNvSpPr>
          <p:nvPr/>
        </p:nvSpPr>
        <p:spPr>
          <a:xfrm>
            <a:off x="838200" y="4438650"/>
            <a:ext cx="266700" cy="266700"/>
          </a:xfrm>
          <a:prstGeom prst="ellipse">
            <a:avLst/>
          </a:prstGeom>
          <a:solidFill>
            <a:srgbClr val="2F7D5B"/>
          </a:solidFill>
          <a:ln w="0">
            <a:solidFill>
              <a:srgbClr val="000000">
                <a:alpha val="0"/>
              </a:srgbClr>
            </a:solidFill>
            <a:prstDash val="solid"/>
          </a:ln>
        </p:spPr>
        <p:txBody>
          <a:bodyPr/>
          <a:lstStyle/>
          <a:p>
            <a:endParaRPr lang="en-US"/>
          </a:p>
        </p:txBody>
      </p:sp>
      <p:pic>
        <p:nvPicPr>
          <p:cNvPr id="24" name="Graphic 23"/>
          <p:cNvPicPr>
            <a:picLocks noChangeAspect="1"/>
          </p:cNvPicPr>
          <p:nvPr/>
        </p:nvPicPr>
        <p:blipFill>
          <a:blip>
            <a:extLst>
              <a:ext uri="{96DAC541-7B7A-43D3-8B79-37D633B846F1}">
                <asvg:svgBlip xmlns:asvg="http://schemas.microsoft.com/office/drawing/2016/SVG/main" r:embed="rId3"/>
              </a:ext>
            </a:extLst>
          </a:blip>
          <a:stretch/>
        </p:blipFill>
        <p:spPr>
          <a:xfrm>
            <a:off x="895350" y="4495800"/>
            <a:ext cx="152400" cy="152400"/>
          </a:xfrm>
          <a:prstGeom prst="rect">
            <a:avLst/>
          </a:prstGeom>
        </p:spPr>
      </p:pic>
      <p:sp>
        <p:nvSpPr>
          <p:cNvPr id="25" name="Rectangle 24">
            <a:extLst>
              <a:ext uri="{FF2B5EF4-FFF2-40B4-BE49-F238E27FC236}">
                <a16:creationId xmlns:a16="http://schemas.microsoft.com/office/drawing/2014/main" id="{43496D06-C5CF-4401-AF86-A10901FE4A15}"/>
              </a:ext>
            </a:extLst>
          </p:cNvPr>
          <p:cNvSpPr>
            <a:spLocks noGrp="1"/>
          </p:cNvSpPr>
          <p:nvPr/>
        </p:nvSpPr>
        <p:spPr>
          <a:xfrm>
            <a:off x="1257300" y="4438650"/>
            <a:ext cx="2000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11D"/>
                </a:solidFill>
                <a:latin typeface="Aptos"/>
                <a:ea typeface="Aptos"/>
                <a:cs typeface="Aptos"/>
              </a:defRPr>
            </a:pPr>
            <a:r>
              <a:rPr sz="1050" b="1">
                <a:solidFill>
                  <a:srgbClr val="17211D"/>
                </a:solidFill>
                <a:latin typeface="Aptos"/>
                <a:ea typeface="Aptos"/>
                <a:cs typeface="Aptos"/>
              </a:rPr>
              <a:t>Scarpe</a:t>
            </a:r>
          </a:p>
        </p:txBody>
      </p:sp>
      <p:sp>
        <p:nvSpPr>
          <p:cNvPr id="26" name="Rectangle 25">
            <a:extLst>
              <a:ext uri="{FF2B5EF4-FFF2-40B4-BE49-F238E27FC236}">
                <a16:creationId xmlns:a16="http://schemas.microsoft.com/office/drawing/2014/main" id="{DE74EBDC-450D-4D2A-95CE-B545BDC6A9D9}"/>
              </a:ext>
            </a:extLst>
          </p:cNvPr>
          <p:cNvSpPr>
            <a:spLocks noGrp="1"/>
          </p:cNvSpPr>
          <p:nvPr/>
        </p:nvSpPr>
        <p:spPr>
          <a:xfrm>
            <a:off x="3219450" y="4562475"/>
            <a:ext cx="1847850" cy="76200"/>
          </a:xfrm>
          <a:prstGeom prst="rect">
            <a:avLst/>
          </a:prstGeom>
          <a:solidFill>
            <a:srgbClr val="DDE5DD"/>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3A9A783A-F2C6-43E2-A89F-7D53E80481D1}"/>
              </a:ext>
            </a:extLst>
          </p:cNvPr>
          <p:cNvSpPr>
            <a:spLocks noGrp="1"/>
          </p:cNvSpPr>
          <p:nvPr/>
        </p:nvSpPr>
        <p:spPr>
          <a:xfrm>
            <a:off x="3219450" y="4562475"/>
            <a:ext cx="1304925" cy="76200"/>
          </a:xfrm>
          <a:prstGeom prst="rect">
            <a:avLst/>
          </a:prstGeom>
          <a:solidFill>
            <a:srgbClr val="2F7D5B"/>
          </a:solidFill>
          <a:ln w="0">
            <a:solidFill>
              <a:srgbClr val="000000">
                <a:alpha val="0"/>
              </a:srgbClr>
            </a:solidFill>
            <a:prstDash val="solid"/>
          </a:ln>
        </p:spPr>
        <p:txBody>
          <a:bodyPr/>
          <a:lstStyle/>
          <a:p>
            <a:endParaRPr lang="en-US"/>
          </a:p>
        </p:txBody>
      </p:sp>
      <p:sp>
        <p:nvSpPr>
          <p:cNvPr id="28" name="Oval 27">
            <a:extLst>
              <a:ext uri="{FF2B5EF4-FFF2-40B4-BE49-F238E27FC236}">
                <a16:creationId xmlns:a16="http://schemas.microsoft.com/office/drawing/2014/main" id="{4316D2DD-9C34-4184-8975-E0339D5E4C01}"/>
              </a:ext>
            </a:extLst>
          </p:cNvPr>
          <p:cNvSpPr>
            <a:spLocks noGrp="1"/>
          </p:cNvSpPr>
          <p:nvPr/>
        </p:nvSpPr>
        <p:spPr>
          <a:xfrm>
            <a:off x="838200" y="4933950"/>
            <a:ext cx="266700" cy="266700"/>
          </a:xfrm>
          <a:prstGeom prst="ellipse">
            <a:avLst/>
          </a:prstGeom>
          <a:solidFill>
            <a:srgbClr val="2F7D5B"/>
          </a:solidFill>
          <a:ln w="0">
            <a:solidFill>
              <a:srgbClr val="000000">
                <a:alpha val="0"/>
              </a:srgbClr>
            </a:solidFill>
            <a:prstDash val="solid"/>
          </a:ln>
        </p:spPr>
        <p:txBody>
          <a:bodyPr/>
          <a:lstStyle/>
          <a:p>
            <a:endParaRPr lang="en-US"/>
          </a:p>
        </p:txBody>
      </p:sp>
      <p:pic>
        <p:nvPicPr>
          <p:cNvPr id="29" name="Graphic 28"/>
          <p:cNvPicPr>
            <a:picLocks noChangeAspect="1"/>
          </p:cNvPicPr>
          <p:nvPr/>
        </p:nvPicPr>
        <p:blipFill>
          <a:blip>
            <a:extLst>
              <a:ext uri="{96DAC541-7B7A-43D3-8B79-37D633B846F1}">
                <asvg:svgBlip xmlns:asvg="http://schemas.microsoft.com/office/drawing/2016/SVG/main" r:embed="rId3"/>
              </a:ext>
            </a:extLst>
          </a:blip>
          <a:stretch/>
        </p:blipFill>
        <p:spPr>
          <a:xfrm>
            <a:off x="895350" y="4991100"/>
            <a:ext cx="152400" cy="152400"/>
          </a:xfrm>
          <a:prstGeom prst="rect">
            <a:avLst/>
          </a:prstGeom>
        </p:spPr>
      </p:pic>
      <p:sp>
        <p:nvSpPr>
          <p:cNvPr id="30" name="Rectangle 29">
            <a:extLst>
              <a:ext uri="{FF2B5EF4-FFF2-40B4-BE49-F238E27FC236}">
                <a16:creationId xmlns:a16="http://schemas.microsoft.com/office/drawing/2014/main" id="{596FB1FA-303A-4D23-A185-4A450D647D84}"/>
              </a:ext>
            </a:extLst>
          </p:cNvPr>
          <p:cNvSpPr>
            <a:spLocks noGrp="1"/>
          </p:cNvSpPr>
          <p:nvPr/>
        </p:nvSpPr>
        <p:spPr>
          <a:xfrm>
            <a:off x="1257300" y="4933950"/>
            <a:ext cx="2000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11D"/>
                </a:solidFill>
                <a:latin typeface="Aptos"/>
                <a:ea typeface="Aptos"/>
                <a:cs typeface="Aptos"/>
              </a:defRPr>
            </a:pPr>
            <a:r>
              <a:rPr sz="1050" b="1">
                <a:solidFill>
                  <a:srgbClr val="17211D"/>
                </a:solidFill>
                <a:latin typeface="Aptos"/>
                <a:ea typeface="Aptos"/>
                <a:cs typeface="Aptos"/>
              </a:rPr>
              <a:t>Colore neutro</a:t>
            </a:r>
          </a:p>
        </p:txBody>
      </p:sp>
      <p:sp>
        <p:nvSpPr>
          <p:cNvPr id="31" name="Rectangle 30">
            <a:extLst>
              <a:ext uri="{FF2B5EF4-FFF2-40B4-BE49-F238E27FC236}">
                <a16:creationId xmlns:a16="http://schemas.microsoft.com/office/drawing/2014/main" id="{82C43446-0AF4-43FD-8000-90908B7A738F}"/>
              </a:ext>
            </a:extLst>
          </p:cNvPr>
          <p:cNvSpPr>
            <a:spLocks noGrp="1"/>
          </p:cNvSpPr>
          <p:nvPr/>
        </p:nvSpPr>
        <p:spPr>
          <a:xfrm>
            <a:off x="3219450" y="5057775"/>
            <a:ext cx="1847850" cy="76200"/>
          </a:xfrm>
          <a:prstGeom prst="rect">
            <a:avLst/>
          </a:prstGeom>
          <a:solidFill>
            <a:srgbClr val="DDE5DD"/>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892748ED-8F2A-4210-9EF6-0C4AA2F53029}"/>
              </a:ext>
            </a:extLst>
          </p:cNvPr>
          <p:cNvSpPr>
            <a:spLocks noGrp="1"/>
          </p:cNvSpPr>
          <p:nvPr/>
        </p:nvSpPr>
        <p:spPr>
          <a:xfrm>
            <a:off x="3219450" y="5057775"/>
            <a:ext cx="1219200" cy="76200"/>
          </a:xfrm>
          <a:prstGeom prst="rect">
            <a:avLst/>
          </a:prstGeom>
          <a:solidFill>
            <a:srgbClr val="466D86"/>
          </a:solidFill>
          <a:ln w="0">
            <a:solidFill>
              <a:srgbClr val="000000">
                <a:alpha val="0"/>
              </a:srgbClr>
            </a:solidFill>
            <a:prstDash val="solid"/>
          </a:ln>
        </p:spPr>
        <p:txBody>
          <a:bodyPr/>
          <a:lstStyle/>
          <a:p>
            <a:endParaRPr lang="en-US"/>
          </a:p>
        </p:txBody>
      </p:sp>
      <p:sp>
        <p:nvSpPr>
          <p:cNvPr id="33" name="coverage-to-outcome">
            <a:extLst>
              <a:ext uri="{FF2B5EF4-FFF2-40B4-BE49-F238E27FC236}">
                <a16:creationId xmlns:a16="http://schemas.microsoft.com/office/drawing/2014/main" id="{939BC2F7-CC30-4B3B-BB17-BCC248B5457E}"/>
              </a:ext>
            </a:extLst>
          </p:cNvPr>
          <p:cNvSpPr>
            <a:spLocks noGrp="1"/>
          </p:cNvSpPr>
          <p:nvPr/>
        </p:nvSpPr>
        <p:spPr>
          <a:xfrm>
            <a:off x="5505450" y="3943350"/>
            <a:ext cx="933450" cy="28575"/>
          </a:xfrm>
          <a:prstGeom prst="rect">
            <a:avLst/>
          </a:prstGeom>
          <a:solidFill>
            <a:srgbClr val="2F7D5B"/>
          </a:solidFill>
          <a:ln w="0">
            <a:solidFill>
              <a:srgbClr val="000000">
                <a:alpha val="0"/>
              </a:srgbClr>
            </a:solidFill>
            <a:prstDash val="solid"/>
          </a:ln>
        </p:spPr>
        <p:txBody>
          <a:bodyPr/>
          <a:lstStyle/>
          <a:p>
            <a:endParaRPr lang="en-US"/>
          </a:p>
        </p:txBody>
      </p:sp>
      <p:sp>
        <p:nvSpPr>
          <p:cNvPr id="34" name="coverage-to-outcome-end">
            <a:extLst>
              <a:ext uri="{FF2B5EF4-FFF2-40B4-BE49-F238E27FC236}">
                <a16:creationId xmlns:a16="http://schemas.microsoft.com/office/drawing/2014/main" id="{43EAD273-6576-48BD-8C91-F672E58B3E4A}"/>
              </a:ext>
            </a:extLst>
          </p:cNvPr>
          <p:cNvSpPr>
            <a:spLocks noGrp="1"/>
          </p:cNvSpPr>
          <p:nvPr/>
        </p:nvSpPr>
        <p:spPr>
          <a:xfrm>
            <a:off x="6381750" y="3895725"/>
            <a:ext cx="104775" cy="104775"/>
          </a:xfrm>
          <a:prstGeom prst="ellipse">
            <a:avLst/>
          </a:prstGeom>
          <a:solidFill>
            <a:srgbClr val="2F7D5B"/>
          </a:solidFill>
          <a:ln w="0">
            <a:solidFill>
              <a:srgbClr val="000000">
                <a:alpha val="0"/>
              </a:srgbClr>
            </a:solidFill>
            <a:prstDash val="solid"/>
          </a:ln>
        </p:spPr>
        <p:txBody>
          <a:bodyPr/>
          <a:lstStyle/>
          <a:p>
            <a:endParaRPr lang="en-US"/>
          </a:p>
        </p:txBody>
      </p:sp>
      <p:sp>
        <p:nvSpPr>
          <p:cNvPr id="35" name="gap-outcome">
            <a:extLst>
              <a:ext uri="{FF2B5EF4-FFF2-40B4-BE49-F238E27FC236}">
                <a16:creationId xmlns:a16="http://schemas.microsoft.com/office/drawing/2014/main" id="{56E6A24F-E2F0-4AD9-B9F0-2E1B6DC64A9E}"/>
              </a:ext>
            </a:extLst>
          </p:cNvPr>
          <p:cNvSpPr>
            <a:spLocks noGrp="1"/>
          </p:cNvSpPr>
          <p:nvPr/>
        </p:nvSpPr>
        <p:spPr>
          <a:xfrm>
            <a:off x="6438900" y="2343150"/>
            <a:ext cx="5200650" cy="3086100"/>
          </a:xfrm>
          <a:prstGeom prst="roundRect">
            <a:avLst>
              <a:gd name="adj" fmla="val 2469"/>
            </a:avLst>
          </a:prstGeom>
          <a:solidFill>
            <a:srgbClr val="123C31"/>
          </a:solidFill>
          <a:ln w="0">
            <a:solidFill>
              <a:srgbClr val="000000">
                <a:alpha val="0"/>
              </a:srgbClr>
            </a:solidFill>
            <a:prstDash val="solid"/>
          </a:ln>
        </p:spPr>
        <p:txBody>
          <a:bodyPr/>
          <a:lstStyle/>
          <a:p>
            <a:endParaRPr lang="en-US"/>
          </a:p>
        </p:txBody>
      </p:sp>
      <p:sp>
        <p:nvSpPr>
          <p:cNvPr id="36" name="Rectangle: Rounded Corners 35">
            <a:extLst>
              <a:ext uri="{FF2B5EF4-FFF2-40B4-BE49-F238E27FC236}">
                <a16:creationId xmlns:a16="http://schemas.microsoft.com/office/drawing/2014/main" id="{2D9A8567-5F79-4500-9A2D-E22545225319}"/>
              </a:ext>
            </a:extLst>
          </p:cNvPr>
          <p:cNvSpPr>
            <a:spLocks noGrp="1"/>
          </p:cNvSpPr>
          <p:nvPr/>
        </p:nvSpPr>
        <p:spPr>
          <a:xfrm>
            <a:off x="7943850" y="2647950"/>
            <a:ext cx="2190750" cy="285750"/>
          </a:xfrm>
          <a:prstGeom prst="roundRect">
            <a:avLst>
              <a:gd name="adj" fmla="val 26667"/>
            </a:avLst>
          </a:prstGeom>
          <a:solidFill>
            <a:srgbClr val="285B49"/>
          </a:solidFill>
          <a:ln w="0">
            <a:solidFill>
              <a:srgbClr val="000000">
                <a:alpha val="0"/>
              </a:srgbClr>
            </a:solidFill>
            <a:prstDash val="solid"/>
          </a:ln>
        </p:spPr>
        <p:txBody>
          <a:bodyPr/>
          <a:lstStyle/>
          <a:p>
            <a:endParaRPr lang="en-US"/>
          </a:p>
        </p:txBody>
      </p:sp>
      <p:sp>
        <p:nvSpPr>
          <p:cNvPr id="37" name="Rectangle 36">
            <a:extLst>
              <a:ext uri="{FF2B5EF4-FFF2-40B4-BE49-F238E27FC236}">
                <a16:creationId xmlns:a16="http://schemas.microsoft.com/office/drawing/2014/main" id="{F1CEA151-5799-4BC6-A3A2-C378D38A756F}"/>
              </a:ext>
            </a:extLst>
          </p:cNvPr>
          <p:cNvSpPr>
            <a:spLocks noGrp="1"/>
          </p:cNvSpPr>
          <p:nvPr/>
        </p:nvSpPr>
        <p:spPr>
          <a:xfrm>
            <a:off x="8039100" y="2667000"/>
            <a:ext cx="2000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1">
                <a:solidFill>
                  <a:srgbClr val="FFFFFF"/>
                </a:solidFill>
                <a:latin typeface="Aptos"/>
                <a:ea typeface="Aptos"/>
                <a:cs typeface="Aptos"/>
              </a:defRPr>
            </a:pPr>
            <a:r>
              <a:rPr sz="713" b="1">
                <a:solidFill>
                  <a:srgbClr val="FFFFFF"/>
                </a:solidFill>
                <a:latin typeface="Aptos"/>
                <a:ea typeface="Aptos"/>
                <a:cs typeface="Aptos"/>
              </a:rPr>
              <a:t>RISULTATO POSSIBILE</a:t>
            </a:r>
          </a:p>
        </p:txBody>
      </p:sp>
      <p:pic>
        <p:nvPicPr>
          <p:cNvPr id="38" name="Graphic 37"/>
          <p:cNvPicPr>
            <a:picLocks noChangeAspect="1"/>
          </p:cNvPicPr>
          <p:nvPr/>
        </p:nvPicPr>
        <p:blipFill>
          <a:blip>
            <a:extLst>
              <a:ext uri="{96DAC541-7B7A-43D3-8B79-37D633B846F1}">
                <asvg:svgBlip xmlns:asvg="http://schemas.microsoft.com/office/drawing/2016/SVG/main" r:embed="rId4"/>
              </a:ext>
            </a:extLst>
          </a:blip>
          <a:stretch/>
        </p:blipFill>
        <p:spPr>
          <a:xfrm>
            <a:off x="8496300" y="3238500"/>
            <a:ext cx="1085850" cy="1085850"/>
          </a:xfrm>
          <a:prstGeom prst="rect">
            <a:avLst/>
          </a:prstGeom>
        </p:spPr>
      </p:pic>
      <p:sp>
        <p:nvSpPr>
          <p:cNvPr id="39" name="Rectangle 38">
            <a:extLst>
              <a:ext uri="{FF2B5EF4-FFF2-40B4-BE49-F238E27FC236}">
                <a16:creationId xmlns:a16="http://schemas.microsoft.com/office/drawing/2014/main" id="{0A8FEEED-FCF2-4B0D-88B8-E4271E51BD65}"/>
              </a:ext>
            </a:extLst>
          </p:cNvPr>
          <p:cNvSpPr>
            <a:spLocks noGrp="1"/>
          </p:cNvSpPr>
          <p:nvPr/>
        </p:nvSpPr>
        <p:spPr>
          <a:xfrm>
            <a:off x="7181850" y="4438650"/>
            <a:ext cx="371475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400" b="1">
                <a:solidFill>
                  <a:srgbClr val="FFFFFF"/>
                </a:solidFill>
                <a:latin typeface="Georgia"/>
                <a:ea typeface="Georgia"/>
                <a:cs typeface="Georgia"/>
              </a:defRPr>
            </a:pPr>
            <a:r>
              <a:rPr sz="2400" b="1">
                <a:solidFill>
                  <a:srgbClr val="FFFFFF"/>
                </a:solidFill>
                <a:latin typeface="Georgia"/>
                <a:ea typeface="Georgia"/>
                <a:cs typeface="Georgia"/>
              </a:rPr>
              <a:t>Nessun acquisto</a:t>
            </a:r>
          </a:p>
          <a:p>
            <a:pPr algn="ctr">
              <a:defRPr sz="2400" b="1">
                <a:solidFill>
                  <a:srgbClr val="FFFFFF"/>
                </a:solidFill>
                <a:latin typeface="Georgia"/>
                <a:ea typeface="Georgia"/>
                <a:cs typeface="Georgia"/>
              </a:defRPr>
            </a:pPr>
            <a:r>
              <a:rPr sz="2400" b="1">
                <a:solidFill>
                  <a:srgbClr val="FFFFFF"/>
                </a:solidFill>
                <a:latin typeface="Georgia"/>
                <a:ea typeface="Georgia"/>
                <a:cs typeface="Georgia"/>
              </a:rPr>
              <a:t>necessario</a:t>
            </a:r>
          </a:p>
        </p:txBody>
      </p:sp>
      <p:sp>
        <p:nvSpPr>
          <p:cNvPr id="40" name="Rectangle 39">
            <a:extLst>
              <a:ext uri="{FF2B5EF4-FFF2-40B4-BE49-F238E27FC236}">
                <a16:creationId xmlns:a16="http://schemas.microsoft.com/office/drawing/2014/main" id="{BFF7072C-8A53-4143-B33F-0A35C778DE53}"/>
              </a:ext>
            </a:extLst>
          </p:cNvPr>
          <p:cNvSpPr>
            <a:spLocks noGrp="1"/>
          </p:cNvSpPr>
          <p:nvPr/>
        </p:nvSpPr>
        <p:spPr>
          <a:xfrm>
            <a:off x="552450" y="5867400"/>
            <a:ext cx="11087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65736B"/>
                </a:solidFill>
                <a:latin typeface="Aptos"/>
                <a:ea typeface="Aptos"/>
                <a:cs typeface="Aptos"/>
              </a:defRPr>
            </a:pPr>
            <a:r>
              <a:rPr sz="900" b="0">
                <a:solidFill>
                  <a:srgbClr val="65736B"/>
                </a:solidFill>
                <a:latin typeface="Aptos"/>
                <a:ea typeface="Aptos"/>
                <a:cs typeface="Aptos"/>
              </a:rPr>
              <a:t>Un consiglio, non un ordine.</a:t>
            </a:r>
          </a:p>
        </p:txBody>
      </p:sp>
      <p:sp>
        <p:nvSpPr>
          <p:cNvPr id="41" name="footer-rule">
            <a:extLst>
              <a:ext uri="{FF2B5EF4-FFF2-40B4-BE49-F238E27FC236}">
                <a16:creationId xmlns:a16="http://schemas.microsoft.com/office/drawing/2014/main" id="{0246C00D-708E-4F18-ACAB-392B2E60C724}"/>
              </a:ext>
            </a:extLst>
          </p:cNvPr>
          <p:cNvSpPr>
            <a:spLocks noGrp="1"/>
          </p:cNvSpPr>
          <p:nvPr/>
        </p:nvSpPr>
        <p:spPr>
          <a:xfrm>
            <a:off x="552450" y="6457950"/>
            <a:ext cx="11087100" cy="9525"/>
          </a:xfrm>
          <a:prstGeom prst="rect">
            <a:avLst/>
          </a:prstGeom>
          <a:solidFill>
            <a:srgbClr val="B9C3BB"/>
          </a:solidFill>
          <a:ln w="0">
            <a:solidFill>
              <a:srgbClr val="000000">
                <a:alpha val="0"/>
              </a:srgbClr>
            </a:solidFill>
            <a:prstDash val="solid"/>
          </a:ln>
        </p:spPr>
        <p:txBody>
          <a:bodyPr/>
          <a:lstStyle/>
          <a:p>
            <a:endParaRPr lang="en-US"/>
          </a:p>
        </p:txBody>
      </p:sp>
      <p:sp>
        <p:nvSpPr>
          <p:cNvPr id="42" name="footer-source">
            <a:extLst>
              <a:ext uri="{FF2B5EF4-FFF2-40B4-BE49-F238E27FC236}">
                <a16:creationId xmlns:a16="http://schemas.microsoft.com/office/drawing/2014/main" id="{70F2710C-933D-429E-A86B-9B30AEBD143B}"/>
              </a:ext>
            </a:extLst>
          </p:cNvPr>
          <p:cNvSpPr>
            <a:spLocks noGrp="1"/>
          </p:cNvSpPr>
          <p:nvPr/>
        </p:nvSpPr>
        <p:spPr>
          <a:xfrm>
            <a:off x="552450" y="6534150"/>
            <a:ext cx="10001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65736B"/>
                </a:solidFill>
                <a:latin typeface="Aptos"/>
                <a:ea typeface="Aptos"/>
                <a:cs typeface="Aptos"/>
              </a:defRPr>
            </a:pPr>
            <a:r>
              <a:rPr sz="563" b="0">
                <a:solidFill>
                  <a:srgbClr val="65736B"/>
                </a:solidFill>
                <a:latin typeface="Aptos"/>
                <a:ea typeface="Aptos"/>
                <a:cs typeface="Aptos"/>
              </a:rPr>
              <a:t>La dashboard dichiara la fonte: rete addestrata oppure regole esperte di fallback</a:t>
            </a:r>
          </a:p>
        </p:txBody>
      </p:sp>
      <p:sp>
        <p:nvSpPr>
          <p:cNvPr id="43" name="page-marker">
            <a:extLst>
              <a:ext uri="{FF2B5EF4-FFF2-40B4-BE49-F238E27FC236}">
                <a16:creationId xmlns:a16="http://schemas.microsoft.com/office/drawing/2014/main" id="{EA148189-F964-4232-8F35-8CC08C711BC7}"/>
              </a:ext>
            </a:extLst>
          </p:cNvPr>
          <p:cNvSpPr>
            <a:spLocks noGrp="1"/>
          </p:cNvSpPr>
          <p:nvPr/>
        </p:nvSpPr>
        <p:spPr>
          <a:xfrm>
            <a:off x="11087100" y="6505575"/>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65736B"/>
                </a:solidFill>
                <a:latin typeface="Georgia"/>
                <a:ea typeface="Georgia"/>
                <a:cs typeface="Georgia"/>
              </a:defRPr>
            </a:pPr>
            <a:r>
              <a:rPr sz="750" b="1">
                <a:solidFill>
                  <a:srgbClr val="65736B"/>
                </a:solidFill>
                <a:latin typeface="Georgia"/>
                <a:ea typeface="Georgia"/>
                <a:cs typeface="Georgia"/>
              </a:rPr>
              <a:t>08</a:t>
            </a:r>
          </a:p>
        </p:txBody>
      </p:sp>
    </p:spTree>
    <p:extLst>
      <p:ext uri="{BB962C8B-B14F-4D97-AF65-F5344CB8AC3E}">
        <p14:creationId xmlns:p14="http://schemas.microsoft.com/office/powerpoint/2010/main" val="794735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background">
            <a:extLst>
              <a:ext uri="{FF2B5EF4-FFF2-40B4-BE49-F238E27FC236}">
                <a16:creationId xmlns:a16="http://schemas.microsoft.com/office/drawing/2014/main" id="{BFE2AC51-9349-4AF7-A647-448F089F9E1C}"/>
              </a:ext>
            </a:extLst>
          </p:cNvPr>
          <p:cNvSpPr>
            <a:spLocks noGrp="1"/>
          </p:cNvSpPr>
          <p:nvPr/>
        </p:nvSpPr>
        <p:spPr>
          <a:xfrm>
            <a:off x="0" y="0"/>
            <a:ext cx="12192000" cy="6858000"/>
          </a:xfrm>
          <a:prstGeom prst="rect">
            <a:avLst/>
          </a:prstGeom>
          <a:solidFill>
            <a:srgbClr val="123C31"/>
          </a:solidFill>
          <a:ln w="0">
            <a:solidFill>
              <a:srgbClr val="000000">
                <a:alpha val="0"/>
              </a:srgbClr>
            </a:solidFill>
            <a:prstDash val="solid"/>
          </a:ln>
        </p:spPr>
        <p:txBody>
          <a:bodyPr/>
          <a:lstStyle/>
          <a:p>
            <a:endParaRPr lang="en-US"/>
          </a:p>
        </p:txBody>
      </p:sp>
      <p:sp>
        <p:nvSpPr>
          <p:cNvPr id="2" name="kicker-marker">
            <a:extLst>
              <a:ext uri="{FF2B5EF4-FFF2-40B4-BE49-F238E27FC236}">
                <a16:creationId xmlns:a16="http://schemas.microsoft.com/office/drawing/2014/main" id="{0CAF2644-4063-4B6D-BB9E-6FE86ECDBC2D}"/>
              </a:ext>
            </a:extLst>
          </p:cNvPr>
          <p:cNvSpPr>
            <a:spLocks noGrp="1"/>
          </p:cNvSpPr>
          <p:nvPr/>
        </p:nvSpPr>
        <p:spPr>
          <a:xfrm>
            <a:off x="552450" y="400050"/>
            <a:ext cx="95250" cy="95250"/>
          </a:xfrm>
          <a:prstGeom prst="ellipse">
            <a:avLst/>
          </a:prstGeom>
          <a:solidFill>
            <a:srgbClr val="B9D94A"/>
          </a:solidFill>
          <a:ln w="0">
            <a:solidFill>
              <a:srgbClr val="000000">
                <a:alpha val="0"/>
              </a:srgbClr>
            </a:solidFill>
            <a:prstDash val="solid"/>
          </a:ln>
        </p:spPr>
        <p:txBody>
          <a:bodyPr/>
          <a:lstStyle/>
          <a:p>
            <a:endParaRPr lang="en-US"/>
          </a:p>
        </p:txBody>
      </p:sp>
      <p:sp>
        <p:nvSpPr>
          <p:cNvPr id="3" name="kicker-label">
            <a:extLst>
              <a:ext uri="{FF2B5EF4-FFF2-40B4-BE49-F238E27FC236}">
                <a16:creationId xmlns:a16="http://schemas.microsoft.com/office/drawing/2014/main" id="{130DD820-4615-495B-B7FE-963BBB440111}"/>
              </a:ext>
            </a:extLst>
          </p:cNvPr>
          <p:cNvSpPr>
            <a:spLocks noGrp="1"/>
          </p:cNvSpPr>
          <p:nvPr/>
        </p:nvSpPr>
        <p:spPr>
          <a:xfrm>
            <a:off x="762000" y="361950"/>
            <a:ext cx="571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DDE5DD"/>
                </a:solidFill>
                <a:latin typeface="Aptos"/>
                <a:ea typeface="Aptos"/>
                <a:cs typeface="Aptos"/>
              </a:defRPr>
            </a:pPr>
            <a:r>
              <a:rPr sz="675" b="1">
                <a:solidFill>
                  <a:srgbClr val="DDE5DD"/>
                </a:solidFill>
                <a:latin typeface="Aptos"/>
                <a:ea typeface="Aptos"/>
                <a:cs typeface="Aptos"/>
              </a:rPr>
              <a:t>U S E R   S T O R Y   ·   7 .   A L L U N G A R E   L A   V I T A</a:t>
            </a:r>
          </a:p>
        </p:txBody>
      </p:sp>
      <p:sp>
        <p:nvSpPr>
          <p:cNvPr id="4" name="claim-title">
            <a:extLst>
              <a:ext uri="{FF2B5EF4-FFF2-40B4-BE49-F238E27FC236}">
                <a16:creationId xmlns:a16="http://schemas.microsoft.com/office/drawing/2014/main" id="{E805FF82-B60C-491A-9BEC-0DCAA7C771D6}"/>
              </a:ext>
            </a:extLst>
          </p:cNvPr>
          <p:cNvSpPr>
            <a:spLocks noGrp="1"/>
          </p:cNvSpPr>
          <p:nvPr/>
        </p:nvSpPr>
        <p:spPr>
          <a:xfrm>
            <a:off x="552450" y="723900"/>
            <a:ext cx="10287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075" b="1">
                <a:solidFill>
                  <a:srgbClr val="FFFFFF"/>
                </a:solidFill>
                <a:latin typeface="Georgia"/>
                <a:ea typeface="Georgia"/>
                <a:cs typeface="Georgia"/>
              </a:defRPr>
            </a:pPr>
            <a:r>
              <a:rPr sz="3075" b="1">
                <a:solidFill>
                  <a:srgbClr val="FFFFFF"/>
                </a:solidFill>
                <a:latin typeface="Georgia"/>
                <a:ea typeface="Georgia"/>
                <a:cs typeface="Georgia"/>
              </a:rPr>
              <a:t>Riparare o dare una seconda vita chiude il ciclo.</a:t>
            </a:r>
          </a:p>
        </p:txBody>
      </p:sp>
      <p:sp>
        <p:nvSpPr>
          <p:cNvPr id="5" name="cycle-top">
            <a:extLst>
              <a:ext uri="{FF2B5EF4-FFF2-40B4-BE49-F238E27FC236}">
                <a16:creationId xmlns:a16="http://schemas.microsoft.com/office/drawing/2014/main" id="{FE7D33FC-8F6E-4A79-BEAA-ABB6D113B2F9}"/>
              </a:ext>
            </a:extLst>
          </p:cNvPr>
          <p:cNvSpPr>
            <a:spLocks noGrp="1"/>
          </p:cNvSpPr>
          <p:nvPr/>
        </p:nvSpPr>
        <p:spPr>
          <a:xfrm>
            <a:off x="1981200" y="2800350"/>
            <a:ext cx="2190750" cy="28575"/>
          </a:xfrm>
          <a:prstGeom prst="rect">
            <a:avLst/>
          </a:prstGeom>
          <a:solidFill>
            <a:srgbClr val="5D8276"/>
          </a:solidFill>
          <a:ln w="0">
            <a:solidFill>
              <a:srgbClr val="000000">
                <a:alpha val="0"/>
              </a:srgbClr>
            </a:solidFill>
            <a:prstDash val="solid"/>
          </a:ln>
        </p:spPr>
        <p:txBody>
          <a:bodyPr/>
          <a:lstStyle/>
          <a:p>
            <a:endParaRPr lang="en-US"/>
          </a:p>
        </p:txBody>
      </p:sp>
      <p:sp>
        <p:nvSpPr>
          <p:cNvPr id="6" name="cycle-right">
            <a:extLst>
              <a:ext uri="{FF2B5EF4-FFF2-40B4-BE49-F238E27FC236}">
                <a16:creationId xmlns:a16="http://schemas.microsoft.com/office/drawing/2014/main" id="{F85642C1-D9BC-4E14-8F64-D698548A8453}"/>
              </a:ext>
            </a:extLst>
          </p:cNvPr>
          <p:cNvSpPr>
            <a:spLocks noGrp="1"/>
          </p:cNvSpPr>
          <p:nvPr/>
        </p:nvSpPr>
        <p:spPr>
          <a:xfrm>
            <a:off x="4171950" y="2952750"/>
            <a:ext cx="28575" cy="1924050"/>
          </a:xfrm>
          <a:prstGeom prst="rect">
            <a:avLst/>
          </a:prstGeom>
          <a:solidFill>
            <a:srgbClr val="5D8276"/>
          </a:solidFill>
          <a:ln w="0">
            <a:solidFill>
              <a:srgbClr val="000000">
                <a:alpha val="0"/>
              </a:srgbClr>
            </a:solidFill>
            <a:prstDash val="solid"/>
          </a:ln>
        </p:spPr>
        <p:txBody>
          <a:bodyPr/>
          <a:lstStyle/>
          <a:p>
            <a:endParaRPr lang="en-US"/>
          </a:p>
        </p:txBody>
      </p:sp>
      <p:sp>
        <p:nvSpPr>
          <p:cNvPr id="7" name="cycle-bottom">
            <a:extLst>
              <a:ext uri="{FF2B5EF4-FFF2-40B4-BE49-F238E27FC236}">
                <a16:creationId xmlns:a16="http://schemas.microsoft.com/office/drawing/2014/main" id="{4C2D8543-6FC0-4992-940F-5BFB46C1B96E}"/>
              </a:ext>
            </a:extLst>
          </p:cNvPr>
          <p:cNvSpPr>
            <a:spLocks noGrp="1"/>
          </p:cNvSpPr>
          <p:nvPr/>
        </p:nvSpPr>
        <p:spPr>
          <a:xfrm>
            <a:off x="1981200" y="4876800"/>
            <a:ext cx="2190750" cy="28575"/>
          </a:xfrm>
          <a:prstGeom prst="rect">
            <a:avLst/>
          </a:prstGeom>
          <a:solidFill>
            <a:srgbClr val="5D8276"/>
          </a:solidFill>
          <a:ln w="0">
            <a:solidFill>
              <a:srgbClr val="000000">
                <a:alpha val="0"/>
              </a:srgbClr>
            </a:solidFill>
            <a:prstDash val="solid"/>
          </a:ln>
        </p:spPr>
        <p:txBody>
          <a:bodyPr/>
          <a:lstStyle/>
          <a:p>
            <a:endParaRPr lang="en-US"/>
          </a:p>
        </p:txBody>
      </p:sp>
      <p:sp>
        <p:nvSpPr>
          <p:cNvPr id="8" name="cycle-left">
            <a:extLst>
              <a:ext uri="{FF2B5EF4-FFF2-40B4-BE49-F238E27FC236}">
                <a16:creationId xmlns:a16="http://schemas.microsoft.com/office/drawing/2014/main" id="{D40EC814-E177-486C-9A62-27DB7A6135E6}"/>
              </a:ext>
            </a:extLst>
          </p:cNvPr>
          <p:cNvSpPr>
            <a:spLocks noGrp="1"/>
          </p:cNvSpPr>
          <p:nvPr/>
        </p:nvSpPr>
        <p:spPr>
          <a:xfrm>
            <a:off x="1962150" y="2952750"/>
            <a:ext cx="28575" cy="1924050"/>
          </a:xfrm>
          <a:prstGeom prst="rect">
            <a:avLst/>
          </a:prstGeom>
          <a:solidFill>
            <a:srgbClr val="5D8276"/>
          </a:solidFill>
          <a:ln w="0">
            <a:solidFill>
              <a:srgbClr val="000000">
                <a:alpha val="0"/>
              </a:srgbClr>
            </a:solidFill>
            <a:prstDash val="solid"/>
          </a:ln>
        </p:spPr>
        <p:txBody>
          <a:bodyPr/>
          <a:lstStyle/>
          <a:p>
            <a:endParaRPr lang="en-US"/>
          </a:p>
        </p:txBody>
      </p:sp>
      <p:sp>
        <p:nvSpPr>
          <p:cNvPr id="9" name="cycle-step-1">
            <a:extLst>
              <a:ext uri="{FF2B5EF4-FFF2-40B4-BE49-F238E27FC236}">
                <a16:creationId xmlns:a16="http://schemas.microsoft.com/office/drawing/2014/main" id="{1C188204-DC3A-403C-B294-B1F7BEDEE476}"/>
              </a:ext>
            </a:extLst>
          </p:cNvPr>
          <p:cNvSpPr>
            <a:spLocks noGrp="1"/>
          </p:cNvSpPr>
          <p:nvPr/>
        </p:nvSpPr>
        <p:spPr>
          <a:xfrm>
            <a:off x="914400" y="2438400"/>
            <a:ext cx="2476500" cy="1066800"/>
          </a:xfrm>
          <a:prstGeom prst="roundRect">
            <a:avLst>
              <a:gd name="adj" fmla="val 7143"/>
            </a:avLst>
          </a:prstGeom>
          <a:solidFill>
            <a:srgbClr val="1B4A3C"/>
          </a:solidFill>
          <a:ln w="9525">
            <a:solidFill>
              <a:srgbClr val="50796B"/>
            </a:solidFill>
            <a:prstDash val="solid"/>
          </a:ln>
        </p:spPr>
        <p:txBody>
          <a:bodyPr/>
          <a:lstStyle/>
          <a:p>
            <a:endParaRPr lang="en-US"/>
          </a:p>
        </p:txBody>
      </p:sp>
      <p:sp>
        <p:nvSpPr>
          <p:cNvPr id="10" name="Oval 9">
            <a:extLst>
              <a:ext uri="{FF2B5EF4-FFF2-40B4-BE49-F238E27FC236}">
                <a16:creationId xmlns:a16="http://schemas.microsoft.com/office/drawing/2014/main" id="{53A67654-79E3-4266-B686-1856887953B1}"/>
              </a:ext>
            </a:extLst>
          </p:cNvPr>
          <p:cNvSpPr>
            <a:spLocks noGrp="1"/>
          </p:cNvSpPr>
          <p:nvPr/>
        </p:nvSpPr>
        <p:spPr>
          <a:xfrm>
            <a:off x="1085850" y="2609850"/>
            <a:ext cx="400050" cy="400050"/>
          </a:xfrm>
          <a:prstGeom prst="ellipse">
            <a:avLst/>
          </a:prstGeom>
          <a:solidFill>
            <a:srgbClr val="466D86"/>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CC064698-A768-4252-8E70-300B68332B86}"/>
              </a:ext>
            </a:extLst>
          </p:cNvPr>
          <p:cNvSpPr>
            <a:spLocks noGrp="1"/>
          </p:cNvSpPr>
          <p:nvPr/>
        </p:nvSpPr>
        <p:spPr>
          <a:xfrm>
            <a:off x="1085850" y="2667000"/>
            <a:ext cx="4000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FFFFFF"/>
                </a:solidFill>
                <a:latin typeface="Georgia"/>
                <a:ea typeface="Georgia"/>
                <a:cs typeface="Georgia"/>
              </a:defRPr>
            </a:pPr>
            <a:r>
              <a:rPr sz="1125" b="1">
                <a:solidFill>
                  <a:srgbClr val="FFFFFF"/>
                </a:solidFill>
                <a:latin typeface="Georgia"/>
                <a:ea typeface="Georgia"/>
                <a:cs typeface="Georgia"/>
              </a:rPr>
              <a:t>1</a:t>
            </a:r>
          </a:p>
        </p:txBody>
      </p:sp>
      <p:sp>
        <p:nvSpPr>
          <p:cNvPr id="12" name="Rectangle 11">
            <a:extLst>
              <a:ext uri="{FF2B5EF4-FFF2-40B4-BE49-F238E27FC236}">
                <a16:creationId xmlns:a16="http://schemas.microsoft.com/office/drawing/2014/main" id="{1CDA1C2D-C716-4EA3-997E-8CCE76B10B94}"/>
              </a:ext>
            </a:extLst>
          </p:cNvPr>
          <p:cNvSpPr>
            <a:spLocks noGrp="1"/>
          </p:cNvSpPr>
          <p:nvPr/>
        </p:nvSpPr>
        <p:spPr>
          <a:xfrm>
            <a:off x="1638300" y="2600325"/>
            <a:ext cx="1524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FFFFFF"/>
                </a:solidFill>
                <a:latin typeface="Georgia"/>
                <a:ea typeface="Georgia"/>
                <a:cs typeface="Georgia"/>
              </a:defRPr>
            </a:pPr>
            <a:r>
              <a:rPr sz="1425" b="1">
                <a:solidFill>
                  <a:srgbClr val="FFFFFF"/>
                </a:solidFill>
                <a:latin typeface="Georgia"/>
                <a:ea typeface="Georgia"/>
                <a:cs typeface="Georgia"/>
              </a:rPr>
              <a:t>Stato</a:t>
            </a:r>
          </a:p>
        </p:txBody>
      </p:sp>
      <p:sp>
        <p:nvSpPr>
          <p:cNvPr id="13" name="Rectangle 12">
            <a:extLst>
              <a:ext uri="{FF2B5EF4-FFF2-40B4-BE49-F238E27FC236}">
                <a16:creationId xmlns:a16="http://schemas.microsoft.com/office/drawing/2014/main" id="{88725475-4603-4725-BD0D-119E8D85A3C0}"/>
              </a:ext>
            </a:extLst>
          </p:cNvPr>
          <p:cNvSpPr>
            <a:spLocks noGrp="1"/>
          </p:cNvSpPr>
          <p:nvPr/>
        </p:nvSpPr>
        <p:spPr>
          <a:xfrm>
            <a:off x="1638300" y="2933700"/>
            <a:ext cx="15621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DDE5DD"/>
                </a:solidFill>
                <a:latin typeface="Aptos"/>
                <a:ea typeface="Aptos"/>
                <a:cs typeface="Aptos"/>
              </a:defRPr>
            </a:pPr>
            <a:r>
              <a:rPr sz="788" b="0">
                <a:solidFill>
                  <a:srgbClr val="DDE5DD"/>
                </a:solidFill>
                <a:latin typeface="Aptos"/>
                <a:ea typeface="Aptos"/>
                <a:cs typeface="Aptos"/>
              </a:rPr>
              <a:t>Marta vede che la giacca è da curare</a:t>
            </a:r>
          </a:p>
        </p:txBody>
      </p:sp>
      <p:sp>
        <p:nvSpPr>
          <p:cNvPr id="14" name="cycle-step-2">
            <a:extLst>
              <a:ext uri="{FF2B5EF4-FFF2-40B4-BE49-F238E27FC236}">
                <a16:creationId xmlns:a16="http://schemas.microsoft.com/office/drawing/2014/main" id="{01324A42-D92E-4634-A745-E1A4D014E420}"/>
              </a:ext>
            </a:extLst>
          </p:cNvPr>
          <p:cNvSpPr>
            <a:spLocks noGrp="1"/>
          </p:cNvSpPr>
          <p:nvPr/>
        </p:nvSpPr>
        <p:spPr>
          <a:xfrm>
            <a:off x="3714750" y="2438400"/>
            <a:ext cx="2476500" cy="1066800"/>
          </a:xfrm>
          <a:prstGeom prst="roundRect">
            <a:avLst>
              <a:gd name="adj" fmla="val 7143"/>
            </a:avLst>
          </a:prstGeom>
          <a:solidFill>
            <a:srgbClr val="1B4A3C"/>
          </a:solidFill>
          <a:ln w="9525">
            <a:solidFill>
              <a:srgbClr val="50796B"/>
            </a:solidFill>
            <a:prstDash val="solid"/>
          </a:ln>
        </p:spPr>
        <p:txBody>
          <a:bodyPr/>
          <a:lstStyle/>
          <a:p>
            <a:endParaRPr lang="en-US"/>
          </a:p>
        </p:txBody>
      </p:sp>
      <p:sp>
        <p:nvSpPr>
          <p:cNvPr id="15" name="Oval 14">
            <a:extLst>
              <a:ext uri="{FF2B5EF4-FFF2-40B4-BE49-F238E27FC236}">
                <a16:creationId xmlns:a16="http://schemas.microsoft.com/office/drawing/2014/main" id="{3585C52D-48DB-471E-AA5A-209632981EAD}"/>
              </a:ext>
            </a:extLst>
          </p:cNvPr>
          <p:cNvSpPr>
            <a:spLocks noGrp="1"/>
          </p:cNvSpPr>
          <p:nvPr/>
        </p:nvSpPr>
        <p:spPr>
          <a:xfrm>
            <a:off x="3886200" y="2609850"/>
            <a:ext cx="400050" cy="400050"/>
          </a:xfrm>
          <a:prstGeom prst="ellipse">
            <a:avLst/>
          </a:prstGeom>
          <a:solidFill>
            <a:srgbClr val="D56E42"/>
          </a:solidFill>
          <a:ln w="0">
            <a:solidFill>
              <a:srgbClr val="000000">
                <a:alpha val="0"/>
              </a:srgbClr>
            </a:solidFill>
            <a:prstDash val="solid"/>
          </a:ln>
        </p:spPr>
        <p:txBody>
          <a:bodyPr/>
          <a:lstStyle/>
          <a:p>
            <a:endParaRPr lang="en-US"/>
          </a:p>
        </p:txBody>
      </p:sp>
      <p:sp>
        <p:nvSpPr>
          <p:cNvPr id="16" name="Rectangle 15">
            <a:extLst>
              <a:ext uri="{FF2B5EF4-FFF2-40B4-BE49-F238E27FC236}">
                <a16:creationId xmlns:a16="http://schemas.microsoft.com/office/drawing/2014/main" id="{9E0BA5B7-1411-4F6C-9C94-A5ED766873F5}"/>
              </a:ext>
            </a:extLst>
          </p:cNvPr>
          <p:cNvSpPr>
            <a:spLocks noGrp="1"/>
          </p:cNvSpPr>
          <p:nvPr/>
        </p:nvSpPr>
        <p:spPr>
          <a:xfrm>
            <a:off x="3886200" y="2667000"/>
            <a:ext cx="4000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FFFFFF"/>
                </a:solidFill>
                <a:latin typeface="Georgia"/>
                <a:ea typeface="Georgia"/>
                <a:cs typeface="Georgia"/>
              </a:defRPr>
            </a:pPr>
            <a:r>
              <a:rPr sz="1125" b="1">
                <a:solidFill>
                  <a:srgbClr val="FFFFFF"/>
                </a:solidFill>
                <a:latin typeface="Georgia"/>
                <a:ea typeface="Georgia"/>
                <a:cs typeface="Georgia"/>
              </a:rPr>
              <a:t>2</a:t>
            </a:r>
          </a:p>
        </p:txBody>
      </p:sp>
      <p:sp>
        <p:nvSpPr>
          <p:cNvPr id="17" name="Rectangle 16">
            <a:extLst>
              <a:ext uri="{FF2B5EF4-FFF2-40B4-BE49-F238E27FC236}">
                <a16:creationId xmlns:a16="http://schemas.microsoft.com/office/drawing/2014/main" id="{BA60703E-7B39-4FAE-95C6-97B45D415E5D}"/>
              </a:ext>
            </a:extLst>
          </p:cNvPr>
          <p:cNvSpPr>
            <a:spLocks noGrp="1"/>
          </p:cNvSpPr>
          <p:nvPr/>
        </p:nvSpPr>
        <p:spPr>
          <a:xfrm>
            <a:off x="4438650" y="2600325"/>
            <a:ext cx="1524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FFFFFF"/>
                </a:solidFill>
                <a:latin typeface="Georgia"/>
                <a:ea typeface="Georgia"/>
                <a:cs typeface="Georgia"/>
              </a:defRPr>
            </a:pPr>
            <a:r>
              <a:rPr sz="1425" b="1">
                <a:solidFill>
                  <a:srgbClr val="FFFFFF"/>
                </a:solidFill>
                <a:latin typeface="Georgia"/>
                <a:ea typeface="Georgia"/>
                <a:cs typeface="Georgia"/>
              </a:rPr>
              <a:t>Decisione</a:t>
            </a:r>
          </a:p>
        </p:txBody>
      </p:sp>
      <p:sp>
        <p:nvSpPr>
          <p:cNvPr id="18" name="Rectangle 17">
            <a:extLst>
              <a:ext uri="{FF2B5EF4-FFF2-40B4-BE49-F238E27FC236}">
                <a16:creationId xmlns:a16="http://schemas.microsoft.com/office/drawing/2014/main" id="{9F28B723-0818-4ACF-B399-45263869C917}"/>
              </a:ext>
            </a:extLst>
          </p:cNvPr>
          <p:cNvSpPr>
            <a:spLocks noGrp="1"/>
          </p:cNvSpPr>
          <p:nvPr/>
        </p:nvSpPr>
        <p:spPr>
          <a:xfrm>
            <a:off x="4438650" y="2933700"/>
            <a:ext cx="15621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DDE5DD"/>
                </a:solidFill>
                <a:latin typeface="Aptos"/>
                <a:ea typeface="Aptos"/>
                <a:cs typeface="Aptos"/>
              </a:defRPr>
            </a:pPr>
            <a:r>
              <a:rPr sz="788" b="0">
                <a:solidFill>
                  <a:srgbClr val="DDE5DD"/>
                </a:solidFill>
                <a:latin typeface="Aptos"/>
                <a:ea typeface="Aptos"/>
                <a:cs typeface="Aptos"/>
              </a:rPr>
              <a:t>sceglie riparazione o seconda vita</a:t>
            </a:r>
          </a:p>
        </p:txBody>
      </p:sp>
      <p:sp>
        <p:nvSpPr>
          <p:cNvPr id="19" name="cycle-step-3">
            <a:extLst>
              <a:ext uri="{FF2B5EF4-FFF2-40B4-BE49-F238E27FC236}">
                <a16:creationId xmlns:a16="http://schemas.microsoft.com/office/drawing/2014/main" id="{88AC4016-5421-4F00-BA00-236B0D3AD857}"/>
              </a:ext>
            </a:extLst>
          </p:cNvPr>
          <p:cNvSpPr>
            <a:spLocks noGrp="1"/>
          </p:cNvSpPr>
          <p:nvPr/>
        </p:nvSpPr>
        <p:spPr>
          <a:xfrm>
            <a:off x="3714750" y="4514850"/>
            <a:ext cx="2476500" cy="1066800"/>
          </a:xfrm>
          <a:prstGeom prst="roundRect">
            <a:avLst>
              <a:gd name="adj" fmla="val 7143"/>
            </a:avLst>
          </a:prstGeom>
          <a:solidFill>
            <a:srgbClr val="1B4A3C"/>
          </a:solidFill>
          <a:ln w="9525">
            <a:solidFill>
              <a:srgbClr val="50796B"/>
            </a:solidFill>
            <a:prstDash val="solid"/>
          </a:ln>
        </p:spPr>
        <p:txBody>
          <a:bodyPr/>
          <a:lstStyle/>
          <a:p>
            <a:endParaRPr lang="en-US"/>
          </a:p>
        </p:txBody>
      </p:sp>
      <p:sp>
        <p:nvSpPr>
          <p:cNvPr id="20" name="Oval 19">
            <a:extLst>
              <a:ext uri="{FF2B5EF4-FFF2-40B4-BE49-F238E27FC236}">
                <a16:creationId xmlns:a16="http://schemas.microsoft.com/office/drawing/2014/main" id="{8B34D509-E067-4E3E-98B2-881594072370}"/>
              </a:ext>
            </a:extLst>
          </p:cNvPr>
          <p:cNvSpPr>
            <a:spLocks noGrp="1"/>
          </p:cNvSpPr>
          <p:nvPr/>
        </p:nvSpPr>
        <p:spPr>
          <a:xfrm>
            <a:off x="3886200" y="4686300"/>
            <a:ext cx="400050" cy="400050"/>
          </a:xfrm>
          <a:prstGeom prst="ellipse">
            <a:avLst/>
          </a:prstGeom>
          <a:solidFill>
            <a:srgbClr val="2F7D5B"/>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2079EB95-AE5D-4E29-B563-FAC07F5644AF}"/>
              </a:ext>
            </a:extLst>
          </p:cNvPr>
          <p:cNvSpPr>
            <a:spLocks noGrp="1"/>
          </p:cNvSpPr>
          <p:nvPr/>
        </p:nvSpPr>
        <p:spPr>
          <a:xfrm>
            <a:off x="3886200" y="4743450"/>
            <a:ext cx="4000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FFFFFF"/>
                </a:solidFill>
                <a:latin typeface="Georgia"/>
                <a:ea typeface="Georgia"/>
                <a:cs typeface="Georgia"/>
              </a:defRPr>
            </a:pPr>
            <a:r>
              <a:rPr sz="1125" b="1">
                <a:solidFill>
                  <a:srgbClr val="FFFFFF"/>
                </a:solidFill>
                <a:latin typeface="Georgia"/>
                <a:ea typeface="Georgia"/>
                <a:cs typeface="Georgia"/>
              </a:rPr>
              <a:t>3</a:t>
            </a:r>
          </a:p>
        </p:txBody>
      </p:sp>
      <p:sp>
        <p:nvSpPr>
          <p:cNvPr id="22" name="Rectangle 21">
            <a:extLst>
              <a:ext uri="{FF2B5EF4-FFF2-40B4-BE49-F238E27FC236}">
                <a16:creationId xmlns:a16="http://schemas.microsoft.com/office/drawing/2014/main" id="{E01D5B36-269D-4905-9D4F-19EBA9697E06}"/>
              </a:ext>
            </a:extLst>
          </p:cNvPr>
          <p:cNvSpPr>
            <a:spLocks noGrp="1"/>
          </p:cNvSpPr>
          <p:nvPr/>
        </p:nvSpPr>
        <p:spPr>
          <a:xfrm>
            <a:off x="4438650" y="4676775"/>
            <a:ext cx="1524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FFFFFF"/>
                </a:solidFill>
                <a:latin typeface="Georgia"/>
                <a:ea typeface="Georgia"/>
                <a:cs typeface="Georgia"/>
              </a:defRPr>
            </a:pPr>
            <a:r>
              <a:rPr sz="1425" b="1">
                <a:solidFill>
                  <a:srgbClr val="FFFFFF"/>
                </a:solidFill>
                <a:latin typeface="Georgia"/>
                <a:ea typeface="Georgia"/>
                <a:cs typeface="Georgia"/>
              </a:rPr>
              <a:t>Storico</a:t>
            </a:r>
          </a:p>
        </p:txBody>
      </p:sp>
      <p:sp>
        <p:nvSpPr>
          <p:cNvPr id="23" name="Rectangle 22">
            <a:extLst>
              <a:ext uri="{FF2B5EF4-FFF2-40B4-BE49-F238E27FC236}">
                <a16:creationId xmlns:a16="http://schemas.microsoft.com/office/drawing/2014/main" id="{10D93197-0C15-46F4-8D97-0A654CACBF65}"/>
              </a:ext>
            </a:extLst>
          </p:cNvPr>
          <p:cNvSpPr>
            <a:spLocks noGrp="1"/>
          </p:cNvSpPr>
          <p:nvPr/>
        </p:nvSpPr>
        <p:spPr>
          <a:xfrm>
            <a:off x="4438650" y="5010150"/>
            <a:ext cx="15621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DDE5DD"/>
                </a:solidFill>
                <a:latin typeface="Aptos"/>
                <a:ea typeface="Aptos"/>
                <a:cs typeface="Aptos"/>
              </a:defRPr>
            </a:pPr>
            <a:r>
              <a:rPr sz="788" b="0">
                <a:solidFill>
                  <a:srgbClr val="DDE5DD"/>
                </a:solidFill>
                <a:latin typeface="Aptos"/>
                <a:ea typeface="Aptos"/>
                <a:cs typeface="Aptos"/>
              </a:rPr>
              <a:t>l’azione resta visibile nel tempo</a:t>
            </a:r>
          </a:p>
        </p:txBody>
      </p:sp>
      <p:sp>
        <p:nvSpPr>
          <p:cNvPr id="24" name="cycle-step-4">
            <a:extLst>
              <a:ext uri="{FF2B5EF4-FFF2-40B4-BE49-F238E27FC236}">
                <a16:creationId xmlns:a16="http://schemas.microsoft.com/office/drawing/2014/main" id="{A93C81C2-823C-4D3E-A301-45E8D202A44F}"/>
              </a:ext>
            </a:extLst>
          </p:cNvPr>
          <p:cNvSpPr>
            <a:spLocks noGrp="1"/>
          </p:cNvSpPr>
          <p:nvPr/>
        </p:nvSpPr>
        <p:spPr>
          <a:xfrm>
            <a:off x="914400" y="4514850"/>
            <a:ext cx="2476500" cy="1066800"/>
          </a:xfrm>
          <a:prstGeom prst="roundRect">
            <a:avLst>
              <a:gd name="adj" fmla="val 7143"/>
            </a:avLst>
          </a:prstGeom>
          <a:solidFill>
            <a:srgbClr val="1B4A3C"/>
          </a:solidFill>
          <a:ln w="9525">
            <a:solidFill>
              <a:srgbClr val="50796B"/>
            </a:solidFill>
            <a:prstDash val="solid"/>
          </a:ln>
        </p:spPr>
        <p:txBody>
          <a:bodyPr/>
          <a:lstStyle/>
          <a:p>
            <a:endParaRPr lang="en-US"/>
          </a:p>
        </p:txBody>
      </p:sp>
      <p:sp>
        <p:nvSpPr>
          <p:cNvPr id="25" name="Oval 24">
            <a:extLst>
              <a:ext uri="{FF2B5EF4-FFF2-40B4-BE49-F238E27FC236}">
                <a16:creationId xmlns:a16="http://schemas.microsoft.com/office/drawing/2014/main" id="{F833F38C-A3F4-4320-9544-4FA9C5F6653C}"/>
              </a:ext>
            </a:extLst>
          </p:cNvPr>
          <p:cNvSpPr>
            <a:spLocks noGrp="1"/>
          </p:cNvSpPr>
          <p:nvPr/>
        </p:nvSpPr>
        <p:spPr>
          <a:xfrm>
            <a:off x="1085850" y="4686300"/>
            <a:ext cx="400050" cy="400050"/>
          </a:xfrm>
          <a:prstGeom prst="ellipse">
            <a:avLst/>
          </a:prstGeom>
          <a:solidFill>
            <a:srgbClr val="B9D94A"/>
          </a:solidFill>
          <a:ln w="0">
            <a:solidFill>
              <a:srgbClr val="000000">
                <a:alpha val="0"/>
              </a:srgbClr>
            </a:solidFill>
            <a:prstDash val="solid"/>
          </a:ln>
        </p:spPr>
        <p:txBody>
          <a:bodyPr/>
          <a:lstStyle/>
          <a:p>
            <a:endParaRPr lang="en-US"/>
          </a:p>
        </p:txBody>
      </p:sp>
      <p:sp>
        <p:nvSpPr>
          <p:cNvPr id="26" name="Rectangle 25">
            <a:extLst>
              <a:ext uri="{FF2B5EF4-FFF2-40B4-BE49-F238E27FC236}">
                <a16:creationId xmlns:a16="http://schemas.microsoft.com/office/drawing/2014/main" id="{62CA2BE0-3627-44A1-9AF4-2F4A218A7B71}"/>
              </a:ext>
            </a:extLst>
          </p:cNvPr>
          <p:cNvSpPr>
            <a:spLocks noGrp="1"/>
          </p:cNvSpPr>
          <p:nvPr/>
        </p:nvSpPr>
        <p:spPr>
          <a:xfrm>
            <a:off x="1085850" y="4743450"/>
            <a:ext cx="4000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123C31"/>
                </a:solidFill>
                <a:latin typeface="Georgia"/>
                <a:ea typeface="Georgia"/>
                <a:cs typeface="Georgia"/>
              </a:defRPr>
            </a:pPr>
            <a:r>
              <a:rPr sz="1125" b="1">
                <a:solidFill>
                  <a:srgbClr val="123C31"/>
                </a:solidFill>
                <a:latin typeface="Georgia"/>
                <a:ea typeface="Georgia"/>
                <a:cs typeface="Georgia"/>
              </a:rPr>
              <a:t>4</a:t>
            </a:r>
          </a:p>
        </p:txBody>
      </p:sp>
      <p:sp>
        <p:nvSpPr>
          <p:cNvPr id="27" name="Rectangle 26">
            <a:extLst>
              <a:ext uri="{FF2B5EF4-FFF2-40B4-BE49-F238E27FC236}">
                <a16:creationId xmlns:a16="http://schemas.microsoft.com/office/drawing/2014/main" id="{1F481D2A-E786-4662-9786-10673DEDF34E}"/>
              </a:ext>
            </a:extLst>
          </p:cNvPr>
          <p:cNvSpPr>
            <a:spLocks noGrp="1"/>
          </p:cNvSpPr>
          <p:nvPr/>
        </p:nvSpPr>
        <p:spPr>
          <a:xfrm>
            <a:off x="1638300" y="4676775"/>
            <a:ext cx="1524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FFFFFF"/>
                </a:solidFill>
                <a:latin typeface="Georgia"/>
                <a:ea typeface="Georgia"/>
                <a:cs typeface="Georgia"/>
              </a:defRPr>
            </a:pPr>
            <a:r>
              <a:rPr sz="1425" b="1">
                <a:solidFill>
                  <a:srgbClr val="FFFFFF"/>
                </a:solidFill>
                <a:latin typeface="Georgia"/>
                <a:ea typeface="Georgia"/>
                <a:cs typeface="Georgia"/>
              </a:rPr>
              <a:t>Impatto</a:t>
            </a:r>
          </a:p>
        </p:txBody>
      </p:sp>
      <p:sp>
        <p:nvSpPr>
          <p:cNvPr id="28" name="Rectangle 27">
            <a:extLst>
              <a:ext uri="{FF2B5EF4-FFF2-40B4-BE49-F238E27FC236}">
                <a16:creationId xmlns:a16="http://schemas.microsoft.com/office/drawing/2014/main" id="{FD37A75D-0049-4AAD-9A17-B2C1960AA76F}"/>
              </a:ext>
            </a:extLst>
          </p:cNvPr>
          <p:cNvSpPr>
            <a:spLocks noGrp="1"/>
          </p:cNvSpPr>
          <p:nvPr/>
        </p:nvSpPr>
        <p:spPr>
          <a:xfrm>
            <a:off x="1638300" y="5010150"/>
            <a:ext cx="15621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DDE5DD"/>
                </a:solidFill>
                <a:latin typeface="Aptos"/>
                <a:ea typeface="Aptos"/>
                <a:cs typeface="Aptos"/>
              </a:defRPr>
            </a:pPr>
            <a:r>
              <a:rPr sz="788" b="0">
                <a:solidFill>
                  <a:srgbClr val="DDE5DD"/>
                </a:solidFill>
                <a:latin typeface="Aptos"/>
                <a:ea typeface="Aptos"/>
                <a:cs typeface="Aptos"/>
              </a:rPr>
              <a:t>compare una stima di scenario</a:t>
            </a:r>
          </a:p>
        </p:txBody>
      </p:sp>
      <p:sp>
        <p:nvSpPr>
          <p:cNvPr id="29" name="impact-panel">
            <a:extLst>
              <a:ext uri="{FF2B5EF4-FFF2-40B4-BE49-F238E27FC236}">
                <a16:creationId xmlns:a16="http://schemas.microsoft.com/office/drawing/2014/main" id="{1E44F9CA-3590-47F5-A46C-D479BC6A7560}"/>
              </a:ext>
            </a:extLst>
          </p:cNvPr>
          <p:cNvSpPr>
            <a:spLocks noGrp="1"/>
          </p:cNvSpPr>
          <p:nvPr/>
        </p:nvSpPr>
        <p:spPr>
          <a:xfrm>
            <a:off x="7010400" y="2095500"/>
            <a:ext cx="4629150" cy="3600450"/>
          </a:xfrm>
          <a:prstGeom prst="roundRect">
            <a:avLst>
              <a:gd name="adj" fmla="val 2116"/>
            </a:avLst>
          </a:prstGeom>
          <a:solidFill>
            <a:srgbClr val="F4F0E7"/>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B13B7250-DFB0-4F53-AAB8-A5994A74E5D9}"/>
              </a:ext>
            </a:extLst>
          </p:cNvPr>
          <p:cNvSpPr>
            <a:spLocks noGrp="1"/>
          </p:cNvSpPr>
          <p:nvPr/>
        </p:nvSpPr>
        <p:spPr>
          <a:xfrm>
            <a:off x="7353300" y="241935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2F7D5B"/>
                </a:solidFill>
                <a:latin typeface="Aptos"/>
                <a:ea typeface="Aptos"/>
                <a:cs typeface="Aptos"/>
              </a:defRPr>
            </a:pPr>
            <a:r>
              <a:rPr sz="675" b="1">
                <a:solidFill>
                  <a:srgbClr val="2F7D5B"/>
                </a:solidFill>
                <a:latin typeface="Aptos"/>
                <a:ea typeface="Aptos"/>
                <a:cs typeface="Aptos"/>
              </a:rPr>
              <a:t>STIMA D’IMPATTO</a:t>
            </a:r>
          </a:p>
        </p:txBody>
      </p:sp>
      <p:sp>
        <p:nvSpPr>
          <p:cNvPr id="31" name="Rectangle 30">
            <a:extLst>
              <a:ext uri="{FF2B5EF4-FFF2-40B4-BE49-F238E27FC236}">
                <a16:creationId xmlns:a16="http://schemas.microsoft.com/office/drawing/2014/main" id="{F9EC0408-4743-41D2-88A0-935B0CB954C3}"/>
              </a:ext>
            </a:extLst>
          </p:cNvPr>
          <p:cNvSpPr>
            <a:spLocks noGrp="1"/>
          </p:cNvSpPr>
          <p:nvPr/>
        </p:nvSpPr>
        <p:spPr>
          <a:xfrm>
            <a:off x="7353300" y="2971800"/>
            <a:ext cx="1200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23C31"/>
                </a:solidFill>
                <a:latin typeface="Georgia"/>
                <a:ea typeface="Georgia"/>
                <a:cs typeface="Georgia"/>
              </a:defRPr>
            </a:pPr>
            <a:r>
              <a:rPr sz="1350" b="1">
                <a:solidFill>
                  <a:srgbClr val="123C31"/>
                </a:solidFill>
                <a:latin typeface="Georgia"/>
                <a:ea typeface="Georgia"/>
                <a:cs typeface="Georgia"/>
              </a:rPr>
              <a:t>media della</a:t>
            </a:r>
          </a:p>
          <a:p>
            <a:pPr algn="ctr">
              <a:defRPr sz="1350" b="1">
                <a:solidFill>
                  <a:srgbClr val="123C31"/>
                </a:solidFill>
                <a:latin typeface="Georgia"/>
                <a:ea typeface="Georgia"/>
                <a:cs typeface="Georgia"/>
              </a:defRPr>
            </a:pPr>
            <a:r>
              <a:rPr sz="1350" b="1">
                <a:solidFill>
                  <a:srgbClr val="123C31"/>
                </a:solidFill>
                <a:latin typeface="Georgia"/>
                <a:ea typeface="Georgia"/>
                <a:cs typeface="Georgia"/>
              </a:rPr>
              <a:t>categoria</a:t>
            </a:r>
          </a:p>
        </p:txBody>
      </p:sp>
      <p:sp>
        <p:nvSpPr>
          <p:cNvPr id="32" name="Rectangle 31">
            <a:extLst>
              <a:ext uri="{FF2B5EF4-FFF2-40B4-BE49-F238E27FC236}">
                <a16:creationId xmlns:a16="http://schemas.microsoft.com/office/drawing/2014/main" id="{AE85AF64-4A5C-4D6F-8C53-CB77F8106D8B}"/>
              </a:ext>
            </a:extLst>
          </p:cNvPr>
          <p:cNvSpPr>
            <a:spLocks noGrp="1"/>
          </p:cNvSpPr>
          <p:nvPr/>
        </p:nvSpPr>
        <p:spPr>
          <a:xfrm>
            <a:off x="8724900" y="3086100"/>
            <a:ext cx="361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250" b="1">
                <a:solidFill>
                  <a:srgbClr val="D56E42"/>
                </a:solidFill>
                <a:latin typeface="Georgia"/>
                <a:ea typeface="Georgia"/>
                <a:cs typeface="Georgia"/>
              </a:defRPr>
            </a:pPr>
            <a:r>
              <a:rPr sz="2250" b="1">
                <a:solidFill>
                  <a:srgbClr val="D56E42"/>
                </a:solidFill>
                <a:latin typeface="Georgia"/>
                <a:ea typeface="Georgia"/>
                <a:cs typeface="Georgia"/>
              </a:rPr>
              <a:t>×</a:t>
            </a:r>
          </a:p>
        </p:txBody>
      </p:sp>
      <p:sp>
        <p:nvSpPr>
          <p:cNvPr id="33" name="Rectangle 32">
            <a:extLst>
              <a:ext uri="{FF2B5EF4-FFF2-40B4-BE49-F238E27FC236}">
                <a16:creationId xmlns:a16="http://schemas.microsoft.com/office/drawing/2014/main" id="{D7E042CD-DA3B-43D7-8575-709DB0E35729}"/>
              </a:ext>
            </a:extLst>
          </p:cNvPr>
          <p:cNvSpPr>
            <a:spLocks noGrp="1"/>
          </p:cNvSpPr>
          <p:nvPr/>
        </p:nvSpPr>
        <p:spPr>
          <a:xfrm>
            <a:off x="9258300" y="2971800"/>
            <a:ext cx="1200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23C31"/>
                </a:solidFill>
                <a:latin typeface="Georgia"/>
                <a:ea typeface="Georgia"/>
                <a:cs typeface="Georgia"/>
              </a:defRPr>
            </a:pPr>
            <a:r>
              <a:rPr sz="1350" b="1">
                <a:solidFill>
                  <a:srgbClr val="123C31"/>
                </a:solidFill>
                <a:latin typeface="Georgia"/>
                <a:ea typeface="Georgia"/>
                <a:cs typeface="Georgia"/>
              </a:rPr>
              <a:t>fattore</a:t>
            </a:r>
          </a:p>
          <a:p>
            <a:pPr algn="ctr">
              <a:defRPr sz="1350" b="1">
                <a:solidFill>
                  <a:srgbClr val="123C31"/>
                </a:solidFill>
                <a:latin typeface="Georgia"/>
                <a:ea typeface="Georgia"/>
                <a:cs typeface="Georgia"/>
              </a:defRPr>
            </a:pPr>
            <a:r>
              <a:rPr sz="1350" b="1">
                <a:solidFill>
                  <a:srgbClr val="123C31"/>
                </a:solidFill>
                <a:latin typeface="Georgia"/>
                <a:ea typeface="Georgia"/>
                <a:cs typeface="Georgia"/>
              </a:rPr>
              <a:t>dell’azione</a:t>
            </a:r>
          </a:p>
        </p:txBody>
      </p:sp>
      <p:sp>
        <p:nvSpPr>
          <p:cNvPr id="34" name="Rectangle 33">
            <a:extLst>
              <a:ext uri="{FF2B5EF4-FFF2-40B4-BE49-F238E27FC236}">
                <a16:creationId xmlns:a16="http://schemas.microsoft.com/office/drawing/2014/main" id="{3959F85D-E3C7-4F6A-BB39-7AC03DFD90DD}"/>
              </a:ext>
            </a:extLst>
          </p:cNvPr>
          <p:cNvSpPr>
            <a:spLocks noGrp="1"/>
          </p:cNvSpPr>
          <p:nvPr/>
        </p:nvSpPr>
        <p:spPr>
          <a:xfrm>
            <a:off x="10572750" y="3086100"/>
            <a:ext cx="361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025" b="1">
                <a:solidFill>
                  <a:srgbClr val="65736B"/>
                </a:solidFill>
                <a:latin typeface="Georgia"/>
                <a:ea typeface="Georgia"/>
                <a:cs typeface="Georgia"/>
              </a:defRPr>
            </a:pPr>
            <a:r>
              <a:rPr sz="2025" b="1">
                <a:solidFill>
                  <a:srgbClr val="65736B"/>
                </a:solidFill>
                <a:latin typeface="Georgia"/>
                <a:ea typeface="Georgia"/>
                <a:cs typeface="Georgia"/>
              </a:rPr>
              <a:t>=</a:t>
            </a:r>
          </a:p>
        </p:txBody>
      </p:sp>
      <p:sp>
        <p:nvSpPr>
          <p:cNvPr id="35" name="Rectangle: Rounded Corners 34">
            <a:extLst>
              <a:ext uri="{FF2B5EF4-FFF2-40B4-BE49-F238E27FC236}">
                <a16:creationId xmlns:a16="http://schemas.microsoft.com/office/drawing/2014/main" id="{2965FB8D-7730-4249-981A-36B482000402}"/>
              </a:ext>
            </a:extLst>
          </p:cNvPr>
          <p:cNvSpPr>
            <a:spLocks noGrp="1"/>
          </p:cNvSpPr>
          <p:nvPr/>
        </p:nvSpPr>
        <p:spPr>
          <a:xfrm>
            <a:off x="8648700" y="3829050"/>
            <a:ext cx="1866900" cy="285750"/>
          </a:xfrm>
          <a:prstGeom prst="roundRect">
            <a:avLst>
              <a:gd name="adj" fmla="val 26667"/>
            </a:avLst>
          </a:prstGeom>
          <a:solidFill>
            <a:srgbClr val="B9D94A"/>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75E57BEA-184D-4415-BAB7-1E4B8B67B8A0}"/>
              </a:ext>
            </a:extLst>
          </p:cNvPr>
          <p:cNvSpPr>
            <a:spLocks noGrp="1"/>
          </p:cNvSpPr>
          <p:nvPr/>
        </p:nvSpPr>
        <p:spPr>
          <a:xfrm>
            <a:off x="8743950" y="3848100"/>
            <a:ext cx="16764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1">
                <a:solidFill>
                  <a:srgbClr val="123C31"/>
                </a:solidFill>
                <a:latin typeface="Aptos"/>
                <a:ea typeface="Aptos"/>
                <a:cs typeface="Aptos"/>
              </a:defRPr>
            </a:pPr>
            <a:r>
              <a:rPr sz="713" b="1">
                <a:solidFill>
                  <a:srgbClr val="123C31"/>
                </a:solidFill>
                <a:latin typeface="Aptos"/>
                <a:ea typeface="Aptos"/>
                <a:cs typeface="Aptos"/>
              </a:rPr>
              <a:t>CO₂eq STIMATA</a:t>
            </a:r>
          </a:p>
        </p:txBody>
      </p:sp>
      <p:sp>
        <p:nvSpPr>
          <p:cNvPr id="37" name="Rectangle 36">
            <a:extLst>
              <a:ext uri="{FF2B5EF4-FFF2-40B4-BE49-F238E27FC236}">
                <a16:creationId xmlns:a16="http://schemas.microsoft.com/office/drawing/2014/main" id="{B567E372-8D08-4534-BEE3-5C140529AECC}"/>
              </a:ext>
            </a:extLst>
          </p:cNvPr>
          <p:cNvSpPr>
            <a:spLocks noGrp="1"/>
          </p:cNvSpPr>
          <p:nvPr/>
        </p:nvSpPr>
        <p:spPr>
          <a:xfrm>
            <a:off x="7353300" y="4495800"/>
            <a:ext cx="3943350" cy="9525"/>
          </a:xfrm>
          <a:prstGeom prst="rect">
            <a:avLst/>
          </a:prstGeom>
          <a:solidFill>
            <a:srgbClr val="B9C3BB"/>
          </a:solidFill>
          <a:ln w="0">
            <a:solidFill>
              <a:srgbClr val="000000">
                <a:alpha val="0"/>
              </a:srgbClr>
            </a:solidFill>
            <a:prstDash val="solid"/>
          </a:ln>
        </p:spPr>
        <p:txBody>
          <a:bodyPr/>
          <a:lstStyle/>
          <a:p>
            <a:endParaRPr lang="en-US"/>
          </a:p>
        </p:txBody>
      </p:sp>
      <p:sp>
        <p:nvSpPr>
          <p:cNvPr id="38" name="Rectangle 37">
            <a:extLst>
              <a:ext uri="{FF2B5EF4-FFF2-40B4-BE49-F238E27FC236}">
                <a16:creationId xmlns:a16="http://schemas.microsoft.com/office/drawing/2014/main" id="{A8E4FC12-9C7D-4782-82C3-26F555D0A139}"/>
              </a:ext>
            </a:extLst>
          </p:cNvPr>
          <p:cNvSpPr>
            <a:spLocks noGrp="1"/>
          </p:cNvSpPr>
          <p:nvPr/>
        </p:nvSpPr>
        <p:spPr>
          <a:xfrm>
            <a:off x="7353300" y="4743450"/>
            <a:ext cx="1714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D56E42"/>
                </a:solidFill>
                <a:latin typeface="Aptos"/>
                <a:ea typeface="Aptos"/>
                <a:cs typeface="Aptos"/>
              </a:defRPr>
            </a:pPr>
            <a:r>
              <a:rPr sz="900" b="1">
                <a:solidFill>
                  <a:srgbClr val="D56E42"/>
                </a:solidFill>
                <a:latin typeface="Aptos"/>
                <a:ea typeface="Aptos"/>
                <a:cs typeface="Aptos"/>
              </a:rPr>
              <a:t>Scenario comparativo</a:t>
            </a:r>
          </a:p>
        </p:txBody>
      </p:sp>
      <p:sp>
        <p:nvSpPr>
          <p:cNvPr id="39" name="Rectangle 38">
            <a:extLst>
              <a:ext uri="{FF2B5EF4-FFF2-40B4-BE49-F238E27FC236}">
                <a16:creationId xmlns:a16="http://schemas.microsoft.com/office/drawing/2014/main" id="{6699F1AD-45DB-4974-A24C-5D6615DEE9DB}"/>
              </a:ext>
            </a:extLst>
          </p:cNvPr>
          <p:cNvSpPr>
            <a:spLocks noGrp="1"/>
          </p:cNvSpPr>
          <p:nvPr/>
        </p:nvSpPr>
        <p:spPr>
          <a:xfrm>
            <a:off x="7353300" y="5029200"/>
            <a:ext cx="382905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65736B"/>
                </a:solidFill>
                <a:latin typeface="Aptos"/>
                <a:ea typeface="Aptos"/>
                <a:cs typeface="Aptos"/>
              </a:defRPr>
            </a:pPr>
            <a:r>
              <a:rPr sz="863" b="0">
                <a:solidFill>
                  <a:srgbClr val="65736B"/>
                </a:solidFill>
                <a:latin typeface="Aptos"/>
                <a:ea typeface="Aptos"/>
                <a:cs typeface="Aptos"/>
              </a:rPr>
              <a:t>Aiuta a confrontare le azioni: non misura l’impronta reale del singolo capo e non è una LCA certificata.</a:t>
            </a:r>
          </a:p>
        </p:txBody>
      </p:sp>
      <p:sp>
        <p:nvSpPr>
          <p:cNvPr id="40" name="footer-rule">
            <a:extLst>
              <a:ext uri="{FF2B5EF4-FFF2-40B4-BE49-F238E27FC236}">
                <a16:creationId xmlns:a16="http://schemas.microsoft.com/office/drawing/2014/main" id="{813EE44D-AF29-4F5B-983F-F240AE4E520F}"/>
              </a:ext>
            </a:extLst>
          </p:cNvPr>
          <p:cNvSpPr>
            <a:spLocks noGrp="1"/>
          </p:cNvSpPr>
          <p:nvPr/>
        </p:nvSpPr>
        <p:spPr>
          <a:xfrm>
            <a:off x="552450" y="6457950"/>
            <a:ext cx="11087100" cy="9525"/>
          </a:xfrm>
          <a:prstGeom prst="rect">
            <a:avLst/>
          </a:prstGeom>
          <a:solidFill>
            <a:srgbClr val="3F685A"/>
          </a:solidFill>
          <a:ln w="0">
            <a:solidFill>
              <a:srgbClr val="000000">
                <a:alpha val="0"/>
              </a:srgbClr>
            </a:solidFill>
            <a:prstDash val="solid"/>
          </a:ln>
        </p:spPr>
        <p:txBody>
          <a:bodyPr/>
          <a:lstStyle/>
          <a:p>
            <a:endParaRPr lang="en-US"/>
          </a:p>
        </p:txBody>
      </p:sp>
      <p:sp>
        <p:nvSpPr>
          <p:cNvPr id="41" name="footer-source">
            <a:extLst>
              <a:ext uri="{FF2B5EF4-FFF2-40B4-BE49-F238E27FC236}">
                <a16:creationId xmlns:a16="http://schemas.microsoft.com/office/drawing/2014/main" id="{FAB6203C-1FC6-422C-BA4C-546D034D2A54}"/>
              </a:ext>
            </a:extLst>
          </p:cNvPr>
          <p:cNvSpPr>
            <a:spLocks noGrp="1"/>
          </p:cNvSpPr>
          <p:nvPr/>
        </p:nvSpPr>
        <p:spPr>
          <a:xfrm>
            <a:off x="552450" y="6534150"/>
            <a:ext cx="10001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8FA99E"/>
                </a:solidFill>
                <a:latin typeface="Aptos"/>
                <a:ea typeface="Aptos"/>
                <a:cs typeface="Aptos"/>
              </a:defRPr>
            </a:pPr>
            <a:r>
              <a:rPr sz="563" b="0">
                <a:solidFill>
                  <a:srgbClr val="8FA99E"/>
                </a:solidFill>
                <a:latin typeface="Aptos"/>
                <a:ea typeface="Aptos"/>
                <a:cs typeface="Aptos"/>
              </a:rPr>
              <a:t>Azioni: riparazione · vendita · donazione · riciclo · stima CO₂eq di scenario</a:t>
            </a:r>
          </a:p>
        </p:txBody>
      </p:sp>
      <p:sp>
        <p:nvSpPr>
          <p:cNvPr id="42" name="page-marker">
            <a:extLst>
              <a:ext uri="{FF2B5EF4-FFF2-40B4-BE49-F238E27FC236}">
                <a16:creationId xmlns:a16="http://schemas.microsoft.com/office/drawing/2014/main" id="{7B9146AD-C294-4208-B9F9-8F933600A17E}"/>
              </a:ext>
            </a:extLst>
          </p:cNvPr>
          <p:cNvSpPr>
            <a:spLocks noGrp="1"/>
          </p:cNvSpPr>
          <p:nvPr/>
        </p:nvSpPr>
        <p:spPr>
          <a:xfrm>
            <a:off x="11087100" y="6505575"/>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8FA99E"/>
                </a:solidFill>
                <a:latin typeface="Georgia"/>
                <a:ea typeface="Georgia"/>
                <a:cs typeface="Georgia"/>
              </a:defRPr>
            </a:pPr>
            <a:r>
              <a:rPr sz="750" b="1">
                <a:solidFill>
                  <a:srgbClr val="8FA99E"/>
                </a:solidFill>
                <a:latin typeface="Georgia"/>
                <a:ea typeface="Georgia"/>
                <a:cs typeface="Georgia"/>
              </a:rPr>
              <a:t>09</a:t>
            </a:r>
          </a:p>
        </p:txBody>
      </p:sp>
    </p:spTree>
    <p:extLst>
      <p:ext uri="{BB962C8B-B14F-4D97-AF65-F5344CB8AC3E}">
        <p14:creationId xmlns:p14="http://schemas.microsoft.com/office/powerpoint/2010/main" val="54277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background">
            <a:extLst>
              <a:ext uri="{FF2B5EF4-FFF2-40B4-BE49-F238E27FC236}">
                <a16:creationId xmlns:a16="http://schemas.microsoft.com/office/drawing/2014/main" id="{D1A6E894-62B5-4727-8DFD-CFBA304309EB}"/>
              </a:ext>
            </a:extLst>
          </p:cNvPr>
          <p:cNvSpPr>
            <a:spLocks noGrp="1"/>
          </p:cNvSpPr>
          <p:nvPr/>
        </p:nvSpPr>
        <p:spPr>
          <a:xfrm>
            <a:off x="0" y="0"/>
            <a:ext cx="12192000" cy="6858000"/>
          </a:xfrm>
          <a:prstGeom prst="rect">
            <a:avLst/>
          </a:prstGeom>
          <a:solidFill>
            <a:srgbClr val="F4F0E7"/>
          </a:solidFill>
          <a:ln w="0">
            <a:solidFill>
              <a:srgbClr val="000000">
                <a:alpha val="0"/>
              </a:srgbClr>
            </a:solidFill>
            <a:prstDash val="solid"/>
          </a:ln>
        </p:spPr>
        <p:txBody>
          <a:bodyPr/>
          <a:lstStyle/>
          <a:p>
            <a:endParaRPr lang="en-US"/>
          </a:p>
        </p:txBody>
      </p:sp>
      <p:sp>
        <p:nvSpPr>
          <p:cNvPr id="2" name="kicker-marker">
            <a:extLst>
              <a:ext uri="{FF2B5EF4-FFF2-40B4-BE49-F238E27FC236}">
                <a16:creationId xmlns:a16="http://schemas.microsoft.com/office/drawing/2014/main" id="{6A271DFC-B9DA-4306-99B6-03A4B29AD5A8}"/>
              </a:ext>
            </a:extLst>
          </p:cNvPr>
          <p:cNvSpPr>
            <a:spLocks noGrp="1"/>
          </p:cNvSpPr>
          <p:nvPr/>
        </p:nvSpPr>
        <p:spPr>
          <a:xfrm>
            <a:off x="552450" y="400050"/>
            <a:ext cx="95250" cy="95250"/>
          </a:xfrm>
          <a:prstGeom prst="ellipse">
            <a:avLst/>
          </a:prstGeom>
          <a:solidFill>
            <a:srgbClr val="2F7D5B"/>
          </a:solidFill>
          <a:ln w="0">
            <a:solidFill>
              <a:srgbClr val="000000">
                <a:alpha val="0"/>
              </a:srgbClr>
            </a:solidFill>
            <a:prstDash val="solid"/>
          </a:ln>
        </p:spPr>
        <p:txBody>
          <a:bodyPr/>
          <a:lstStyle/>
          <a:p>
            <a:endParaRPr lang="en-US"/>
          </a:p>
        </p:txBody>
      </p:sp>
      <p:sp>
        <p:nvSpPr>
          <p:cNvPr id="3" name="kicker-label">
            <a:extLst>
              <a:ext uri="{FF2B5EF4-FFF2-40B4-BE49-F238E27FC236}">
                <a16:creationId xmlns:a16="http://schemas.microsoft.com/office/drawing/2014/main" id="{79ECF07D-A897-4003-996C-44008B13FC31}"/>
              </a:ext>
            </a:extLst>
          </p:cNvPr>
          <p:cNvSpPr>
            <a:spLocks noGrp="1"/>
          </p:cNvSpPr>
          <p:nvPr/>
        </p:nvSpPr>
        <p:spPr>
          <a:xfrm>
            <a:off x="762000" y="361950"/>
            <a:ext cx="571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5736B"/>
                </a:solidFill>
                <a:latin typeface="Aptos"/>
                <a:ea typeface="Aptos"/>
                <a:cs typeface="Aptos"/>
              </a:defRPr>
            </a:pPr>
            <a:r>
              <a:rPr sz="675" b="1">
                <a:solidFill>
                  <a:srgbClr val="65736B"/>
                </a:solidFill>
                <a:latin typeface="Aptos"/>
                <a:ea typeface="Aptos"/>
                <a:cs typeface="Aptos"/>
              </a:rPr>
              <a:t>L A   S T O R I A   D I V E N T A   U N A   D E M O   V E R I F I C A B I L E</a:t>
            </a:r>
          </a:p>
        </p:txBody>
      </p:sp>
      <p:sp>
        <p:nvSpPr>
          <p:cNvPr id="4" name="claim-title">
            <a:extLst>
              <a:ext uri="{FF2B5EF4-FFF2-40B4-BE49-F238E27FC236}">
                <a16:creationId xmlns:a16="http://schemas.microsoft.com/office/drawing/2014/main" id="{F3BD5E09-9F88-4A1E-80C7-B10D532C82A4}"/>
              </a:ext>
            </a:extLst>
          </p:cNvPr>
          <p:cNvSpPr>
            <a:spLocks noGrp="1"/>
          </p:cNvSpPr>
          <p:nvPr/>
        </p:nvSpPr>
        <p:spPr>
          <a:xfrm>
            <a:off x="552450" y="723900"/>
            <a:ext cx="1057275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925" b="1">
                <a:solidFill>
                  <a:srgbClr val="17211D"/>
                </a:solidFill>
                <a:latin typeface="Georgia"/>
                <a:ea typeface="Georgia"/>
                <a:cs typeface="Georgia"/>
              </a:defRPr>
            </a:pPr>
            <a:r>
              <a:rPr sz="2925" b="1">
                <a:solidFill>
                  <a:srgbClr val="17211D"/>
                </a:solidFill>
                <a:latin typeface="Georgia"/>
                <a:ea typeface="Georgia"/>
                <a:cs typeface="Georgia"/>
              </a:rPr>
              <a:t>Marta vede il guardaroba come un sistema, non come una lista.</a:t>
            </a:r>
          </a:p>
        </p:txBody>
      </p:sp>
      <p:sp>
        <p:nvSpPr>
          <p:cNvPr id="5" name="Rectangle: Rounded Corners 4">
            <a:extLst>
              <a:ext uri="{FF2B5EF4-FFF2-40B4-BE49-F238E27FC236}">
                <a16:creationId xmlns:a16="http://schemas.microsoft.com/office/drawing/2014/main" id="{00C315DE-6261-4AA5-8799-502987FC57BB}"/>
              </a:ext>
            </a:extLst>
          </p:cNvPr>
          <p:cNvSpPr>
            <a:spLocks noGrp="1"/>
          </p:cNvSpPr>
          <p:nvPr/>
        </p:nvSpPr>
        <p:spPr>
          <a:xfrm>
            <a:off x="552450" y="1676400"/>
            <a:ext cx="3409950" cy="285750"/>
          </a:xfrm>
          <a:prstGeom prst="roundRect">
            <a:avLst>
              <a:gd name="adj" fmla="val 26667"/>
            </a:avLst>
          </a:prstGeom>
          <a:solidFill>
            <a:srgbClr val="E8D9C8"/>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50823E55-579F-4BCC-9303-7F9000F9211B}"/>
              </a:ext>
            </a:extLst>
          </p:cNvPr>
          <p:cNvSpPr>
            <a:spLocks noGrp="1"/>
          </p:cNvSpPr>
          <p:nvPr/>
        </p:nvSpPr>
        <p:spPr>
          <a:xfrm>
            <a:off x="647700" y="1695450"/>
            <a:ext cx="32194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1">
                <a:solidFill>
                  <a:srgbClr val="17211D"/>
                </a:solidFill>
                <a:latin typeface="Aptos"/>
                <a:ea typeface="Aptos"/>
                <a:cs typeface="Aptos"/>
              </a:defRPr>
            </a:pPr>
            <a:r>
              <a:rPr sz="713" b="1">
                <a:solidFill>
                  <a:srgbClr val="17211D"/>
                </a:solidFill>
                <a:latin typeface="Aptos"/>
                <a:ea typeface="Aptos"/>
                <a:cs typeface="Aptos"/>
              </a:rPr>
              <a:t>DATI LOCALI DI DEMO · NON UNO STUDIO UTENTI</a:t>
            </a:r>
          </a:p>
        </p:txBody>
      </p:sp>
      <p:sp>
        <p:nvSpPr>
          <p:cNvPr id="7" name="demo-metric-1">
            <a:extLst>
              <a:ext uri="{FF2B5EF4-FFF2-40B4-BE49-F238E27FC236}">
                <a16:creationId xmlns:a16="http://schemas.microsoft.com/office/drawing/2014/main" id="{0909DFD5-1F30-4A4F-8092-CA16C6B82042}"/>
              </a:ext>
            </a:extLst>
          </p:cNvPr>
          <p:cNvSpPr>
            <a:spLocks noGrp="1"/>
          </p:cNvSpPr>
          <p:nvPr/>
        </p:nvSpPr>
        <p:spPr>
          <a:xfrm>
            <a:off x="552450" y="2190750"/>
            <a:ext cx="2514600" cy="1257300"/>
          </a:xfrm>
          <a:prstGeom prst="roundRect">
            <a:avLst>
              <a:gd name="adj" fmla="val 6061"/>
            </a:avLst>
          </a:prstGeom>
          <a:solidFill>
            <a:srgbClr val="FFFFFF"/>
          </a:solidFill>
          <a:ln w="9525">
            <a:solidFill>
              <a:srgbClr val="B9C3BB"/>
            </a:solidFill>
            <a:prstDash val="solid"/>
          </a:ln>
        </p:spPr>
        <p:txBody>
          <a:bodyPr/>
          <a:lstStyle/>
          <a:p>
            <a:endParaRPr lang="en-US"/>
          </a:p>
        </p:txBody>
      </p:sp>
      <p:sp>
        <p:nvSpPr>
          <p:cNvPr id="8" name="Rectangle 7">
            <a:extLst>
              <a:ext uri="{FF2B5EF4-FFF2-40B4-BE49-F238E27FC236}">
                <a16:creationId xmlns:a16="http://schemas.microsoft.com/office/drawing/2014/main" id="{70376D38-1673-465B-8336-0CBA2C450D0F}"/>
              </a:ext>
            </a:extLst>
          </p:cNvPr>
          <p:cNvSpPr>
            <a:spLocks noGrp="1"/>
          </p:cNvSpPr>
          <p:nvPr/>
        </p:nvSpPr>
        <p:spPr>
          <a:xfrm>
            <a:off x="723900" y="2381250"/>
            <a:ext cx="21717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850" b="1">
                <a:solidFill>
                  <a:srgbClr val="123C31"/>
                </a:solidFill>
                <a:latin typeface="Georgia"/>
                <a:ea typeface="Georgia"/>
                <a:cs typeface="Georgia"/>
              </a:defRPr>
            </a:pPr>
            <a:r>
              <a:rPr sz="2850" b="1">
                <a:solidFill>
                  <a:srgbClr val="123C31"/>
                </a:solidFill>
                <a:latin typeface="Georgia"/>
                <a:ea typeface="Georgia"/>
                <a:cs typeface="Georgia"/>
              </a:rPr>
              <a:t>12</a:t>
            </a:r>
          </a:p>
        </p:txBody>
      </p:sp>
      <p:sp>
        <p:nvSpPr>
          <p:cNvPr id="9" name="Rectangle 8">
            <a:extLst>
              <a:ext uri="{FF2B5EF4-FFF2-40B4-BE49-F238E27FC236}">
                <a16:creationId xmlns:a16="http://schemas.microsoft.com/office/drawing/2014/main" id="{85A80B1C-9707-41D6-9CBA-83298269D0BE}"/>
              </a:ext>
            </a:extLst>
          </p:cNvPr>
          <p:cNvSpPr>
            <a:spLocks noGrp="1"/>
          </p:cNvSpPr>
          <p:nvPr/>
        </p:nvSpPr>
        <p:spPr>
          <a:xfrm>
            <a:off x="723900" y="2952750"/>
            <a:ext cx="21717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63" b="1">
                <a:solidFill>
                  <a:srgbClr val="65736B"/>
                </a:solidFill>
                <a:latin typeface="Aptos"/>
                <a:ea typeface="Aptos"/>
                <a:cs typeface="Aptos"/>
              </a:defRPr>
            </a:pPr>
            <a:r>
              <a:rPr sz="863" b="1">
                <a:solidFill>
                  <a:srgbClr val="65736B"/>
                </a:solidFill>
                <a:latin typeface="Aptos"/>
                <a:ea typeface="Aptos"/>
                <a:cs typeface="Aptos"/>
              </a:rPr>
              <a:t>capi</a:t>
            </a:r>
          </a:p>
        </p:txBody>
      </p:sp>
      <p:sp>
        <p:nvSpPr>
          <p:cNvPr id="10" name="demo-metric-2">
            <a:extLst>
              <a:ext uri="{FF2B5EF4-FFF2-40B4-BE49-F238E27FC236}">
                <a16:creationId xmlns:a16="http://schemas.microsoft.com/office/drawing/2014/main" id="{2DC61BE8-95E4-4FAD-974F-40C12B23B3C2}"/>
              </a:ext>
            </a:extLst>
          </p:cNvPr>
          <p:cNvSpPr>
            <a:spLocks noGrp="1"/>
          </p:cNvSpPr>
          <p:nvPr/>
        </p:nvSpPr>
        <p:spPr>
          <a:xfrm>
            <a:off x="3324225" y="2190750"/>
            <a:ext cx="2514600" cy="1257300"/>
          </a:xfrm>
          <a:prstGeom prst="roundRect">
            <a:avLst>
              <a:gd name="adj" fmla="val 6061"/>
            </a:avLst>
          </a:prstGeom>
          <a:solidFill>
            <a:srgbClr val="FFFFFF"/>
          </a:solidFill>
          <a:ln w="9525">
            <a:solidFill>
              <a:srgbClr val="B9C3BB"/>
            </a:solidFill>
            <a:prstDash val="solid"/>
          </a:ln>
        </p:spPr>
        <p:txBody>
          <a:bodyPr/>
          <a:lstStyle/>
          <a:p>
            <a:endParaRPr lang="en-US"/>
          </a:p>
        </p:txBody>
      </p:sp>
      <p:sp>
        <p:nvSpPr>
          <p:cNvPr id="11" name="Rectangle 10">
            <a:extLst>
              <a:ext uri="{FF2B5EF4-FFF2-40B4-BE49-F238E27FC236}">
                <a16:creationId xmlns:a16="http://schemas.microsoft.com/office/drawing/2014/main" id="{3CF9F9CB-6F63-416A-A901-ABB86369121B}"/>
              </a:ext>
            </a:extLst>
          </p:cNvPr>
          <p:cNvSpPr>
            <a:spLocks noGrp="1"/>
          </p:cNvSpPr>
          <p:nvPr/>
        </p:nvSpPr>
        <p:spPr>
          <a:xfrm>
            <a:off x="3495675" y="2381250"/>
            <a:ext cx="21717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850" b="1">
                <a:solidFill>
                  <a:srgbClr val="466D86"/>
                </a:solidFill>
                <a:latin typeface="Georgia"/>
                <a:ea typeface="Georgia"/>
                <a:cs typeface="Georgia"/>
              </a:defRPr>
            </a:pPr>
            <a:r>
              <a:rPr sz="2850" b="1">
                <a:solidFill>
                  <a:srgbClr val="466D86"/>
                </a:solidFill>
                <a:latin typeface="Georgia"/>
                <a:ea typeface="Georgia"/>
                <a:cs typeface="Georgia"/>
              </a:rPr>
              <a:t>148</a:t>
            </a:r>
          </a:p>
        </p:txBody>
      </p:sp>
      <p:sp>
        <p:nvSpPr>
          <p:cNvPr id="12" name="Rectangle 11">
            <a:extLst>
              <a:ext uri="{FF2B5EF4-FFF2-40B4-BE49-F238E27FC236}">
                <a16:creationId xmlns:a16="http://schemas.microsoft.com/office/drawing/2014/main" id="{E4012220-FD94-4B5A-A4C9-DCEA31A14EE6}"/>
              </a:ext>
            </a:extLst>
          </p:cNvPr>
          <p:cNvSpPr>
            <a:spLocks noGrp="1"/>
          </p:cNvSpPr>
          <p:nvPr/>
        </p:nvSpPr>
        <p:spPr>
          <a:xfrm>
            <a:off x="3495675" y="2952750"/>
            <a:ext cx="21717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63" b="1">
                <a:solidFill>
                  <a:srgbClr val="65736B"/>
                </a:solidFill>
                <a:latin typeface="Aptos"/>
                <a:ea typeface="Aptos"/>
                <a:cs typeface="Aptos"/>
              </a:defRPr>
            </a:pPr>
            <a:r>
              <a:rPr sz="863" b="1">
                <a:solidFill>
                  <a:srgbClr val="65736B"/>
                </a:solidFill>
                <a:latin typeface="Aptos"/>
                <a:ea typeface="Aptos"/>
                <a:cs typeface="Aptos"/>
              </a:rPr>
              <a:t>utilizzi</a:t>
            </a:r>
          </a:p>
        </p:txBody>
      </p:sp>
      <p:sp>
        <p:nvSpPr>
          <p:cNvPr id="13" name="demo-metric-3">
            <a:extLst>
              <a:ext uri="{FF2B5EF4-FFF2-40B4-BE49-F238E27FC236}">
                <a16:creationId xmlns:a16="http://schemas.microsoft.com/office/drawing/2014/main" id="{884100AD-0CC6-499A-8A5B-F7EC8E535FFF}"/>
              </a:ext>
            </a:extLst>
          </p:cNvPr>
          <p:cNvSpPr>
            <a:spLocks noGrp="1"/>
          </p:cNvSpPr>
          <p:nvPr/>
        </p:nvSpPr>
        <p:spPr>
          <a:xfrm>
            <a:off x="6096000" y="2190750"/>
            <a:ext cx="2514600" cy="1257300"/>
          </a:xfrm>
          <a:prstGeom prst="roundRect">
            <a:avLst>
              <a:gd name="adj" fmla="val 6061"/>
            </a:avLst>
          </a:prstGeom>
          <a:solidFill>
            <a:srgbClr val="FFFFFF"/>
          </a:solidFill>
          <a:ln w="9525">
            <a:solidFill>
              <a:srgbClr val="B9C3BB"/>
            </a:solidFill>
            <a:prstDash val="solid"/>
          </a:ln>
        </p:spPr>
        <p:txBody>
          <a:bodyPr/>
          <a:lstStyle/>
          <a:p>
            <a:endParaRPr lang="en-US"/>
          </a:p>
        </p:txBody>
      </p:sp>
      <p:sp>
        <p:nvSpPr>
          <p:cNvPr id="14" name="Rectangle 13">
            <a:extLst>
              <a:ext uri="{FF2B5EF4-FFF2-40B4-BE49-F238E27FC236}">
                <a16:creationId xmlns:a16="http://schemas.microsoft.com/office/drawing/2014/main" id="{6CB2E0C8-6A7F-41F5-AA33-511C2DA3C6C2}"/>
              </a:ext>
            </a:extLst>
          </p:cNvPr>
          <p:cNvSpPr>
            <a:spLocks noGrp="1"/>
          </p:cNvSpPr>
          <p:nvPr/>
        </p:nvSpPr>
        <p:spPr>
          <a:xfrm>
            <a:off x="6267450" y="2381250"/>
            <a:ext cx="21717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850" b="1">
                <a:solidFill>
                  <a:srgbClr val="D56E42"/>
                </a:solidFill>
                <a:latin typeface="Georgia"/>
                <a:ea typeface="Georgia"/>
                <a:cs typeface="Georgia"/>
              </a:defRPr>
            </a:pPr>
            <a:r>
              <a:rPr sz="2850" b="1">
                <a:solidFill>
                  <a:srgbClr val="D56E42"/>
                </a:solidFill>
                <a:latin typeface="Georgia"/>
                <a:ea typeface="Georgia"/>
                <a:cs typeface="Georgia"/>
              </a:rPr>
              <a:t>2</a:t>
            </a:r>
          </a:p>
        </p:txBody>
      </p:sp>
      <p:sp>
        <p:nvSpPr>
          <p:cNvPr id="15" name="Rectangle 14">
            <a:extLst>
              <a:ext uri="{FF2B5EF4-FFF2-40B4-BE49-F238E27FC236}">
                <a16:creationId xmlns:a16="http://schemas.microsoft.com/office/drawing/2014/main" id="{7325EB02-D949-46FF-A9EB-78E78F69756E}"/>
              </a:ext>
            </a:extLst>
          </p:cNvPr>
          <p:cNvSpPr>
            <a:spLocks noGrp="1"/>
          </p:cNvSpPr>
          <p:nvPr/>
        </p:nvSpPr>
        <p:spPr>
          <a:xfrm>
            <a:off x="6267450" y="2952750"/>
            <a:ext cx="21717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63" b="1">
                <a:solidFill>
                  <a:srgbClr val="65736B"/>
                </a:solidFill>
                <a:latin typeface="Aptos"/>
                <a:ea typeface="Aptos"/>
                <a:cs typeface="Aptos"/>
              </a:defRPr>
            </a:pPr>
            <a:r>
              <a:rPr sz="863" b="1">
                <a:solidFill>
                  <a:srgbClr val="65736B"/>
                </a:solidFill>
                <a:latin typeface="Aptos"/>
                <a:ea typeface="Aptos"/>
                <a:cs typeface="Aptos"/>
              </a:rPr>
              <a:t>fantasmi</a:t>
            </a:r>
          </a:p>
        </p:txBody>
      </p:sp>
      <p:sp>
        <p:nvSpPr>
          <p:cNvPr id="16" name="demo-metric-4">
            <a:extLst>
              <a:ext uri="{FF2B5EF4-FFF2-40B4-BE49-F238E27FC236}">
                <a16:creationId xmlns:a16="http://schemas.microsoft.com/office/drawing/2014/main" id="{5410CE02-E305-4359-ACB5-EBA945E5BFD7}"/>
              </a:ext>
            </a:extLst>
          </p:cNvPr>
          <p:cNvSpPr>
            <a:spLocks noGrp="1"/>
          </p:cNvSpPr>
          <p:nvPr/>
        </p:nvSpPr>
        <p:spPr>
          <a:xfrm>
            <a:off x="8867775" y="2190750"/>
            <a:ext cx="2514600" cy="1257300"/>
          </a:xfrm>
          <a:prstGeom prst="roundRect">
            <a:avLst>
              <a:gd name="adj" fmla="val 6061"/>
            </a:avLst>
          </a:prstGeom>
          <a:solidFill>
            <a:srgbClr val="FFFFFF"/>
          </a:solidFill>
          <a:ln w="9525">
            <a:solidFill>
              <a:srgbClr val="B9C3BB"/>
            </a:solidFill>
            <a:prstDash val="solid"/>
          </a:ln>
        </p:spPr>
        <p:txBody>
          <a:bodyPr/>
          <a:lstStyle/>
          <a:p>
            <a:endParaRPr lang="en-US"/>
          </a:p>
        </p:txBody>
      </p:sp>
      <p:sp>
        <p:nvSpPr>
          <p:cNvPr id="17" name="Rectangle 16">
            <a:extLst>
              <a:ext uri="{FF2B5EF4-FFF2-40B4-BE49-F238E27FC236}">
                <a16:creationId xmlns:a16="http://schemas.microsoft.com/office/drawing/2014/main" id="{535927D9-8C3C-4273-B62C-E3262E7F2F0F}"/>
              </a:ext>
            </a:extLst>
          </p:cNvPr>
          <p:cNvSpPr>
            <a:spLocks noGrp="1"/>
          </p:cNvSpPr>
          <p:nvPr/>
        </p:nvSpPr>
        <p:spPr>
          <a:xfrm>
            <a:off x="9039225" y="2381250"/>
            <a:ext cx="21717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850" b="1">
                <a:solidFill>
                  <a:srgbClr val="2F7D5B"/>
                </a:solidFill>
                <a:latin typeface="Georgia"/>
                <a:ea typeface="Georgia"/>
                <a:cs typeface="Georgia"/>
              </a:defRPr>
            </a:pPr>
            <a:r>
              <a:rPr sz="2850" b="1">
                <a:solidFill>
                  <a:srgbClr val="2F7D5B"/>
                </a:solidFill>
                <a:latin typeface="Georgia"/>
                <a:ea typeface="Georgia"/>
                <a:cs typeface="Georgia"/>
              </a:rPr>
              <a:t>57,5 kg</a:t>
            </a:r>
          </a:p>
        </p:txBody>
      </p:sp>
      <p:sp>
        <p:nvSpPr>
          <p:cNvPr id="18" name="Rectangle 17">
            <a:extLst>
              <a:ext uri="{FF2B5EF4-FFF2-40B4-BE49-F238E27FC236}">
                <a16:creationId xmlns:a16="http://schemas.microsoft.com/office/drawing/2014/main" id="{6E7B9244-7494-41F1-BC14-F44F928DC36F}"/>
              </a:ext>
            </a:extLst>
          </p:cNvPr>
          <p:cNvSpPr>
            <a:spLocks noGrp="1"/>
          </p:cNvSpPr>
          <p:nvPr/>
        </p:nvSpPr>
        <p:spPr>
          <a:xfrm>
            <a:off x="9039225" y="2952750"/>
            <a:ext cx="21717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63" b="1">
                <a:solidFill>
                  <a:srgbClr val="65736B"/>
                </a:solidFill>
                <a:latin typeface="Aptos"/>
                <a:ea typeface="Aptos"/>
                <a:cs typeface="Aptos"/>
              </a:defRPr>
            </a:pPr>
            <a:r>
              <a:rPr sz="863" b="1">
                <a:solidFill>
                  <a:srgbClr val="65736B"/>
                </a:solidFill>
                <a:latin typeface="Aptos"/>
                <a:ea typeface="Aptos"/>
                <a:cs typeface="Aptos"/>
              </a:rPr>
              <a:t>CO₂eq stimata</a:t>
            </a:r>
          </a:p>
        </p:txBody>
      </p:sp>
      <p:sp>
        <p:nvSpPr>
          <p:cNvPr id="19" name="story-loop-1">
            <a:extLst>
              <a:ext uri="{FF2B5EF4-FFF2-40B4-BE49-F238E27FC236}">
                <a16:creationId xmlns:a16="http://schemas.microsoft.com/office/drawing/2014/main" id="{DDBBAF55-FF44-4173-9843-68F812C79098}"/>
              </a:ext>
            </a:extLst>
          </p:cNvPr>
          <p:cNvSpPr>
            <a:spLocks noGrp="1"/>
          </p:cNvSpPr>
          <p:nvPr/>
        </p:nvSpPr>
        <p:spPr>
          <a:xfrm>
            <a:off x="857250" y="4114800"/>
            <a:ext cx="704850" cy="704850"/>
          </a:xfrm>
          <a:prstGeom prst="ellipse">
            <a:avLst/>
          </a:prstGeom>
          <a:solidFill>
            <a:srgbClr val="466D86"/>
          </a:solidFill>
          <a:ln w="0">
            <a:solidFill>
              <a:srgbClr val="000000">
                <a:alpha val="0"/>
              </a:srgbClr>
            </a:solidFill>
            <a:prstDash val="solid"/>
          </a:ln>
        </p:spPr>
        <p:txBody>
          <a:bodyPr/>
          <a:lstStyle/>
          <a:p>
            <a:endParaRPr lang="en-US"/>
          </a:p>
        </p:txBody>
      </p:sp>
      <p:pic>
        <p:nvPicPr>
          <p:cNvPr id="20" name="Graphic 19"/>
          <p:cNvPicPr>
            <a:picLocks noChangeAspect="1"/>
          </p:cNvPicPr>
          <p:nvPr/>
        </p:nvPicPr>
        <p:blipFill>
          <a:blip>
            <a:extLst>
              <a:ext uri="{96DAC541-7B7A-43D3-8B79-37D633B846F1}">
                <asvg:svgBlip xmlns:asvg="http://schemas.microsoft.com/office/drawing/2016/SVG/main" r:embed="rId3"/>
              </a:ext>
            </a:extLst>
          </a:blip>
          <a:stretch/>
        </p:blipFill>
        <p:spPr>
          <a:xfrm>
            <a:off x="1057275" y="4314825"/>
            <a:ext cx="304800" cy="304800"/>
          </a:xfrm>
          <a:prstGeom prst="rect">
            <a:avLst/>
          </a:prstGeom>
        </p:spPr>
      </p:pic>
      <p:sp>
        <p:nvSpPr>
          <p:cNvPr id="21" name="Rectangle 20">
            <a:extLst>
              <a:ext uri="{FF2B5EF4-FFF2-40B4-BE49-F238E27FC236}">
                <a16:creationId xmlns:a16="http://schemas.microsoft.com/office/drawing/2014/main" id="{E02F2FC0-F2AB-4748-9D66-659C0845A6F3}"/>
              </a:ext>
            </a:extLst>
          </p:cNvPr>
          <p:cNvSpPr>
            <a:spLocks noGrp="1"/>
          </p:cNvSpPr>
          <p:nvPr/>
        </p:nvSpPr>
        <p:spPr>
          <a:xfrm>
            <a:off x="742950" y="4953000"/>
            <a:ext cx="933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17211D"/>
                </a:solidFill>
                <a:latin typeface="Georgia"/>
                <a:ea typeface="Georgia"/>
                <a:cs typeface="Georgia"/>
              </a:defRPr>
            </a:pPr>
            <a:r>
              <a:rPr sz="975" b="1">
                <a:solidFill>
                  <a:srgbClr val="17211D"/>
                </a:solidFill>
                <a:latin typeface="Georgia"/>
                <a:ea typeface="Georgia"/>
                <a:cs typeface="Georgia"/>
              </a:rPr>
              <a:t>Foto</a:t>
            </a:r>
          </a:p>
        </p:txBody>
      </p:sp>
      <p:sp>
        <p:nvSpPr>
          <p:cNvPr id="22" name="story-loop-link-1">
            <a:extLst>
              <a:ext uri="{FF2B5EF4-FFF2-40B4-BE49-F238E27FC236}">
                <a16:creationId xmlns:a16="http://schemas.microsoft.com/office/drawing/2014/main" id="{08522D91-F3AB-4541-8279-B20AE2D1FC44}"/>
              </a:ext>
            </a:extLst>
          </p:cNvPr>
          <p:cNvSpPr>
            <a:spLocks noGrp="1"/>
          </p:cNvSpPr>
          <p:nvPr/>
        </p:nvSpPr>
        <p:spPr>
          <a:xfrm>
            <a:off x="1581150" y="4467225"/>
            <a:ext cx="1257300" cy="19050"/>
          </a:xfrm>
          <a:prstGeom prst="rect">
            <a:avLst/>
          </a:prstGeom>
          <a:solidFill>
            <a:srgbClr val="B9C3BB"/>
          </a:solidFill>
          <a:ln w="0">
            <a:solidFill>
              <a:srgbClr val="000000">
                <a:alpha val="0"/>
              </a:srgbClr>
            </a:solidFill>
            <a:prstDash val="solid"/>
          </a:ln>
        </p:spPr>
        <p:txBody>
          <a:bodyPr/>
          <a:lstStyle/>
          <a:p>
            <a:endParaRPr lang="en-US"/>
          </a:p>
        </p:txBody>
      </p:sp>
      <p:sp>
        <p:nvSpPr>
          <p:cNvPr id="23" name="story-loop-link-1-end">
            <a:extLst>
              <a:ext uri="{FF2B5EF4-FFF2-40B4-BE49-F238E27FC236}">
                <a16:creationId xmlns:a16="http://schemas.microsoft.com/office/drawing/2014/main" id="{2F438C80-1672-40A2-BC95-2FBFA8D11F8F}"/>
              </a:ext>
            </a:extLst>
          </p:cNvPr>
          <p:cNvSpPr>
            <a:spLocks noGrp="1"/>
          </p:cNvSpPr>
          <p:nvPr/>
        </p:nvSpPr>
        <p:spPr>
          <a:xfrm>
            <a:off x="2781300" y="4419600"/>
            <a:ext cx="104775" cy="104775"/>
          </a:xfrm>
          <a:prstGeom prst="ellipse">
            <a:avLst/>
          </a:prstGeom>
          <a:solidFill>
            <a:srgbClr val="B9C3BB"/>
          </a:solidFill>
          <a:ln w="0">
            <a:solidFill>
              <a:srgbClr val="000000">
                <a:alpha val="0"/>
              </a:srgbClr>
            </a:solidFill>
            <a:prstDash val="solid"/>
          </a:ln>
        </p:spPr>
        <p:txBody>
          <a:bodyPr/>
          <a:lstStyle/>
          <a:p>
            <a:endParaRPr lang="en-US"/>
          </a:p>
        </p:txBody>
      </p:sp>
      <p:sp>
        <p:nvSpPr>
          <p:cNvPr id="24" name="story-loop-2">
            <a:extLst>
              <a:ext uri="{FF2B5EF4-FFF2-40B4-BE49-F238E27FC236}">
                <a16:creationId xmlns:a16="http://schemas.microsoft.com/office/drawing/2014/main" id="{1E32A83D-8703-42EB-9A23-DEB344852F73}"/>
              </a:ext>
            </a:extLst>
          </p:cNvPr>
          <p:cNvSpPr>
            <a:spLocks noGrp="1"/>
          </p:cNvSpPr>
          <p:nvPr/>
        </p:nvSpPr>
        <p:spPr>
          <a:xfrm>
            <a:off x="2990850" y="4114800"/>
            <a:ext cx="704850" cy="704850"/>
          </a:xfrm>
          <a:prstGeom prst="ellipse">
            <a:avLst/>
          </a:prstGeom>
          <a:solidFill>
            <a:srgbClr val="2F7D5B"/>
          </a:solidFill>
          <a:ln w="0">
            <a:solidFill>
              <a:srgbClr val="000000">
                <a:alpha val="0"/>
              </a:srgbClr>
            </a:solidFill>
            <a:prstDash val="solid"/>
          </a:ln>
        </p:spPr>
        <p:txBody>
          <a:bodyPr/>
          <a:lstStyle/>
          <a:p>
            <a:endParaRPr lang="en-US"/>
          </a:p>
        </p:txBody>
      </p:sp>
      <p:pic>
        <p:nvPicPr>
          <p:cNvPr id="25" name="Graphic 24"/>
          <p:cNvPicPr>
            <a:picLocks noChangeAspect="1"/>
          </p:cNvPicPr>
          <p:nvPr/>
        </p:nvPicPr>
        <p:blipFill>
          <a:blip>
            <a:extLst>
              <a:ext uri="{96DAC541-7B7A-43D3-8B79-37D633B846F1}">
                <asvg:svgBlip xmlns:asvg="http://schemas.microsoft.com/office/drawing/2016/SVG/main" r:embed="rId4"/>
              </a:ext>
            </a:extLst>
          </a:blip>
          <a:stretch/>
        </p:blipFill>
        <p:spPr>
          <a:xfrm>
            <a:off x="3190875" y="4314825"/>
            <a:ext cx="304800" cy="304800"/>
          </a:xfrm>
          <a:prstGeom prst="rect">
            <a:avLst/>
          </a:prstGeom>
        </p:spPr>
      </p:pic>
      <p:sp>
        <p:nvSpPr>
          <p:cNvPr id="26" name="Rectangle 25">
            <a:extLst>
              <a:ext uri="{FF2B5EF4-FFF2-40B4-BE49-F238E27FC236}">
                <a16:creationId xmlns:a16="http://schemas.microsoft.com/office/drawing/2014/main" id="{697F6589-606F-438D-9037-27A15B00CB39}"/>
              </a:ext>
            </a:extLst>
          </p:cNvPr>
          <p:cNvSpPr>
            <a:spLocks noGrp="1"/>
          </p:cNvSpPr>
          <p:nvPr/>
        </p:nvSpPr>
        <p:spPr>
          <a:xfrm>
            <a:off x="2876550" y="4953000"/>
            <a:ext cx="933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17211D"/>
                </a:solidFill>
                <a:latin typeface="Georgia"/>
                <a:ea typeface="Georgia"/>
                <a:cs typeface="Georgia"/>
              </a:defRPr>
            </a:pPr>
            <a:r>
              <a:rPr sz="975" b="1">
                <a:solidFill>
                  <a:srgbClr val="17211D"/>
                </a:solidFill>
                <a:latin typeface="Georgia"/>
                <a:ea typeface="Georgia"/>
                <a:cs typeface="Georgia"/>
              </a:rPr>
              <a:t>Usa</a:t>
            </a:r>
          </a:p>
        </p:txBody>
      </p:sp>
      <p:sp>
        <p:nvSpPr>
          <p:cNvPr id="27" name="story-loop-link-2">
            <a:extLst>
              <a:ext uri="{FF2B5EF4-FFF2-40B4-BE49-F238E27FC236}">
                <a16:creationId xmlns:a16="http://schemas.microsoft.com/office/drawing/2014/main" id="{78B37CAF-CD23-4922-B4BC-27DD3EAF6E95}"/>
              </a:ext>
            </a:extLst>
          </p:cNvPr>
          <p:cNvSpPr>
            <a:spLocks noGrp="1"/>
          </p:cNvSpPr>
          <p:nvPr/>
        </p:nvSpPr>
        <p:spPr>
          <a:xfrm>
            <a:off x="3714750" y="4467225"/>
            <a:ext cx="1257300" cy="19050"/>
          </a:xfrm>
          <a:prstGeom prst="rect">
            <a:avLst/>
          </a:prstGeom>
          <a:solidFill>
            <a:srgbClr val="B9C3BB"/>
          </a:solidFill>
          <a:ln w="0">
            <a:solidFill>
              <a:srgbClr val="000000">
                <a:alpha val="0"/>
              </a:srgbClr>
            </a:solidFill>
            <a:prstDash val="solid"/>
          </a:ln>
        </p:spPr>
        <p:txBody>
          <a:bodyPr/>
          <a:lstStyle/>
          <a:p>
            <a:endParaRPr lang="en-US"/>
          </a:p>
        </p:txBody>
      </p:sp>
      <p:sp>
        <p:nvSpPr>
          <p:cNvPr id="28" name="story-loop-link-2-end">
            <a:extLst>
              <a:ext uri="{FF2B5EF4-FFF2-40B4-BE49-F238E27FC236}">
                <a16:creationId xmlns:a16="http://schemas.microsoft.com/office/drawing/2014/main" id="{7A8F2F5E-DE85-4950-860E-40BA02E23321}"/>
              </a:ext>
            </a:extLst>
          </p:cNvPr>
          <p:cNvSpPr>
            <a:spLocks noGrp="1"/>
          </p:cNvSpPr>
          <p:nvPr/>
        </p:nvSpPr>
        <p:spPr>
          <a:xfrm>
            <a:off x="4914900" y="4419600"/>
            <a:ext cx="104775" cy="104775"/>
          </a:xfrm>
          <a:prstGeom prst="ellipse">
            <a:avLst/>
          </a:prstGeom>
          <a:solidFill>
            <a:srgbClr val="B9C3BB"/>
          </a:solidFill>
          <a:ln w="0">
            <a:solidFill>
              <a:srgbClr val="000000">
                <a:alpha val="0"/>
              </a:srgbClr>
            </a:solidFill>
            <a:prstDash val="solid"/>
          </a:ln>
        </p:spPr>
        <p:txBody>
          <a:bodyPr/>
          <a:lstStyle/>
          <a:p>
            <a:endParaRPr lang="en-US"/>
          </a:p>
        </p:txBody>
      </p:sp>
      <p:sp>
        <p:nvSpPr>
          <p:cNvPr id="29" name="story-loop-3">
            <a:extLst>
              <a:ext uri="{FF2B5EF4-FFF2-40B4-BE49-F238E27FC236}">
                <a16:creationId xmlns:a16="http://schemas.microsoft.com/office/drawing/2014/main" id="{A481A3E4-49C9-4287-A964-2A65C225BD2C}"/>
              </a:ext>
            </a:extLst>
          </p:cNvPr>
          <p:cNvSpPr>
            <a:spLocks noGrp="1"/>
          </p:cNvSpPr>
          <p:nvPr/>
        </p:nvSpPr>
        <p:spPr>
          <a:xfrm>
            <a:off x="5124450" y="4114800"/>
            <a:ext cx="704850" cy="704850"/>
          </a:xfrm>
          <a:prstGeom prst="ellipse">
            <a:avLst/>
          </a:prstGeom>
          <a:solidFill>
            <a:srgbClr val="D56E42"/>
          </a:solidFill>
          <a:ln w="0">
            <a:solidFill>
              <a:srgbClr val="000000">
                <a:alpha val="0"/>
              </a:srgbClr>
            </a:solidFill>
            <a:prstDash val="solid"/>
          </a:ln>
        </p:spPr>
        <p:txBody>
          <a:bodyPr/>
          <a:lstStyle/>
          <a:p>
            <a:endParaRPr lang="en-US"/>
          </a:p>
        </p:txBody>
      </p:sp>
      <p:pic>
        <p:nvPicPr>
          <p:cNvPr id="30" name="Graphic 29"/>
          <p:cNvPicPr>
            <a:picLocks noChangeAspect="1"/>
          </p:cNvPicPr>
          <p:nvPr/>
        </p:nvPicPr>
        <p:blipFill>
          <a:blip>
            <a:extLst>
              <a:ext uri="{96DAC541-7B7A-43D3-8B79-37D633B846F1}">
                <asvg:svgBlip xmlns:asvg="http://schemas.microsoft.com/office/drawing/2016/SVG/main" r:embed="rId5"/>
              </a:ext>
            </a:extLst>
          </a:blip>
          <a:stretch/>
        </p:blipFill>
        <p:spPr>
          <a:xfrm>
            <a:off x="5324475" y="4314825"/>
            <a:ext cx="304800" cy="304800"/>
          </a:xfrm>
          <a:prstGeom prst="rect">
            <a:avLst/>
          </a:prstGeom>
        </p:spPr>
      </p:pic>
      <p:sp>
        <p:nvSpPr>
          <p:cNvPr id="31" name="Rectangle 30">
            <a:extLst>
              <a:ext uri="{FF2B5EF4-FFF2-40B4-BE49-F238E27FC236}">
                <a16:creationId xmlns:a16="http://schemas.microsoft.com/office/drawing/2014/main" id="{D320CC7D-22B6-48C0-A29A-85D532DC626A}"/>
              </a:ext>
            </a:extLst>
          </p:cNvPr>
          <p:cNvSpPr>
            <a:spLocks noGrp="1"/>
          </p:cNvSpPr>
          <p:nvPr/>
        </p:nvSpPr>
        <p:spPr>
          <a:xfrm>
            <a:off x="5010150" y="4953000"/>
            <a:ext cx="933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17211D"/>
                </a:solidFill>
                <a:latin typeface="Georgia"/>
                <a:ea typeface="Georgia"/>
                <a:cs typeface="Georgia"/>
              </a:defRPr>
            </a:pPr>
            <a:r>
              <a:rPr sz="975" b="1">
                <a:solidFill>
                  <a:srgbClr val="17211D"/>
                </a:solidFill>
                <a:latin typeface="Georgia"/>
                <a:ea typeface="Georgia"/>
                <a:cs typeface="Georgia"/>
              </a:rPr>
              <a:t>Riscopri</a:t>
            </a:r>
          </a:p>
        </p:txBody>
      </p:sp>
      <p:sp>
        <p:nvSpPr>
          <p:cNvPr id="32" name="story-loop-link-3">
            <a:extLst>
              <a:ext uri="{FF2B5EF4-FFF2-40B4-BE49-F238E27FC236}">
                <a16:creationId xmlns:a16="http://schemas.microsoft.com/office/drawing/2014/main" id="{A0C9D234-1D31-44BE-B972-5F319C3DAED8}"/>
              </a:ext>
            </a:extLst>
          </p:cNvPr>
          <p:cNvSpPr>
            <a:spLocks noGrp="1"/>
          </p:cNvSpPr>
          <p:nvPr/>
        </p:nvSpPr>
        <p:spPr>
          <a:xfrm>
            <a:off x="5848350" y="4467225"/>
            <a:ext cx="1257300" cy="19050"/>
          </a:xfrm>
          <a:prstGeom prst="rect">
            <a:avLst/>
          </a:prstGeom>
          <a:solidFill>
            <a:srgbClr val="B9C3BB"/>
          </a:solidFill>
          <a:ln w="0">
            <a:solidFill>
              <a:srgbClr val="000000">
                <a:alpha val="0"/>
              </a:srgbClr>
            </a:solidFill>
            <a:prstDash val="solid"/>
          </a:ln>
        </p:spPr>
        <p:txBody>
          <a:bodyPr/>
          <a:lstStyle/>
          <a:p>
            <a:endParaRPr lang="en-US"/>
          </a:p>
        </p:txBody>
      </p:sp>
      <p:sp>
        <p:nvSpPr>
          <p:cNvPr id="33" name="story-loop-link-3-end">
            <a:extLst>
              <a:ext uri="{FF2B5EF4-FFF2-40B4-BE49-F238E27FC236}">
                <a16:creationId xmlns:a16="http://schemas.microsoft.com/office/drawing/2014/main" id="{358EA77F-F812-49D1-A1B6-92463C51C1F8}"/>
              </a:ext>
            </a:extLst>
          </p:cNvPr>
          <p:cNvSpPr>
            <a:spLocks noGrp="1"/>
          </p:cNvSpPr>
          <p:nvPr/>
        </p:nvSpPr>
        <p:spPr>
          <a:xfrm>
            <a:off x="7048500" y="4419600"/>
            <a:ext cx="104775" cy="104775"/>
          </a:xfrm>
          <a:prstGeom prst="ellipse">
            <a:avLst/>
          </a:prstGeom>
          <a:solidFill>
            <a:srgbClr val="B9C3BB"/>
          </a:solidFill>
          <a:ln w="0">
            <a:solidFill>
              <a:srgbClr val="000000">
                <a:alpha val="0"/>
              </a:srgbClr>
            </a:solidFill>
            <a:prstDash val="solid"/>
          </a:ln>
        </p:spPr>
        <p:txBody>
          <a:bodyPr/>
          <a:lstStyle/>
          <a:p>
            <a:endParaRPr lang="en-US"/>
          </a:p>
        </p:txBody>
      </p:sp>
      <p:sp>
        <p:nvSpPr>
          <p:cNvPr id="34" name="story-loop-4">
            <a:extLst>
              <a:ext uri="{FF2B5EF4-FFF2-40B4-BE49-F238E27FC236}">
                <a16:creationId xmlns:a16="http://schemas.microsoft.com/office/drawing/2014/main" id="{F6DC9E55-945F-4592-87AF-CE97D0D9E763}"/>
              </a:ext>
            </a:extLst>
          </p:cNvPr>
          <p:cNvSpPr>
            <a:spLocks noGrp="1"/>
          </p:cNvSpPr>
          <p:nvPr/>
        </p:nvSpPr>
        <p:spPr>
          <a:xfrm>
            <a:off x="7258050" y="4114800"/>
            <a:ext cx="704850" cy="704850"/>
          </a:xfrm>
          <a:prstGeom prst="ellipse">
            <a:avLst/>
          </a:prstGeom>
          <a:solidFill>
            <a:srgbClr val="123C31"/>
          </a:solidFill>
          <a:ln w="0">
            <a:solidFill>
              <a:srgbClr val="000000">
                <a:alpha val="0"/>
              </a:srgbClr>
            </a:solidFill>
            <a:prstDash val="solid"/>
          </a:ln>
        </p:spPr>
        <p:txBody>
          <a:bodyPr/>
          <a:lstStyle/>
          <a:p>
            <a:endParaRPr lang="en-US"/>
          </a:p>
        </p:txBody>
      </p:sp>
      <p:pic>
        <p:nvPicPr>
          <p:cNvPr id="35" name="Graphic 34"/>
          <p:cNvPicPr>
            <a:picLocks noChangeAspect="1"/>
          </p:cNvPicPr>
          <p:nvPr/>
        </p:nvPicPr>
        <p:blipFill>
          <a:blip>
            <a:extLst>
              <a:ext uri="{96DAC541-7B7A-43D3-8B79-37D633B846F1}">
                <asvg:svgBlip xmlns:asvg="http://schemas.microsoft.com/office/drawing/2016/SVG/main" r:embed="rId6"/>
              </a:ext>
            </a:extLst>
          </a:blip>
          <a:stretch/>
        </p:blipFill>
        <p:spPr>
          <a:xfrm>
            <a:off x="7458075" y="4314825"/>
            <a:ext cx="304800" cy="304800"/>
          </a:xfrm>
          <a:prstGeom prst="rect">
            <a:avLst/>
          </a:prstGeom>
        </p:spPr>
      </p:pic>
      <p:sp>
        <p:nvSpPr>
          <p:cNvPr id="36" name="Rectangle 35">
            <a:extLst>
              <a:ext uri="{FF2B5EF4-FFF2-40B4-BE49-F238E27FC236}">
                <a16:creationId xmlns:a16="http://schemas.microsoft.com/office/drawing/2014/main" id="{EAE5F4D1-C7D4-4DA1-BF11-828A3C147FC1}"/>
              </a:ext>
            </a:extLst>
          </p:cNvPr>
          <p:cNvSpPr>
            <a:spLocks noGrp="1"/>
          </p:cNvSpPr>
          <p:nvPr/>
        </p:nvSpPr>
        <p:spPr>
          <a:xfrm>
            <a:off x="7143750" y="4953000"/>
            <a:ext cx="933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17211D"/>
                </a:solidFill>
                <a:latin typeface="Georgia"/>
                <a:ea typeface="Georgia"/>
                <a:cs typeface="Georgia"/>
              </a:defRPr>
            </a:pPr>
            <a:r>
              <a:rPr sz="975" b="1">
                <a:solidFill>
                  <a:srgbClr val="17211D"/>
                </a:solidFill>
                <a:latin typeface="Georgia"/>
                <a:ea typeface="Georgia"/>
                <a:cs typeface="Georgia"/>
              </a:rPr>
              <a:t>Cura</a:t>
            </a:r>
          </a:p>
        </p:txBody>
      </p:sp>
      <p:sp>
        <p:nvSpPr>
          <p:cNvPr id="37" name="story-loop-link-4">
            <a:extLst>
              <a:ext uri="{FF2B5EF4-FFF2-40B4-BE49-F238E27FC236}">
                <a16:creationId xmlns:a16="http://schemas.microsoft.com/office/drawing/2014/main" id="{3FBDE969-E75A-47F8-84D4-94232D6924E6}"/>
              </a:ext>
            </a:extLst>
          </p:cNvPr>
          <p:cNvSpPr>
            <a:spLocks noGrp="1"/>
          </p:cNvSpPr>
          <p:nvPr/>
        </p:nvSpPr>
        <p:spPr>
          <a:xfrm>
            <a:off x="7981950" y="4467225"/>
            <a:ext cx="1257300" cy="19050"/>
          </a:xfrm>
          <a:prstGeom prst="rect">
            <a:avLst/>
          </a:prstGeom>
          <a:solidFill>
            <a:srgbClr val="B9C3BB"/>
          </a:solidFill>
          <a:ln w="0">
            <a:solidFill>
              <a:srgbClr val="000000">
                <a:alpha val="0"/>
              </a:srgbClr>
            </a:solidFill>
            <a:prstDash val="solid"/>
          </a:ln>
        </p:spPr>
        <p:txBody>
          <a:bodyPr/>
          <a:lstStyle/>
          <a:p>
            <a:endParaRPr lang="en-US"/>
          </a:p>
        </p:txBody>
      </p:sp>
      <p:sp>
        <p:nvSpPr>
          <p:cNvPr id="38" name="story-loop-link-4-end">
            <a:extLst>
              <a:ext uri="{FF2B5EF4-FFF2-40B4-BE49-F238E27FC236}">
                <a16:creationId xmlns:a16="http://schemas.microsoft.com/office/drawing/2014/main" id="{BD951EB2-319B-4187-AF03-67D29D2CF72C}"/>
              </a:ext>
            </a:extLst>
          </p:cNvPr>
          <p:cNvSpPr>
            <a:spLocks noGrp="1"/>
          </p:cNvSpPr>
          <p:nvPr/>
        </p:nvSpPr>
        <p:spPr>
          <a:xfrm>
            <a:off x="9182100" y="4419600"/>
            <a:ext cx="104775" cy="104775"/>
          </a:xfrm>
          <a:prstGeom prst="ellipse">
            <a:avLst/>
          </a:prstGeom>
          <a:solidFill>
            <a:srgbClr val="B9C3BB"/>
          </a:solidFill>
          <a:ln w="0">
            <a:solidFill>
              <a:srgbClr val="000000">
                <a:alpha val="0"/>
              </a:srgbClr>
            </a:solidFill>
            <a:prstDash val="solid"/>
          </a:ln>
        </p:spPr>
        <p:txBody>
          <a:bodyPr/>
          <a:lstStyle/>
          <a:p>
            <a:endParaRPr lang="en-US"/>
          </a:p>
        </p:txBody>
      </p:sp>
      <p:sp>
        <p:nvSpPr>
          <p:cNvPr id="39" name="story-loop-5">
            <a:extLst>
              <a:ext uri="{FF2B5EF4-FFF2-40B4-BE49-F238E27FC236}">
                <a16:creationId xmlns:a16="http://schemas.microsoft.com/office/drawing/2014/main" id="{A6FDE821-8694-44A5-A89B-E554378B40BD}"/>
              </a:ext>
            </a:extLst>
          </p:cNvPr>
          <p:cNvSpPr>
            <a:spLocks noGrp="1"/>
          </p:cNvSpPr>
          <p:nvPr/>
        </p:nvSpPr>
        <p:spPr>
          <a:xfrm>
            <a:off x="9391650" y="4114800"/>
            <a:ext cx="704850" cy="704850"/>
          </a:xfrm>
          <a:prstGeom prst="ellipse">
            <a:avLst/>
          </a:prstGeom>
          <a:solidFill>
            <a:srgbClr val="B9D94A"/>
          </a:solidFill>
          <a:ln w="0">
            <a:solidFill>
              <a:srgbClr val="000000">
                <a:alpha val="0"/>
              </a:srgbClr>
            </a:solidFill>
            <a:prstDash val="solid"/>
          </a:ln>
        </p:spPr>
        <p:txBody>
          <a:bodyPr/>
          <a:lstStyle/>
          <a:p>
            <a:endParaRPr lang="en-US"/>
          </a:p>
        </p:txBody>
      </p:sp>
      <p:pic>
        <p:nvPicPr>
          <p:cNvPr id="40" name="Graphic 39"/>
          <p:cNvPicPr>
            <a:picLocks noChangeAspect="1"/>
          </p:cNvPicPr>
          <p:nvPr/>
        </p:nvPicPr>
        <p:blipFill>
          <a:blip>
            <a:extLst>
              <a:ext uri="{96DAC541-7B7A-43D3-8B79-37D633B846F1}">
                <asvg:svgBlip xmlns:asvg="http://schemas.microsoft.com/office/drawing/2016/SVG/main" r:embed="rId7"/>
              </a:ext>
            </a:extLst>
          </a:blip>
          <a:stretch/>
        </p:blipFill>
        <p:spPr>
          <a:xfrm>
            <a:off x="9591675" y="4314825"/>
            <a:ext cx="304800" cy="304800"/>
          </a:xfrm>
          <a:prstGeom prst="rect">
            <a:avLst/>
          </a:prstGeom>
        </p:spPr>
      </p:pic>
      <p:sp>
        <p:nvSpPr>
          <p:cNvPr id="41" name="Rectangle 40">
            <a:extLst>
              <a:ext uri="{FF2B5EF4-FFF2-40B4-BE49-F238E27FC236}">
                <a16:creationId xmlns:a16="http://schemas.microsoft.com/office/drawing/2014/main" id="{F9F177FF-33A6-4F18-921F-8202ED3B0491}"/>
              </a:ext>
            </a:extLst>
          </p:cNvPr>
          <p:cNvSpPr>
            <a:spLocks noGrp="1"/>
          </p:cNvSpPr>
          <p:nvPr/>
        </p:nvSpPr>
        <p:spPr>
          <a:xfrm>
            <a:off x="9277350" y="4953000"/>
            <a:ext cx="933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17211D"/>
                </a:solidFill>
                <a:latin typeface="Georgia"/>
                <a:ea typeface="Georgia"/>
                <a:cs typeface="Georgia"/>
              </a:defRPr>
            </a:pPr>
            <a:r>
              <a:rPr sz="975" b="1">
                <a:solidFill>
                  <a:srgbClr val="17211D"/>
                </a:solidFill>
                <a:latin typeface="Georgia"/>
                <a:ea typeface="Georgia"/>
                <a:cs typeface="Georgia"/>
              </a:rPr>
              <a:t>Decidi</a:t>
            </a:r>
          </a:p>
        </p:txBody>
      </p:sp>
      <p:sp>
        <p:nvSpPr>
          <p:cNvPr id="42" name="technical-transition">
            <a:extLst>
              <a:ext uri="{FF2B5EF4-FFF2-40B4-BE49-F238E27FC236}">
                <a16:creationId xmlns:a16="http://schemas.microsoft.com/office/drawing/2014/main" id="{1E3A8F8D-22CD-4CBF-8AFE-D9FE56512CE2}"/>
              </a:ext>
            </a:extLst>
          </p:cNvPr>
          <p:cNvSpPr>
            <a:spLocks noGrp="1"/>
          </p:cNvSpPr>
          <p:nvPr/>
        </p:nvSpPr>
        <p:spPr>
          <a:xfrm>
            <a:off x="552450" y="5600700"/>
            <a:ext cx="11087100" cy="495300"/>
          </a:xfrm>
          <a:prstGeom prst="roundRect">
            <a:avLst>
              <a:gd name="adj" fmla="val 15385"/>
            </a:avLst>
          </a:prstGeom>
          <a:solidFill>
            <a:srgbClr val="123C31"/>
          </a:solidFill>
          <a:ln w="0">
            <a:solidFill>
              <a:srgbClr val="000000">
                <a:alpha val="0"/>
              </a:srgbClr>
            </a:solidFill>
            <a:prstDash val="solid"/>
          </a:ln>
        </p:spPr>
        <p:txBody>
          <a:bodyPr/>
          <a:lstStyle/>
          <a:p>
            <a:endParaRPr lang="en-US"/>
          </a:p>
        </p:txBody>
      </p:sp>
      <p:sp>
        <p:nvSpPr>
          <p:cNvPr id="43" name="Rectangle 42">
            <a:extLst>
              <a:ext uri="{FF2B5EF4-FFF2-40B4-BE49-F238E27FC236}">
                <a16:creationId xmlns:a16="http://schemas.microsoft.com/office/drawing/2014/main" id="{DA094395-88AE-4445-90A7-DEDED8ABD9EE}"/>
              </a:ext>
            </a:extLst>
          </p:cNvPr>
          <p:cNvSpPr>
            <a:spLocks noGrp="1"/>
          </p:cNvSpPr>
          <p:nvPr/>
        </p:nvSpPr>
        <p:spPr>
          <a:xfrm>
            <a:off x="838200" y="5715000"/>
            <a:ext cx="105156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FFFFFF"/>
                </a:solidFill>
                <a:latin typeface="Georgia"/>
                <a:ea typeface="Georgia"/>
                <a:cs typeface="Georgia"/>
              </a:defRPr>
            </a:pPr>
            <a:r>
              <a:rPr sz="1125" b="1">
                <a:solidFill>
                  <a:srgbClr val="FFFFFF"/>
                </a:solidFill>
                <a:latin typeface="Georgia"/>
                <a:ea typeface="Georgia"/>
                <a:cs typeface="Georgia"/>
              </a:rPr>
              <a:t>Ora separiamo con chiarezza ciò che è AI, ciò che abbiamo addestrato e ciò che è una regola.</a:t>
            </a:r>
          </a:p>
        </p:txBody>
      </p:sp>
      <p:sp>
        <p:nvSpPr>
          <p:cNvPr id="44" name="footer-rule">
            <a:extLst>
              <a:ext uri="{FF2B5EF4-FFF2-40B4-BE49-F238E27FC236}">
                <a16:creationId xmlns:a16="http://schemas.microsoft.com/office/drawing/2014/main" id="{0FE415D5-7EBA-45C6-9219-E710232125D1}"/>
              </a:ext>
            </a:extLst>
          </p:cNvPr>
          <p:cNvSpPr>
            <a:spLocks noGrp="1"/>
          </p:cNvSpPr>
          <p:nvPr/>
        </p:nvSpPr>
        <p:spPr>
          <a:xfrm>
            <a:off x="552450" y="6457950"/>
            <a:ext cx="11087100" cy="9525"/>
          </a:xfrm>
          <a:prstGeom prst="rect">
            <a:avLst/>
          </a:prstGeom>
          <a:solidFill>
            <a:srgbClr val="B9C3BB"/>
          </a:solidFill>
          <a:ln w="0">
            <a:solidFill>
              <a:srgbClr val="000000">
                <a:alpha val="0"/>
              </a:srgbClr>
            </a:solidFill>
            <a:prstDash val="solid"/>
          </a:ln>
        </p:spPr>
        <p:txBody>
          <a:bodyPr/>
          <a:lstStyle/>
          <a:p>
            <a:endParaRPr lang="en-US"/>
          </a:p>
        </p:txBody>
      </p:sp>
      <p:sp>
        <p:nvSpPr>
          <p:cNvPr id="45" name="footer-source">
            <a:extLst>
              <a:ext uri="{FF2B5EF4-FFF2-40B4-BE49-F238E27FC236}">
                <a16:creationId xmlns:a16="http://schemas.microsoft.com/office/drawing/2014/main" id="{A7B75475-EBF1-43A9-9B39-EB299DCE0255}"/>
              </a:ext>
            </a:extLst>
          </p:cNvPr>
          <p:cNvSpPr>
            <a:spLocks noGrp="1"/>
          </p:cNvSpPr>
          <p:nvPr/>
        </p:nvSpPr>
        <p:spPr>
          <a:xfrm>
            <a:off x="552450" y="6534150"/>
            <a:ext cx="10001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65736B"/>
                </a:solidFill>
                <a:latin typeface="Aptos"/>
                <a:ea typeface="Aptos"/>
                <a:cs typeface="Aptos"/>
              </a:defRPr>
            </a:pPr>
            <a:r>
              <a:rPr sz="563" b="0">
                <a:solidFill>
                  <a:srgbClr val="65736B"/>
                </a:solidFill>
                <a:latin typeface="Aptos"/>
                <a:ea typeface="Aptos"/>
                <a:cs typeface="Aptos"/>
              </a:rPr>
              <a:t>Dataset locale dimostrativo: 12 capi, 148 eventi, 2 ghost, 2 azioni circolari</a:t>
            </a:r>
          </a:p>
        </p:txBody>
      </p:sp>
      <p:sp>
        <p:nvSpPr>
          <p:cNvPr id="46" name="page-marker">
            <a:extLst>
              <a:ext uri="{FF2B5EF4-FFF2-40B4-BE49-F238E27FC236}">
                <a16:creationId xmlns:a16="http://schemas.microsoft.com/office/drawing/2014/main" id="{6176AD9E-E95C-4957-9CBF-E1D58E10699E}"/>
              </a:ext>
            </a:extLst>
          </p:cNvPr>
          <p:cNvSpPr>
            <a:spLocks noGrp="1"/>
          </p:cNvSpPr>
          <p:nvPr/>
        </p:nvSpPr>
        <p:spPr>
          <a:xfrm>
            <a:off x="11087100" y="6505575"/>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65736B"/>
                </a:solidFill>
                <a:latin typeface="Georgia"/>
                <a:ea typeface="Georgia"/>
                <a:cs typeface="Georgia"/>
              </a:defRPr>
            </a:pPr>
            <a:r>
              <a:rPr sz="750" b="1">
                <a:solidFill>
                  <a:srgbClr val="65736B"/>
                </a:solidFill>
                <a:latin typeface="Georgia"/>
                <a:ea typeface="Georgia"/>
                <a:cs typeface="Georgia"/>
              </a:rPr>
              <a:t>10</a:t>
            </a:r>
          </a:p>
        </p:txBody>
      </p:sp>
    </p:spTree>
    <p:extLst>
      <p:ext uri="{BB962C8B-B14F-4D97-AF65-F5344CB8AC3E}">
        <p14:creationId xmlns:p14="http://schemas.microsoft.com/office/powerpoint/2010/main" val="23920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C2D9A-1693-89C4-A3EA-D421ACDDD3FC}"/>
            </a:ext>
          </a:extLst>
        </p:cNvPr>
        <p:cNvGrpSpPr/>
        <p:nvPr/>
      </p:nvGrpSpPr>
      <p:grpSpPr>
        <a:xfrm>
          <a:off x="0" y="0"/>
          <a:ext cx="0" cy="0"/>
          <a:chOff x="0" y="0"/>
          <a:chExt cx="0" cy="0"/>
        </a:xfrm>
      </p:grpSpPr>
      <p:sp>
        <p:nvSpPr>
          <p:cNvPr id="43" name="background">
            <a:extLst>
              <a:ext uri="{FF2B5EF4-FFF2-40B4-BE49-F238E27FC236}">
                <a16:creationId xmlns:a16="http://schemas.microsoft.com/office/drawing/2014/main" id="{1235A184-F244-B98A-B0B3-7D5BA43D9A43}"/>
              </a:ext>
            </a:extLst>
          </p:cNvPr>
          <p:cNvSpPr>
            <a:spLocks noGrp="1"/>
          </p:cNvSpPr>
          <p:nvPr/>
        </p:nvSpPr>
        <p:spPr>
          <a:xfrm>
            <a:off x="0" y="4762"/>
            <a:ext cx="12192000" cy="6858000"/>
          </a:xfrm>
          <a:prstGeom prst="rect">
            <a:avLst/>
          </a:prstGeom>
          <a:solidFill>
            <a:srgbClr val="123C31"/>
          </a:solidFill>
          <a:ln w="0">
            <a:solidFill>
              <a:srgbClr val="000000">
                <a:alpha val="0"/>
              </a:srgbClr>
            </a:solidFill>
            <a:prstDash val="solid"/>
          </a:ln>
        </p:spPr>
        <p:txBody>
          <a:bodyPr/>
          <a:lstStyle/>
          <a:p>
            <a:endParaRPr lang="en-US"/>
          </a:p>
        </p:txBody>
      </p:sp>
      <p:sp>
        <p:nvSpPr>
          <p:cNvPr id="2" name="kicker-marker">
            <a:extLst>
              <a:ext uri="{FF2B5EF4-FFF2-40B4-BE49-F238E27FC236}">
                <a16:creationId xmlns:a16="http://schemas.microsoft.com/office/drawing/2014/main" id="{63C7DCD6-023F-2C04-2E3B-28CC5A72180F}"/>
              </a:ext>
            </a:extLst>
          </p:cNvPr>
          <p:cNvSpPr>
            <a:spLocks noGrp="1"/>
          </p:cNvSpPr>
          <p:nvPr/>
        </p:nvSpPr>
        <p:spPr>
          <a:xfrm>
            <a:off x="552450" y="400050"/>
            <a:ext cx="95250" cy="95250"/>
          </a:xfrm>
          <a:prstGeom prst="ellipse">
            <a:avLst/>
          </a:prstGeom>
          <a:solidFill>
            <a:srgbClr val="B9D94A"/>
          </a:solidFill>
          <a:ln w="0">
            <a:solidFill>
              <a:srgbClr val="000000">
                <a:alpha val="0"/>
              </a:srgbClr>
            </a:solidFill>
            <a:prstDash val="solid"/>
          </a:ln>
        </p:spPr>
        <p:txBody>
          <a:bodyPr/>
          <a:lstStyle/>
          <a:p>
            <a:endParaRPr lang="en-US"/>
          </a:p>
        </p:txBody>
      </p:sp>
      <p:sp>
        <p:nvSpPr>
          <p:cNvPr id="3" name="kicker-label">
            <a:extLst>
              <a:ext uri="{FF2B5EF4-FFF2-40B4-BE49-F238E27FC236}">
                <a16:creationId xmlns:a16="http://schemas.microsoft.com/office/drawing/2014/main" id="{B402C7BE-1F65-6A28-5064-26D4B91B3752}"/>
              </a:ext>
            </a:extLst>
          </p:cNvPr>
          <p:cNvSpPr>
            <a:spLocks noGrp="1"/>
          </p:cNvSpPr>
          <p:nvPr/>
        </p:nvSpPr>
        <p:spPr>
          <a:xfrm>
            <a:off x="762000" y="361950"/>
            <a:ext cx="571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DDE5DD"/>
                </a:solidFill>
                <a:latin typeface="Aptos"/>
                <a:ea typeface="Aptos"/>
                <a:cs typeface="Aptos"/>
              </a:defRPr>
            </a:pPr>
            <a:r>
              <a:rPr sz="675" b="1">
                <a:solidFill>
                  <a:srgbClr val="DDE5DD"/>
                </a:solidFill>
                <a:latin typeface="Aptos"/>
                <a:ea typeface="Aptos"/>
                <a:cs typeface="Aptos"/>
              </a:rPr>
              <a:t>U S E R   S T O R Y   ·   7 .   A L L U N G A R E   L A   V I T A</a:t>
            </a:r>
          </a:p>
        </p:txBody>
      </p:sp>
      <p:sp>
        <p:nvSpPr>
          <p:cNvPr id="4" name="claim-title">
            <a:extLst>
              <a:ext uri="{FF2B5EF4-FFF2-40B4-BE49-F238E27FC236}">
                <a16:creationId xmlns:a16="http://schemas.microsoft.com/office/drawing/2014/main" id="{B0E19890-CA16-2283-0996-6C30A7296ED4}"/>
              </a:ext>
            </a:extLst>
          </p:cNvPr>
          <p:cNvSpPr>
            <a:spLocks noGrp="1"/>
          </p:cNvSpPr>
          <p:nvPr/>
        </p:nvSpPr>
        <p:spPr>
          <a:xfrm>
            <a:off x="552450" y="723900"/>
            <a:ext cx="10287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075" b="1">
                <a:solidFill>
                  <a:srgbClr val="FFFFFF"/>
                </a:solidFill>
                <a:latin typeface="Georgia"/>
                <a:ea typeface="Georgia"/>
                <a:cs typeface="Georgia"/>
              </a:defRPr>
            </a:pPr>
            <a:r>
              <a:rPr lang="it-IT" sz="3075" b="1" dirty="0">
                <a:solidFill>
                  <a:srgbClr val="FFFFFF"/>
                </a:solidFill>
                <a:latin typeface="Georgia"/>
                <a:ea typeface="Georgia"/>
                <a:cs typeface="Georgia"/>
              </a:rPr>
              <a:t>DEMO Web App</a:t>
            </a:r>
            <a:endParaRPr sz="3075" b="1" dirty="0">
              <a:solidFill>
                <a:srgbClr val="FFFFFF"/>
              </a:solidFill>
              <a:latin typeface="Georgia"/>
              <a:ea typeface="Georgia"/>
              <a:cs typeface="Georgia"/>
            </a:endParaRPr>
          </a:p>
        </p:txBody>
      </p:sp>
      <p:sp>
        <p:nvSpPr>
          <p:cNvPr id="31" name="Rectangle 30">
            <a:extLst>
              <a:ext uri="{FF2B5EF4-FFF2-40B4-BE49-F238E27FC236}">
                <a16:creationId xmlns:a16="http://schemas.microsoft.com/office/drawing/2014/main" id="{2641CEC5-7EBD-F083-26DC-F8C730F9F9DB}"/>
              </a:ext>
            </a:extLst>
          </p:cNvPr>
          <p:cNvSpPr>
            <a:spLocks noGrp="1"/>
          </p:cNvSpPr>
          <p:nvPr/>
        </p:nvSpPr>
        <p:spPr>
          <a:xfrm>
            <a:off x="7353300" y="2971800"/>
            <a:ext cx="1200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23C31"/>
                </a:solidFill>
                <a:latin typeface="Georgia"/>
                <a:ea typeface="Georgia"/>
                <a:cs typeface="Georgia"/>
              </a:defRPr>
            </a:pPr>
            <a:r>
              <a:rPr sz="1350" b="1">
                <a:solidFill>
                  <a:srgbClr val="123C31"/>
                </a:solidFill>
                <a:latin typeface="Georgia"/>
                <a:ea typeface="Georgia"/>
                <a:cs typeface="Georgia"/>
              </a:rPr>
              <a:t>media della</a:t>
            </a:r>
          </a:p>
          <a:p>
            <a:pPr algn="ctr">
              <a:defRPr sz="1350" b="1">
                <a:solidFill>
                  <a:srgbClr val="123C31"/>
                </a:solidFill>
                <a:latin typeface="Georgia"/>
                <a:ea typeface="Georgia"/>
                <a:cs typeface="Georgia"/>
              </a:defRPr>
            </a:pPr>
            <a:r>
              <a:rPr sz="1350" b="1">
                <a:solidFill>
                  <a:srgbClr val="123C31"/>
                </a:solidFill>
                <a:latin typeface="Georgia"/>
                <a:ea typeface="Georgia"/>
                <a:cs typeface="Georgia"/>
              </a:rPr>
              <a:t>categoria</a:t>
            </a:r>
          </a:p>
        </p:txBody>
      </p:sp>
      <p:sp>
        <p:nvSpPr>
          <p:cNvPr id="32" name="Rectangle 31">
            <a:extLst>
              <a:ext uri="{FF2B5EF4-FFF2-40B4-BE49-F238E27FC236}">
                <a16:creationId xmlns:a16="http://schemas.microsoft.com/office/drawing/2014/main" id="{3F09BAA3-0E7F-CCC2-4489-3D4BA2BBF74D}"/>
              </a:ext>
            </a:extLst>
          </p:cNvPr>
          <p:cNvSpPr>
            <a:spLocks noGrp="1"/>
          </p:cNvSpPr>
          <p:nvPr/>
        </p:nvSpPr>
        <p:spPr>
          <a:xfrm>
            <a:off x="8724900" y="3086100"/>
            <a:ext cx="361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250" b="1">
                <a:solidFill>
                  <a:srgbClr val="D56E42"/>
                </a:solidFill>
                <a:latin typeface="Georgia"/>
                <a:ea typeface="Georgia"/>
                <a:cs typeface="Georgia"/>
              </a:defRPr>
            </a:pPr>
            <a:endParaRPr sz="2250" b="1" dirty="0">
              <a:solidFill>
                <a:srgbClr val="D56E42"/>
              </a:solidFill>
              <a:latin typeface="Georgia"/>
              <a:ea typeface="Georgia"/>
              <a:cs typeface="Georgia"/>
            </a:endParaRPr>
          </a:p>
        </p:txBody>
      </p:sp>
      <p:sp>
        <p:nvSpPr>
          <p:cNvPr id="33" name="Rectangle 32">
            <a:extLst>
              <a:ext uri="{FF2B5EF4-FFF2-40B4-BE49-F238E27FC236}">
                <a16:creationId xmlns:a16="http://schemas.microsoft.com/office/drawing/2014/main" id="{CB7BC439-EFA8-014C-C1F4-7C2EF3DD2561}"/>
              </a:ext>
            </a:extLst>
          </p:cNvPr>
          <p:cNvSpPr>
            <a:spLocks noGrp="1"/>
          </p:cNvSpPr>
          <p:nvPr/>
        </p:nvSpPr>
        <p:spPr>
          <a:xfrm>
            <a:off x="9258300" y="2971800"/>
            <a:ext cx="1200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23C31"/>
                </a:solidFill>
                <a:latin typeface="Georgia"/>
                <a:ea typeface="Georgia"/>
                <a:cs typeface="Georgia"/>
              </a:defRPr>
            </a:pPr>
            <a:r>
              <a:rPr sz="1350" b="1">
                <a:solidFill>
                  <a:srgbClr val="123C31"/>
                </a:solidFill>
                <a:latin typeface="Georgia"/>
                <a:ea typeface="Georgia"/>
                <a:cs typeface="Georgia"/>
              </a:rPr>
              <a:t>fattore</a:t>
            </a:r>
          </a:p>
          <a:p>
            <a:pPr algn="ctr">
              <a:defRPr sz="1350" b="1">
                <a:solidFill>
                  <a:srgbClr val="123C31"/>
                </a:solidFill>
                <a:latin typeface="Georgia"/>
                <a:ea typeface="Georgia"/>
                <a:cs typeface="Georgia"/>
              </a:defRPr>
            </a:pPr>
            <a:r>
              <a:rPr sz="1350" b="1">
                <a:solidFill>
                  <a:srgbClr val="123C31"/>
                </a:solidFill>
                <a:latin typeface="Georgia"/>
                <a:ea typeface="Georgia"/>
                <a:cs typeface="Georgia"/>
              </a:rPr>
              <a:t>dell’azione</a:t>
            </a:r>
          </a:p>
        </p:txBody>
      </p:sp>
      <p:sp>
        <p:nvSpPr>
          <p:cNvPr id="34" name="Rectangle 33">
            <a:extLst>
              <a:ext uri="{FF2B5EF4-FFF2-40B4-BE49-F238E27FC236}">
                <a16:creationId xmlns:a16="http://schemas.microsoft.com/office/drawing/2014/main" id="{F908B0D6-3557-162A-9FEF-1E3920E542B2}"/>
              </a:ext>
            </a:extLst>
          </p:cNvPr>
          <p:cNvSpPr>
            <a:spLocks noGrp="1"/>
          </p:cNvSpPr>
          <p:nvPr/>
        </p:nvSpPr>
        <p:spPr>
          <a:xfrm>
            <a:off x="10572750" y="3086100"/>
            <a:ext cx="361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025" b="1">
                <a:solidFill>
                  <a:srgbClr val="65736B"/>
                </a:solidFill>
                <a:latin typeface="Georgia"/>
                <a:ea typeface="Georgia"/>
                <a:cs typeface="Georgia"/>
              </a:defRPr>
            </a:pPr>
            <a:endParaRPr sz="2025" b="1" dirty="0">
              <a:solidFill>
                <a:srgbClr val="65736B"/>
              </a:solidFill>
              <a:latin typeface="Georgia"/>
              <a:ea typeface="Georgia"/>
              <a:cs typeface="Georgia"/>
            </a:endParaRPr>
          </a:p>
        </p:txBody>
      </p:sp>
      <p:sp>
        <p:nvSpPr>
          <p:cNvPr id="40" name="footer-rule">
            <a:extLst>
              <a:ext uri="{FF2B5EF4-FFF2-40B4-BE49-F238E27FC236}">
                <a16:creationId xmlns:a16="http://schemas.microsoft.com/office/drawing/2014/main" id="{EADE5A59-314B-5FAC-A5E1-A5B6948600D0}"/>
              </a:ext>
            </a:extLst>
          </p:cNvPr>
          <p:cNvSpPr>
            <a:spLocks noGrp="1"/>
          </p:cNvSpPr>
          <p:nvPr/>
        </p:nvSpPr>
        <p:spPr>
          <a:xfrm>
            <a:off x="552450" y="6457950"/>
            <a:ext cx="11087100" cy="9525"/>
          </a:xfrm>
          <a:prstGeom prst="rect">
            <a:avLst/>
          </a:prstGeom>
          <a:solidFill>
            <a:srgbClr val="3F685A"/>
          </a:solidFill>
          <a:ln w="0">
            <a:solidFill>
              <a:srgbClr val="000000">
                <a:alpha val="0"/>
              </a:srgbClr>
            </a:solidFill>
            <a:prstDash val="solid"/>
          </a:ln>
        </p:spPr>
        <p:txBody>
          <a:bodyPr/>
          <a:lstStyle/>
          <a:p>
            <a:endParaRPr lang="en-US"/>
          </a:p>
        </p:txBody>
      </p:sp>
      <p:sp>
        <p:nvSpPr>
          <p:cNvPr id="41" name="footer-source">
            <a:extLst>
              <a:ext uri="{FF2B5EF4-FFF2-40B4-BE49-F238E27FC236}">
                <a16:creationId xmlns:a16="http://schemas.microsoft.com/office/drawing/2014/main" id="{BF54DC52-75FB-7EDE-B0C6-0A57B9377573}"/>
              </a:ext>
            </a:extLst>
          </p:cNvPr>
          <p:cNvSpPr>
            <a:spLocks noGrp="1"/>
          </p:cNvSpPr>
          <p:nvPr/>
        </p:nvSpPr>
        <p:spPr>
          <a:xfrm>
            <a:off x="552450" y="6534150"/>
            <a:ext cx="10001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8FA99E"/>
                </a:solidFill>
                <a:latin typeface="Aptos"/>
                <a:ea typeface="Aptos"/>
                <a:cs typeface="Aptos"/>
              </a:defRPr>
            </a:pPr>
            <a:r>
              <a:rPr sz="563" b="0">
                <a:solidFill>
                  <a:srgbClr val="8FA99E"/>
                </a:solidFill>
                <a:latin typeface="Aptos"/>
                <a:ea typeface="Aptos"/>
                <a:cs typeface="Aptos"/>
              </a:rPr>
              <a:t>Azioni: riparazione · vendita · donazione · riciclo · stima CO₂eq di scenario</a:t>
            </a:r>
          </a:p>
        </p:txBody>
      </p:sp>
      <p:sp>
        <p:nvSpPr>
          <p:cNvPr id="42" name="page-marker">
            <a:extLst>
              <a:ext uri="{FF2B5EF4-FFF2-40B4-BE49-F238E27FC236}">
                <a16:creationId xmlns:a16="http://schemas.microsoft.com/office/drawing/2014/main" id="{5C0FD9EA-8E25-2BBE-2865-F3FC65D07F6D}"/>
              </a:ext>
            </a:extLst>
          </p:cNvPr>
          <p:cNvSpPr>
            <a:spLocks noGrp="1"/>
          </p:cNvSpPr>
          <p:nvPr/>
        </p:nvSpPr>
        <p:spPr>
          <a:xfrm>
            <a:off x="11087100" y="6505575"/>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8FA99E"/>
                </a:solidFill>
                <a:latin typeface="Georgia"/>
                <a:ea typeface="Georgia"/>
                <a:cs typeface="Georgia"/>
              </a:defRPr>
            </a:pPr>
            <a:r>
              <a:rPr sz="750" b="1">
                <a:solidFill>
                  <a:srgbClr val="8FA99E"/>
                </a:solidFill>
                <a:latin typeface="Georgia"/>
                <a:ea typeface="Georgia"/>
                <a:cs typeface="Georgia"/>
              </a:rPr>
              <a:t>09</a:t>
            </a:r>
          </a:p>
        </p:txBody>
      </p:sp>
    </p:spTree>
    <p:extLst>
      <p:ext uri="{BB962C8B-B14F-4D97-AF65-F5344CB8AC3E}">
        <p14:creationId xmlns:p14="http://schemas.microsoft.com/office/powerpoint/2010/main" val="1341697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background">
            <a:extLst>
              <a:ext uri="{FF2B5EF4-FFF2-40B4-BE49-F238E27FC236}">
                <a16:creationId xmlns:a16="http://schemas.microsoft.com/office/drawing/2014/main" id="{E6BFE7C4-276E-4FCB-8654-4EDF24234A40}"/>
              </a:ext>
            </a:extLst>
          </p:cNvPr>
          <p:cNvSpPr>
            <a:spLocks noGrp="1"/>
          </p:cNvSpPr>
          <p:nvPr/>
        </p:nvSpPr>
        <p:spPr>
          <a:xfrm>
            <a:off x="0" y="0"/>
            <a:ext cx="12192000" cy="6858000"/>
          </a:xfrm>
          <a:prstGeom prst="rect">
            <a:avLst/>
          </a:prstGeom>
          <a:solidFill>
            <a:srgbClr val="123C31"/>
          </a:solidFill>
          <a:ln w="0">
            <a:solidFill>
              <a:srgbClr val="000000">
                <a:alpha val="0"/>
              </a:srgbClr>
            </a:solidFill>
            <a:prstDash val="solid"/>
          </a:ln>
        </p:spPr>
        <p:txBody>
          <a:bodyPr/>
          <a:lstStyle/>
          <a:p>
            <a:endParaRPr lang="en-US"/>
          </a:p>
        </p:txBody>
      </p:sp>
      <p:sp>
        <p:nvSpPr>
          <p:cNvPr id="2" name="kicker-marker">
            <a:extLst>
              <a:ext uri="{FF2B5EF4-FFF2-40B4-BE49-F238E27FC236}">
                <a16:creationId xmlns:a16="http://schemas.microsoft.com/office/drawing/2014/main" id="{4DB0F946-A97C-4F07-A9EB-A0B12CBE8124}"/>
              </a:ext>
            </a:extLst>
          </p:cNvPr>
          <p:cNvSpPr>
            <a:spLocks noGrp="1"/>
          </p:cNvSpPr>
          <p:nvPr/>
        </p:nvSpPr>
        <p:spPr>
          <a:xfrm>
            <a:off x="552450" y="400050"/>
            <a:ext cx="95250" cy="95250"/>
          </a:xfrm>
          <a:prstGeom prst="ellipse">
            <a:avLst/>
          </a:prstGeom>
          <a:solidFill>
            <a:srgbClr val="B9D94A"/>
          </a:solidFill>
          <a:ln w="0">
            <a:solidFill>
              <a:srgbClr val="000000">
                <a:alpha val="0"/>
              </a:srgbClr>
            </a:solidFill>
            <a:prstDash val="solid"/>
          </a:ln>
        </p:spPr>
        <p:txBody>
          <a:bodyPr/>
          <a:lstStyle/>
          <a:p>
            <a:endParaRPr lang="en-US"/>
          </a:p>
        </p:txBody>
      </p:sp>
      <p:sp>
        <p:nvSpPr>
          <p:cNvPr id="3" name="kicker-label">
            <a:extLst>
              <a:ext uri="{FF2B5EF4-FFF2-40B4-BE49-F238E27FC236}">
                <a16:creationId xmlns:a16="http://schemas.microsoft.com/office/drawing/2014/main" id="{389CBE56-2CA6-49E2-9DD8-B9CD4CA5FE4F}"/>
              </a:ext>
            </a:extLst>
          </p:cNvPr>
          <p:cNvSpPr>
            <a:spLocks noGrp="1"/>
          </p:cNvSpPr>
          <p:nvPr/>
        </p:nvSpPr>
        <p:spPr>
          <a:xfrm>
            <a:off x="762000" y="361950"/>
            <a:ext cx="571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DDE5DD"/>
                </a:solidFill>
                <a:latin typeface="Aptos"/>
                <a:ea typeface="Aptos"/>
                <a:cs typeface="Aptos"/>
              </a:defRPr>
            </a:pPr>
            <a:r>
              <a:rPr sz="675" b="1">
                <a:solidFill>
                  <a:srgbClr val="DDE5DD"/>
                </a:solidFill>
                <a:latin typeface="Aptos"/>
                <a:ea typeface="Aptos"/>
                <a:cs typeface="Aptos"/>
              </a:rPr>
              <a:t>S C E L T E   T E C N I C H E   ·   L A   M A P P A</a:t>
            </a:r>
          </a:p>
        </p:txBody>
      </p:sp>
      <p:sp>
        <p:nvSpPr>
          <p:cNvPr id="4" name="claim-title">
            <a:extLst>
              <a:ext uri="{FF2B5EF4-FFF2-40B4-BE49-F238E27FC236}">
                <a16:creationId xmlns:a16="http://schemas.microsoft.com/office/drawing/2014/main" id="{BB3A3375-BE43-4EEB-A308-E27B340F10F9}"/>
              </a:ext>
            </a:extLst>
          </p:cNvPr>
          <p:cNvSpPr>
            <a:spLocks noGrp="1"/>
          </p:cNvSpPr>
          <p:nvPr/>
        </p:nvSpPr>
        <p:spPr>
          <a:xfrm>
            <a:off x="552450" y="723900"/>
            <a:ext cx="104775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075" b="1">
                <a:solidFill>
                  <a:srgbClr val="FFFFFF"/>
                </a:solidFill>
                <a:latin typeface="Georgia"/>
                <a:ea typeface="Georgia"/>
                <a:cs typeface="Georgia"/>
              </a:defRPr>
            </a:pPr>
            <a:r>
              <a:rPr sz="3075" b="1">
                <a:solidFill>
                  <a:srgbClr val="FFFFFF"/>
                </a:solidFill>
                <a:latin typeface="Georgia"/>
                <a:ea typeface="Georgia"/>
                <a:cs typeface="Georgia"/>
              </a:rPr>
              <a:t>Non tutta l’intelligenza dell’app è la stessa cosa.</a:t>
            </a:r>
          </a:p>
        </p:txBody>
      </p:sp>
      <p:sp>
        <p:nvSpPr>
          <p:cNvPr id="5" name="ai-lane-1">
            <a:extLst>
              <a:ext uri="{FF2B5EF4-FFF2-40B4-BE49-F238E27FC236}">
                <a16:creationId xmlns:a16="http://schemas.microsoft.com/office/drawing/2014/main" id="{1AAB8BB8-9C4B-4620-BF4F-5623052152F6}"/>
              </a:ext>
            </a:extLst>
          </p:cNvPr>
          <p:cNvSpPr>
            <a:spLocks noGrp="1"/>
          </p:cNvSpPr>
          <p:nvPr/>
        </p:nvSpPr>
        <p:spPr>
          <a:xfrm>
            <a:off x="552450" y="1847850"/>
            <a:ext cx="11087100" cy="838200"/>
          </a:xfrm>
          <a:prstGeom prst="roundRect">
            <a:avLst>
              <a:gd name="adj" fmla="val 9091"/>
            </a:avLst>
          </a:prstGeom>
          <a:solidFill>
            <a:srgbClr val="1B4A3C"/>
          </a:solidFill>
          <a:ln w="9525">
            <a:solidFill>
              <a:srgbClr val="466D60"/>
            </a:solidFill>
            <a:prstDash val="solid"/>
          </a:ln>
        </p:spPr>
        <p:txBody>
          <a:bodyPr/>
          <a:lstStyle/>
          <a:p>
            <a:endParaRPr lang="en-US"/>
          </a:p>
        </p:txBody>
      </p:sp>
      <p:sp>
        <p:nvSpPr>
          <p:cNvPr id="6" name="Oval 5">
            <a:extLst>
              <a:ext uri="{FF2B5EF4-FFF2-40B4-BE49-F238E27FC236}">
                <a16:creationId xmlns:a16="http://schemas.microsoft.com/office/drawing/2014/main" id="{9C9E4249-24BD-41B9-B13C-965217F77797}"/>
              </a:ext>
            </a:extLst>
          </p:cNvPr>
          <p:cNvSpPr>
            <a:spLocks noGrp="1"/>
          </p:cNvSpPr>
          <p:nvPr/>
        </p:nvSpPr>
        <p:spPr>
          <a:xfrm>
            <a:off x="781050" y="2019300"/>
            <a:ext cx="495300" cy="495300"/>
          </a:xfrm>
          <a:prstGeom prst="ellipse">
            <a:avLst/>
          </a:prstGeom>
          <a:solidFill>
            <a:srgbClr val="466D86"/>
          </a:solidFill>
          <a:ln w="0">
            <a:solidFill>
              <a:srgbClr val="000000">
                <a:alpha val="0"/>
              </a:srgbClr>
            </a:solidFill>
            <a:prstDash val="solid"/>
          </a:ln>
        </p:spPr>
        <p:txBody>
          <a:bodyPr/>
          <a:lstStyle/>
          <a:p>
            <a:endParaRPr lang="en-US"/>
          </a:p>
        </p:txBody>
      </p:sp>
      <p:pic>
        <p:nvPicPr>
          <p:cNvPr id="7" name="Graphic 6"/>
          <p:cNvPicPr>
            <a:picLocks noChangeAspect="1"/>
          </p:cNvPicPr>
          <p:nvPr/>
        </p:nvPicPr>
        <p:blipFill>
          <a:blip>
            <a:extLst>
              <a:ext uri="{96DAC541-7B7A-43D3-8B79-37D633B846F1}">
                <asvg:svgBlip xmlns:asvg="http://schemas.microsoft.com/office/drawing/2016/SVG/main" r:embed="rId3"/>
              </a:ext>
            </a:extLst>
          </a:blip>
          <a:stretch/>
        </p:blipFill>
        <p:spPr>
          <a:xfrm>
            <a:off x="904875" y="2143125"/>
            <a:ext cx="247650" cy="247650"/>
          </a:xfrm>
          <a:prstGeom prst="rect">
            <a:avLst/>
          </a:prstGeom>
        </p:spPr>
      </p:pic>
      <p:sp>
        <p:nvSpPr>
          <p:cNvPr id="8" name="Rectangle 7">
            <a:extLst>
              <a:ext uri="{FF2B5EF4-FFF2-40B4-BE49-F238E27FC236}">
                <a16:creationId xmlns:a16="http://schemas.microsoft.com/office/drawing/2014/main" id="{F05855FD-D280-4048-8885-5B597548A66F}"/>
              </a:ext>
            </a:extLst>
          </p:cNvPr>
          <p:cNvSpPr>
            <a:spLocks noGrp="1"/>
          </p:cNvSpPr>
          <p:nvPr/>
        </p:nvSpPr>
        <p:spPr>
          <a:xfrm>
            <a:off x="1428750" y="1981200"/>
            <a:ext cx="3238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466D86"/>
                </a:solidFill>
                <a:latin typeface="Georgia"/>
                <a:ea typeface="Georgia"/>
                <a:cs typeface="Georgia"/>
              </a:defRPr>
            </a:pPr>
            <a:r>
              <a:rPr sz="2175" b="1">
                <a:solidFill>
                  <a:srgbClr val="466D86"/>
                </a:solidFill>
                <a:latin typeface="Georgia"/>
                <a:ea typeface="Georgia"/>
                <a:cs typeface="Georgia"/>
              </a:rPr>
              <a:t>1</a:t>
            </a:r>
          </a:p>
        </p:txBody>
      </p:sp>
      <p:sp>
        <p:nvSpPr>
          <p:cNvPr id="9" name="Rectangle 8">
            <a:extLst>
              <a:ext uri="{FF2B5EF4-FFF2-40B4-BE49-F238E27FC236}">
                <a16:creationId xmlns:a16="http://schemas.microsoft.com/office/drawing/2014/main" id="{9F76299A-8922-451B-AC85-10119D5FCFA9}"/>
              </a:ext>
            </a:extLst>
          </p:cNvPr>
          <p:cNvSpPr>
            <a:spLocks noGrp="1"/>
          </p:cNvSpPr>
          <p:nvPr/>
        </p:nvSpPr>
        <p:spPr>
          <a:xfrm>
            <a:off x="1962150" y="2019300"/>
            <a:ext cx="24193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FFFFFF"/>
                </a:solidFill>
                <a:latin typeface="Georgia"/>
                <a:ea typeface="Georgia"/>
                <a:cs typeface="Georgia"/>
              </a:defRPr>
            </a:pPr>
            <a:r>
              <a:rPr sz="1575" b="1">
                <a:solidFill>
                  <a:srgbClr val="FFFFFF"/>
                </a:solidFill>
                <a:latin typeface="Georgia"/>
                <a:ea typeface="Georgia"/>
                <a:cs typeface="Georgia"/>
              </a:rPr>
              <a:t>Pre-addestrato</a:t>
            </a:r>
          </a:p>
        </p:txBody>
      </p:sp>
      <p:sp>
        <p:nvSpPr>
          <p:cNvPr id="10" name="Rectangle 9">
            <a:extLst>
              <a:ext uri="{FF2B5EF4-FFF2-40B4-BE49-F238E27FC236}">
                <a16:creationId xmlns:a16="http://schemas.microsoft.com/office/drawing/2014/main" id="{411B28ED-FF40-4F74-A825-EEC2D736E5EC}"/>
              </a:ext>
            </a:extLst>
          </p:cNvPr>
          <p:cNvSpPr>
            <a:spLocks noGrp="1"/>
          </p:cNvSpPr>
          <p:nvPr/>
        </p:nvSpPr>
        <p:spPr>
          <a:xfrm>
            <a:off x="4667250" y="2019300"/>
            <a:ext cx="4171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DDE5DD"/>
                </a:solidFill>
                <a:latin typeface="Aptos"/>
                <a:ea typeface="Aptos"/>
                <a:cs typeface="Aptos"/>
              </a:defRPr>
            </a:pPr>
            <a:r>
              <a:rPr sz="1050" b="0">
                <a:solidFill>
                  <a:srgbClr val="DDE5DD"/>
                </a:solidFill>
                <a:latin typeface="Aptos"/>
                <a:ea typeface="Aptos"/>
                <a:cs typeface="Aptos"/>
              </a:rPr>
              <a:t>Fashion-CLIP legge le immagini</a:t>
            </a:r>
          </a:p>
        </p:txBody>
      </p:sp>
      <p:sp>
        <p:nvSpPr>
          <p:cNvPr id="11" name="Rectangle: Rounded Corners 10">
            <a:extLst>
              <a:ext uri="{FF2B5EF4-FFF2-40B4-BE49-F238E27FC236}">
                <a16:creationId xmlns:a16="http://schemas.microsoft.com/office/drawing/2014/main" id="{C77011F6-ACE5-43A5-854A-5D1BBCFB5B03}"/>
              </a:ext>
            </a:extLst>
          </p:cNvPr>
          <p:cNvSpPr>
            <a:spLocks noGrp="1"/>
          </p:cNvSpPr>
          <p:nvPr/>
        </p:nvSpPr>
        <p:spPr>
          <a:xfrm>
            <a:off x="9220200" y="2114550"/>
            <a:ext cx="2095500" cy="285750"/>
          </a:xfrm>
          <a:prstGeom prst="roundRect">
            <a:avLst>
              <a:gd name="adj" fmla="val 26667"/>
            </a:avLst>
          </a:prstGeom>
          <a:solidFill>
            <a:srgbClr val="466D8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0433CC38-A62C-496E-8F57-0C478B155B1B}"/>
              </a:ext>
            </a:extLst>
          </p:cNvPr>
          <p:cNvSpPr>
            <a:spLocks noGrp="1"/>
          </p:cNvSpPr>
          <p:nvPr/>
        </p:nvSpPr>
        <p:spPr>
          <a:xfrm>
            <a:off x="9315450" y="2133600"/>
            <a:ext cx="1905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1">
                <a:solidFill>
                  <a:srgbClr val="FFFFFF"/>
                </a:solidFill>
                <a:latin typeface="Aptos"/>
                <a:ea typeface="Aptos"/>
                <a:cs typeface="Aptos"/>
              </a:defRPr>
            </a:pPr>
            <a:r>
              <a:rPr sz="713" b="1">
                <a:solidFill>
                  <a:srgbClr val="FFFFFF"/>
                </a:solidFill>
                <a:latin typeface="Aptos"/>
                <a:ea typeface="Aptos"/>
                <a:cs typeface="Aptos"/>
              </a:rPr>
              <a:t>NON ADDESTRATO DA NOI</a:t>
            </a:r>
          </a:p>
        </p:txBody>
      </p:sp>
      <p:sp>
        <p:nvSpPr>
          <p:cNvPr id="13" name="ai-lane-2">
            <a:extLst>
              <a:ext uri="{FF2B5EF4-FFF2-40B4-BE49-F238E27FC236}">
                <a16:creationId xmlns:a16="http://schemas.microsoft.com/office/drawing/2014/main" id="{E3EBE148-FD1E-4F9D-BBEB-17BB81DFAEE0}"/>
              </a:ext>
            </a:extLst>
          </p:cNvPr>
          <p:cNvSpPr>
            <a:spLocks noGrp="1"/>
          </p:cNvSpPr>
          <p:nvPr/>
        </p:nvSpPr>
        <p:spPr>
          <a:xfrm>
            <a:off x="552450" y="2876550"/>
            <a:ext cx="11087100" cy="838200"/>
          </a:xfrm>
          <a:prstGeom prst="roundRect">
            <a:avLst>
              <a:gd name="adj" fmla="val 9091"/>
            </a:avLst>
          </a:prstGeom>
          <a:solidFill>
            <a:srgbClr val="1B4A3C"/>
          </a:solidFill>
          <a:ln w="9525">
            <a:solidFill>
              <a:srgbClr val="466D60"/>
            </a:solidFill>
            <a:prstDash val="solid"/>
          </a:ln>
        </p:spPr>
        <p:txBody>
          <a:bodyPr/>
          <a:lstStyle/>
          <a:p>
            <a:endParaRPr lang="en-US"/>
          </a:p>
        </p:txBody>
      </p:sp>
      <p:sp>
        <p:nvSpPr>
          <p:cNvPr id="14" name="Oval 13">
            <a:extLst>
              <a:ext uri="{FF2B5EF4-FFF2-40B4-BE49-F238E27FC236}">
                <a16:creationId xmlns:a16="http://schemas.microsoft.com/office/drawing/2014/main" id="{299501F0-A9E5-4195-A4AC-4BBC9738A88D}"/>
              </a:ext>
            </a:extLst>
          </p:cNvPr>
          <p:cNvSpPr>
            <a:spLocks noGrp="1"/>
          </p:cNvSpPr>
          <p:nvPr/>
        </p:nvSpPr>
        <p:spPr>
          <a:xfrm>
            <a:off x="781050" y="3048000"/>
            <a:ext cx="495300" cy="495300"/>
          </a:xfrm>
          <a:prstGeom prst="ellipse">
            <a:avLst/>
          </a:prstGeom>
          <a:solidFill>
            <a:srgbClr val="D56E42"/>
          </a:solidFill>
          <a:ln w="0">
            <a:solidFill>
              <a:srgbClr val="000000">
                <a:alpha val="0"/>
              </a:srgbClr>
            </a:solidFill>
            <a:prstDash val="solid"/>
          </a:ln>
        </p:spPr>
        <p:txBody>
          <a:bodyPr/>
          <a:lstStyle/>
          <a:p>
            <a:endParaRPr lang="en-US"/>
          </a:p>
        </p:txBody>
      </p:sp>
      <p:pic>
        <p:nvPicPr>
          <p:cNvPr id="15" name="Graphic 14"/>
          <p:cNvPicPr>
            <a:picLocks noChangeAspect="1"/>
          </p:cNvPicPr>
          <p:nvPr/>
        </p:nvPicPr>
        <p:blipFill>
          <a:blip>
            <a:extLst>
              <a:ext uri="{96DAC541-7B7A-43D3-8B79-37D633B846F1}">
                <asvg:svgBlip xmlns:asvg="http://schemas.microsoft.com/office/drawing/2016/SVG/main" r:embed="rId4"/>
              </a:ext>
            </a:extLst>
          </a:blip>
          <a:stretch/>
        </p:blipFill>
        <p:spPr>
          <a:xfrm>
            <a:off x="904875" y="3171825"/>
            <a:ext cx="247650" cy="247650"/>
          </a:xfrm>
          <a:prstGeom prst="rect">
            <a:avLst/>
          </a:prstGeom>
        </p:spPr>
      </p:pic>
      <p:sp>
        <p:nvSpPr>
          <p:cNvPr id="16" name="Rectangle 15">
            <a:extLst>
              <a:ext uri="{FF2B5EF4-FFF2-40B4-BE49-F238E27FC236}">
                <a16:creationId xmlns:a16="http://schemas.microsoft.com/office/drawing/2014/main" id="{ED1AD0EA-8959-45D0-90FF-FD49BE52C53D}"/>
              </a:ext>
            </a:extLst>
          </p:cNvPr>
          <p:cNvSpPr>
            <a:spLocks noGrp="1"/>
          </p:cNvSpPr>
          <p:nvPr/>
        </p:nvSpPr>
        <p:spPr>
          <a:xfrm>
            <a:off x="1428750" y="3009900"/>
            <a:ext cx="3238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D56E42"/>
                </a:solidFill>
                <a:latin typeface="Georgia"/>
                <a:ea typeface="Georgia"/>
                <a:cs typeface="Georgia"/>
              </a:defRPr>
            </a:pPr>
            <a:r>
              <a:rPr sz="2175" b="1">
                <a:solidFill>
                  <a:srgbClr val="D56E42"/>
                </a:solidFill>
                <a:latin typeface="Georgia"/>
                <a:ea typeface="Georgia"/>
                <a:cs typeface="Georgia"/>
              </a:rPr>
              <a:t>2</a:t>
            </a:r>
          </a:p>
        </p:txBody>
      </p:sp>
      <p:sp>
        <p:nvSpPr>
          <p:cNvPr id="17" name="Rectangle 16">
            <a:extLst>
              <a:ext uri="{FF2B5EF4-FFF2-40B4-BE49-F238E27FC236}">
                <a16:creationId xmlns:a16="http://schemas.microsoft.com/office/drawing/2014/main" id="{4D240B1B-D48A-46B1-A67A-7F5099CE571C}"/>
              </a:ext>
            </a:extLst>
          </p:cNvPr>
          <p:cNvSpPr>
            <a:spLocks noGrp="1"/>
          </p:cNvSpPr>
          <p:nvPr/>
        </p:nvSpPr>
        <p:spPr>
          <a:xfrm>
            <a:off x="1962150" y="3048000"/>
            <a:ext cx="24193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FFFFFF"/>
                </a:solidFill>
                <a:latin typeface="Georgia"/>
                <a:ea typeface="Georgia"/>
                <a:cs typeface="Georgia"/>
              </a:defRPr>
            </a:pPr>
            <a:r>
              <a:rPr sz="1575" b="1">
                <a:solidFill>
                  <a:srgbClr val="FFFFFF"/>
                </a:solidFill>
                <a:latin typeface="Georgia"/>
                <a:ea typeface="Georgia"/>
                <a:cs typeface="Georgia"/>
              </a:rPr>
              <a:t>Addestrato da noi</a:t>
            </a:r>
          </a:p>
        </p:txBody>
      </p:sp>
      <p:sp>
        <p:nvSpPr>
          <p:cNvPr id="18" name="Rectangle 17">
            <a:extLst>
              <a:ext uri="{FF2B5EF4-FFF2-40B4-BE49-F238E27FC236}">
                <a16:creationId xmlns:a16="http://schemas.microsoft.com/office/drawing/2014/main" id="{CCEA284C-9CC2-4671-8D3A-4A01481EFC15}"/>
              </a:ext>
            </a:extLst>
          </p:cNvPr>
          <p:cNvSpPr>
            <a:spLocks noGrp="1"/>
          </p:cNvSpPr>
          <p:nvPr/>
        </p:nvSpPr>
        <p:spPr>
          <a:xfrm>
            <a:off x="4667250" y="3048000"/>
            <a:ext cx="4171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DDE5DD"/>
                </a:solidFill>
                <a:latin typeface="Aptos"/>
                <a:ea typeface="Aptos"/>
                <a:cs typeface="Aptos"/>
              </a:defRPr>
            </a:pPr>
            <a:r>
              <a:rPr sz="1050" b="0">
                <a:solidFill>
                  <a:srgbClr val="DDE5DD"/>
                </a:solidFill>
                <a:latin typeface="Aptos"/>
                <a:ea typeface="Aptos"/>
                <a:cs typeface="Aptos"/>
              </a:rPr>
              <a:t>Stato del capo e gap del guardaroba</a:t>
            </a:r>
          </a:p>
        </p:txBody>
      </p:sp>
      <p:sp>
        <p:nvSpPr>
          <p:cNvPr id="19" name="Rectangle: Rounded Corners 18">
            <a:extLst>
              <a:ext uri="{FF2B5EF4-FFF2-40B4-BE49-F238E27FC236}">
                <a16:creationId xmlns:a16="http://schemas.microsoft.com/office/drawing/2014/main" id="{5F96A1C0-5EC9-4B73-8101-CDAF022EA8E0}"/>
              </a:ext>
            </a:extLst>
          </p:cNvPr>
          <p:cNvSpPr>
            <a:spLocks noGrp="1"/>
          </p:cNvSpPr>
          <p:nvPr/>
        </p:nvSpPr>
        <p:spPr>
          <a:xfrm>
            <a:off x="9220200" y="3143250"/>
            <a:ext cx="2095500" cy="285750"/>
          </a:xfrm>
          <a:prstGeom prst="roundRect">
            <a:avLst>
              <a:gd name="adj" fmla="val 26667"/>
            </a:avLst>
          </a:prstGeom>
          <a:solidFill>
            <a:srgbClr val="D56E42"/>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ABEFAA9A-07E4-4648-AFC9-974975698FC7}"/>
              </a:ext>
            </a:extLst>
          </p:cNvPr>
          <p:cNvSpPr>
            <a:spLocks noGrp="1"/>
          </p:cNvSpPr>
          <p:nvPr/>
        </p:nvSpPr>
        <p:spPr>
          <a:xfrm>
            <a:off x="9315450" y="3162300"/>
            <a:ext cx="1905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1">
                <a:solidFill>
                  <a:srgbClr val="FFFFFF"/>
                </a:solidFill>
                <a:latin typeface="Aptos"/>
                <a:ea typeface="Aptos"/>
                <a:cs typeface="Aptos"/>
              </a:defRPr>
            </a:pPr>
            <a:r>
              <a:rPr sz="713" b="1">
                <a:solidFill>
                  <a:srgbClr val="FFFFFF"/>
                </a:solidFill>
                <a:latin typeface="Aptos"/>
                <a:ea typeface="Aptos"/>
                <a:cs typeface="Aptos"/>
              </a:rPr>
              <a:t>DUE MLP RUNTIME</a:t>
            </a:r>
          </a:p>
        </p:txBody>
      </p:sp>
      <p:sp>
        <p:nvSpPr>
          <p:cNvPr id="21" name="ai-lane-3">
            <a:extLst>
              <a:ext uri="{FF2B5EF4-FFF2-40B4-BE49-F238E27FC236}">
                <a16:creationId xmlns:a16="http://schemas.microsoft.com/office/drawing/2014/main" id="{54D183BC-54B0-4F1D-9306-4AACBBA3710D}"/>
              </a:ext>
            </a:extLst>
          </p:cNvPr>
          <p:cNvSpPr>
            <a:spLocks noGrp="1"/>
          </p:cNvSpPr>
          <p:nvPr/>
        </p:nvSpPr>
        <p:spPr>
          <a:xfrm>
            <a:off x="552450" y="3905250"/>
            <a:ext cx="11087100" cy="838200"/>
          </a:xfrm>
          <a:prstGeom prst="roundRect">
            <a:avLst>
              <a:gd name="adj" fmla="val 9091"/>
            </a:avLst>
          </a:prstGeom>
          <a:solidFill>
            <a:srgbClr val="1B4A3C"/>
          </a:solidFill>
          <a:ln w="9525">
            <a:solidFill>
              <a:srgbClr val="466D60"/>
            </a:solidFill>
            <a:prstDash val="solid"/>
          </a:ln>
        </p:spPr>
        <p:txBody>
          <a:bodyPr/>
          <a:lstStyle/>
          <a:p>
            <a:endParaRPr lang="en-US"/>
          </a:p>
        </p:txBody>
      </p:sp>
      <p:sp>
        <p:nvSpPr>
          <p:cNvPr id="22" name="Oval 21">
            <a:extLst>
              <a:ext uri="{FF2B5EF4-FFF2-40B4-BE49-F238E27FC236}">
                <a16:creationId xmlns:a16="http://schemas.microsoft.com/office/drawing/2014/main" id="{D86A6429-139F-4C4B-8836-1B491F873B77}"/>
              </a:ext>
            </a:extLst>
          </p:cNvPr>
          <p:cNvSpPr>
            <a:spLocks noGrp="1"/>
          </p:cNvSpPr>
          <p:nvPr/>
        </p:nvSpPr>
        <p:spPr>
          <a:xfrm>
            <a:off x="781050" y="4076700"/>
            <a:ext cx="495300" cy="495300"/>
          </a:xfrm>
          <a:prstGeom prst="ellipse">
            <a:avLst/>
          </a:prstGeom>
          <a:solidFill>
            <a:srgbClr val="2F7D5B"/>
          </a:solidFill>
          <a:ln w="0">
            <a:solidFill>
              <a:srgbClr val="000000">
                <a:alpha val="0"/>
              </a:srgbClr>
            </a:solidFill>
            <a:prstDash val="solid"/>
          </a:ln>
        </p:spPr>
        <p:txBody>
          <a:bodyPr/>
          <a:lstStyle/>
          <a:p>
            <a:endParaRPr lang="en-US"/>
          </a:p>
        </p:txBody>
      </p:sp>
      <p:pic>
        <p:nvPicPr>
          <p:cNvPr id="23" name="Graphic 22"/>
          <p:cNvPicPr>
            <a:picLocks noChangeAspect="1"/>
          </p:cNvPicPr>
          <p:nvPr/>
        </p:nvPicPr>
        <p:blipFill>
          <a:blip>
            <a:extLst>
              <a:ext uri="{96DAC541-7B7A-43D3-8B79-37D633B846F1}">
                <asvg:svgBlip xmlns:asvg="http://schemas.microsoft.com/office/drawing/2016/SVG/main" r:embed="rId5"/>
              </a:ext>
            </a:extLst>
          </a:blip>
          <a:stretch/>
        </p:blipFill>
        <p:spPr>
          <a:xfrm>
            <a:off x="904875" y="4200525"/>
            <a:ext cx="247650" cy="247650"/>
          </a:xfrm>
          <a:prstGeom prst="rect">
            <a:avLst/>
          </a:prstGeom>
        </p:spPr>
      </p:pic>
      <p:sp>
        <p:nvSpPr>
          <p:cNvPr id="24" name="Rectangle 23">
            <a:extLst>
              <a:ext uri="{FF2B5EF4-FFF2-40B4-BE49-F238E27FC236}">
                <a16:creationId xmlns:a16="http://schemas.microsoft.com/office/drawing/2014/main" id="{B52327FC-EC4D-4BAF-A647-3C8C840F83FC}"/>
              </a:ext>
            </a:extLst>
          </p:cNvPr>
          <p:cNvSpPr>
            <a:spLocks noGrp="1"/>
          </p:cNvSpPr>
          <p:nvPr/>
        </p:nvSpPr>
        <p:spPr>
          <a:xfrm>
            <a:off x="1428750" y="4038600"/>
            <a:ext cx="3238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2F7D5B"/>
                </a:solidFill>
                <a:latin typeface="Georgia"/>
                <a:ea typeface="Georgia"/>
                <a:cs typeface="Georgia"/>
              </a:defRPr>
            </a:pPr>
            <a:r>
              <a:rPr sz="2175" b="1">
                <a:solidFill>
                  <a:srgbClr val="2F7D5B"/>
                </a:solidFill>
                <a:latin typeface="Georgia"/>
                <a:ea typeface="Georgia"/>
                <a:cs typeface="Georgia"/>
              </a:rPr>
              <a:t>3</a:t>
            </a:r>
          </a:p>
        </p:txBody>
      </p:sp>
      <p:sp>
        <p:nvSpPr>
          <p:cNvPr id="25" name="Rectangle 24">
            <a:extLst>
              <a:ext uri="{FF2B5EF4-FFF2-40B4-BE49-F238E27FC236}">
                <a16:creationId xmlns:a16="http://schemas.microsoft.com/office/drawing/2014/main" id="{9020A017-4722-4F5D-AFAD-A68E638C10B7}"/>
              </a:ext>
            </a:extLst>
          </p:cNvPr>
          <p:cNvSpPr>
            <a:spLocks noGrp="1"/>
          </p:cNvSpPr>
          <p:nvPr/>
        </p:nvSpPr>
        <p:spPr>
          <a:xfrm>
            <a:off x="1962150" y="4076700"/>
            <a:ext cx="24193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FFFFFF"/>
                </a:solidFill>
                <a:latin typeface="Georgia"/>
                <a:ea typeface="Georgia"/>
                <a:cs typeface="Georgia"/>
              </a:defRPr>
            </a:pPr>
            <a:r>
              <a:rPr sz="1575" b="1">
                <a:solidFill>
                  <a:srgbClr val="FFFFFF"/>
                </a:solidFill>
                <a:latin typeface="Georgia"/>
                <a:ea typeface="Georgia"/>
                <a:cs typeface="Georgia"/>
              </a:rPr>
              <a:t>Regole trasparenti</a:t>
            </a:r>
          </a:p>
        </p:txBody>
      </p:sp>
      <p:sp>
        <p:nvSpPr>
          <p:cNvPr id="26" name="Rectangle 25">
            <a:extLst>
              <a:ext uri="{FF2B5EF4-FFF2-40B4-BE49-F238E27FC236}">
                <a16:creationId xmlns:a16="http://schemas.microsoft.com/office/drawing/2014/main" id="{CCAE12EE-202A-4451-BD68-63949E62957A}"/>
              </a:ext>
            </a:extLst>
          </p:cNvPr>
          <p:cNvSpPr>
            <a:spLocks noGrp="1"/>
          </p:cNvSpPr>
          <p:nvPr/>
        </p:nvSpPr>
        <p:spPr>
          <a:xfrm>
            <a:off x="4667250" y="4076700"/>
            <a:ext cx="4171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DDE5DD"/>
                </a:solidFill>
                <a:latin typeface="Aptos"/>
                <a:ea typeface="Aptos"/>
                <a:cs typeface="Aptos"/>
              </a:defRPr>
            </a:pPr>
            <a:r>
              <a:rPr sz="1050" b="0">
                <a:solidFill>
                  <a:srgbClr val="DDE5DD"/>
                </a:solidFill>
                <a:latin typeface="Aptos"/>
                <a:ea typeface="Aptos"/>
                <a:cs typeface="Aptos"/>
              </a:rPr>
              <a:t>Ghost, outfit, cost-per-wear, impatto</a:t>
            </a:r>
          </a:p>
        </p:txBody>
      </p:sp>
      <p:sp>
        <p:nvSpPr>
          <p:cNvPr id="27" name="Rectangle: Rounded Corners 26">
            <a:extLst>
              <a:ext uri="{FF2B5EF4-FFF2-40B4-BE49-F238E27FC236}">
                <a16:creationId xmlns:a16="http://schemas.microsoft.com/office/drawing/2014/main" id="{B96CEEC5-4EF7-4CCB-8E14-B4C33E2CA736}"/>
              </a:ext>
            </a:extLst>
          </p:cNvPr>
          <p:cNvSpPr>
            <a:spLocks noGrp="1"/>
          </p:cNvSpPr>
          <p:nvPr/>
        </p:nvSpPr>
        <p:spPr>
          <a:xfrm>
            <a:off x="9220200" y="4171950"/>
            <a:ext cx="2095500" cy="285750"/>
          </a:xfrm>
          <a:prstGeom prst="roundRect">
            <a:avLst>
              <a:gd name="adj" fmla="val 26667"/>
            </a:avLst>
          </a:prstGeom>
          <a:solidFill>
            <a:srgbClr val="2F7D5B"/>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10FF7D2E-0C99-452F-A7A8-9B92FDC38213}"/>
              </a:ext>
            </a:extLst>
          </p:cNvPr>
          <p:cNvSpPr>
            <a:spLocks noGrp="1"/>
          </p:cNvSpPr>
          <p:nvPr/>
        </p:nvSpPr>
        <p:spPr>
          <a:xfrm>
            <a:off x="9315450" y="4191000"/>
            <a:ext cx="1905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1">
                <a:solidFill>
                  <a:srgbClr val="FFFFFF"/>
                </a:solidFill>
                <a:latin typeface="Aptos"/>
                <a:ea typeface="Aptos"/>
                <a:cs typeface="Aptos"/>
              </a:defRPr>
            </a:pPr>
            <a:r>
              <a:rPr sz="713" b="1">
                <a:solidFill>
                  <a:srgbClr val="FFFFFF"/>
                </a:solidFill>
                <a:latin typeface="Aptos"/>
                <a:ea typeface="Aptos"/>
                <a:cs typeface="Aptos"/>
              </a:rPr>
              <a:t>DETERMINISTICHE</a:t>
            </a:r>
          </a:p>
        </p:txBody>
      </p:sp>
      <p:sp>
        <p:nvSpPr>
          <p:cNvPr id="29" name="ai-lane-4">
            <a:extLst>
              <a:ext uri="{FF2B5EF4-FFF2-40B4-BE49-F238E27FC236}">
                <a16:creationId xmlns:a16="http://schemas.microsoft.com/office/drawing/2014/main" id="{674ECC46-E5D6-466F-A0E9-2BFF02867587}"/>
              </a:ext>
            </a:extLst>
          </p:cNvPr>
          <p:cNvSpPr>
            <a:spLocks noGrp="1"/>
          </p:cNvSpPr>
          <p:nvPr/>
        </p:nvSpPr>
        <p:spPr>
          <a:xfrm>
            <a:off x="552450" y="4933950"/>
            <a:ext cx="11087100" cy="838200"/>
          </a:xfrm>
          <a:prstGeom prst="roundRect">
            <a:avLst>
              <a:gd name="adj" fmla="val 9091"/>
            </a:avLst>
          </a:prstGeom>
          <a:solidFill>
            <a:srgbClr val="1B4A3C"/>
          </a:solidFill>
          <a:ln w="9525">
            <a:solidFill>
              <a:srgbClr val="466D60"/>
            </a:solidFill>
            <a:prstDash val="solid"/>
          </a:ln>
        </p:spPr>
        <p:txBody>
          <a:bodyPr/>
          <a:lstStyle/>
          <a:p>
            <a:endParaRPr lang="en-US"/>
          </a:p>
        </p:txBody>
      </p:sp>
      <p:sp>
        <p:nvSpPr>
          <p:cNvPr id="30" name="Oval 29">
            <a:extLst>
              <a:ext uri="{FF2B5EF4-FFF2-40B4-BE49-F238E27FC236}">
                <a16:creationId xmlns:a16="http://schemas.microsoft.com/office/drawing/2014/main" id="{443CC0B0-9062-43F9-93E7-92679F66C011}"/>
              </a:ext>
            </a:extLst>
          </p:cNvPr>
          <p:cNvSpPr>
            <a:spLocks noGrp="1"/>
          </p:cNvSpPr>
          <p:nvPr/>
        </p:nvSpPr>
        <p:spPr>
          <a:xfrm>
            <a:off x="781050" y="5105400"/>
            <a:ext cx="495300" cy="495300"/>
          </a:xfrm>
          <a:prstGeom prst="ellipse">
            <a:avLst/>
          </a:prstGeom>
          <a:solidFill>
            <a:srgbClr val="B9D94A"/>
          </a:solidFill>
          <a:ln w="0">
            <a:solidFill>
              <a:srgbClr val="000000">
                <a:alpha val="0"/>
              </a:srgbClr>
            </a:solidFill>
            <a:prstDash val="solid"/>
          </a:ln>
        </p:spPr>
        <p:txBody>
          <a:bodyPr/>
          <a:lstStyle/>
          <a:p>
            <a:endParaRPr lang="en-US"/>
          </a:p>
        </p:txBody>
      </p:sp>
      <p:pic>
        <p:nvPicPr>
          <p:cNvPr id="31" name="Graphic 30"/>
          <p:cNvPicPr>
            <a:picLocks noChangeAspect="1"/>
          </p:cNvPicPr>
          <p:nvPr/>
        </p:nvPicPr>
        <p:blipFill>
          <a:blip>
            <a:extLst>
              <a:ext uri="{96DAC541-7B7A-43D3-8B79-37D633B846F1}">
                <asvg:svgBlip xmlns:asvg="http://schemas.microsoft.com/office/drawing/2016/SVG/main" r:embed="rId6"/>
              </a:ext>
            </a:extLst>
          </a:blip>
          <a:stretch/>
        </p:blipFill>
        <p:spPr>
          <a:xfrm>
            <a:off x="904875" y="5229225"/>
            <a:ext cx="247650" cy="247650"/>
          </a:xfrm>
          <a:prstGeom prst="rect">
            <a:avLst/>
          </a:prstGeom>
        </p:spPr>
      </p:pic>
      <p:sp>
        <p:nvSpPr>
          <p:cNvPr id="32" name="Rectangle 31">
            <a:extLst>
              <a:ext uri="{FF2B5EF4-FFF2-40B4-BE49-F238E27FC236}">
                <a16:creationId xmlns:a16="http://schemas.microsoft.com/office/drawing/2014/main" id="{3EAC28DE-A48E-46B3-9F77-0B6550BD6837}"/>
              </a:ext>
            </a:extLst>
          </p:cNvPr>
          <p:cNvSpPr>
            <a:spLocks noGrp="1"/>
          </p:cNvSpPr>
          <p:nvPr/>
        </p:nvSpPr>
        <p:spPr>
          <a:xfrm>
            <a:off x="1428750" y="5067300"/>
            <a:ext cx="3238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B9D94A"/>
                </a:solidFill>
                <a:latin typeface="Georgia"/>
                <a:ea typeface="Georgia"/>
                <a:cs typeface="Georgia"/>
              </a:defRPr>
            </a:pPr>
            <a:r>
              <a:rPr sz="2175" b="1">
                <a:solidFill>
                  <a:srgbClr val="B9D94A"/>
                </a:solidFill>
                <a:latin typeface="Georgia"/>
                <a:ea typeface="Georgia"/>
                <a:cs typeface="Georgia"/>
              </a:rPr>
              <a:t>4</a:t>
            </a:r>
          </a:p>
        </p:txBody>
      </p:sp>
      <p:sp>
        <p:nvSpPr>
          <p:cNvPr id="33" name="Rectangle 32">
            <a:extLst>
              <a:ext uri="{FF2B5EF4-FFF2-40B4-BE49-F238E27FC236}">
                <a16:creationId xmlns:a16="http://schemas.microsoft.com/office/drawing/2014/main" id="{0F895AD1-F99E-46CB-AAD2-98EC66F6B0EA}"/>
              </a:ext>
            </a:extLst>
          </p:cNvPr>
          <p:cNvSpPr>
            <a:spLocks noGrp="1"/>
          </p:cNvSpPr>
          <p:nvPr/>
        </p:nvSpPr>
        <p:spPr>
          <a:xfrm>
            <a:off x="1962150" y="5105400"/>
            <a:ext cx="24193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FFFFFF"/>
                </a:solidFill>
                <a:latin typeface="Georgia"/>
                <a:ea typeface="Georgia"/>
                <a:cs typeface="Georgia"/>
              </a:defRPr>
            </a:pPr>
            <a:r>
              <a:rPr sz="1575" b="1">
                <a:solidFill>
                  <a:srgbClr val="FFFFFF"/>
                </a:solidFill>
                <a:latin typeface="Georgia"/>
                <a:ea typeface="Georgia"/>
                <a:cs typeface="Georgia"/>
              </a:rPr>
              <a:t>Generativo opzionale</a:t>
            </a:r>
          </a:p>
        </p:txBody>
      </p:sp>
      <p:sp>
        <p:nvSpPr>
          <p:cNvPr id="34" name="Rectangle 33">
            <a:extLst>
              <a:ext uri="{FF2B5EF4-FFF2-40B4-BE49-F238E27FC236}">
                <a16:creationId xmlns:a16="http://schemas.microsoft.com/office/drawing/2014/main" id="{CC49CB2D-D343-4CA6-8B63-85E0FEBD7760}"/>
              </a:ext>
            </a:extLst>
          </p:cNvPr>
          <p:cNvSpPr>
            <a:spLocks noGrp="1"/>
          </p:cNvSpPr>
          <p:nvPr/>
        </p:nvSpPr>
        <p:spPr>
          <a:xfrm>
            <a:off x="4667250" y="5105400"/>
            <a:ext cx="4171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DDE5DD"/>
                </a:solidFill>
                <a:latin typeface="Aptos"/>
                <a:ea typeface="Aptos"/>
                <a:cs typeface="Aptos"/>
              </a:defRPr>
            </a:pPr>
            <a:r>
              <a:rPr sz="1050" b="0">
                <a:solidFill>
                  <a:srgbClr val="DDE5DD"/>
                </a:solidFill>
                <a:latin typeface="Aptos"/>
                <a:ea typeface="Aptos"/>
                <a:cs typeface="Aptos"/>
              </a:rPr>
              <a:t>Testi LLM e demo try-on</a:t>
            </a:r>
          </a:p>
        </p:txBody>
      </p:sp>
      <p:sp>
        <p:nvSpPr>
          <p:cNvPr id="35" name="Rectangle: Rounded Corners 34">
            <a:extLst>
              <a:ext uri="{FF2B5EF4-FFF2-40B4-BE49-F238E27FC236}">
                <a16:creationId xmlns:a16="http://schemas.microsoft.com/office/drawing/2014/main" id="{6C987F93-8104-4FC3-93F6-8C5246F96FE3}"/>
              </a:ext>
            </a:extLst>
          </p:cNvPr>
          <p:cNvSpPr>
            <a:spLocks noGrp="1"/>
          </p:cNvSpPr>
          <p:nvPr/>
        </p:nvSpPr>
        <p:spPr>
          <a:xfrm>
            <a:off x="9220200" y="5200650"/>
            <a:ext cx="2095500" cy="285750"/>
          </a:xfrm>
          <a:prstGeom prst="roundRect">
            <a:avLst>
              <a:gd name="adj" fmla="val 26667"/>
            </a:avLst>
          </a:prstGeom>
          <a:solidFill>
            <a:srgbClr val="B9D94A"/>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BCA4A0E3-983D-49CF-B4A4-B3B695E2A69C}"/>
              </a:ext>
            </a:extLst>
          </p:cNvPr>
          <p:cNvSpPr>
            <a:spLocks noGrp="1"/>
          </p:cNvSpPr>
          <p:nvPr/>
        </p:nvSpPr>
        <p:spPr>
          <a:xfrm>
            <a:off x="9315450" y="5219700"/>
            <a:ext cx="1905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1">
                <a:solidFill>
                  <a:srgbClr val="123C31"/>
                </a:solidFill>
                <a:latin typeface="Aptos"/>
                <a:ea typeface="Aptos"/>
                <a:cs typeface="Aptos"/>
              </a:defRPr>
            </a:pPr>
            <a:r>
              <a:rPr sz="713" b="1">
                <a:solidFill>
                  <a:srgbClr val="123C31"/>
                </a:solidFill>
                <a:latin typeface="Aptos"/>
                <a:ea typeface="Aptos"/>
                <a:cs typeface="Aptos"/>
              </a:rPr>
              <a:t>IL CORE FUNZIONA SENZA</a:t>
            </a:r>
          </a:p>
        </p:txBody>
      </p:sp>
      <p:sp>
        <p:nvSpPr>
          <p:cNvPr id="37" name="Rectangle 36">
            <a:extLst>
              <a:ext uri="{FF2B5EF4-FFF2-40B4-BE49-F238E27FC236}">
                <a16:creationId xmlns:a16="http://schemas.microsoft.com/office/drawing/2014/main" id="{F6E676D6-1B28-45C0-A883-C332CE30C278}"/>
              </a:ext>
            </a:extLst>
          </p:cNvPr>
          <p:cNvSpPr>
            <a:spLocks noGrp="1"/>
          </p:cNvSpPr>
          <p:nvPr/>
        </p:nvSpPr>
        <p:spPr>
          <a:xfrm>
            <a:off x="552450" y="6057900"/>
            <a:ext cx="11087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DDE5DD"/>
                </a:solidFill>
                <a:latin typeface="Aptos"/>
                <a:ea typeface="Aptos"/>
                <a:cs typeface="Aptos"/>
              </a:defRPr>
            </a:pPr>
            <a:r>
              <a:rPr sz="900" b="0">
                <a:solidFill>
                  <a:srgbClr val="DDE5DD"/>
                </a:solidFill>
                <a:latin typeface="Aptos"/>
                <a:ea typeface="Aptos"/>
                <a:cs typeface="Aptos"/>
              </a:rPr>
              <a:t>La distinzione è parte del progetto: evita di chiamare ‘AI’ una semplice formula.</a:t>
            </a:r>
          </a:p>
        </p:txBody>
      </p:sp>
      <p:sp>
        <p:nvSpPr>
          <p:cNvPr id="38" name="footer-rule">
            <a:extLst>
              <a:ext uri="{FF2B5EF4-FFF2-40B4-BE49-F238E27FC236}">
                <a16:creationId xmlns:a16="http://schemas.microsoft.com/office/drawing/2014/main" id="{EB746534-1A0E-49BA-9B73-D6443723B08A}"/>
              </a:ext>
            </a:extLst>
          </p:cNvPr>
          <p:cNvSpPr>
            <a:spLocks noGrp="1"/>
          </p:cNvSpPr>
          <p:nvPr/>
        </p:nvSpPr>
        <p:spPr>
          <a:xfrm>
            <a:off x="552450" y="6457950"/>
            <a:ext cx="11087100" cy="9525"/>
          </a:xfrm>
          <a:prstGeom prst="rect">
            <a:avLst/>
          </a:prstGeom>
          <a:solidFill>
            <a:srgbClr val="3F685A"/>
          </a:solidFill>
          <a:ln w="0">
            <a:solidFill>
              <a:srgbClr val="000000">
                <a:alpha val="0"/>
              </a:srgbClr>
            </a:solidFill>
            <a:prstDash val="solid"/>
          </a:ln>
        </p:spPr>
        <p:txBody>
          <a:bodyPr/>
          <a:lstStyle/>
          <a:p>
            <a:endParaRPr lang="en-US"/>
          </a:p>
        </p:txBody>
      </p:sp>
      <p:sp>
        <p:nvSpPr>
          <p:cNvPr id="39" name="footer-source">
            <a:extLst>
              <a:ext uri="{FF2B5EF4-FFF2-40B4-BE49-F238E27FC236}">
                <a16:creationId xmlns:a16="http://schemas.microsoft.com/office/drawing/2014/main" id="{BC58CD0A-36B2-465D-A613-78CAFDD1B496}"/>
              </a:ext>
            </a:extLst>
          </p:cNvPr>
          <p:cNvSpPr>
            <a:spLocks noGrp="1"/>
          </p:cNvSpPr>
          <p:nvPr/>
        </p:nvSpPr>
        <p:spPr>
          <a:xfrm>
            <a:off x="552450" y="6534150"/>
            <a:ext cx="10001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8FA99E"/>
                </a:solidFill>
                <a:latin typeface="Aptos"/>
                <a:ea typeface="Aptos"/>
                <a:cs typeface="Aptos"/>
              </a:defRPr>
            </a:pPr>
            <a:r>
              <a:rPr sz="563" b="0">
                <a:solidFill>
                  <a:srgbClr val="8FA99E"/>
                </a:solidFill>
                <a:latin typeface="Aptos"/>
                <a:ea typeface="Aptos"/>
                <a:cs typeface="Aptos"/>
              </a:rPr>
              <a:t>Quattro famiglie: modello pre-addestrato · modelli nostri · regole · generazione opzionale</a:t>
            </a:r>
          </a:p>
        </p:txBody>
      </p:sp>
      <p:sp>
        <p:nvSpPr>
          <p:cNvPr id="40" name="page-marker">
            <a:extLst>
              <a:ext uri="{FF2B5EF4-FFF2-40B4-BE49-F238E27FC236}">
                <a16:creationId xmlns:a16="http://schemas.microsoft.com/office/drawing/2014/main" id="{B6C2A405-3C25-4EBE-8FC5-FE769DD2135A}"/>
              </a:ext>
            </a:extLst>
          </p:cNvPr>
          <p:cNvSpPr>
            <a:spLocks noGrp="1"/>
          </p:cNvSpPr>
          <p:nvPr/>
        </p:nvSpPr>
        <p:spPr>
          <a:xfrm>
            <a:off x="11087100" y="6505575"/>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8FA99E"/>
                </a:solidFill>
                <a:latin typeface="Georgia"/>
                <a:ea typeface="Georgia"/>
                <a:cs typeface="Georgia"/>
              </a:defRPr>
            </a:pPr>
            <a:r>
              <a:rPr sz="750" b="1">
                <a:solidFill>
                  <a:srgbClr val="8FA99E"/>
                </a:solidFill>
                <a:latin typeface="Georgia"/>
                <a:ea typeface="Georgia"/>
                <a:cs typeface="Georgia"/>
              </a:rPr>
              <a:t>11</a:t>
            </a:r>
          </a:p>
        </p:txBody>
      </p:sp>
    </p:spTree>
    <p:extLst>
      <p:ext uri="{BB962C8B-B14F-4D97-AF65-F5344CB8AC3E}">
        <p14:creationId xmlns:p14="http://schemas.microsoft.com/office/powerpoint/2010/main" val="815561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background">
            <a:extLst>
              <a:ext uri="{FF2B5EF4-FFF2-40B4-BE49-F238E27FC236}">
                <a16:creationId xmlns:a16="http://schemas.microsoft.com/office/drawing/2014/main" id="{C7145BCD-3767-4305-8503-FBBB315DD41B}"/>
              </a:ext>
            </a:extLst>
          </p:cNvPr>
          <p:cNvSpPr>
            <a:spLocks noGrp="1"/>
          </p:cNvSpPr>
          <p:nvPr/>
        </p:nvSpPr>
        <p:spPr>
          <a:xfrm>
            <a:off x="0" y="0"/>
            <a:ext cx="12192000" cy="6858000"/>
          </a:xfrm>
          <a:prstGeom prst="rect">
            <a:avLst/>
          </a:prstGeom>
          <a:solidFill>
            <a:srgbClr val="F4F0E7"/>
          </a:solidFill>
          <a:ln w="0">
            <a:solidFill>
              <a:srgbClr val="000000">
                <a:alpha val="0"/>
              </a:srgbClr>
            </a:solidFill>
            <a:prstDash val="solid"/>
          </a:ln>
        </p:spPr>
        <p:txBody>
          <a:bodyPr/>
          <a:lstStyle/>
          <a:p>
            <a:endParaRPr lang="en-US"/>
          </a:p>
        </p:txBody>
      </p:sp>
      <p:sp>
        <p:nvSpPr>
          <p:cNvPr id="2" name="kicker-marker">
            <a:extLst>
              <a:ext uri="{FF2B5EF4-FFF2-40B4-BE49-F238E27FC236}">
                <a16:creationId xmlns:a16="http://schemas.microsoft.com/office/drawing/2014/main" id="{F8D9070E-5CAA-4C71-8E46-2777B9C1F0AE}"/>
              </a:ext>
            </a:extLst>
          </p:cNvPr>
          <p:cNvSpPr>
            <a:spLocks noGrp="1"/>
          </p:cNvSpPr>
          <p:nvPr/>
        </p:nvSpPr>
        <p:spPr>
          <a:xfrm>
            <a:off x="552450" y="400050"/>
            <a:ext cx="95250" cy="95250"/>
          </a:xfrm>
          <a:prstGeom prst="ellipse">
            <a:avLst/>
          </a:prstGeom>
          <a:solidFill>
            <a:srgbClr val="2F7D5B"/>
          </a:solidFill>
          <a:ln w="0">
            <a:solidFill>
              <a:srgbClr val="000000">
                <a:alpha val="0"/>
              </a:srgbClr>
            </a:solidFill>
            <a:prstDash val="solid"/>
          </a:ln>
        </p:spPr>
        <p:txBody>
          <a:bodyPr/>
          <a:lstStyle/>
          <a:p>
            <a:endParaRPr lang="en-US"/>
          </a:p>
        </p:txBody>
      </p:sp>
      <p:sp>
        <p:nvSpPr>
          <p:cNvPr id="3" name="kicker-label">
            <a:extLst>
              <a:ext uri="{FF2B5EF4-FFF2-40B4-BE49-F238E27FC236}">
                <a16:creationId xmlns:a16="http://schemas.microsoft.com/office/drawing/2014/main" id="{D818D231-A3E2-410C-AEEF-BB9259816F2E}"/>
              </a:ext>
            </a:extLst>
          </p:cNvPr>
          <p:cNvSpPr>
            <a:spLocks noGrp="1"/>
          </p:cNvSpPr>
          <p:nvPr/>
        </p:nvSpPr>
        <p:spPr>
          <a:xfrm>
            <a:off x="762000" y="361950"/>
            <a:ext cx="571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5736B"/>
                </a:solidFill>
                <a:latin typeface="Aptos"/>
                <a:ea typeface="Aptos"/>
                <a:cs typeface="Aptos"/>
              </a:defRPr>
            </a:pPr>
            <a:r>
              <a:rPr sz="675" b="1">
                <a:solidFill>
                  <a:srgbClr val="65736B"/>
                </a:solidFill>
                <a:latin typeface="Aptos"/>
                <a:ea typeface="Aptos"/>
                <a:cs typeface="Aptos"/>
              </a:rPr>
              <a:t>S C E L T E   T E C N I C H E   ·   C O S A   A B B I A M O   A D D E S T R A T O</a:t>
            </a:r>
          </a:p>
        </p:txBody>
      </p:sp>
      <p:sp>
        <p:nvSpPr>
          <p:cNvPr id="4" name="claim-title">
            <a:extLst>
              <a:ext uri="{FF2B5EF4-FFF2-40B4-BE49-F238E27FC236}">
                <a16:creationId xmlns:a16="http://schemas.microsoft.com/office/drawing/2014/main" id="{E0D22425-6222-45EE-91DF-E9843B1ADBE1}"/>
              </a:ext>
            </a:extLst>
          </p:cNvPr>
          <p:cNvSpPr>
            <a:spLocks noGrp="1"/>
          </p:cNvSpPr>
          <p:nvPr/>
        </p:nvSpPr>
        <p:spPr>
          <a:xfrm>
            <a:off x="552450" y="723900"/>
            <a:ext cx="10668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925" b="1">
                <a:solidFill>
                  <a:srgbClr val="17211D"/>
                </a:solidFill>
                <a:latin typeface="Georgia"/>
                <a:ea typeface="Georgia"/>
                <a:cs typeface="Georgia"/>
              </a:defRPr>
            </a:pPr>
            <a:r>
              <a:rPr sz="2925" b="1">
                <a:solidFill>
                  <a:srgbClr val="17211D"/>
                </a:solidFill>
                <a:latin typeface="Georgia"/>
                <a:ea typeface="Georgia"/>
                <a:cs typeface="Georgia"/>
              </a:rPr>
              <a:t>Due piccole reti neurali rispondono a due domande diverse.</a:t>
            </a:r>
          </a:p>
        </p:txBody>
      </p:sp>
      <p:sp>
        <p:nvSpPr>
          <p:cNvPr id="5" name="model-panel-1">
            <a:extLst>
              <a:ext uri="{FF2B5EF4-FFF2-40B4-BE49-F238E27FC236}">
                <a16:creationId xmlns:a16="http://schemas.microsoft.com/office/drawing/2014/main" id="{408078F5-BC5D-4502-940A-65FD0D8EF071}"/>
              </a:ext>
            </a:extLst>
          </p:cNvPr>
          <p:cNvSpPr>
            <a:spLocks noGrp="1"/>
          </p:cNvSpPr>
          <p:nvPr/>
        </p:nvSpPr>
        <p:spPr>
          <a:xfrm>
            <a:off x="552450" y="1752600"/>
            <a:ext cx="5448300" cy="3676650"/>
          </a:xfrm>
          <a:prstGeom prst="roundRect">
            <a:avLst>
              <a:gd name="adj" fmla="val 2073"/>
            </a:avLst>
          </a:prstGeom>
          <a:solidFill>
            <a:srgbClr val="FFFFFF"/>
          </a:solidFill>
          <a:ln w="9525">
            <a:solidFill>
              <a:srgbClr val="B9C3BB"/>
            </a:solidFill>
            <a:prstDash val="solid"/>
          </a:ln>
        </p:spPr>
        <p:txBody>
          <a:bodyPr/>
          <a:lstStyle/>
          <a:p>
            <a:endParaRPr lang="en-US"/>
          </a:p>
        </p:txBody>
      </p:sp>
      <p:sp>
        <p:nvSpPr>
          <p:cNvPr id="6" name="Rectangle: Rounded Corners 5">
            <a:extLst>
              <a:ext uri="{FF2B5EF4-FFF2-40B4-BE49-F238E27FC236}">
                <a16:creationId xmlns:a16="http://schemas.microsoft.com/office/drawing/2014/main" id="{A00513FA-8466-4E48-AD33-8B8F63A346B5}"/>
              </a:ext>
            </a:extLst>
          </p:cNvPr>
          <p:cNvSpPr>
            <a:spLocks noGrp="1"/>
          </p:cNvSpPr>
          <p:nvPr/>
        </p:nvSpPr>
        <p:spPr>
          <a:xfrm>
            <a:off x="800100" y="1981200"/>
            <a:ext cx="1962150" cy="285750"/>
          </a:xfrm>
          <a:prstGeom prst="roundRect">
            <a:avLst>
              <a:gd name="adj" fmla="val 26667"/>
            </a:avLst>
          </a:prstGeom>
          <a:solidFill>
            <a:srgbClr val="466D86"/>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7885AD73-140B-462A-A855-23195E17D7B9}"/>
              </a:ext>
            </a:extLst>
          </p:cNvPr>
          <p:cNvSpPr>
            <a:spLocks noGrp="1"/>
          </p:cNvSpPr>
          <p:nvPr/>
        </p:nvSpPr>
        <p:spPr>
          <a:xfrm>
            <a:off x="895350" y="2000250"/>
            <a:ext cx="17716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1">
                <a:solidFill>
                  <a:srgbClr val="FFFFFF"/>
                </a:solidFill>
                <a:latin typeface="Aptos"/>
                <a:ea typeface="Aptos"/>
                <a:cs typeface="Aptos"/>
              </a:defRPr>
            </a:pPr>
            <a:r>
              <a:rPr sz="713" b="1">
                <a:solidFill>
                  <a:srgbClr val="FFFFFF"/>
                </a:solidFill>
                <a:latin typeface="Aptos"/>
                <a:ea typeface="Aptos"/>
                <a:cs typeface="Aptos"/>
              </a:rPr>
              <a:t>MODELLO 1 · STATO</a:t>
            </a:r>
          </a:p>
        </p:txBody>
      </p:sp>
      <p:sp>
        <p:nvSpPr>
          <p:cNvPr id="8" name="Rectangle 7">
            <a:extLst>
              <a:ext uri="{FF2B5EF4-FFF2-40B4-BE49-F238E27FC236}">
                <a16:creationId xmlns:a16="http://schemas.microsoft.com/office/drawing/2014/main" id="{4CEFF2CE-B136-4102-86D6-AF510183408E}"/>
              </a:ext>
            </a:extLst>
          </p:cNvPr>
          <p:cNvSpPr>
            <a:spLocks noGrp="1"/>
          </p:cNvSpPr>
          <p:nvPr/>
        </p:nvSpPr>
        <p:spPr>
          <a:xfrm>
            <a:off x="800100" y="2419350"/>
            <a:ext cx="4953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17211D"/>
                </a:solidFill>
                <a:latin typeface="Georgia"/>
                <a:ea typeface="Georgia"/>
                <a:cs typeface="Georgia"/>
              </a:defRPr>
            </a:pPr>
            <a:r>
              <a:rPr sz="1725" b="1">
                <a:solidFill>
                  <a:srgbClr val="17211D"/>
                </a:solidFill>
                <a:latin typeface="Georgia"/>
                <a:ea typeface="Georgia"/>
                <a:cs typeface="Georgia"/>
              </a:rPr>
              <a:t>Com’è messo questo capo?</a:t>
            </a:r>
          </a:p>
        </p:txBody>
      </p:sp>
      <p:sp>
        <p:nvSpPr>
          <p:cNvPr id="9" name="model-flow-0-0">
            <a:extLst>
              <a:ext uri="{FF2B5EF4-FFF2-40B4-BE49-F238E27FC236}">
                <a16:creationId xmlns:a16="http://schemas.microsoft.com/office/drawing/2014/main" id="{2A865F57-7C9B-493C-8FA8-C6A76B4646D2}"/>
              </a:ext>
            </a:extLst>
          </p:cNvPr>
          <p:cNvSpPr>
            <a:spLocks noGrp="1"/>
          </p:cNvSpPr>
          <p:nvPr/>
        </p:nvSpPr>
        <p:spPr>
          <a:xfrm>
            <a:off x="819150" y="3143250"/>
            <a:ext cx="1028700" cy="666750"/>
          </a:xfrm>
          <a:prstGeom prst="roundRect">
            <a:avLst>
              <a:gd name="adj" fmla="val 11429"/>
            </a:avLst>
          </a:prstGeom>
          <a:solidFill>
            <a:srgbClr val="DDE5DD"/>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5DAB5E7E-A508-46D7-99ED-E756C76EDD8D}"/>
              </a:ext>
            </a:extLst>
          </p:cNvPr>
          <p:cNvSpPr>
            <a:spLocks noGrp="1"/>
          </p:cNvSpPr>
          <p:nvPr/>
        </p:nvSpPr>
        <p:spPr>
          <a:xfrm>
            <a:off x="895350" y="3257550"/>
            <a:ext cx="8763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1">
                <a:solidFill>
                  <a:srgbClr val="17211D"/>
                </a:solidFill>
                <a:latin typeface="Aptos"/>
                <a:ea typeface="Aptos"/>
                <a:cs typeface="Aptos"/>
              </a:defRPr>
            </a:pPr>
            <a:r>
              <a:rPr sz="788" b="1">
                <a:solidFill>
                  <a:srgbClr val="17211D"/>
                </a:solidFill>
                <a:latin typeface="Aptos"/>
                <a:ea typeface="Aptos"/>
                <a:cs typeface="Aptos"/>
              </a:rPr>
              <a:t>Foto</a:t>
            </a:r>
          </a:p>
        </p:txBody>
      </p:sp>
      <p:sp>
        <p:nvSpPr>
          <p:cNvPr id="11" name="model-arrow-0-0">
            <a:extLst>
              <a:ext uri="{FF2B5EF4-FFF2-40B4-BE49-F238E27FC236}">
                <a16:creationId xmlns:a16="http://schemas.microsoft.com/office/drawing/2014/main" id="{D802A12F-C8A8-4D2C-B1AE-7B1269853896}"/>
              </a:ext>
            </a:extLst>
          </p:cNvPr>
          <p:cNvSpPr>
            <a:spLocks noGrp="1"/>
          </p:cNvSpPr>
          <p:nvPr/>
        </p:nvSpPr>
        <p:spPr>
          <a:xfrm>
            <a:off x="1847850" y="3476625"/>
            <a:ext cx="209550" cy="19050"/>
          </a:xfrm>
          <a:prstGeom prst="rect">
            <a:avLst/>
          </a:prstGeom>
          <a:solidFill>
            <a:srgbClr val="466D86"/>
          </a:solidFill>
          <a:ln w="0">
            <a:solidFill>
              <a:srgbClr val="000000">
                <a:alpha val="0"/>
              </a:srgbClr>
            </a:solidFill>
            <a:prstDash val="solid"/>
          </a:ln>
        </p:spPr>
        <p:txBody>
          <a:bodyPr/>
          <a:lstStyle/>
          <a:p>
            <a:endParaRPr lang="en-US"/>
          </a:p>
        </p:txBody>
      </p:sp>
      <p:sp>
        <p:nvSpPr>
          <p:cNvPr id="12" name="model-arrow-0-0-end">
            <a:extLst>
              <a:ext uri="{FF2B5EF4-FFF2-40B4-BE49-F238E27FC236}">
                <a16:creationId xmlns:a16="http://schemas.microsoft.com/office/drawing/2014/main" id="{CBD59F00-5FBC-453A-B847-9F5BFD8FD98D}"/>
              </a:ext>
            </a:extLst>
          </p:cNvPr>
          <p:cNvSpPr>
            <a:spLocks noGrp="1"/>
          </p:cNvSpPr>
          <p:nvPr/>
        </p:nvSpPr>
        <p:spPr>
          <a:xfrm>
            <a:off x="2000250" y="3429000"/>
            <a:ext cx="104775" cy="104775"/>
          </a:xfrm>
          <a:prstGeom prst="ellipse">
            <a:avLst/>
          </a:prstGeom>
          <a:solidFill>
            <a:srgbClr val="466D86"/>
          </a:solidFill>
          <a:ln w="0">
            <a:solidFill>
              <a:srgbClr val="000000">
                <a:alpha val="0"/>
              </a:srgbClr>
            </a:solidFill>
            <a:prstDash val="solid"/>
          </a:ln>
        </p:spPr>
        <p:txBody>
          <a:bodyPr/>
          <a:lstStyle/>
          <a:p>
            <a:endParaRPr lang="en-US"/>
          </a:p>
        </p:txBody>
      </p:sp>
      <p:sp>
        <p:nvSpPr>
          <p:cNvPr id="13" name="model-flow-0-1">
            <a:extLst>
              <a:ext uri="{FF2B5EF4-FFF2-40B4-BE49-F238E27FC236}">
                <a16:creationId xmlns:a16="http://schemas.microsoft.com/office/drawing/2014/main" id="{E7BBE413-6088-4CDF-A8E7-1D4A66A4D479}"/>
              </a:ext>
            </a:extLst>
          </p:cNvPr>
          <p:cNvSpPr>
            <a:spLocks noGrp="1"/>
          </p:cNvSpPr>
          <p:nvPr/>
        </p:nvSpPr>
        <p:spPr>
          <a:xfrm>
            <a:off x="2057400" y="3143250"/>
            <a:ext cx="1028700" cy="666750"/>
          </a:xfrm>
          <a:prstGeom prst="roundRect">
            <a:avLst>
              <a:gd name="adj" fmla="val 11429"/>
            </a:avLst>
          </a:prstGeom>
          <a:solidFill>
            <a:srgbClr val="DDE5DD"/>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EFC67219-6F77-4559-8207-35B40A8BB7F8}"/>
              </a:ext>
            </a:extLst>
          </p:cNvPr>
          <p:cNvSpPr>
            <a:spLocks noGrp="1"/>
          </p:cNvSpPr>
          <p:nvPr/>
        </p:nvSpPr>
        <p:spPr>
          <a:xfrm>
            <a:off x="2133600" y="3257550"/>
            <a:ext cx="8763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1">
                <a:solidFill>
                  <a:srgbClr val="17211D"/>
                </a:solidFill>
                <a:latin typeface="Aptos"/>
                <a:ea typeface="Aptos"/>
                <a:cs typeface="Aptos"/>
              </a:defRPr>
            </a:pPr>
            <a:r>
              <a:rPr sz="788" b="1">
                <a:solidFill>
                  <a:srgbClr val="17211D"/>
                </a:solidFill>
                <a:latin typeface="Aptos"/>
                <a:ea typeface="Aptos"/>
                <a:cs typeface="Aptos"/>
              </a:rPr>
              <a:t>Fashion-CLIP</a:t>
            </a:r>
          </a:p>
          <a:p>
            <a:pPr algn="ctr">
              <a:defRPr sz="788" b="1">
                <a:solidFill>
                  <a:srgbClr val="17211D"/>
                </a:solidFill>
                <a:latin typeface="Aptos"/>
                <a:ea typeface="Aptos"/>
                <a:cs typeface="Aptos"/>
              </a:defRPr>
            </a:pPr>
            <a:r>
              <a:rPr sz="788" b="1">
                <a:solidFill>
                  <a:srgbClr val="17211D"/>
                </a:solidFill>
                <a:latin typeface="Aptos"/>
                <a:ea typeface="Aptos"/>
                <a:cs typeface="Aptos"/>
              </a:rPr>
              <a:t>congelato</a:t>
            </a:r>
          </a:p>
        </p:txBody>
      </p:sp>
      <p:sp>
        <p:nvSpPr>
          <p:cNvPr id="15" name="model-arrow-0-1">
            <a:extLst>
              <a:ext uri="{FF2B5EF4-FFF2-40B4-BE49-F238E27FC236}">
                <a16:creationId xmlns:a16="http://schemas.microsoft.com/office/drawing/2014/main" id="{A47400C7-BB7E-4946-877B-90C375B370ED}"/>
              </a:ext>
            </a:extLst>
          </p:cNvPr>
          <p:cNvSpPr>
            <a:spLocks noGrp="1"/>
          </p:cNvSpPr>
          <p:nvPr/>
        </p:nvSpPr>
        <p:spPr>
          <a:xfrm>
            <a:off x="3086100" y="3476625"/>
            <a:ext cx="209550" cy="19050"/>
          </a:xfrm>
          <a:prstGeom prst="rect">
            <a:avLst/>
          </a:prstGeom>
          <a:solidFill>
            <a:srgbClr val="466D86"/>
          </a:solidFill>
          <a:ln w="0">
            <a:solidFill>
              <a:srgbClr val="000000">
                <a:alpha val="0"/>
              </a:srgbClr>
            </a:solidFill>
            <a:prstDash val="solid"/>
          </a:ln>
        </p:spPr>
        <p:txBody>
          <a:bodyPr/>
          <a:lstStyle/>
          <a:p>
            <a:endParaRPr lang="en-US"/>
          </a:p>
        </p:txBody>
      </p:sp>
      <p:sp>
        <p:nvSpPr>
          <p:cNvPr id="16" name="model-arrow-0-1-end">
            <a:extLst>
              <a:ext uri="{FF2B5EF4-FFF2-40B4-BE49-F238E27FC236}">
                <a16:creationId xmlns:a16="http://schemas.microsoft.com/office/drawing/2014/main" id="{A7B9E507-7018-47DB-BF9A-D2201C6E472C}"/>
              </a:ext>
            </a:extLst>
          </p:cNvPr>
          <p:cNvSpPr>
            <a:spLocks noGrp="1"/>
          </p:cNvSpPr>
          <p:nvPr/>
        </p:nvSpPr>
        <p:spPr>
          <a:xfrm>
            <a:off x="3238500" y="3429000"/>
            <a:ext cx="104775" cy="104775"/>
          </a:xfrm>
          <a:prstGeom prst="ellipse">
            <a:avLst/>
          </a:prstGeom>
          <a:solidFill>
            <a:srgbClr val="466D86"/>
          </a:solidFill>
          <a:ln w="0">
            <a:solidFill>
              <a:srgbClr val="000000">
                <a:alpha val="0"/>
              </a:srgbClr>
            </a:solidFill>
            <a:prstDash val="solid"/>
          </a:ln>
        </p:spPr>
        <p:txBody>
          <a:bodyPr/>
          <a:lstStyle/>
          <a:p>
            <a:endParaRPr lang="en-US"/>
          </a:p>
        </p:txBody>
      </p:sp>
      <p:sp>
        <p:nvSpPr>
          <p:cNvPr id="17" name="model-flow-0-2">
            <a:extLst>
              <a:ext uri="{FF2B5EF4-FFF2-40B4-BE49-F238E27FC236}">
                <a16:creationId xmlns:a16="http://schemas.microsoft.com/office/drawing/2014/main" id="{5A7FE669-852F-415D-941B-368AD2AC344D}"/>
              </a:ext>
            </a:extLst>
          </p:cNvPr>
          <p:cNvSpPr>
            <a:spLocks noGrp="1"/>
          </p:cNvSpPr>
          <p:nvPr/>
        </p:nvSpPr>
        <p:spPr>
          <a:xfrm>
            <a:off x="3295650" y="3143250"/>
            <a:ext cx="1028700" cy="666750"/>
          </a:xfrm>
          <a:prstGeom prst="roundRect">
            <a:avLst>
              <a:gd name="adj" fmla="val 11429"/>
            </a:avLst>
          </a:prstGeom>
          <a:solidFill>
            <a:srgbClr val="466D8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D6E4DBE7-51CF-477D-9059-53B03BA7E0C3}"/>
              </a:ext>
            </a:extLst>
          </p:cNvPr>
          <p:cNvSpPr>
            <a:spLocks noGrp="1"/>
          </p:cNvSpPr>
          <p:nvPr/>
        </p:nvSpPr>
        <p:spPr>
          <a:xfrm>
            <a:off x="3371850" y="3257550"/>
            <a:ext cx="8763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1">
                <a:solidFill>
                  <a:srgbClr val="FFFFFF"/>
                </a:solidFill>
                <a:latin typeface="Aptos"/>
                <a:ea typeface="Aptos"/>
                <a:cs typeface="Aptos"/>
              </a:defRPr>
            </a:pPr>
            <a:r>
              <a:rPr sz="788" b="1">
                <a:solidFill>
                  <a:srgbClr val="FFFFFF"/>
                </a:solidFill>
                <a:latin typeface="Aptos"/>
                <a:ea typeface="Aptos"/>
                <a:cs typeface="Aptos"/>
              </a:rPr>
              <a:t>MLP nostra</a:t>
            </a:r>
          </a:p>
        </p:txBody>
      </p:sp>
      <p:sp>
        <p:nvSpPr>
          <p:cNvPr id="19" name="model-arrow-0-2">
            <a:extLst>
              <a:ext uri="{FF2B5EF4-FFF2-40B4-BE49-F238E27FC236}">
                <a16:creationId xmlns:a16="http://schemas.microsoft.com/office/drawing/2014/main" id="{705FA1AF-7C1D-4664-AC6A-869DC15F24B8}"/>
              </a:ext>
            </a:extLst>
          </p:cNvPr>
          <p:cNvSpPr>
            <a:spLocks noGrp="1"/>
          </p:cNvSpPr>
          <p:nvPr/>
        </p:nvSpPr>
        <p:spPr>
          <a:xfrm>
            <a:off x="4324350" y="3476625"/>
            <a:ext cx="209550" cy="19050"/>
          </a:xfrm>
          <a:prstGeom prst="rect">
            <a:avLst/>
          </a:prstGeom>
          <a:solidFill>
            <a:srgbClr val="466D86"/>
          </a:solidFill>
          <a:ln w="0">
            <a:solidFill>
              <a:srgbClr val="000000">
                <a:alpha val="0"/>
              </a:srgbClr>
            </a:solidFill>
            <a:prstDash val="solid"/>
          </a:ln>
        </p:spPr>
        <p:txBody>
          <a:bodyPr/>
          <a:lstStyle/>
          <a:p>
            <a:endParaRPr lang="en-US"/>
          </a:p>
        </p:txBody>
      </p:sp>
      <p:sp>
        <p:nvSpPr>
          <p:cNvPr id="20" name="model-arrow-0-2-end">
            <a:extLst>
              <a:ext uri="{FF2B5EF4-FFF2-40B4-BE49-F238E27FC236}">
                <a16:creationId xmlns:a16="http://schemas.microsoft.com/office/drawing/2014/main" id="{1C2E04F3-7AE7-4FFA-BA98-F0EB84DE21B3}"/>
              </a:ext>
            </a:extLst>
          </p:cNvPr>
          <p:cNvSpPr>
            <a:spLocks noGrp="1"/>
          </p:cNvSpPr>
          <p:nvPr/>
        </p:nvSpPr>
        <p:spPr>
          <a:xfrm>
            <a:off x="4476750" y="3429000"/>
            <a:ext cx="104775" cy="104775"/>
          </a:xfrm>
          <a:prstGeom prst="ellipse">
            <a:avLst/>
          </a:prstGeom>
          <a:solidFill>
            <a:srgbClr val="466D86"/>
          </a:solidFill>
          <a:ln w="0">
            <a:solidFill>
              <a:srgbClr val="000000">
                <a:alpha val="0"/>
              </a:srgbClr>
            </a:solidFill>
            <a:prstDash val="solid"/>
          </a:ln>
        </p:spPr>
        <p:txBody>
          <a:bodyPr/>
          <a:lstStyle/>
          <a:p>
            <a:endParaRPr lang="en-US"/>
          </a:p>
        </p:txBody>
      </p:sp>
      <p:sp>
        <p:nvSpPr>
          <p:cNvPr id="21" name="model-flow-0-3">
            <a:extLst>
              <a:ext uri="{FF2B5EF4-FFF2-40B4-BE49-F238E27FC236}">
                <a16:creationId xmlns:a16="http://schemas.microsoft.com/office/drawing/2014/main" id="{4DBCFBB2-59DC-46BE-B6CE-CB5FEC0A9F4D}"/>
              </a:ext>
            </a:extLst>
          </p:cNvPr>
          <p:cNvSpPr>
            <a:spLocks noGrp="1"/>
          </p:cNvSpPr>
          <p:nvPr/>
        </p:nvSpPr>
        <p:spPr>
          <a:xfrm>
            <a:off x="4533900" y="3143250"/>
            <a:ext cx="1028700" cy="666750"/>
          </a:xfrm>
          <a:prstGeom prst="roundRect">
            <a:avLst>
              <a:gd name="adj" fmla="val 11429"/>
            </a:avLst>
          </a:prstGeom>
          <a:solidFill>
            <a:srgbClr val="DDE5DD"/>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5BA42BF2-9A28-4324-86EC-F307EECB0C8F}"/>
              </a:ext>
            </a:extLst>
          </p:cNvPr>
          <p:cNvSpPr>
            <a:spLocks noGrp="1"/>
          </p:cNvSpPr>
          <p:nvPr/>
        </p:nvSpPr>
        <p:spPr>
          <a:xfrm>
            <a:off x="4610100" y="3257550"/>
            <a:ext cx="8763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1">
                <a:solidFill>
                  <a:srgbClr val="17211D"/>
                </a:solidFill>
                <a:latin typeface="Aptos"/>
                <a:ea typeface="Aptos"/>
                <a:cs typeface="Aptos"/>
              </a:defRPr>
            </a:pPr>
            <a:r>
              <a:rPr sz="788" b="1">
                <a:solidFill>
                  <a:srgbClr val="17211D"/>
                </a:solidFill>
                <a:latin typeface="Aptos"/>
                <a:ea typeface="Aptos"/>
                <a:cs typeface="Aptos"/>
              </a:rPr>
              <a:t>3 stati</a:t>
            </a:r>
          </a:p>
        </p:txBody>
      </p:sp>
      <p:sp>
        <p:nvSpPr>
          <p:cNvPr id="23" name="Rectangle 22">
            <a:extLst>
              <a:ext uri="{FF2B5EF4-FFF2-40B4-BE49-F238E27FC236}">
                <a16:creationId xmlns:a16="http://schemas.microsoft.com/office/drawing/2014/main" id="{AD6CC808-B591-4D9A-BFF3-3B901896F584}"/>
              </a:ext>
            </a:extLst>
          </p:cNvPr>
          <p:cNvSpPr>
            <a:spLocks noGrp="1"/>
          </p:cNvSpPr>
          <p:nvPr/>
        </p:nvSpPr>
        <p:spPr>
          <a:xfrm>
            <a:off x="800100" y="4114800"/>
            <a:ext cx="14287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466D86"/>
                </a:solidFill>
                <a:latin typeface="Georgia"/>
                <a:ea typeface="Georgia"/>
                <a:cs typeface="Georgia"/>
              </a:defRPr>
            </a:pPr>
            <a:r>
              <a:rPr sz="2700" b="1">
                <a:solidFill>
                  <a:srgbClr val="466D86"/>
                </a:solidFill>
                <a:latin typeface="Georgia"/>
                <a:ea typeface="Georgia"/>
                <a:cs typeface="Georgia"/>
              </a:rPr>
              <a:t>≈ 94%</a:t>
            </a:r>
          </a:p>
        </p:txBody>
      </p:sp>
      <p:sp>
        <p:nvSpPr>
          <p:cNvPr id="24" name="Rectangle 23">
            <a:extLst>
              <a:ext uri="{FF2B5EF4-FFF2-40B4-BE49-F238E27FC236}">
                <a16:creationId xmlns:a16="http://schemas.microsoft.com/office/drawing/2014/main" id="{49132A11-348A-4F90-97C2-7D7309013445}"/>
              </a:ext>
            </a:extLst>
          </p:cNvPr>
          <p:cNvSpPr>
            <a:spLocks noGrp="1"/>
          </p:cNvSpPr>
          <p:nvPr/>
        </p:nvSpPr>
        <p:spPr>
          <a:xfrm>
            <a:off x="2343150" y="4171950"/>
            <a:ext cx="3143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1">
                <a:solidFill>
                  <a:srgbClr val="65736B"/>
                </a:solidFill>
                <a:latin typeface="Aptos"/>
                <a:ea typeface="Aptos"/>
                <a:cs typeface="Aptos"/>
              </a:defRPr>
            </a:pPr>
            <a:r>
              <a:rPr sz="863" b="1">
                <a:solidFill>
                  <a:srgbClr val="65736B"/>
                </a:solidFill>
                <a:latin typeface="Aptos"/>
                <a:ea typeface="Aptos"/>
                <a:cs typeface="Aptos"/>
              </a:rPr>
              <a:t>accuratezza su holdout locale</a:t>
            </a:r>
          </a:p>
        </p:txBody>
      </p:sp>
      <p:sp>
        <p:nvSpPr>
          <p:cNvPr id="25" name="Rectangle: Rounded Corners 24">
            <a:extLst>
              <a:ext uri="{FF2B5EF4-FFF2-40B4-BE49-F238E27FC236}">
                <a16:creationId xmlns:a16="http://schemas.microsoft.com/office/drawing/2014/main" id="{6165978D-1D16-4751-9534-075C3D41BFD0}"/>
              </a:ext>
            </a:extLst>
          </p:cNvPr>
          <p:cNvSpPr>
            <a:spLocks noGrp="1"/>
          </p:cNvSpPr>
          <p:nvPr/>
        </p:nvSpPr>
        <p:spPr>
          <a:xfrm>
            <a:off x="800100" y="4800600"/>
            <a:ext cx="4953000" cy="419100"/>
          </a:xfrm>
          <a:prstGeom prst="roundRect">
            <a:avLst>
              <a:gd name="adj" fmla="val 18182"/>
            </a:avLst>
          </a:prstGeom>
          <a:solidFill>
            <a:srgbClr val="EAE5DA"/>
          </a:solidFill>
          <a:ln w="0">
            <a:solidFill>
              <a:srgbClr val="000000">
                <a:alpha val="0"/>
              </a:srgbClr>
            </a:solidFill>
            <a:prstDash val="solid"/>
          </a:ln>
        </p:spPr>
        <p:txBody>
          <a:bodyPr/>
          <a:lstStyle/>
          <a:p>
            <a:endParaRPr lang="en-US"/>
          </a:p>
        </p:txBody>
      </p:sp>
      <p:sp>
        <p:nvSpPr>
          <p:cNvPr id="26" name="Rectangle 25">
            <a:extLst>
              <a:ext uri="{FF2B5EF4-FFF2-40B4-BE49-F238E27FC236}">
                <a16:creationId xmlns:a16="http://schemas.microsoft.com/office/drawing/2014/main" id="{F5431C7A-497B-4AB4-91FE-C7A07A7E2AC9}"/>
              </a:ext>
            </a:extLst>
          </p:cNvPr>
          <p:cNvSpPr>
            <a:spLocks noGrp="1"/>
          </p:cNvSpPr>
          <p:nvPr/>
        </p:nvSpPr>
        <p:spPr>
          <a:xfrm>
            <a:off x="933450" y="4895850"/>
            <a:ext cx="4686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0">
                <a:solidFill>
                  <a:srgbClr val="65736B"/>
                </a:solidFill>
                <a:latin typeface="Aptos"/>
                <a:ea typeface="Aptos"/>
                <a:cs typeface="Aptos"/>
              </a:defRPr>
            </a:pPr>
            <a:r>
              <a:rPr sz="788" b="0">
                <a:solidFill>
                  <a:srgbClr val="65736B"/>
                </a:solidFill>
                <a:latin typeface="Aptos"/>
                <a:ea typeface="Aptos"/>
                <a:cs typeface="Aptos"/>
              </a:rPr>
              <a:t>600 immagini · nessuna validazione esterna</a:t>
            </a:r>
          </a:p>
        </p:txBody>
      </p:sp>
      <p:sp>
        <p:nvSpPr>
          <p:cNvPr id="27" name="model-panel-2">
            <a:extLst>
              <a:ext uri="{FF2B5EF4-FFF2-40B4-BE49-F238E27FC236}">
                <a16:creationId xmlns:a16="http://schemas.microsoft.com/office/drawing/2014/main" id="{7EA2BA87-A49D-4F94-8CF7-BF7CA7DEC283}"/>
              </a:ext>
            </a:extLst>
          </p:cNvPr>
          <p:cNvSpPr>
            <a:spLocks noGrp="1"/>
          </p:cNvSpPr>
          <p:nvPr/>
        </p:nvSpPr>
        <p:spPr>
          <a:xfrm>
            <a:off x="6191250" y="1752600"/>
            <a:ext cx="5448300" cy="3676650"/>
          </a:xfrm>
          <a:prstGeom prst="roundRect">
            <a:avLst>
              <a:gd name="adj" fmla="val 2073"/>
            </a:avLst>
          </a:prstGeom>
          <a:solidFill>
            <a:srgbClr val="FFFFFF"/>
          </a:solidFill>
          <a:ln w="9525">
            <a:solidFill>
              <a:srgbClr val="B9C3BB"/>
            </a:solidFill>
            <a:prstDash val="solid"/>
          </a:ln>
        </p:spPr>
        <p:txBody>
          <a:bodyPr/>
          <a:lstStyle/>
          <a:p>
            <a:endParaRPr lang="en-US"/>
          </a:p>
        </p:txBody>
      </p:sp>
      <p:sp>
        <p:nvSpPr>
          <p:cNvPr id="28" name="Rectangle: Rounded Corners 27">
            <a:extLst>
              <a:ext uri="{FF2B5EF4-FFF2-40B4-BE49-F238E27FC236}">
                <a16:creationId xmlns:a16="http://schemas.microsoft.com/office/drawing/2014/main" id="{D810C02F-B69C-4C38-B60B-82417B1ACB07}"/>
              </a:ext>
            </a:extLst>
          </p:cNvPr>
          <p:cNvSpPr>
            <a:spLocks noGrp="1"/>
          </p:cNvSpPr>
          <p:nvPr/>
        </p:nvSpPr>
        <p:spPr>
          <a:xfrm>
            <a:off x="6438900" y="1981200"/>
            <a:ext cx="1962150" cy="285750"/>
          </a:xfrm>
          <a:prstGeom prst="roundRect">
            <a:avLst>
              <a:gd name="adj" fmla="val 26667"/>
            </a:avLst>
          </a:prstGeom>
          <a:solidFill>
            <a:srgbClr val="D56E42"/>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588B7C80-AF81-4009-B2AE-1B45D52C4B38}"/>
              </a:ext>
            </a:extLst>
          </p:cNvPr>
          <p:cNvSpPr>
            <a:spLocks noGrp="1"/>
          </p:cNvSpPr>
          <p:nvPr/>
        </p:nvSpPr>
        <p:spPr>
          <a:xfrm>
            <a:off x="6534150" y="2000250"/>
            <a:ext cx="17716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1">
                <a:solidFill>
                  <a:srgbClr val="FFFFFF"/>
                </a:solidFill>
                <a:latin typeface="Aptos"/>
                <a:ea typeface="Aptos"/>
                <a:cs typeface="Aptos"/>
              </a:defRPr>
            </a:pPr>
            <a:r>
              <a:rPr sz="713" b="1">
                <a:solidFill>
                  <a:srgbClr val="FFFFFF"/>
                </a:solidFill>
                <a:latin typeface="Aptos"/>
                <a:ea typeface="Aptos"/>
                <a:cs typeface="Aptos"/>
              </a:rPr>
              <a:t>MODELLO 2 · GAP</a:t>
            </a:r>
          </a:p>
        </p:txBody>
      </p:sp>
      <p:sp>
        <p:nvSpPr>
          <p:cNvPr id="30" name="Rectangle 29">
            <a:extLst>
              <a:ext uri="{FF2B5EF4-FFF2-40B4-BE49-F238E27FC236}">
                <a16:creationId xmlns:a16="http://schemas.microsoft.com/office/drawing/2014/main" id="{F944773F-4AF3-4F80-8246-B73D53F43362}"/>
              </a:ext>
            </a:extLst>
          </p:cNvPr>
          <p:cNvSpPr>
            <a:spLocks noGrp="1"/>
          </p:cNvSpPr>
          <p:nvPr/>
        </p:nvSpPr>
        <p:spPr>
          <a:xfrm>
            <a:off x="6438900" y="2419350"/>
            <a:ext cx="4953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17211D"/>
                </a:solidFill>
                <a:latin typeface="Georgia"/>
                <a:ea typeface="Georgia"/>
                <a:cs typeface="Georgia"/>
              </a:defRPr>
            </a:pPr>
            <a:r>
              <a:rPr sz="1725" b="1">
                <a:solidFill>
                  <a:srgbClr val="17211D"/>
                </a:solidFill>
                <a:latin typeface="Georgia"/>
                <a:ea typeface="Georgia"/>
                <a:cs typeface="Georgia"/>
              </a:rPr>
              <a:t>Cosa manca davvero al guardaroba?</a:t>
            </a:r>
          </a:p>
        </p:txBody>
      </p:sp>
      <p:sp>
        <p:nvSpPr>
          <p:cNvPr id="31" name="model-flow-1-0">
            <a:extLst>
              <a:ext uri="{FF2B5EF4-FFF2-40B4-BE49-F238E27FC236}">
                <a16:creationId xmlns:a16="http://schemas.microsoft.com/office/drawing/2014/main" id="{82DC9D58-46FC-4EA2-87F7-E81A4F0B29CF}"/>
              </a:ext>
            </a:extLst>
          </p:cNvPr>
          <p:cNvSpPr>
            <a:spLocks noGrp="1"/>
          </p:cNvSpPr>
          <p:nvPr/>
        </p:nvSpPr>
        <p:spPr>
          <a:xfrm>
            <a:off x="6457950" y="3143250"/>
            <a:ext cx="1028700" cy="666750"/>
          </a:xfrm>
          <a:prstGeom prst="roundRect">
            <a:avLst>
              <a:gd name="adj" fmla="val 11429"/>
            </a:avLst>
          </a:prstGeom>
          <a:solidFill>
            <a:srgbClr val="DDE5DD"/>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55F163F8-9A84-49D3-8160-30A392276ED3}"/>
              </a:ext>
            </a:extLst>
          </p:cNvPr>
          <p:cNvSpPr>
            <a:spLocks noGrp="1"/>
          </p:cNvSpPr>
          <p:nvPr/>
        </p:nvSpPr>
        <p:spPr>
          <a:xfrm>
            <a:off x="6534150" y="3257550"/>
            <a:ext cx="8763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1">
                <a:solidFill>
                  <a:srgbClr val="17211D"/>
                </a:solidFill>
                <a:latin typeface="Aptos"/>
                <a:ea typeface="Aptos"/>
                <a:cs typeface="Aptos"/>
              </a:defRPr>
            </a:pPr>
            <a:r>
              <a:rPr sz="788" b="1">
                <a:solidFill>
                  <a:srgbClr val="17211D"/>
                </a:solidFill>
                <a:latin typeface="Aptos"/>
                <a:ea typeface="Aptos"/>
                <a:cs typeface="Aptos"/>
              </a:rPr>
              <a:t>14 segnali</a:t>
            </a:r>
          </a:p>
        </p:txBody>
      </p:sp>
      <p:sp>
        <p:nvSpPr>
          <p:cNvPr id="33" name="model-arrow-1-0">
            <a:extLst>
              <a:ext uri="{FF2B5EF4-FFF2-40B4-BE49-F238E27FC236}">
                <a16:creationId xmlns:a16="http://schemas.microsoft.com/office/drawing/2014/main" id="{04BE8B1B-6443-412E-A410-EC34F5CFBBF9}"/>
              </a:ext>
            </a:extLst>
          </p:cNvPr>
          <p:cNvSpPr>
            <a:spLocks noGrp="1"/>
          </p:cNvSpPr>
          <p:nvPr/>
        </p:nvSpPr>
        <p:spPr>
          <a:xfrm>
            <a:off x="7486650" y="3476625"/>
            <a:ext cx="209550" cy="19050"/>
          </a:xfrm>
          <a:prstGeom prst="rect">
            <a:avLst/>
          </a:prstGeom>
          <a:solidFill>
            <a:srgbClr val="D56E42"/>
          </a:solidFill>
          <a:ln w="0">
            <a:solidFill>
              <a:srgbClr val="000000">
                <a:alpha val="0"/>
              </a:srgbClr>
            </a:solidFill>
            <a:prstDash val="solid"/>
          </a:ln>
        </p:spPr>
        <p:txBody>
          <a:bodyPr/>
          <a:lstStyle/>
          <a:p>
            <a:endParaRPr lang="en-US"/>
          </a:p>
        </p:txBody>
      </p:sp>
      <p:sp>
        <p:nvSpPr>
          <p:cNvPr id="34" name="model-arrow-1-0-end">
            <a:extLst>
              <a:ext uri="{FF2B5EF4-FFF2-40B4-BE49-F238E27FC236}">
                <a16:creationId xmlns:a16="http://schemas.microsoft.com/office/drawing/2014/main" id="{B50A20CB-E724-4009-81F9-54269DEA7FE4}"/>
              </a:ext>
            </a:extLst>
          </p:cNvPr>
          <p:cNvSpPr>
            <a:spLocks noGrp="1"/>
          </p:cNvSpPr>
          <p:nvPr/>
        </p:nvSpPr>
        <p:spPr>
          <a:xfrm>
            <a:off x="7639050" y="3429000"/>
            <a:ext cx="104775" cy="104775"/>
          </a:xfrm>
          <a:prstGeom prst="ellipse">
            <a:avLst/>
          </a:prstGeom>
          <a:solidFill>
            <a:srgbClr val="D56E42"/>
          </a:solidFill>
          <a:ln w="0">
            <a:solidFill>
              <a:srgbClr val="000000">
                <a:alpha val="0"/>
              </a:srgbClr>
            </a:solidFill>
            <a:prstDash val="solid"/>
          </a:ln>
        </p:spPr>
        <p:txBody>
          <a:bodyPr/>
          <a:lstStyle/>
          <a:p>
            <a:endParaRPr lang="en-US"/>
          </a:p>
        </p:txBody>
      </p:sp>
      <p:sp>
        <p:nvSpPr>
          <p:cNvPr id="35" name="model-flow-1-1">
            <a:extLst>
              <a:ext uri="{FF2B5EF4-FFF2-40B4-BE49-F238E27FC236}">
                <a16:creationId xmlns:a16="http://schemas.microsoft.com/office/drawing/2014/main" id="{80232617-3871-4BED-8AAE-053A860C0E60}"/>
              </a:ext>
            </a:extLst>
          </p:cNvPr>
          <p:cNvSpPr>
            <a:spLocks noGrp="1"/>
          </p:cNvSpPr>
          <p:nvPr/>
        </p:nvSpPr>
        <p:spPr>
          <a:xfrm>
            <a:off x="7696200" y="3143250"/>
            <a:ext cx="1028700" cy="666750"/>
          </a:xfrm>
          <a:prstGeom prst="roundRect">
            <a:avLst>
              <a:gd name="adj" fmla="val 11429"/>
            </a:avLst>
          </a:prstGeom>
          <a:solidFill>
            <a:srgbClr val="D56E42"/>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94B97469-8FFF-4686-A7A0-876F6D4E0E1B}"/>
              </a:ext>
            </a:extLst>
          </p:cNvPr>
          <p:cNvSpPr>
            <a:spLocks noGrp="1"/>
          </p:cNvSpPr>
          <p:nvPr/>
        </p:nvSpPr>
        <p:spPr>
          <a:xfrm>
            <a:off x="7772400" y="3257550"/>
            <a:ext cx="8763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1">
                <a:solidFill>
                  <a:srgbClr val="FFFFFF"/>
                </a:solidFill>
                <a:latin typeface="Aptos"/>
                <a:ea typeface="Aptos"/>
                <a:cs typeface="Aptos"/>
              </a:defRPr>
            </a:pPr>
            <a:r>
              <a:rPr sz="788" b="1">
                <a:solidFill>
                  <a:srgbClr val="FFFFFF"/>
                </a:solidFill>
                <a:latin typeface="Aptos"/>
                <a:ea typeface="Aptos"/>
                <a:cs typeface="Aptos"/>
              </a:rPr>
              <a:t>MLP nostra</a:t>
            </a:r>
          </a:p>
        </p:txBody>
      </p:sp>
      <p:sp>
        <p:nvSpPr>
          <p:cNvPr id="37" name="model-arrow-1-1">
            <a:extLst>
              <a:ext uri="{FF2B5EF4-FFF2-40B4-BE49-F238E27FC236}">
                <a16:creationId xmlns:a16="http://schemas.microsoft.com/office/drawing/2014/main" id="{4D1E5BA2-4C29-411B-BB38-91C3279D8AC8}"/>
              </a:ext>
            </a:extLst>
          </p:cNvPr>
          <p:cNvSpPr>
            <a:spLocks noGrp="1"/>
          </p:cNvSpPr>
          <p:nvPr/>
        </p:nvSpPr>
        <p:spPr>
          <a:xfrm>
            <a:off x="8724900" y="3476625"/>
            <a:ext cx="209550" cy="19050"/>
          </a:xfrm>
          <a:prstGeom prst="rect">
            <a:avLst/>
          </a:prstGeom>
          <a:solidFill>
            <a:srgbClr val="D56E42"/>
          </a:solidFill>
          <a:ln w="0">
            <a:solidFill>
              <a:srgbClr val="000000">
                <a:alpha val="0"/>
              </a:srgbClr>
            </a:solidFill>
            <a:prstDash val="solid"/>
          </a:ln>
        </p:spPr>
        <p:txBody>
          <a:bodyPr/>
          <a:lstStyle/>
          <a:p>
            <a:endParaRPr lang="en-US"/>
          </a:p>
        </p:txBody>
      </p:sp>
      <p:sp>
        <p:nvSpPr>
          <p:cNvPr id="38" name="model-arrow-1-1-end">
            <a:extLst>
              <a:ext uri="{FF2B5EF4-FFF2-40B4-BE49-F238E27FC236}">
                <a16:creationId xmlns:a16="http://schemas.microsoft.com/office/drawing/2014/main" id="{CE54EF80-C2A2-4DA3-B8CA-6DB400A4561E}"/>
              </a:ext>
            </a:extLst>
          </p:cNvPr>
          <p:cNvSpPr>
            <a:spLocks noGrp="1"/>
          </p:cNvSpPr>
          <p:nvPr/>
        </p:nvSpPr>
        <p:spPr>
          <a:xfrm>
            <a:off x="8877300" y="3429000"/>
            <a:ext cx="104775" cy="104775"/>
          </a:xfrm>
          <a:prstGeom prst="ellipse">
            <a:avLst/>
          </a:prstGeom>
          <a:solidFill>
            <a:srgbClr val="D56E42"/>
          </a:solidFill>
          <a:ln w="0">
            <a:solidFill>
              <a:srgbClr val="000000">
                <a:alpha val="0"/>
              </a:srgbClr>
            </a:solidFill>
            <a:prstDash val="solid"/>
          </a:ln>
        </p:spPr>
        <p:txBody>
          <a:bodyPr/>
          <a:lstStyle/>
          <a:p>
            <a:endParaRPr lang="en-US"/>
          </a:p>
        </p:txBody>
      </p:sp>
      <p:sp>
        <p:nvSpPr>
          <p:cNvPr id="39" name="model-flow-1-2">
            <a:extLst>
              <a:ext uri="{FF2B5EF4-FFF2-40B4-BE49-F238E27FC236}">
                <a16:creationId xmlns:a16="http://schemas.microsoft.com/office/drawing/2014/main" id="{B1096148-BD0D-4D81-9854-9D9699B885EB}"/>
              </a:ext>
            </a:extLst>
          </p:cNvPr>
          <p:cNvSpPr>
            <a:spLocks noGrp="1"/>
          </p:cNvSpPr>
          <p:nvPr/>
        </p:nvSpPr>
        <p:spPr>
          <a:xfrm>
            <a:off x="8934450" y="3143250"/>
            <a:ext cx="1028700" cy="666750"/>
          </a:xfrm>
          <a:prstGeom prst="roundRect">
            <a:avLst>
              <a:gd name="adj" fmla="val 11429"/>
            </a:avLst>
          </a:prstGeom>
          <a:solidFill>
            <a:srgbClr val="DDE5DD"/>
          </a:solidFill>
          <a:ln w="0">
            <a:solidFill>
              <a:srgbClr val="000000">
                <a:alpha val="0"/>
              </a:srgbClr>
            </a:solidFill>
            <a:prstDash val="solid"/>
          </a:ln>
        </p:spPr>
        <p:txBody>
          <a:bodyPr/>
          <a:lstStyle/>
          <a:p>
            <a:endParaRPr lang="en-US"/>
          </a:p>
        </p:txBody>
      </p:sp>
      <p:sp>
        <p:nvSpPr>
          <p:cNvPr id="40" name="Rectangle 39">
            <a:extLst>
              <a:ext uri="{FF2B5EF4-FFF2-40B4-BE49-F238E27FC236}">
                <a16:creationId xmlns:a16="http://schemas.microsoft.com/office/drawing/2014/main" id="{30E48C52-4147-4C9E-A189-BDB7E7C695EF}"/>
              </a:ext>
            </a:extLst>
          </p:cNvPr>
          <p:cNvSpPr>
            <a:spLocks noGrp="1"/>
          </p:cNvSpPr>
          <p:nvPr/>
        </p:nvSpPr>
        <p:spPr>
          <a:xfrm>
            <a:off x="9010650" y="3257550"/>
            <a:ext cx="8763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1">
                <a:solidFill>
                  <a:srgbClr val="17211D"/>
                </a:solidFill>
                <a:latin typeface="Aptos"/>
                <a:ea typeface="Aptos"/>
                <a:cs typeface="Aptos"/>
              </a:defRPr>
            </a:pPr>
            <a:r>
              <a:rPr sz="788" b="1">
                <a:solidFill>
                  <a:srgbClr val="17211D"/>
                </a:solidFill>
                <a:latin typeface="Aptos"/>
                <a:ea typeface="Aptos"/>
                <a:cs typeface="Aptos"/>
              </a:rPr>
              <a:t>6 gap</a:t>
            </a:r>
          </a:p>
        </p:txBody>
      </p:sp>
      <p:sp>
        <p:nvSpPr>
          <p:cNvPr id="41" name="model-arrow-1-2">
            <a:extLst>
              <a:ext uri="{FF2B5EF4-FFF2-40B4-BE49-F238E27FC236}">
                <a16:creationId xmlns:a16="http://schemas.microsoft.com/office/drawing/2014/main" id="{1476625F-E70F-4FA4-94DC-946CEF607074}"/>
              </a:ext>
            </a:extLst>
          </p:cNvPr>
          <p:cNvSpPr>
            <a:spLocks noGrp="1"/>
          </p:cNvSpPr>
          <p:nvPr/>
        </p:nvSpPr>
        <p:spPr>
          <a:xfrm>
            <a:off x="9963150" y="3476625"/>
            <a:ext cx="209550" cy="19050"/>
          </a:xfrm>
          <a:prstGeom prst="rect">
            <a:avLst/>
          </a:prstGeom>
          <a:solidFill>
            <a:srgbClr val="D56E42"/>
          </a:solidFill>
          <a:ln w="0">
            <a:solidFill>
              <a:srgbClr val="000000">
                <a:alpha val="0"/>
              </a:srgbClr>
            </a:solidFill>
            <a:prstDash val="solid"/>
          </a:ln>
        </p:spPr>
        <p:txBody>
          <a:bodyPr/>
          <a:lstStyle/>
          <a:p>
            <a:endParaRPr lang="en-US"/>
          </a:p>
        </p:txBody>
      </p:sp>
      <p:sp>
        <p:nvSpPr>
          <p:cNvPr id="42" name="model-arrow-1-2-end">
            <a:extLst>
              <a:ext uri="{FF2B5EF4-FFF2-40B4-BE49-F238E27FC236}">
                <a16:creationId xmlns:a16="http://schemas.microsoft.com/office/drawing/2014/main" id="{4293C9D8-7646-4E1C-9F4A-D727951CA89D}"/>
              </a:ext>
            </a:extLst>
          </p:cNvPr>
          <p:cNvSpPr>
            <a:spLocks noGrp="1"/>
          </p:cNvSpPr>
          <p:nvPr/>
        </p:nvSpPr>
        <p:spPr>
          <a:xfrm>
            <a:off x="10115550" y="3429000"/>
            <a:ext cx="104775" cy="104775"/>
          </a:xfrm>
          <a:prstGeom prst="ellipse">
            <a:avLst/>
          </a:prstGeom>
          <a:solidFill>
            <a:srgbClr val="D56E42"/>
          </a:solidFill>
          <a:ln w="0">
            <a:solidFill>
              <a:srgbClr val="000000">
                <a:alpha val="0"/>
              </a:srgbClr>
            </a:solidFill>
            <a:prstDash val="solid"/>
          </a:ln>
        </p:spPr>
        <p:txBody>
          <a:bodyPr/>
          <a:lstStyle/>
          <a:p>
            <a:endParaRPr lang="en-US"/>
          </a:p>
        </p:txBody>
      </p:sp>
      <p:sp>
        <p:nvSpPr>
          <p:cNvPr id="43" name="model-flow-1-3">
            <a:extLst>
              <a:ext uri="{FF2B5EF4-FFF2-40B4-BE49-F238E27FC236}">
                <a16:creationId xmlns:a16="http://schemas.microsoft.com/office/drawing/2014/main" id="{0634D60C-5808-475B-A924-48B72DFBF378}"/>
              </a:ext>
            </a:extLst>
          </p:cNvPr>
          <p:cNvSpPr>
            <a:spLocks noGrp="1"/>
          </p:cNvSpPr>
          <p:nvPr/>
        </p:nvSpPr>
        <p:spPr>
          <a:xfrm>
            <a:off x="10172700" y="3143250"/>
            <a:ext cx="1028700" cy="666750"/>
          </a:xfrm>
          <a:prstGeom prst="roundRect">
            <a:avLst>
              <a:gd name="adj" fmla="val 11429"/>
            </a:avLst>
          </a:prstGeom>
          <a:solidFill>
            <a:srgbClr val="DDE5DD"/>
          </a:solidFill>
          <a:ln w="0">
            <a:solidFill>
              <a:srgbClr val="000000">
                <a:alpha val="0"/>
              </a:srgbClr>
            </a:solidFill>
            <a:prstDash val="solid"/>
          </a:ln>
        </p:spPr>
        <p:txBody>
          <a:bodyPr/>
          <a:lstStyle/>
          <a:p>
            <a:endParaRPr lang="en-US"/>
          </a:p>
        </p:txBody>
      </p:sp>
      <p:sp>
        <p:nvSpPr>
          <p:cNvPr id="44" name="Rectangle 43">
            <a:extLst>
              <a:ext uri="{FF2B5EF4-FFF2-40B4-BE49-F238E27FC236}">
                <a16:creationId xmlns:a16="http://schemas.microsoft.com/office/drawing/2014/main" id="{E89B444E-82F7-43A4-A32D-D7E4C557C783}"/>
              </a:ext>
            </a:extLst>
          </p:cNvPr>
          <p:cNvSpPr>
            <a:spLocks noGrp="1"/>
          </p:cNvSpPr>
          <p:nvPr/>
        </p:nvSpPr>
        <p:spPr>
          <a:xfrm>
            <a:off x="10248900" y="3257550"/>
            <a:ext cx="8763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1">
                <a:solidFill>
                  <a:srgbClr val="17211D"/>
                </a:solidFill>
                <a:latin typeface="Aptos"/>
                <a:ea typeface="Aptos"/>
                <a:cs typeface="Aptos"/>
              </a:defRPr>
            </a:pPr>
            <a:r>
              <a:rPr sz="788" b="1">
                <a:solidFill>
                  <a:srgbClr val="17211D"/>
                </a:solidFill>
                <a:latin typeface="Aptos"/>
                <a:ea typeface="Aptos"/>
                <a:cs typeface="Aptos"/>
              </a:rPr>
              <a:t>consiglio</a:t>
            </a:r>
          </a:p>
        </p:txBody>
      </p:sp>
      <p:sp>
        <p:nvSpPr>
          <p:cNvPr id="45" name="Rectangle 44">
            <a:extLst>
              <a:ext uri="{FF2B5EF4-FFF2-40B4-BE49-F238E27FC236}">
                <a16:creationId xmlns:a16="http://schemas.microsoft.com/office/drawing/2014/main" id="{10C61251-D3D3-477F-809D-BFB283F0B792}"/>
              </a:ext>
            </a:extLst>
          </p:cNvPr>
          <p:cNvSpPr>
            <a:spLocks noGrp="1"/>
          </p:cNvSpPr>
          <p:nvPr/>
        </p:nvSpPr>
        <p:spPr>
          <a:xfrm>
            <a:off x="6438900" y="4114800"/>
            <a:ext cx="14287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D56E42"/>
                </a:solidFill>
                <a:latin typeface="Georgia"/>
                <a:ea typeface="Georgia"/>
                <a:cs typeface="Georgia"/>
              </a:defRPr>
            </a:pPr>
            <a:r>
              <a:rPr sz="2700" b="1">
                <a:solidFill>
                  <a:srgbClr val="D56E42"/>
                </a:solidFill>
                <a:latin typeface="Georgia"/>
                <a:ea typeface="Georgia"/>
                <a:cs typeface="Georgia"/>
              </a:rPr>
              <a:t>≈ 0,945</a:t>
            </a:r>
          </a:p>
        </p:txBody>
      </p:sp>
      <p:sp>
        <p:nvSpPr>
          <p:cNvPr id="46" name="Rectangle 45">
            <a:extLst>
              <a:ext uri="{FF2B5EF4-FFF2-40B4-BE49-F238E27FC236}">
                <a16:creationId xmlns:a16="http://schemas.microsoft.com/office/drawing/2014/main" id="{B6CB4626-AD10-411C-8433-C9B4037CB964}"/>
              </a:ext>
            </a:extLst>
          </p:cNvPr>
          <p:cNvSpPr>
            <a:spLocks noGrp="1"/>
          </p:cNvSpPr>
          <p:nvPr/>
        </p:nvSpPr>
        <p:spPr>
          <a:xfrm>
            <a:off x="7981950" y="4171950"/>
            <a:ext cx="3143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1">
                <a:solidFill>
                  <a:srgbClr val="65736B"/>
                </a:solidFill>
                <a:latin typeface="Aptos"/>
                <a:ea typeface="Aptos"/>
                <a:cs typeface="Aptos"/>
              </a:defRPr>
            </a:pPr>
            <a:r>
              <a:rPr sz="863" b="1">
                <a:solidFill>
                  <a:srgbClr val="65736B"/>
                </a:solidFill>
                <a:latin typeface="Aptos"/>
                <a:ea typeface="Aptos"/>
                <a:cs typeface="Aptos"/>
              </a:rPr>
              <a:t>micro-F1 su holdout simulato</a:t>
            </a:r>
          </a:p>
        </p:txBody>
      </p:sp>
      <p:sp>
        <p:nvSpPr>
          <p:cNvPr id="47" name="Rectangle: Rounded Corners 46">
            <a:extLst>
              <a:ext uri="{FF2B5EF4-FFF2-40B4-BE49-F238E27FC236}">
                <a16:creationId xmlns:a16="http://schemas.microsoft.com/office/drawing/2014/main" id="{38B75315-D92B-4F2A-8A81-9382B5334B20}"/>
              </a:ext>
            </a:extLst>
          </p:cNvPr>
          <p:cNvSpPr>
            <a:spLocks noGrp="1"/>
          </p:cNvSpPr>
          <p:nvPr/>
        </p:nvSpPr>
        <p:spPr>
          <a:xfrm>
            <a:off x="6438900" y="4800600"/>
            <a:ext cx="4953000" cy="419100"/>
          </a:xfrm>
          <a:prstGeom prst="roundRect">
            <a:avLst>
              <a:gd name="adj" fmla="val 18182"/>
            </a:avLst>
          </a:prstGeom>
          <a:solidFill>
            <a:srgbClr val="EAE5DA"/>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A3AD1835-70B7-4FAC-ADE0-581A95B53EF2}"/>
              </a:ext>
            </a:extLst>
          </p:cNvPr>
          <p:cNvSpPr>
            <a:spLocks noGrp="1"/>
          </p:cNvSpPr>
          <p:nvPr/>
        </p:nvSpPr>
        <p:spPr>
          <a:xfrm>
            <a:off x="6572250" y="4895850"/>
            <a:ext cx="4686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0">
                <a:solidFill>
                  <a:srgbClr val="65736B"/>
                </a:solidFill>
                <a:latin typeface="Aptos"/>
                <a:ea typeface="Aptos"/>
                <a:cs typeface="Aptos"/>
              </a:defRPr>
            </a:pPr>
            <a:r>
              <a:rPr sz="788" b="0">
                <a:solidFill>
                  <a:srgbClr val="65736B"/>
                </a:solidFill>
                <a:latin typeface="Aptos"/>
                <a:ea typeface="Aptos"/>
                <a:cs typeface="Aptos"/>
              </a:rPr>
              <a:t>5.000 armadi simulati · etichette da regole</a:t>
            </a:r>
          </a:p>
        </p:txBody>
      </p:sp>
      <p:sp>
        <p:nvSpPr>
          <p:cNvPr id="49" name="notebooks-band">
            <a:extLst>
              <a:ext uri="{FF2B5EF4-FFF2-40B4-BE49-F238E27FC236}">
                <a16:creationId xmlns:a16="http://schemas.microsoft.com/office/drawing/2014/main" id="{63A69620-2CAF-4E07-8E13-C9649E074B9F}"/>
              </a:ext>
            </a:extLst>
          </p:cNvPr>
          <p:cNvSpPr>
            <a:spLocks noGrp="1"/>
          </p:cNvSpPr>
          <p:nvPr/>
        </p:nvSpPr>
        <p:spPr>
          <a:xfrm>
            <a:off x="552450" y="5657850"/>
            <a:ext cx="11087100" cy="476250"/>
          </a:xfrm>
          <a:prstGeom prst="roundRect">
            <a:avLst>
              <a:gd name="adj" fmla="val 16000"/>
            </a:avLst>
          </a:prstGeom>
          <a:solidFill>
            <a:srgbClr val="123C31"/>
          </a:solidFill>
          <a:ln w="0">
            <a:solidFill>
              <a:srgbClr val="000000">
                <a:alpha val="0"/>
              </a:srgbClr>
            </a:solidFill>
            <a:prstDash val="solid"/>
          </a:ln>
        </p:spPr>
        <p:txBody>
          <a:bodyPr/>
          <a:lstStyle/>
          <a:p>
            <a:endParaRPr lang="en-US"/>
          </a:p>
        </p:txBody>
      </p:sp>
      <p:sp>
        <p:nvSpPr>
          <p:cNvPr id="50" name="Rectangle 49">
            <a:extLst>
              <a:ext uri="{FF2B5EF4-FFF2-40B4-BE49-F238E27FC236}">
                <a16:creationId xmlns:a16="http://schemas.microsoft.com/office/drawing/2014/main" id="{0CAEB304-4444-4C45-BF88-4C218D9E9C31}"/>
              </a:ext>
            </a:extLst>
          </p:cNvPr>
          <p:cNvSpPr>
            <a:spLocks noGrp="1"/>
          </p:cNvSpPr>
          <p:nvPr/>
        </p:nvSpPr>
        <p:spPr>
          <a:xfrm>
            <a:off x="781050" y="5753100"/>
            <a:ext cx="28003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FFFFFF"/>
                </a:solidFill>
                <a:latin typeface="Georgia"/>
                <a:ea typeface="Georgia"/>
                <a:cs typeface="Georgia"/>
              </a:defRPr>
            </a:pPr>
            <a:r>
              <a:rPr sz="1200" b="1">
                <a:solidFill>
                  <a:srgbClr val="FFFFFF"/>
                </a:solidFill>
                <a:latin typeface="Georgia"/>
                <a:ea typeface="Georgia"/>
                <a:cs typeface="Georgia"/>
              </a:rPr>
              <a:t>5 notebook autonomi per l’esame</a:t>
            </a:r>
          </a:p>
        </p:txBody>
      </p:sp>
      <p:sp>
        <p:nvSpPr>
          <p:cNvPr id="51" name="Rectangle: Rounded Corners 50">
            <a:extLst>
              <a:ext uri="{FF2B5EF4-FFF2-40B4-BE49-F238E27FC236}">
                <a16:creationId xmlns:a16="http://schemas.microsoft.com/office/drawing/2014/main" id="{3DC455AB-A949-45E4-B5E0-C8F6C4DC338B}"/>
              </a:ext>
            </a:extLst>
          </p:cNvPr>
          <p:cNvSpPr>
            <a:spLocks noGrp="1"/>
          </p:cNvSpPr>
          <p:nvPr/>
        </p:nvSpPr>
        <p:spPr>
          <a:xfrm>
            <a:off x="4019550" y="5753100"/>
            <a:ext cx="1428750" cy="285750"/>
          </a:xfrm>
          <a:prstGeom prst="roundRect">
            <a:avLst>
              <a:gd name="adj" fmla="val 26667"/>
            </a:avLst>
          </a:prstGeom>
          <a:solidFill>
            <a:srgbClr val="B9D94A"/>
          </a:solidFill>
          <a:ln w="0">
            <a:solidFill>
              <a:srgbClr val="000000">
                <a:alpha val="0"/>
              </a:srgbClr>
            </a:solidFill>
            <a:prstDash val="solid"/>
          </a:ln>
        </p:spPr>
        <p:txBody>
          <a:bodyPr/>
          <a:lstStyle/>
          <a:p>
            <a:endParaRPr lang="en-US"/>
          </a:p>
        </p:txBody>
      </p:sp>
      <p:sp>
        <p:nvSpPr>
          <p:cNvPr id="52" name="Rectangle 51">
            <a:extLst>
              <a:ext uri="{FF2B5EF4-FFF2-40B4-BE49-F238E27FC236}">
                <a16:creationId xmlns:a16="http://schemas.microsoft.com/office/drawing/2014/main" id="{D6AA999F-64E2-4A77-855E-2B956F723956}"/>
              </a:ext>
            </a:extLst>
          </p:cNvPr>
          <p:cNvSpPr>
            <a:spLocks noGrp="1"/>
          </p:cNvSpPr>
          <p:nvPr/>
        </p:nvSpPr>
        <p:spPr>
          <a:xfrm>
            <a:off x="4114800" y="5772150"/>
            <a:ext cx="1238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1">
                <a:solidFill>
                  <a:srgbClr val="123C31"/>
                </a:solidFill>
                <a:latin typeface="Aptos"/>
                <a:ea typeface="Aptos"/>
                <a:cs typeface="Aptos"/>
              </a:defRPr>
            </a:pPr>
            <a:r>
              <a:rPr sz="713" b="1">
                <a:solidFill>
                  <a:srgbClr val="123C31"/>
                </a:solidFill>
                <a:latin typeface="Aptos"/>
                <a:ea typeface="Aptos"/>
                <a:cs typeface="Aptos"/>
              </a:rPr>
              <a:t>2 RUNTIME</a:t>
            </a:r>
          </a:p>
        </p:txBody>
      </p:sp>
      <p:sp>
        <p:nvSpPr>
          <p:cNvPr id="53" name="Rectangle: Rounded Corners 52">
            <a:extLst>
              <a:ext uri="{FF2B5EF4-FFF2-40B4-BE49-F238E27FC236}">
                <a16:creationId xmlns:a16="http://schemas.microsoft.com/office/drawing/2014/main" id="{707C0B72-B531-4677-ABDD-7C374BBD8045}"/>
              </a:ext>
            </a:extLst>
          </p:cNvPr>
          <p:cNvSpPr>
            <a:spLocks noGrp="1"/>
          </p:cNvSpPr>
          <p:nvPr/>
        </p:nvSpPr>
        <p:spPr>
          <a:xfrm>
            <a:off x="5657850" y="5753100"/>
            <a:ext cx="2857500" cy="285750"/>
          </a:xfrm>
          <a:prstGeom prst="roundRect">
            <a:avLst>
              <a:gd name="adj" fmla="val 26667"/>
            </a:avLst>
          </a:prstGeom>
          <a:solidFill>
            <a:srgbClr val="285B49"/>
          </a:solidFill>
          <a:ln w="0">
            <a:solidFill>
              <a:srgbClr val="000000">
                <a:alpha val="0"/>
              </a:srgbClr>
            </a:solidFill>
            <a:prstDash val="solid"/>
          </a:ln>
        </p:spPr>
        <p:txBody>
          <a:bodyPr/>
          <a:lstStyle/>
          <a:p>
            <a:endParaRPr lang="en-US"/>
          </a:p>
        </p:txBody>
      </p:sp>
      <p:sp>
        <p:nvSpPr>
          <p:cNvPr id="54" name="Rectangle 53">
            <a:extLst>
              <a:ext uri="{FF2B5EF4-FFF2-40B4-BE49-F238E27FC236}">
                <a16:creationId xmlns:a16="http://schemas.microsoft.com/office/drawing/2014/main" id="{C1474C35-0039-4EFE-A630-3AFADE96EA5A}"/>
              </a:ext>
            </a:extLst>
          </p:cNvPr>
          <p:cNvSpPr>
            <a:spLocks noGrp="1"/>
          </p:cNvSpPr>
          <p:nvPr/>
        </p:nvSpPr>
        <p:spPr>
          <a:xfrm>
            <a:off x="5753100" y="5772150"/>
            <a:ext cx="2667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1">
                <a:solidFill>
                  <a:srgbClr val="FFFFFF"/>
                </a:solidFill>
                <a:latin typeface="Aptos"/>
                <a:ea typeface="Aptos"/>
                <a:cs typeface="Aptos"/>
              </a:defRPr>
            </a:pPr>
            <a:r>
              <a:rPr sz="713" b="1">
                <a:solidFill>
                  <a:srgbClr val="FFFFFF"/>
                </a:solidFill>
                <a:latin typeface="Aptos"/>
                <a:ea typeface="Aptos"/>
                <a:cs typeface="Aptos"/>
              </a:rPr>
              <a:t>3 ACCADEMICI · NON NELLA UI</a:t>
            </a:r>
          </a:p>
        </p:txBody>
      </p:sp>
      <p:sp>
        <p:nvSpPr>
          <p:cNvPr id="55" name="Rectangle 54">
            <a:extLst>
              <a:ext uri="{FF2B5EF4-FFF2-40B4-BE49-F238E27FC236}">
                <a16:creationId xmlns:a16="http://schemas.microsoft.com/office/drawing/2014/main" id="{E33F22C8-FFB2-4156-9C64-8F6E5B794636}"/>
              </a:ext>
            </a:extLst>
          </p:cNvPr>
          <p:cNvSpPr>
            <a:spLocks noGrp="1"/>
          </p:cNvSpPr>
          <p:nvPr/>
        </p:nvSpPr>
        <p:spPr>
          <a:xfrm>
            <a:off x="8763000" y="5772150"/>
            <a:ext cx="2571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DDE5DD"/>
                </a:solidFill>
                <a:latin typeface="Aptos"/>
                <a:ea typeface="Aptos"/>
                <a:cs typeface="Aptos"/>
              </a:defRPr>
            </a:pPr>
            <a:r>
              <a:rPr sz="750" b="0">
                <a:solidFill>
                  <a:srgbClr val="DDE5DD"/>
                </a:solidFill>
                <a:latin typeface="Aptos"/>
                <a:ea typeface="Aptos"/>
                <a:cs typeface="Aptos"/>
              </a:rPr>
              <a:t>codice · commenti · metriche · limiti</a:t>
            </a:r>
          </a:p>
        </p:txBody>
      </p:sp>
      <p:sp>
        <p:nvSpPr>
          <p:cNvPr id="56" name="footer-rule">
            <a:extLst>
              <a:ext uri="{FF2B5EF4-FFF2-40B4-BE49-F238E27FC236}">
                <a16:creationId xmlns:a16="http://schemas.microsoft.com/office/drawing/2014/main" id="{9F38D7C5-F022-485E-A56C-54B7658C3AF1}"/>
              </a:ext>
            </a:extLst>
          </p:cNvPr>
          <p:cNvSpPr>
            <a:spLocks noGrp="1"/>
          </p:cNvSpPr>
          <p:nvPr/>
        </p:nvSpPr>
        <p:spPr>
          <a:xfrm>
            <a:off x="552450" y="6457950"/>
            <a:ext cx="11087100" cy="9525"/>
          </a:xfrm>
          <a:prstGeom prst="rect">
            <a:avLst/>
          </a:prstGeom>
          <a:solidFill>
            <a:srgbClr val="B9C3BB"/>
          </a:solidFill>
          <a:ln w="0">
            <a:solidFill>
              <a:srgbClr val="000000">
                <a:alpha val="0"/>
              </a:srgbClr>
            </a:solidFill>
            <a:prstDash val="solid"/>
          </a:ln>
        </p:spPr>
        <p:txBody>
          <a:bodyPr/>
          <a:lstStyle/>
          <a:p>
            <a:endParaRPr lang="en-US"/>
          </a:p>
        </p:txBody>
      </p:sp>
      <p:sp>
        <p:nvSpPr>
          <p:cNvPr id="57" name="footer-source">
            <a:extLst>
              <a:ext uri="{FF2B5EF4-FFF2-40B4-BE49-F238E27FC236}">
                <a16:creationId xmlns:a16="http://schemas.microsoft.com/office/drawing/2014/main" id="{FE4E92E8-DBB3-46B7-A927-56A554C0C545}"/>
              </a:ext>
            </a:extLst>
          </p:cNvPr>
          <p:cNvSpPr>
            <a:spLocks noGrp="1"/>
          </p:cNvSpPr>
          <p:nvPr/>
        </p:nvSpPr>
        <p:spPr>
          <a:xfrm>
            <a:off x="552450" y="6534150"/>
            <a:ext cx="10001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65736B"/>
                </a:solidFill>
                <a:latin typeface="Aptos"/>
                <a:ea typeface="Aptos"/>
                <a:cs typeface="Aptos"/>
              </a:defRPr>
            </a:pPr>
            <a:r>
              <a:rPr sz="563" b="0">
                <a:solidFill>
                  <a:srgbClr val="65736B"/>
                </a:solidFill>
                <a:latin typeface="Aptos"/>
                <a:ea typeface="Aptos"/>
                <a:cs typeface="Aptos"/>
              </a:rPr>
              <a:t>Fashion-CLIP resta congelato; addestriamo solo le MLP applicative</a:t>
            </a:r>
          </a:p>
        </p:txBody>
      </p:sp>
      <p:sp>
        <p:nvSpPr>
          <p:cNvPr id="58" name="page-marker">
            <a:extLst>
              <a:ext uri="{FF2B5EF4-FFF2-40B4-BE49-F238E27FC236}">
                <a16:creationId xmlns:a16="http://schemas.microsoft.com/office/drawing/2014/main" id="{48617BE1-ABC6-4235-90A7-C55540DA3575}"/>
              </a:ext>
            </a:extLst>
          </p:cNvPr>
          <p:cNvSpPr>
            <a:spLocks noGrp="1"/>
          </p:cNvSpPr>
          <p:nvPr/>
        </p:nvSpPr>
        <p:spPr>
          <a:xfrm>
            <a:off x="11087100" y="6505575"/>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65736B"/>
                </a:solidFill>
                <a:latin typeface="Georgia"/>
                <a:ea typeface="Georgia"/>
                <a:cs typeface="Georgia"/>
              </a:defRPr>
            </a:pPr>
            <a:r>
              <a:rPr sz="750" b="1">
                <a:solidFill>
                  <a:srgbClr val="65736B"/>
                </a:solidFill>
                <a:latin typeface="Georgia"/>
                <a:ea typeface="Georgia"/>
                <a:cs typeface="Georgia"/>
              </a:rPr>
              <a:t>12</a:t>
            </a:r>
          </a:p>
        </p:txBody>
      </p:sp>
    </p:spTree>
    <p:extLst>
      <p:ext uri="{BB962C8B-B14F-4D97-AF65-F5344CB8AC3E}">
        <p14:creationId xmlns:p14="http://schemas.microsoft.com/office/powerpoint/2010/main" val="149241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background">
            <a:extLst>
              <a:ext uri="{FF2B5EF4-FFF2-40B4-BE49-F238E27FC236}">
                <a16:creationId xmlns:a16="http://schemas.microsoft.com/office/drawing/2014/main" id="{43E64189-D9D6-43CF-BADE-D13CF468E801}"/>
              </a:ext>
            </a:extLst>
          </p:cNvPr>
          <p:cNvSpPr>
            <a:spLocks noGrp="1"/>
          </p:cNvSpPr>
          <p:nvPr/>
        </p:nvSpPr>
        <p:spPr>
          <a:xfrm>
            <a:off x="0" y="0"/>
            <a:ext cx="12192000" cy="6858000"/>
          </a:xfrm>
          <a:prstGeom prst="rect">
            <a:avLst/>
          </a:prstGeom>
          <a:solidFill>
            <a:srgbClr val="F4F0E7"/>
          </a:solidFill>
          <a:ln w="0">
            <a:solidFill>
              <a:srgbClr val="000000">
                <a:alpha val="0"/>
              </a:srgbClr>
            </a:solidFill>
            <a:prstDash val="solid"/>
          </a:ln>
        </p:spPr>
        <p:txBody>
          <a:bodyPr/>
          <a:lstStyle/>
          <a:p>
            <a:endParaRPr lang="en-US"/>
          </a:p>
        </p:txBody>
      </p:sp>
      <p:sp>
        <p:nvSpPr>
          <p:cNvPr id="2" name="kicker-marker">
            <a:extLst>
              <a:ext uri="{FF2B5EF4-FFF2-40B4-BE49-F238E27FC236}">
                <a16:creationId xmlns:a16="http://schemas.microsoft.com/office/drawing/2014/main" id="{83B66261-B65D-440C-9EE2-BECA65D61C22}"/>
              </a:ext>
            </a:extLst>
          </p:cNvPr>
          <p:cNvSpPr>
            <a:spLocks noGrp="1"/>
          </p:cNvSpPr>
          <p:nvPr/>
        </p:nvSpPr>
        <p:spPr>
          <a:xfrm>
            <a:off x="552450" y="400050"/>
            <a:ext cx="95250" cy="95250"/>
          </a:xfrm>
          <a:prstGeom prst="ellipse">
            <a:avLst/>
          </a:prstGeom>
          <a:solidFill>
            <a:srgbClr val="2F7D5B"/>
          </a:solidFill>
          <a:ln w="0">
            <a:solidFill>
              <a:srgbClr val="000000">
                <a:alpha val="0"/>
              </a:srgbClr>
            </a:solidFill>
            <a:prstDash val="solid"/>
          </a:ln>
        </p:spPr>
        <p:txBody>
          <a:bodyPr/>
          <a:lstStyle/>
          <a:p>
            <a:endParaRPr lang="en-US"/>
          </a:p>
        </p:txBody>
      </p:sp>
      <p:sp>
        <p:nvSpPr>
          <p:cNvPr id="3" name="kicker-label">
            <a:extLst>
              <a:ext uri="{FF2B5EF4-FFF2-40B4-BE49-F238E27FC236}">
                <a16:creationId xmlns:a16="http://schemas.microsoft.com/office/drawing/2014/main" id="{FA4FF419-096A-4E64-8435-3EB37C38BF99}"/>
              </a:ext>
            </a:extLst>
          </p:cNvPr>
          <p:cNvSpPr>
            <a:spLocks noGrp="1"/>
          </p:cNvSpPr>
          <p:nvPr/>
        </p:nvSpPr>
        <p:spPr>
          <a:xfrm>
            <a:off x="762000" y="361950"/>
            <a:ext cx="571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65736B"/>
                </a:solidFill>
                <a:latin typeface="Aptos"/>
                <a:ea typeface="Aptos"/>
                <a:cs typeface="Aptos"/>
              </a:defRPr>
            </a:pPr>
            <a:r>
              <a:rPr sz="675" b="1">
                <a:solidFill>
                  <a:srgbClr val="65736B"/>
                </a:solidFill>
                <a:latin typeface="Aptos"/>
                <a:ea typeface="Aptos"/>
                <a:cs typeface="Aptos"/>
              </a:rPr>
              <a:t>S C E L T E   T E C N I C H E   ·   R E G O L E   E   G E N E R A Z I O N E</a:t>
            </a:r>
          </a:p>
        </p:txBody>
      </p:sp>
      <p:sp>
        <p:nvSpPr>
          <p:cNvPr id="4" name="claim-title">
            <a:extLst>
              <a:ext uri="{FF2B5EF4-FFF2-40B4-BE49-F238E27FC236}">
                <a16:creationId xmlns:a16="http://schemas.microsoft.com/office/drawing/2014/main" id="{A61AAFAE-6D49-4CE9-92D9-B76AB17EB209}"/>
              </a:ext>
            </a:extLst>
          </p:cNvPr>
          <p:cNvSpPr>
            <a:spLocks noGrp="1"/>
          </p:cNvSpPr>
          <p:nvPr/>
        </p:nvSpPr>
        <p:spPr>
          <a:xfrm>
            <a:off x="552450" y="723900"/>
            <a:ext cx="10668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925" b="1">
                <a:solidFill>
                  <a:srgbClr val="17211D"/>
                </a:solidFill>
                <a:latin typeface="Georgia"/>
                <a:ea typeface="Georgia"/>
                <a:cs typeface="Georgia"/>
              </a:defRPr>
            </a:pPr>
            <a:r>
              <a:rPr sz="2925" b="1">
                <a:solidFill>
                  <a:srgbClr val="17211D"/>
                </a:solidFill>
                <a:latin typeface="Georgia"/>
                <a:ea typeface="Georgia"/>
                <a:cs typeface="Georgia"/>
              </a:rPr>
              <a:t>Il core è spiegabile. La generazione è un livello opzionale.</a:t>
            </a:r>
          </a:p>
        </p:txBody>
      </p:sp>
      <p:sp>
        <p:nvSpPr>
          <p:cNvPr id="5" name="rules-panel">
            <a:extLst>
              <a:ext uri="{FF2B5EF4-FFF2-40B4-BE49-F238E27FC236}">
                <a16:creationId xmlns:a16="http://schemas.microsoft.com/office/drawing/2014/main" id="{07608F5A-CB90-461F-84E5-A1BCBF0A7831}"/>
              </a:ext>
            </a:extLst>
          </p:cNvPr>
          <p:cNvSpPr>
            <a:spLocks noGrp="1"/>
          </p:cNvSpPr>
          <p:nvPr/>
        </p:nvSpPr>
        <p:spPr>
          <a:xfrm>
            <a:off x="552450" y="1752600"/>
            <a:ext cx="5353050" cy="4076700"/>
          </a:xfrm>
          <a:prstGeom prst="roundRect">
            <a:avLst>
              <a:gd name="adj" fmla="val 1869"/>
            </a:avLst>
          </a:prstGeom>
          <a:solidFill>
            <a:srgbClr val="123C31"/>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3087682F-411D-4ED9-A2B2-1369FBCD691A}"/>
              </a:ext>
            </a:extLst>
          </p:cNvPr>
          <p:cNvSpPr>
            <a:spLocks noGrp="1"/>
          </p:cNvSpPr>
          <p:nvPr/>
        </p:nvSpPr>
        <p:spPr>
          <a:xfrm>
            <a:off x="838200" y="205740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B9D94A"/>
                </a:solidFill>
                <a:latin typeface="Aptos"/>
                <a:ea typeface="Aptos"/>
                <a:cs typeface="Aptos"/>
              </a:defRPr>
            </a:pPr>
            <a:r>
              <a:rPr sz="675" b="1">
                <a:solidFill>
                  <a:srgbClr val="B9D94A"/>
                </a:solidFill>
                <a:latin typeface="Aptos"/>
                <a:ea typeface="Aptos"/>
                <a:cs typeface="Aptos"/>
              </a:rPr>
              <a:t>REGOLE TRASPARENTI · CORE</a:t>
            </a:r>
          </a:p>
        </p:txBody>
      </p:sp>
      <p:sp>
        <p:nvSpPr>
          <p:cNvPr id="7" name="Oval 6">
            <a:extLst>
              <a:ext uri="{FF2B5EF4-FFF2-40B4-BE49-F238E27FC236}">
                <a16:creationId xmlns:a16="http://schemas.microsoft.com/office/drawing/2014/main" id="{C10CB3CC-A7FB-4835-AB74-4B1054193774}"/>
              </a:ext>
            </a:extLst>
          </p:cNvPr>
          <p:cNvSpPr>
            <a:spLocks noGrp="1"/>
          </p:cNvSpPr>
          <p:nvPr/>
        </p:nvSpPr>
        <p:spPr>
          <a:xfrm>
            <a:off x="838200" y="2514600"/>
            <a:ext cx="419100" cy="419100"/>
          </a:xfrm>
          <a:prstGeom prst="ellipse">
            <a:avLst/>
          </a:prstGeom>
          <a:solidFill>
            <a:srgbClr val="2F7D5B"/>
          </a:solidFill>
          <a:ln w="0">
            <a:solidFill>
              <a:srgbClr val="000000">
                <a:alpha val="0"/>
              </a:srgbClr>
            </a:solidFill>
            <a:prstDash val="solid"/>
          </a:ln>
        </p:spPr>
        <p:txBody>
          <a:bodyPr/>
          <a:lstStyle/>
          <a:p>
            <a:endParaRPr lang="en-US"/>
          </a:p>
        </p:txBody>
      </p:sp>
      <p:pic>
        <p:nvPicPr>
          <p:cNvPr id="8" name="Graphic 7"/>
          <p:cNvPicPr>
            <a:picLocks noChangeAspect="1"/>
          </p:cNvPicPr>
          <p:nvPr/>
        </p:nvPicPr>
        <p:blipFill>
          <a:blip>
            <a:extLst>
              <a:ext uri="{96DAC541-7B7A-43D3-8B79-37D633B846F1}">
                <asvg:svgBlip xmlns:asvg="http://schemas.microsoft.com/office/drawing/2016/SVG/main" r:embed="rId3"/>
              </a:ext>
            </a:extLst>
          </a:blip>
          <a:stretch/>
        </p:blipFill>
        <p:spPr>
          <a:xfrm>
            <a:off x="942975" y="2619375"/>
            <a:ext cx="209550" cy="209550"/>
          </a:xfrm>
          <a:prstGeom prst="rect">
            <a:avLst/>
          </a:prstGeom>
        </p:spPr>
      </p:pic>
      <p:sp>
        <p:nvSpPr>
          <p:cNvPr id="9" name="Rectangle 8">
            <a:extLst>
              <a:ext uri="{FF2B5EF4-FFF2-40B4-BE49-F238E27FC236}">
                <a16:creationId xmlns:a16="http://schemas.microsoft.com/office/drawing/2014/main" id="{31C069A1-ACBF-493C-BB63-A6C58B799EDD}"/>
              </a:ext>
            </a:extLst>
          </p:cNvPr>
          <p:cNvSpPr>
            <a:spLocks noGrp="1"/>
          </p:cNvSpPr>
          <p:nvPr/>
        </p:nvSpPr>
        <p:spPr>
          <a:xfrm>
            <a:off x="1428750" y="2505075"/>
            <a:ext cx="1447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Georgia"/>
                <a:ea typeface="Georgia"/>
                <a:cs typeface="Georgia"/>
              </a:defRPr>
            </a:pPr>
            <a:r>
              <a:rPr sz="1125" b="1">
                <a:solidFill>
                  <a:srgbClr val="FFFFFF"/>
                </a:solidFill>
                <a:latin typeface="Georgia"/>
                <a:ea typeface="Georgia"/>
                <a:cs typeface="Georgia"/>
              </a:rPr>
              <a:t>Ghost</a:t>
            </a:r>
          </a:p>
        </p:txBody>
      </p:sp>
      <p:sp>
        <p:nvSpPr>
          <p:cNvPr id="10" name="Rectangle 9">
            <a:extLst>
              <a:ext uri="{FF2B5EF4-FFF2-40B4-BE49-F238E27FC236}">
                <a16:creationId xmlns:a16="http://schemas.microsoft.com/office/drawing/2014/main" id="{67403BD4-77E5-46FC-B6D3-4B8037F23004}"/>
              </a:ext>
            </a:extLst>
          </p:cNvPr>
          <p:cNvSpPr>
            <a:spLocks noGrp="1"/>
          </p:cNvSpPr>
          <p:nvPr/>
        </p:nvSpPr>
        <p:spPr>
          <a:xfrm>
            <a:off x="1428750" y="2790825"/>
            <a:ext cx="4038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DDE5DD"/>
                </a:solidFill>
                <a:latin typeface="Aptos"/>
                <a:ea typeface="Aptos"/>
                <a:cs typeface="Aptos"/>
              </a:defRPr>
            </a:pPr>
            <a:r>
              <a:rPr sz="825" b="0">
                <a:solidFill>
                  <a:srgbClr val="DDE5DD"/>
                </a:solidFill>
                <a:latin typeface="Aptos"/>
                <a:ea typeface="Aptos"/>
                <a:cs typeface="Aptos"/>
              </a:rPr>
              <a:t>attivo + 0 usi + 30 giorni</a:t>
            </a:r>
          </a:p>
        </p:txBody>
      </p:sp>
      <p:sp>
        <p:nvSpPr>
          <p:cNvPr id="11" name="Oval 10">
            <a:extLst>
              <a:ext uri="{FF2B5EF4-FFF2-40B4-BE49-F238E27FC236}">
                <a16:creationId xmlns:a16="http://schemas.microsoft.com/office/drawing/2014/main" id="{ECE39529-9D07-4894-B20A-E4A51185360E}"/>
              </a:ext>
            </a:extLst>
          </p:cNvPr>
          <p:cNvSpPr>
            <a:spLocks noGrp="1"/>
          </p:cNvSpPr>
          <p:nvPr/>
        </p:nvSpPr>
        <p:spPr>
          <a:xfrm>
            <a:off x="838200" y="3228975"/>
            <a:ext cx="419100" cy="419100"/>
          </a:xfrm>
          <a:prstGeom prst="ellipse">
            <a:avLst/>
          </a:prstGeom>
          <a:solidFill>
            <a:srgbClr val="2F7D5B"/>
          </a:solidFill>
          <a:ln w="0">
            <a:solidFill>
              <a:srgbClr val="000000">
                <a:alpha val="0"/>
              </a:srgbClr>
            </a:solidFill>
            <a:prstDash val="solid"/>
          </a:ln>
        </p:spPr>
        <p:txBody>
          <a:bodyPr/>
          <a:lstStyle/>
          <a:p>
            <a:endParaRPr lang="en-US"/>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42975" y="3333750"/>
            <a:ext cx="209550" cy="209550"/>
          </a:xfrm>
          <a:prstGeom prst="rect">
            <a:avLst/>
          </a:prstGeom>
        </p:spPr>
      </p:pic>
      <p:sp>
        <p:nvSpPr>
          <p:cNvPr id="13" name="Rectangle 12">
            <a:extLst>
              <a:ext uri="{FF2B5EF4-FFF2-40B4-BE49-F238E27FC236}">
                <a16:creationId xmlns:a16="http://schemas.microsoft.com/office/drawing/2014/main" id="{002F379F-B45B-4D93-A558-D8EA3F82CE03}"/>
              </a:ext>
            </a:extLst>
          </p:cNvPr>
          <p:cNvSpPr>
            <a:spLocks noGrp="1"/>
          </p:cNvSpPr>
          <p:nvPr/>
        </p:nvSpPr>
        <p:spPr>
          <a:xfrm>
            <a:off x="1428750" y="3219450"/>
            <a:ext cx="1447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Georgia"/>
                <a:ea typeface="Georgia"/>
                <a:cs typeface="Georgia"/>
              </a:defRPr>
            </a:pPr>
            <a:r>
              <a:rPr sz="1125" b="1">
                <a:solidFill>
                  <a:srgbClr val="FFFFFF"/>
                </a:solidFill>
                <a:latin typeface="Georgia"/>
                <a:ea typeface="Georgia"/>
                <a:cs typeface="Georgia"/>
              </a:rPr>
              <a:t>Cost-per-wear</a:t>
            </a:r>
          </a:p>
        </p:txBody>
      </p:sp>
      <p:sp>
        <p:nvSpPr>
          <p:cNvPr id="14" name="Rectangle 13">
            <a:extLst>
              <a:ext uri="{FF2B5EF4-FFF2-40B4-BE49-F238E27FC236}">
                <a16:creationId xmlns:a16="http://schemas.microsoft.com/office/drawing/2014/main" id="{BEE924EA-6B78-4E6B-BF4D-5E50BC66BCD7}"/>
              </a:ext>
            </a:extLst>
          </p:cNvPr>
          <p:cNvSpPr>
            <a:spLocks noGrp="1"/>
          </p:cNvSpPr>
          <p:nvPr/>
        </p:nvSpPr>
        <p:spPr>
          <a:xfrm>
            <a:off x="1428750" y="3505200"/>
            <a:ext cx="4038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DDE5DD"/>
                </a:solidFill>
                <a:latin typeface="Aptos"/>
                <a:ea typeface="Aptos"/>
                <a:cs typeface="Aptos"/>
              </a:defRPr>
            </a:pPr>
            <a:r>
              <a:rPr sz="825" b="0">
                <a:solidFill>
                  <a:srgbClr val="DDE5DD"/>
                </a:solidFill>
                <a:latin typeface="Aptos"/>
                <a:ea typeface="Aptos"/>
                <a:cs typeface="Aptos"/>
              </a:rPr>
              <a:t>prezzo ÷ utilizzi</a:t>
            </a:r>
          </a:p>
        </p:txBody>
      </p:sp>
      <p:sp>
        <p:nvSpPr>
          <p:cNvPr id="15" name="Oval 14">
            <a:extLst>
              <a:ext uri="{FF2B5EF4-FFF2-40B4-BE49-F238E27FC236}">
                <a16:creationId xmlns:a16="http://schemas.microsoft.com/office/drawing/2014/main" id="{AE8332F3-6732-4575-A760-55F650F04A43}"/>
              </a:ext>
            </a:extLst>
          </p:cNvPr>
          <p:cNvSpPr>
            <a:spLocks noGrp="1"/>
          </p:cNvSpPr>
          <p:nvPr/>
        </p:nvSpPr>
        <p:spPr>
          <a:xfrm>
            <a:off x="838200" y="3943350"/>
            <a:ext cx="419100" cy="419100"/>
          </a:xfrm>
          <a:prstGeom prst="ellipse">
            <a:avLst/>
          </a:prstGeom>
          <a:solidFill>
            <a:srgbClr val="2F7D5B"/>
          </a:solidFill>
          <a:ln w="0">
            <a:solidFill>
              <a:srgbClr val="000000">
                <a:alpha val="0"/>
              </a:srgbClr>
            </a:solidFill>
            <a:prstDash val="solid"/>
          </a:ln>
        </p:spPr>
        <p:txBody>
          <a:bodyPr/>
          <a:lstStyle/>
          <a:p>
            <a:endParaRPr lang="en-US"/>
          </a:p>
        </p:txBody>
      </p:sp>
      <p:pic>
        <p:nvPicPr>
          <p:cNvPr id="16" name="Graphic 15"/>
          <p:cNvPicPr>
            <a:picLocks noChangeAspect="1"/>
          </p:cNvPicPr>
          <p:nvPr/>
        </p:nvPicPr>
        <p:blipFill>
          <a:blip>
            <a:extLst>
              <a:ext uri="{96DAC541-7B7A-43D3-8B79-37D633B846F1}">
                <asvg:svgBlip xmlns:asvg="http://schemas.microsoft.com/office/drawing/2016/SVG/main" r:embed="rId5"/>
              </a:ext>
            </a:extLst>
          </a:blip>
          <a:stretch/>
        </p:blipFill>
        <p:spPr>
          <a:xfrm>
            <a:off x="942975" y="4048125"/>
            <a:ext cx="209550" cy="209550"/>
          </a:xfrm>
          <a:prstGeom prst="rect">
            <a:avLst/>
          </a:prstGeom>
        </p:spPr>
      </p:pic>
      <p:sp>
        <p:nvSpPr>
          <p:cNvPr id="17" name="Rectangle 16">
            <a:extLst>
              <a:ext uri="{FF2B5EF4-FFF2-40B4-BE49-F238E27FC236}">
                <a16:creationId xmlns:a16="http://schemas.microsoft.com/office/drawing/2014/main" id="{CAF970D1-08B5-4B6A-8578-FAB144755898}"/>
              </a:ext>
            </a:extLst>
          </p:cNvPr>
          <p:cNvSpPr>
            <a:spLocks noGrp="1"/>
          </p:cNvSpPr>
          <p:nvPr/>
        </p:nvSpPr>
        <p:spPr>
          <a:xfrm>
            <a:off x="1428750" y="3933825"/>
            <a:ext cx="1447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Georgia"/>
                <a:ea typeface="Georgia"/>
                <a:cs typeface="Georgia"/>
              </a:defRPr>
            </a:pPr>
            <a:r>
              <a:rPr sz="1125" b="1">
                <a:solidFill>
                  <a:srgbClr val="FFFFFF"/>
                </a:solidFill>
                <a:latin typeface="Georgia"/>
                <a:ea typeface="Georgia"/>
                <a:cs typeface="Georgia"/>
              </a:rPr>
              <a:t>Outfit</a:t>
            </a:r>
          </a:p>
        </p:txBody>
      </p:sp>
      <p:sp>
        <p:nvSpPr>
          <p:cNvPr id="18" name="Rectangle 17">
            <a:extLst>
              <a:ext uri="{FF2B5EF4-FFF2-40B4-BE49-F238E27FC236}">
                <a16:creationId xmlns:a16="http://schemas.microsoft.com/office/drawing/2014/main" id="{50AE5B29-C08E-4B6C-B922-C3A72B6B404A}"/>
              </a:ext>
            </a:extLst>
          </p:cNvPr>
          <p:cNvSpPr>
            <a:spLocks noGrp="1"/>
          </p:cNvSpPr>
          <p:nvPr/>
        </p:nvSpPr>
        <p:spPr>
          <a:xfrm>
            <a:off x="1428750" y="4219575"/>
            <a:ext cx="4038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DDE5DD"/>
                </a:solidFill>
                <a:latin typeface="Aptos"/>
                <a:ea typeface="Aptos"/>
                <a:cs typeface="Aptos"/>
              </a:defRPr>
            </a:pPr>
            <a:r>
              <a:rPr sz="825" b="0">
                <a:solidFill>
                  <a:srgbClr val="DDE5DD"/>
                </a:solidFill>
                <a:latin typeface="Aptos"/>
                <a:ea typeface="Aptos"/>
                <a:cs typeface="Aptos"/>
              </a:rPr>
              <a:t>colore + meteo + ghost + feedback</a:t>
            </a:r>
          </a:p>
        </p:txBody>
      </p:sp>
      <p:sp>
        <p:nvSpPr>
          <p:cNvPr id="19" name="Oval 18">
            <a:extLst>
              <a:ext uri="{FF2B5EF4-FFF2-40B4-BE49-F238E27FC236}">
                <a16:creationId xmlns:a16="http://schemas.microsoft.com/office/drawing/2014/main" id="{D03E6C1B-D5F4-4A53-ABBB-F1D6F9858A4E}"/>
              </a:ext>
            </a:extLst>
          </p:cNvPr>
          <p:cNvSpPr>
            <a:spLocks noGrp="1"/>
          </p:cNvSpPr>
          <p:nvPr/>
        </p:nvSpPr>
        <p:spPr>
          <a:xfrm>
            <a:off x="838200" y="4657725"/>
            <a:ext cx="419100" cy="419100"/>
          </a:xfrm>
          <a:prstGeom prst="ellipse">
            <a:avLst/>
          </a:prstGeom>
          <a:solidFill>
            <a:srgbClr val="B9D94A"/>
          </a:solidFill>
          <a:ln w="0">
            <a:solidFill>
              <a:srgbClr val="000000">
                <a:alpha val="0"/>
              </a:srgbClr>
            </a:solidFill>
            <a:prstDash val="solid"/>
          </a:ln>
        </p:spPr>
        <p:txBody>
          <a:bodyPr/>
          <a:lstStyle/>
          <a:p>
            <a:endParaRPr lang="en-US"/>
          </a:p>
        </p:txBody>
      </p:sp>
      <p:pic>
        <p:nvPicPr>
          <p:cNvPr id="20" name="Graphic 19"/>
          <p:cNvPicPr>
            <a:picLocks noChangeAspect="1"/>
          </p:cNvPicPr>
          <p:nvPr/>
        </p:nvPicPr>
        <p:blipFill>
          <a:blip>
            <a:extLst>
              <a:ext uri="{96DAC541-7B7A-43D3-8B79-37D633B846F1}">
                <asvg:svgBlip xmlns:asvg="http://schemas.microsoft.com/office/drawing/2016/SVG/main" r:embed="rId6"/>
              </a:ext>
            </a:extLst>
          </a:blip>
          <a:stretch/>
        </p:blipFill>
        <p:spPr>
          <a:xfrm>
            <a:off x="942975" y="4762500"/>
            <a:ext cx="209550" cy="209550"/>
          </a:xfrm>
          <a:prstGeom prst="rect">
            <a:avLst/>
          </a:prstGeom>
        </p:spPr>
      </p:pic>
      <p:sp>
        <p:nvSpPr>
          <p:cNvPr id="21" name="Rectangle 20">
            <a:extLst>
              <a:ext uri="{FF2B5EF4-FFF2-40B4-BE49-F238E27FC236}">
                <a16:creationId xmlns:a16="http://schemas.microsoft.com/office/drawing/2014/main" id="{129CB6A9-1581-4CE1-8600-AEF71F06F932}"/>
              </a:ext>
            </a:extLst>
          </p:cNvPr>
          <p:cNvSpPr>
            <a:spLocks noGrp="1"/>
          </p:cNvSpPr>
          <p:nvPr/>
        </p:nvSpPr>
        <p:spPr>
          <a:xfrm>
            <a:off x="1428750" y="4648200"/>
            <a:ext cx="1447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Georgia"/>
                <a:ea typeface="Georgia"/>
                <a:cs typeface="Georgia"/>
              </a:defRPr>
            </a:pPr>
            <a:r>
              <a:rPr sz="1125" b="1">
                <a:solidFill>
                  <a:srgbClr val="FFFFFF"/>
                </a:solidFill>
                <a:latin typeface="Georgia"/>
                <a:ea typeface="Georgia"/>
                <a:cs typeface="Georgia"/>
              </a:rPr>
              <a:t>Impatto</a:t>
            </a:r>
          </a:p>
        </p:txBody>
      </p:sp>
      <p:sp>
        <p:nvSpPr>
          <p:cNvPr id="22" name="Rectangle 21">
            <a:extLst>
              <a:ext uri="{FF2B5EF4-FFF2-40B4-BE49-F238E27FC236}">
                <a16:creationId xmlns:a16="http://schemas.microsoft.com/office/drawing/2014/main" id="{9A1A1D8A-1BBA-42B5-AD31-31B42D089E91}"/>
              </a:ext>
            </a:extLst>
          </p:cNvPr>
          <p:cNvSpPr>
            <a:spLocks noGrp="1"/>
          </p:cNvSpPr>
          <p:nvPr/>
        </p:nvSpPr>
        <p:spPr>
          <a:xfrm>
            <a:off x="1428750" y="4933950"/>
            <a:ext cx="4038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DDE5DD"/>
                </a:solidFill>
                <a:latin typeface="Aptos"/>
                <a:ea typeface="Aptos"/>
                <a:cs typeface="Aptos"/>
              </a:defRPr>
            </a:pPr>
            <a:r>
              <a:rPr sz="825" b="0">
                <a:solidFill>
                  <a:srgbClr val="DDE5DD"/>
                </a:solidFill>
                <a:latin typeface="Aptos"/>
                <a:ea typeface="Aptos"/>
                <a:cs typeface="Aptos"/>
              </a:rPr>
              <a:t>media categoria × fattore azione</a:t>
            </a:r>
          </a:p>
        </p:txBody>
      </p:sp>
      <p:sp>
        <p:nvSpPr>
          <p:cNvPr id="23" name="generative-panel">
            <a:extLst>
              <a:ext uri="{FF2B5EF4-FFF2-40B4-BE49-F238E27FC236}">
                <a16:creationId xmlns:a16="http://schemas.microsoft.com/office/drawing/2014/main" id="{C198CA84-5FB1-4B0D-90F2-BCE1BD2111BF}"/>
              </a:ext>
            </a:extLst>
          </p:cNvPr>
          <p:cNvSpPr>
            <a:spLocks noGrp="1"/>
          </p:cNvSpPr>
          <p:nvPr/>
        </p:nvSpPr>
        <p:spPr>
          <a:xfrm>
            <a:off x="6191250" y="1752600"/>
            <a:ext cx="5448300" cy="4076700"/>
          </a:xfrm>
          <a:prstGeom prst="roundRect">
            <a:avLst>
              <a:gd name="adj" fmla="val 1869"/>
            </a:avLst>
          </a:prstGeom>
          <a:solidFill>
            <a:srgbClr val="FFFFFF"/>
          </a:solidFill>
          <a:ln w="9525">
            <a:solidFill>
              <a:srgbClr val="B9C3BB"/>
            </a:solidFill>
            <a:prstDash val="solid"/>
          </a:ln>
        </p:spPr>
        <p:txBody>
          <a:bodyPr/>
          <a:lstStyle/>
          <a:p>
            <a:endParaRPr lang="en-US"/>
          </a:p>
        </p:txBody>
      </p:sp>
      <p:sp>
        <p:nvSpPr>
          <p:cNvPr id="24" name="Rectangle 23">
            <a:extLst>
              <a:ext uri="{FF2B5EF4-FFF2-40B4-BE49-F238E27FC236}">
                <a16:creationId xmlns:a16="http://schemas.microsoft.com/office/drawing/2014/main" id="{9A3B1CDB-64CD-4D28-AEDA-D827532B181F}"/>
              </a:ext>
            </a:extLst>
          </p:cNvPr>
          <p:cNvSpPr>
            <a:spLocks noGrp="1"/>
          </p:cNvSpPr>
          <p:nvPr/>
        </p:nvSpPr>
        <p:spPr>
          <a:xfrm>
            <a:off x="6496050" y="205740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D56E42"/>
                </a:solidFill>
                <a:latin typeface="Aptos"/>
                <a:ea typeface="Aptos"/>
                <a:cs typeface="Aptos"/>
              </a:defRPr>
            </a:pPr>
            <a:r>
              <a:rPr sz="675" b="1">
                <a:solidFill>
                  <a:srgbClr val="D56E42"/>
                </a:solidFill>
                <a:latin typeface="Aptos"/>
                <a:ea typeface="Aptos"/>
                <a:cs typeface="Aptos"/>
              </a:rPr>
              <a:t>GENERATIVO · OPZIONALE</a:t>
            </a:r>
          </a:p>
        </p:txBody>
      </p:sp>
      <p:sp>
        <p:nvSpPr>
          <p:cNvPr id="25" name="Oval 24">
            <a:extLst>
              <a:ext uri="{FF2B5EF4-FFF2-40B4-BE49-F238E27FC236}">
                <a16:creationId xmlns:a16="http://schemas.microsoft.com/office/drawing/2014/main" id="{CF78B361-1D00-4647-B666-6537F0F6CC01}"/>
              </a:ext>
            </a:extLst>
          </p:cNvPr>
          <p:cNvSpPr>
            <a:spLocks noGrp="1"/>
          </p:cNvSpPr>
          <p:nvPr/>
        </p:nvSpPr>
        <p:spPr>
          <a:xfrm>
            <a:off x="6496050" y="2609850"/>
            <a:ext cx="628650" cy="628650"/>
          </a:xfrm>
          <a:prstGeom prst="ellipse">
            <a:avLst/>
          </a:prstGeom>
          <a:solidFill>
            <a:srgbClr val="466D86"/>
          </a:solidFill>
          <a:ln w="0">
            <a:solidFill>
              <a:srgbClr val="000000">
                <a:alpha val="0"/>
              </a:srgbClr>
            </a:solidFill>
            <a:prstDash val="solid"/>
          </a:ln>
        </p:spPr>
        <p:txBody>
          <a:bodyPr/>
          <a:lstStyle/>
          <a:p>
            <a:endParaRPr lang="en-US"/>
          </a:p>
        </p:txBody>
      </p:sp>
      <p:pic>
        <p:nvPicPr>
          <p:cNvPr id="26" name="Graphic 25"/>
          <p:cNvPicPr>
            <a:picLocks noChangeAspect="1"/>
          </p:cNvPicPr>
          <p:nvPr/>
        </p:nvPicPr>
        <p:blipFill>
          <a:blip>
            <a:extLst>
              <a:ext uri="{96DAC541-7B7A-43D3-8B79-37D633B846F1}">
                <asvg:svgBlip xmlns:asvg="http://schemas.microsoft.com/office/drawing/2016/SVG/main" r:embed="rId7"/>
              </a:ext>
            </a:extLst>
          </a:blip>
          <a:stretch/>
        </p:blipFill>
        <p:spPr>
          <a:xfrm>
            <a:off x="6657975" y="2771775"/>
            <a:ext cx="304800" cy="304800"/>
          </a:xfrm>
          <a:prstGeom prst="rect">
            <a:avLst/>
          </a:prstGeom>
        </p:spPr>
      </p:pic>
      <p:sp>
        <p:nvSpPr>
          <p:cNvPr id="27" name="Rectangle 26">
            <a:extLst>
              <a:ext uri="{FF2B5EF4-FFF2-40B4-BE49-F238E27FC236}">
                <a16:creationId xmlns:a16="http://schemas.microsoft.com/office/drawing/2014/main" id="{9F90320C-3D08-4940-B930-F137C5FABC3C}"/>
              </a:ext>
            </a:extLst>
          </p:cNvPr>
          <p:cNvSpPr>
            <a:spLocks noGrp="1"/>
          </p:cNvSpPr>
          <p:nvPr/>
        </p:nvSpPr>
        <p:spPr>
          <a:xfrm>
            <a:off x="7353300" y="2628900"/>
            <a:ext cx="3714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17211D"/>
                </a:solidFill>
                <a:latin typeface="Georgia"/>
                <a:ea typeface="Georgia"/>
                <a:cs typeface="Georgia"/>
              </a:defRPr>
            </a:pPr>
            <a:r>
              <a:rPr sz="1575" b="1">
                <a:solidFill>
                  <a:srgbClr val="17211D"/>
                </a:solidFill>
                <a:latin typeface="Georgia"/>
                <a:ea typeface="Georgia"/>
                <a:cs typeface="Georgia"/>
              </a:rPr>
              <a:t>Testi LLM</a:t>
            </a:r>
          </a:p>
        </p:txBody>
      </p:sp>
      <p:sp>
        <p:nvSpPr>
          <p:cNvPr id="28" name="Rectangle 27">
            <a:extLst>
              <a:ext uri="{FF2B5EF4-FFF2-40B4-BE49-F238E27FC236}">
                <a16:creationId xmlns:a16="http://schemas.microsoft.com/office/drawing/2014/main" id="{82041B59-DBB3-42E2-9D51-3D3F5109E423}"/>
              </a:ext>
            </a:extLst>
          </p:cNvPr>
          <p:cNvSpPr>
            <a:spLocks noGrp="1"/>
          </p:cNvSpPr>
          <p:nvPr/>
        </p:nvSpPr>
        <p:spPr>
          <a:xfrm>
            <a:off x="7353300" y="3009900"/>
            <a:ext cx="37147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5736B"/>
                </a:solidFill>
                <a:latin typeface="Aptos"/>
                <a:ea typeface="Aptos"/>
                <a:cs typeface="Aptos"/>
              </a:defRPr>
            </a:pPr>
            <a:r>
              <a:rPr sz="900" b="0">
                <a:solidFill>
                  <a:srgbClr val="65736B"/>
                </a:solidFill>
                <a:latin typeface="Aptos"/>
                <a:ea typeface="Aptos"/>
                <a:cs typeface="Aptos"/>
              </a:rPr>
              <a:t>descrizioni e coach conversazionale</a:t>
            </a:r>
          </a:p>
        </p:txBody>
      </p:sp>
      <p:sp>
        <p:nvSpPr>
          <p:cNvPr id="29" name="Oval 28">
            <a:extLst>
              <a:ext uri="{FF2B5EF4-FFF2-40B4-BE49-F238E27FC236}">
                <a16:creationId xmlns:a16="http://schemas.microsoft.com/office/drawing/2014/main" id="{828E46E5-436E-4F1C-B1C2-A7AB1DBEF991}"/>
              </a:ext>
            </a:extLst>
          </p:cNvPr>
          <p:cNvSpPr>
            <a:spLocks noGrp="1"/>
          </p:cNvSpPr>
          <p:nvPr/>
        </p:nvSpPr>
        <p:spPr>
          <a:xfrm>
            <a:off x="6496050" y="3714750"/>
            <a:ext cx="628650" cy="628650"/>
          </a:xfrm>
          <a:prstGeom prst="ellipse">
            <a:avLst/>
          </a:prstGeom>
          <a:solidFill>
            <a:srgbClr val="D56E42"/>
          </a:solidFill>
          <a:ln w="0">
            <a:solidFill>
              <a:srgbClr val="000000">
                <a:alpha val="0"/>
              </a:srgbClr>
            </a:solidFill>
            <a:prstDash val="solid"/>
          </a:ln>
        </p:spPr>
        <p:txBody>
          <a:bodyPr/>
          <a:lstStyle/>
          <a:p>
            <a:endParaRPr lang="en-US"/>
          </a:p>
        </p:txBody>
      </p:sp>
      <p:pic>
        <p:nvPicPr>
          <p:cNvPr id="30" name="Graphic 29"/>
          <p:cNvPicPr>
            <a:picLocks noChangeAspect="1"/>
          </p:cNvPicPr>
          <p:nvPr/>
        </p:nvPicPr>
        <p:blipFill>
          <a:blip>
            <a:extLst>
              <a:ext uri="{96DAC541-7B7A-43D3-8B79-37D633B846F1}">
                <asvg:svgBlip xmlns:asvg="http://schemas.microsoft.com/office/drawing/2016/SVG/main" r:embed="rId8"/>
              </a:ext>
            </a:extLst>
          </a:blip>
          <a:stretch/>
        </p:blipFill>
        <p:spPr>
          <a:xfrm>
            <a:off x="6657975" y="3876675"/>
            <a:ext cx="304800" cy="304800"/>
          </a:xfrm>
          <a:prstGeom prst="rect">
            <a:avLst/>
          </a:prstGeom>
        </p:spPr>
      </p:pic>
      <p:sp>
        <p:nvSpPr>
          <p:cNvPr id="31" name="Rectangle 30">
            <a:extLst>
              <a:ext uri="{FF2B5EF4-FFF2-40B4-BE49-F238E27FC236}">
                <a16:creationId xmlns:a16="http://schemas.microsoft.com/office/drawing/2014/main" id="{92FACFA6-D398-4343-BBEC-32BC0A068AD9}"/>
              </a:ext>
            </a:extLst>
          </p:cNvPr>
          <p:cNvSpPr>
            <a:spLocks noGrp="1"/>
          </p:cNvSpPr>
          <p:nvPr/>
        </p:nvSpPr>
        <p:spPr>
          <a:xfrm>
            <a:off x="7353300" y="3733800"/>
            <a:ext cx="3714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17211D"/>
                </a:solidFill>
                <a:latin typeface="Georgia"/>
                <a:ea typeface="Georgia"/>
                <a:cs typeface="Georgia"/>
              </a:defRPr>
            </a:pPr>
            <a:r>
              <a:rPr sz="1575" b="1">
                <a:solidFill>
                  <a:srgbClr val="17211D"/>
                </a:solidFill>
                <a:latin typeface="Georgia"/>
                <a:ea typeface="Georgia"/>
                <a:cs typeface="Georgia"/>
              </a:rPr>
              <a:t>Try-on dimostrativo</a:t>
            </a:r>
          </a:p>
        </p:txBody>
      </p:sp>
      <p:sp>
        <p:nvSpPr>
          <p:cNvPr id="32" name="Rectangle 31">
            <a:extLst>
              <a:ext uri="{FF2B5EF4-FFF2-40B4-BE49-F238E27FC236}">
                <a16:creationId xmlns:a16="http://schemas.microsoft.com/office/drawing/2014/main" id="{51BE2D32-8172-412E-8831-3821BD6B99D2}"/>
              </a:ext>
            </a:extLst>
          </p:cNvPr>
          <p:cNvSpPr>
            <a:spLocks noGrp="1"/>
          </p:cNvSpPr>
          <p:nvPr/>
        </p:nvSpPr>
        <p:spPr>
          <a:xfrm>
            <a:off x="7353300" y="4114800"/>
            <a:ext cx="37147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5736B"/>
                </a:solidFill>
                <a:latin typeface="Aptos"/>
                <a:ea typeface="Aptos"/>
                <a:cs typeface="Aptos"/>
              </a:defRPr>
            </a:pPr>
            <a:r>
              <a:rPr sz="900" b="0">
                <a:solidFill>
                  <a:srgbClr val="65736B"/>
                </a:solidFill>
                <a:latin typeface="Aptos"/>
                <a:ea typeface="Aptos"/>
                <a:cs typeface="Aptos"/>
              </a:rPr>
              <a:t>diffusione per una preview visiva</a:t>
            </a:r>
          </a:p>
        </p:txBody>
      </p:sp>
      <p:sp>
        <p:nvSpPr>
          <p:cNvPr id="33" name="Rectangle: Rounded Corners 32">
            <a:extLst>
              <a:ext uri="{FF2B5EF4-FFF2-40B4-BE49-F238E27FC236}">
                <a16:creationId xmlns:a16="http://schemas.microsoft.com/office/drawing/2014/main" id="{909AC53E-F57F-4126-8947-83ACA76D0CCF}"/>
              </a:ext>
            </a:extLst>
          </p:cNvPr>
          <p:cNvSpPr>
            <a:spLocks noGrp="1"/>
          </p:cNvSpPr>
          <p:nvPr/>
        </p:nvSpPr>
        <p:spPr>
          <a:xfrm>
            <a:off x="6496050" y="4857750"/>
            <a:ext cx="2266950" cy="285750"/>
          </a:xfrm>
          <a:prstGeom prst="roundRect">
            <a:avLst>
              <a:gd name="adj" fmla="val 26667"/>
            </a:avLst>
          </a:prstGeom>
          <a:solidFill>
            <a:srgbClr val="E8D9C8"/>
          </a:solidFill>
          <a:ln w="0">
            <a:solidFill>
              <a:srgbClr val="000000">
                <a:alpha val="0"/>
              </a:srgbClr>
            </a:solidFill>
            <a:prstDash val="solid"/>
          </a:ln>
        </p:spPr>
        <p:txBody>
          <a:bodyPr/>
          <a:lstStyle/>
          <a:p>
            <a:endParaRPr lang="en-US"/>
          </a:p>
        </p:txBody>
      </p:sp>
      <p:sp>
        <p:nvSpPr>
          <p:cNvPr id="34" name="Rectangle 33">
            <a:extLst>
              <a:ext uri="{FF2B5EF4-FFF2-40B4-BE49-F238E27FC236}">
                <a16:creationId xmlns:a16="http://schemas.microsoft.com/office/drawing/2014/main" id="{AD2E6EE6-809F-44CE-ADFD-C8EA6270C706}"/>
              </a:ext>
            </a:extLst>
          </p:cNvPr>
          <p:cNvSpPr>
            <a:spLocks noGrp="1"/>
          </p:cNvSpPr>
          <p:nvPr/>
        </p:nvSpPr>
        <p:spPr>
          <a:xfrm>
            <a:off x="6591300" y="4876800"/>
            <a:ext cx="20764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1">
                <a:solidFill>
                  <a:srgbClr val="17211D"/>
                </a:solidFill>
                <a:latin typeface="Aptos"/>
                <a:ea typeface="Aptos"/>
                <a:cs typeface="Aptos"/>
              </a:defRPr>
            </a:pPr>
            <a:r>
              <a:rPr sz="713" b="1">
                <a:solidFill>
                  <a:srgbClr val="17211D"/>
                </a:solidFill>
                <a:latin typeface="Aptos"/>
                <a:ea typeface="Aptos"/>
                <a:cs typeface="Aptos"/>
              </a:rPr>
              <a:t>NON ADDESTRATO DA NOI</a:t>
            </a:r>
          </a:p>
        </p:txBody>
      </p:sp>
      <p:sp>
        <p:nvSpPr>
          <p:cNvPr id="35" name="Rectangle 34">
            <a:extLst>
              <a:ext uri="{FF2B5EF4-FFF2-40B4-BE49-F238E27FC236}">
                <a16:creationId xmlns:a16="http://schemas.microsoft.com/office/drawing/2014/main" id="{56DD5258-D1CB-465E-8074-BD79FC8D05AC}"/>
              </a:ext>
            </a:extLst>
          </p:cNvPr>
          <p:cNvSpPr>
            <a:spLocks noGrp="1"/>
          </p:cNvSpPr>
          <p:nvPr/>
        </p:nvSpPr>
        <p:spPr>
          <a:xfrm>
            <a:off x="6496050" y="5314950"/>
            <a:ext cx="45148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1">
                <a:solidFill>
                  <a:srgbClr val="D56E42"/>
                </a:solidFill>
                <a:latin typeface="Aptos"/>
                <a:ea typeface="Aptos"/>
                <a:cs typeface="Aptos"/>
              </a:defRPr>
            </a:pPr>
            <a:r>
              <a:rPr sz="863" b="1">
                <a:solidFill>
                  <a:srgbClr val="D56E42"/>
                </a:solidFill>
                <a:latin typeface="Aptos"/>
                <a:ea typeface="Aptos"/>
                <a:cs typeface="Aptos"/>
              </a:rPr>
              <a:t>Il try-on non verifica taglia o vestibilità reale.</a:t>
            </a:r>
          </a:p>
        </p:txBody>
      </p:sp>
      <p:sp>
        <p:nvSpPr>
          <p:cNvPr id="36" name="footer-rule">
            <a:extLst>
              <a:ext uri="{FF2B5EF4-FFF2-40B4-BE49-F238E27FC236}">
                <a16:creationId xmlns:a16="http://schemas.microsoft.com/office/drawing/2014/main" id="{1C6969D9-F34D-489D-871C-085E7C902FF8}"/>
              </a:ext>
            </a:extLst>
          </p:cNvPr>
          <p:cNvSpPr>
            <a:spLocks noGrp="1"/>
          </p:cNvSpPr>
          <p:nvPr/>
        </p:nvSpPr>
        <p:spPr>
          <a:xfrm>
            <a:off x="552450" y="6457950"/>
            <a:ext cx="11087100" cy="9525"/>
          </a:xfrm>
          <a:prstGeom prst="rect">
            <a:avLst/>
          </a:prstGeom>
          <a:solidFill>
            <a:srgbClr val="B9C3BB"/>
          </a:solidFill>
          <a:ln w="0">
            <a:solidFill>
              <a:srgbClr val="000000">
                <a:alpha val="0"/>
              </a:srgbClr>
            </a:solidFill>
            <a:prstDash val="solid"/>
          </a:ln>
        </p:spPr>
        <p:txBody>
          <a:bodyPr/>
          <a:lstStyle/>
          <a:p>
            <a:endParaRPr lang="en-US"/>
          </a:p>
        </p:txBody>
      </p:sp>
      <p:sp>
        <p:nvSpPr>
          <p:cNvPr id="37" name="footer-source">
            <a:extLst>
              <a:ext uri="{FF2B5EF4-FFF2-40B4-BE49-F238E27FC236}">
                <a16:creationId xmlns:a16="http://schemas.microsoft.com/office/drawing/2014/main" id="{9ACF4CCD-D430-4F5D-8150-7E92B4792647}"/>
              </a:ext>
            </a:extLst>
          </p:cNvPr>
          <p:cNvSpPr>
            <a:spLocks noGrp="1"/>
          </p:cNvSpPr>
          <p:nvPr/>
        </p:nvSpPr>
        <p:spPr>
          <a:xfrm>
            <a:off x="552450" y="6534150"/>
            <a:ext cx="10001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65736B"/>
                </a:solidFill>
                <a:latin typeface="Aptos"/>
                <a:ea typeface="Aptos"/>
                <a:cs typeface="Aptos"/>
              </a:defRPr>
            </a:pPr>
            <a:r>
              <a:rPr sz="563" b="0">
                <a:solidFill>
                  <a:srgbClr val="65736B"/>
                </a:solidFill>
                <a:latin typeface="Aptos"/>
                <a:ea typeface="Aptos"/>
                <a:cs typeface="Aptos"/>
              </a:rPr>
              <a:t>Se i servizi generativi non sono disponibili, catalogo, ghost, outfit, stato e gap restano utilizzabili</a:t>
            </a:r>
          </a:p>
        </p:txBody>
      </p:sp>
      <p:sp>
        <p:nvSpPr>
          <p:cNvPr id="38" name="page-marker">
            <a:extLst>
              <a:ext uri="{FF2B5EF4-FFF2-40B4-BE49-F238E27FC236}">
                <a16:creationId xmlns:a16="http://schemas.microsoft.com/office/drawing/2014/main" id="{754AB05B-4A5A-4882-A802-319ED3258C06}"/>
              </a:ext>
            </a:extLst>
          </p:cNvPr>
          <p:cNvSpPr>
            <a:spLocks noGrp="1"/>
          </p:cNvSpPr>
          <p:nvPr/>
        </p:nvSpPr>
        <p:spPr>
          <a:xfrm>
            <a:off x="11087100" y="6505575"/>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65736B"/>
                </a:solidFill>
                <a:latin typeface="Georgia"/>
                <a:ea typeface="Georgia"/>
                <a:cs typeface="Georgia"/>
              </a:defRPr>
            </a:pPr>
            <a:r>
              <a:rPr sz="750" b="1">
                <a:solidFill>
                  <a:srgbClr val="65736B"/>
                </a:solidFill>
                <a:latin typeface="Georgia"/>
                <a:ea typeface="Georgia"/>
                <a:cs typeface="Georgia"/>
              </a:rPr>
              <a:t>13</a:t>
            </a:r>
          </a:p>
        </p:txBody>
      </p:sp>
    </p:spTree>
    <p:extLst>
      <p:ext uri="{BB962C8B-B14F-4D97-AF65-F5344CB8AC3E}">
        <p14:creationId xmlns:p14="http://schemas.microsoft.com/office/powerpoint/2010/main" val="932209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124A7-9CF0-86AC-AAB6-54FA7B5D032B}"/>
            </a:ext>
          </a:extLst>
        </p:cNvPr>
        <p:cNvGrpSpPr/>
        <p:nvPr/>
      </p:nvGrpSpPr>
      <p:grpSpPr>
        <a:xfrm>
          <a:off x="0" y="0"/>
          <a:ext cx="0" cy="0"/>
          <a:chOff x="0" y="0"/>
          <a:chExt cx="0" cy="0"/>
        </a:xfrm>
      </p:grpSpPr>
      <p:sp>
        <p:nvSpPr>
          <p:cNvPr id="43" name="background">
            <a:extLst>
              <a:ext uri="{FF2B5EF4-FFF2-40B4-BE49-F238E27FC236}">
                <a16:creationId xmlns:a16="http://schemas.microsoft.com/office/drawing/2014/main" id="{71118DAB-F615-F48B-C399-EC94EE171F1B}"/>
              </a:ext>
            </a:extLst>
          </p:cNvPr>
          <p:cNvSpPr>
            <a:spLocks noGrp="1"/>
          </p:cNvSpPr>
          <p:nvPr/>
        </p:nvSpPr>
        <p:spPr>
          <a:xfrm>
            <a:off x="0" y="4762"/>
            <a:ext cx="12192000" cy="6858000"/>
          </a:xfrm>
          <a:prstGeom prst="rect">
            <a:avLst/>
          </a:prstGeom>
          <a:solidFill>
            <a:srgbClr val="123C31"/>
          </a:solidFill>
          <a:ln w="0">
            <a:solidFill>
              <a:srgbClr val="000000">
                <a:alpha val="0"/>
              </a:srgbClr>
            </a:solidFill>
            <a:prstDash val="solid"/>
          </a:ln>
        </p:spPr>
        <p:txBody>
          <a:bodyPr/>
          <a:lstStyle/>
          <a:p>
            <a:endParaRPr lang="en-US"/>
          </a:p>
        </p:txBody>
      </p:sp>
      <p:sp>
        <p:nvSpPr>
          <p:cNvPr id="2" name="kicker-marker">
            <a:extLst>
              <a:ext uri="{FF2B5EF4-FFF2-40B4-BE49-F238E27FC236}">
                <a16:creationId xmlns:a16="http://schemas.microsoft.com/office/drawing/2014/main" id="{F38E2D97-60B1-714A-30FD-54613601AC81}"/>
              </a:ext>
            </a:extLst>
          </p:cNvPr>
          <p:cNvSpPr>
            <a:spLocks noGrp="1"/>
          </p:cNvSpPr>
          <p:nvPr/>
        </p:nvSpPr>
        <p:spPr>
          <a:xfrm>
            <a:off x="552450" y="400050"/>
            <a:ext cx="95250" cy="95250"/>
          </a:xfrm>
          <a:prstGeom prst="ellipse">
            <a:avLst/>
          </a:prstGeom>
          <a:solidFill>
            <a:srgbClr val="B9D94A"/>
          </a:solidFill>
          <a:ln w="0">
            <a:solidFill>
              <a:srgbClr val="000000">
                <a:alpha val="0"/>
              </a:srgbClr>
            </a:solidFill>
            <a:prstDash val="solid"/>
          </a:ln>
        </p:spPr>
        <p:txBody>
          <a:bodyPr/>
          <a:lstStyle/>
          <a:p>
            <a:endParaRPr lang="en-US"/>
          </a:p>
        </p:txBody>
      </p:sp>
      <p:sp>
        <p:nvSpPr>
          <p:cNvPr id="3" name="kicker-label">
            <a:extLst>
              <a:ext uri="{FF2B5EF4-FFF2-40B4-BE49-F238E27FC236}">
                <a16:creationId xmlns:a16="http://schemas.microsoft.com/office/drawing/2014/main" id="{0CA57826-C6A3-DC91-5AB3-B2E56403CA75}"/>
              </a:ext>
            </a:extLst>
          </p:cNvPr>
          <p:cNvSpPr>
            <a:spLocks noGrp="1"/>
          </p:cNvSpPr>
          <p:nvPr/>
        </p:nvSpPr>
        <p:spPr>
          <a:xfrm>
            <a:off x="762000" y="361950"/>
            <a:ext cx="571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DDE5DD"/>
                </a:solidFill>
                <a:latin typeface="Aptos"/>
                <a:ea typeface="Aptos"/>
                <a:cs typeface="Aptos"/>
              </a:defRPr>
            </a:pPr>
            <a:r>
              <a:rPr sz="675" b="1">
                <a:solidFill>
                  <a:srgbClr val="DDE5DD"/>
                </a:solidFill>
                <a:latin typeface="Aptos"/>
                <a:ea typeface="Aptos"/>
                <a:cs typeface="Aptos"/>
              </a:rPr>
              <a:t>U S E R   S T O R Y   ·   7 .   A L L U N G A R E   L A   V I T A</a:t>
            </a:r>
          </a:p>
        </p:txBody>
      </p:sp>
      <p:sp>
        <p:nvSpPr>
          <p:cNvPr id="4" name="claim-title">
            <a:extLst>
              <a:ext uri="{FF2B5EF4-FFF2-40B4-BE49-F238E27FC236}">
                <a16:creationId xmlns:a16="http://schemas.microsoft.com/office/drawing/2014/main" id="{EB06FED5-FA9B-F704-BBCE-EC46E2D11A41}"/>
              </a:ext>
            </a:extLst>
          </p:cNvPr>
          <p:cNvSpPr>
            <a:spLocks noGrp="1"/>
          </p:cNvSpPr>
          <p:nvPr/>
        </p:nvSpPr>
        <p:spPr>
          <a:xfrm>
            <a:off x="552450" y="723900"/>
            <a:ext cx="10287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075" b="1">
                <a:solidFill>
                  <a:srgbClr val="FFFFFF"/>
                </a:solidFill>
                <a:latin typeface="Georgia"/>
                <a:ea typeface="Georgia"/>
                <a:cs typeface="Georgia"/>
              </a:defRPr>
            </a:pPr>
            <a:r>
              <a:rPr lang="it-IT" sz="3075" b="1" dirty="0">
                <a:solidFill>
                  <a:srgbClr val="FFFFFF"/>
                </a:solidFill>
                <a:latin typeface="Georgia"/>
                <a:ea typeface="Georgia"/>
                <a:cs typeface="Georgia"/>
              </a:rPr>
              <a:t>DEMO Addestramento AI</a:t>
            </a:r>
            <a:endParaRPr sz="3075" b="1" dirty="0">
              <a:solidFill>
                <a:srgbClr val="FFFFFF"/>
              </a:solidFill>
              <a:latin typeface="Georgia"/>
              <a:ea typeface="Georgia"/>
              <a:cs typeface="Georgia"/>
            </a:endParaRPr>
          </a:p>
        </p:txBody>
      </p:sp>
      <p:sp>
        <p:nvSpPr>
          <p:cNvPr id="31" name="Rectangle 30">
            <a:extLst>
              <a:ext uri="{FF2B5EF4-FFF2-40B4-BE49-F238E27FC236}">
                <a16:creationId xmlns:a16="http://schemas.microsoft.com/office/drawing/2014/main" id="{FD03DB54-97FD-8E86-5FC4-1D1C7C0870F8}"/>
              </a:ext>
            </a:extLst>
          </p:cNvPr>
          <p:cNvSpPr>
            <a:spLocks noGrp="1"/>
          </p:cNvSpPr>
          <p:nvPr/>
        </p:nvSpPr>
        <p:spPr>
          <a:xfrm>
            <a:off x="7353300" y="2971800"/>
            <a:ext cx="1200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23C31"/>
                </a:solidFill>
                <a:latin typeface="Georgia"/>
                <a:ea typeface="Georgia"/>
                <a:cs typeface="Georgia"/>
              </a:defRPr>
            </a:pPr>
            <a:r>
              <a:rPr sz="1350" b="1">
                <a:solidFill>
                  <a:srgbClr val="123C31"/>
                </a:solidFill>
                <a:latin typeface="Georgia"/>
                <a:ea typeface="Georgia"/>
                <a:cs typeface="Georgia"/>
              </a:rPr>
              <a:t>media della</a:t>
            </a:r>
          </a:p>
          <a:p>
            <a:pPr algn="ctr">
              <a:defRPr sz="1350" b="1">
                <a:solidFill>
                  <a:srgbClr val="123C31"/>
                </a:solidFill>
                <a:latin typeface="Georgia"/>
                <a:ea typeface="Georgia"/>
                <a:cs typeface="Georgia"/>
              </a:defRPr>
            </a:pPr>
            <a:r>
              <a:rPr sz="1350" b="1">
                <a:solidFill>
                  <a:srgbClr val="123C31"/>
                </a:solidFill>
                <a:latin typeface="Georgia"/>
                <a:ea typeface="Georgia"/>
                <a:cs typeface="Georgia"/>
              </a:rPr>
              <a:t>categoria</a:t>
            </a:r>
          </a:p>
        </p:txBody>
      </p:sp>
      <p:sp>
        <p:nvSpPr>
          <p:cNvPr id="32" name="Rectangle 31">
            <a:extLst>
              <a:ext uri="{FF2B5EF4-FFF2-40B4-BE49-F238E27FC236}">
                <a16:creationId xmlns:a16="http://schemas.microsoft.com/office/drawing/2014/main" id="{9F38CFF8-4675-8307-7B8C-CB86DF14B7C6}"/>
              </a:ext>
            </a:extLst>
          </p:cNvPr>
          <p:cNvSpPr>
            <a:spLocks noGrp="1"/>
          </p:cNvSpPr>
          <p:nvPr/>
        </p:nvSpPr>
        <p:spPr>
          <a:xfrm>
            <a:off x="8724900" y="3086100"/>
            <a:ext cx="361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250" b="1">
                <a:solidFill>
                  <a:srgbClr val="D56E42"/>
                </a:solidFill>
                <a:latin typeface="Georgia"/>
                <a:ea typeface="Georgia"/>
                <a:cs typeface="Georgia"/>
              </a:defRPr>
            </a:pPr>
            <a:endParaRPr sz="2250" b="1" dirty="0">
              <a:solidFill>
                <a:srgbClr val="D56E42"/>
              </a:solidFill>
              <a:latin typeface="Georgia"/>
              <a:ea typeface="Georgia"/>
              <a:cs typeface="Georgia"/>
            </a:endParaRPr>
          </a:p>
        </p:txBody>
      </p:sp>
      <p:sp>
        <p:nvSpPr>
          <p:cNvPr id="33" name="Rectangle 32">
            <a:extLst>
              <a:ext uri="{FF2B5EF4-FFF2-40B4-BE49-F238E27FC236}">
                <a16:creationId xmlns:a16="http://schemas.microsoft.com/office/drawing/2014/main" id="{CB7B4831-7DD5-D552-C2FE-943BF124A4B9}"/>
              </a:ext>
            </a:extLst>
          </p:cNvPr>
          <p:cNvSpPr>
            <a:spLocks noGrp="1"/>
          </p:cNvSpPr>
          <p:nvPr/>
        </p:nvSpPr>
        <p:spPr>
          <a:xfrm>
            <a:off x="9258300" y="2971800"/>
            <a:ext cx="1200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23C31"/>
                </a:solidFill>
                <a:latin typeface="Georgia"/>
                <a:ea typeface="Georgia"/>
                <a:cs typeface="Georgia"/>
              </a:defRPr>
            </a:pPr>
            <a:r>
              <a:rPr sz="1350" b="1">
                <a:solidFill>
                  <a:srgbClr val="123C31"/>
                </a:solidFill>
                <a:latin typeface="Georgia"/>
                <a:ea typeface="Georgia"/>
                <a:cs typeface="Georgia"/>
              </a:rPr>
              <a:t>fattore</a:t>
            </a:r>
          </a:p>
          <a:p>
            <a:pPr algn="ctr">
              <a:defRPr sz="1350" b="1">
                <a:solidFill>
                  <a:srgbClr val="123C31"/>
                </a:solidFill>
                <a:latin typeface="Georgia"/>
                <a:ea typeface="Georgia"/>
                <a:cs typeface="Georgia"/>
              </a:defRPr>
            </a:pPr>
            <a:r>
              <a:rPr sz="1350" b="1">
                <a:solidFill>
                  <a:srgbClr val="123C31"/>
                </a:solidFill>
                <a:latin typeface="Georgia"/>
                <a:ea typeface="Georgia"/>
                <a:cs typeface="Georgia"/>
              </a:rPr>
              <a:t>dell’azione</a:t>
            </a:r>
          </a:p>
        </p:txBody>
      </p:sp>
      <p:sp>
        <p:nvSpPr>
          <p:cNvPr id="34" name="Rectangle 33">
            <a:extLst>
              <a:ext uri="{FF2B5EF4-FFF2-40B4-BE49-F238E27FC236}">
                <a16:creationId xmlns:a16="http://schemas.microsoft.com/office/drawing/2014/main" id="{CCD4B6F9-CE22-67BC-C0D9-152FFA4DCA4A}"/>
              </a:ext>
            </a:extLst>
          </p:cNvPr>
          <p:cNvSpPr>
            <a:spLocks noGrp="1"/>
          </p:cNvSpPr>
          <p:nvPr/>
        </p:nvSpPr>
        <p:spPr>
          <a:xfrm>
            <a:off x="10572750" y="3086100"/>
            <a:ext cx="361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025" b="1">
                <a:solidFill>
                  <a:srgbClr val="65736B"/>
                </a:solidFill>
                <a:latin typeface="Georgia"/>
                <a:ea typeface="Georgia"/>
                <a:cs typeface="Georgia"/>
              </a:defRPr>
            </a:pPr>
            <a:endParaRPr sz="2025" b="1" dirty="0">
              <a:solidFill>
                <a:srgbClr val="65736B"/>
              </a:solidFill>
              <a:latin typeface="Georgia"/>
              <a:ea typeface="Georgia"/>
              <a:cs typeface="Georgia"/>
            </a:endParaRPr>
          </a:p>
        </p:txBody>
      </p:sp>
      <p:sp>
        <p:nvSpPr>
          <p:cNvPr id="40" name="footer-rule">
            <a:extLst>
              <a:ext uri="{FF2B5EF4-FFF2-40B4-BE49-F238E27FC236}">
                <a16:creationId xmlns:a16="http://schemas.microsoft.com/office/drawing/2014/main" id="{65ECED97-3EA4-90B9-542E-C4E048EACFE0}"/>
              </a:ext>
            </a:extLst>
          </p:cNvPr>
          <p:cNvSpPr>
            <a:spLocks noGrp="1"/>
          </p:cNvSpPr>
          <p:nvPr/>
        </p:nvSpPr>
        <p:spPr>
          <a:xfrm>
            <a:off x="552450" y="6457950"/>
            <a:ext cx="11087100" cy="9525"/>
          </a:xfrm>
          <a:prstGeom prst="rect">
            <a:avLst/>
          </a:prstGeom>
          <a:solidFill>
            <a:srgbClr val="3F685A"/>
          </a:solidFill>
          <a:ln w="0">
            <a:solidFill>
              <a:srgbClr val="000000">
                <a:alpha val="0"/>
              </a:srgbClr>
            </a:solidFill>
            <a:prstDash val="solid"/>
          </a:ln>
        </p:spPr>
        <p:txBody>
          <a:bodyPr/>
          <a:lstStyle/>
          <a:p>
            <a:endParaRPr lang="en-US"/>
          </a:p>
        </p:txBody>
      </p:sp>
      <p:sp>
        <p:nvSpPr>
          <p:cNvPr id="41" name="footer-source">
            <a:extLst>
              <a:ext uri="{FF2B5EF4-FFF2-40B4-BE49-F238E27FC236}">
                <a16:creationId xmlns:a16="http://schemas.microsoft.com/office/drawing/2014/main" id="{5D29281B-EE61-6EA3-2CB0-89720F98101B}"/>
              </a:ext>
            </a:extLst>
          </p:cNvPr>
          <p:cNvSpPr>
            <a:spLocks noGrp="1"/>
          </p:cNvSpPr>
          <p:nvPr/>
        </p:nvSpPr>
        <p:spPr>
          <a:xfrm>
            <a:off x="552450" y="6534150"/>
            <a:ext cx="10001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8FA99E"/>
                </a:solidFill>
                <a:latin typeface="Aptos"/>
                <a:ea typeface="Aptos"/>
                <a:cs typeface="Aptos"/>
              </a:defRPr>
            </a:pPr>
            <a:r>
              <a:rPr sz="563" b="0">
                <a:solidFill>
                  <a:srgbClr val="8FA99E"/>
                </a:solidFill>
                <a:latin typeface="Aptos"/>
                <a:ea typeface="Aptos"/>
                <a:cs typeface="Aptos"/>
              </a:rPr>
              <a:t>Azioni: riparazione · vendita · donazione · riciclo · stima CO₂eq di scenario</a:t>
            </a:r>
          </a:p>
        </p:txBody>
      </p:sp>
      <p:sp>
        <p:nvSpPr>
          <p:cNvPr id="42" name="page-marker">
            <a:extLst>
              <a:ext uri="{FF2B5EF4-FFF2-40B4-BE49-F238E27FC236}">
                <a16:creationId xmlns:a16="http://schemas.microsoft.com/office/drawing/2014/main" id="{7CCE3CE8-73CA-7E31-368A-FEA7905430BF}"/>
              </a:ext>
            </a:extLst>
          </p:cNvPr>
          <p:cNvSpPr>
            <a:spLocks noGrp="1"/>
          </p:cNvSpPr>
          <p:nvPr/>
        </p:nvSpPr>
        <p:spPr>
          <a:xfrm>
            <a:off x="11087100" y="6505575"/>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8FA99E"/>
                </a:solidFill>
                <a:latin typeface="Georgia"/>
                <a:ea typeface="Georgia"/>
                <a:cs typeface="Georgia"/>
              </a:defRPr>
            </a:pPr>
            <a:r>
              <a:rPr sz="750" b="1">
                <a:solidFill>
                  <a:srgbClr val="8FA99E"/>
                </a:solidFill>
                <a:latin typeface="Georgia"/>
                <a:ea typeface="Georgia"/>
                <a:cs typeface="Georgia"/>
              </a:rPr>
              <a:t>09</a:t>
            </a:r>
          </a:p>
        </p:txBody>
      </p:sp>
    </p:spTree>
    <p:extLst>
      <p:ext uri="{BB962C8B-B14F-4D97-AF65-F5344CB8AC3E}">
        <p14:creationId xmlns:p14="http://schemas.microsoft.com/office/powerpoint/2010/main" val="3660482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background">
            <a:extLst>
              <a:ext uri="{FF2B5EF4-FFF2-40B4-BE49-F238E27FC236}">
                <a16:creationId xmlns:a16="http://schemas.microsoft.com/office/drawing/2014/main" id="{7F0B30AA-1B9D-45F3-8D8B-C147A38902BB}"/>
              </a:ext>
            </a:extLst>
          </p:cNvPr>
          <p:cNvSpPr>
            <a:spLocks noGrp="1"/>
          </p:cNvSpPr>
          <p:nvPr/>
        </p:nvSpPr>
        <p:spPr>
          <a:xfrm>
            <a:off x="0" y="0"/>
            <a:ext cx="12192000" cy="6858000"/>
          </a:xfrm>
          <a:prstGeom prst="rect">
            <a:avLst/>
          </a:prstGeom>
          <a:solidFill>
            <a:srgbClr val="123C31"/>
          </a:solidFill>
          <a:ln w="0">
            <a:solidFill>
              <a:srgbClr val="000000">
                <a:alpha val="0"/>
              </a:srgbClr>
            </a:solidFill>
            <a:prstDash val="solid"/>
          </a:ln>
        </p:spPr>
        <p:txBody>
          <a:bodyPr/>
          <a:lstStyle/>
          <a:p>
            <a:endParaRPr lang="en-US"/>
          </a:p>
        </p:txBody>
      </p:sp>
      <p:sp>
        <p:nvSpPr>
          <p:cNvPr id="2" name="kicker-marker">
            <a:extLst>
              <a:ext uri="{FF2B5EF4-FFF2-40B4-BE49-F238E27FC236}">
                <a16:creationId xmlns:a16="http://schemas.microsoft.com/office/drawing/2014/main" id="{7E1D36D9-85C9-4CA1-A6EA-BE5EF6462C69}"/>
              </a:ext>
            </a:extLst>
          </p:cNvPr>
          <p:cNvSpPr>
            <a:spLocks noGrp="1"/>
          </p:cNvSpPr>
          <p:nvPr/>
        </p:nvSpPr>
        <p:spPr>
          <a:xfrm>
            <a:off x="552450" y="400050"/>
            <a:ext cx="95250" cy="95250"/>
          </a:xfrm>
          <a:prstGeom prst="ellipse">
            <a:avLst/>
          </a:prstGeom>
          <a:solidFill>
            <a:srgbClr val="B9D94A"/>
          </a:solidFill>
          <a:ln w="0">
            <a:solidFill>
              <a:srgbClr val="000000">
                <a:alpha val="0"/>
              </a:srgbClr>
            </a:solidFill>
            <a:prstDash val="solid"/>
          </a:ln>
        </p:spPr>
        <p:txBody>
          <a:bodyPr/>
          <a:lstStyle/>
          <a:p>
            <a:endParaRPr lang="en-US"/>
          </a:p>
        </p:txBody>
      </p:sp>
      <p:sp>
        <p:nvSpPr>
          <p:cNvPr id="3" name="kicker-label">
            <a:extLst>
              <a:ext uri="{FF2B5EF4-FFF2-40B4-BE49-F238E27FC236}">
                <a16:creationId xmlns:a16="http://schemas.microsoft.com/office/drawing/2014/main" id="{D8DB36CD-ED1F-4925-8E86-A5B48B598FD5}"/>
              </a:ext>
            </a:extLst>
          </p:cNvPr>
          <p:cNvSpPr>
            <a:spLocks noGrp="1"/>
          </p:cNvSpPr>
          <p:nvPr/>
        </p:nvSpPr>
        <p:spPr>
          <a:xfrm>
            <a:off x="762000" y="361950"/>
            <a:ext cx="571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DDE5DD"/>
                </a:solidFill>
                <a:latin typeface="Aptos"/>
                <a:ea typeface="Aptos"/>
                <a:cs typeface="Aptos"/>
              </a:defRPr>
            </a:pPr>
            <a:r>
              <a:rPr sz="675" b="1">
                <a:solidFill>
                  <a:srgbClr val="DDE5DD"/>
                </a:solidFill>
                <a:latin typeface="Aptos"/>
                <a:ea typeface="Aptos"/>
                <a:cs typeface="Aptos"/>
              </a:rPr>
              <a:t>A R C H I T E T T U R A ,   M O B I L E   E   C O N C L U S I O N E</a:t>
            </a:r>
          </a:p>
        </p:txBody>
      </p:sp>
      <p:sp>
        <p:nvSpPr>
          <p:cNvPr id="4" name="claim-title">
            <a:extLst>
              <a:ext uri="{FF2B5EF4-FFF2-40B4-BE49-F238E27FC236}">
                <a16:creationId xmlns:a16="http://schemas.microsoft.com/office/drawing/2014/main" id="{8B8E899C-2195-4A73-A66E-039DE84B2193}"/>
              </a:ext>
            </a:extLst>
          </p:cNvPr>
          <p:cNvSpPr>
            <a:spLocks noGrp="1"/>
          </p:cNvSpPr>
          <p:nvPr/>
        </p:nvSpPr>
        <p:spPr>
          <a:xfrm>
            <a:off x="552450" y="723900"/>
            <a:ext cx="10668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FFFFFF"/>
                </a:solidFill>
                <a:latin typeface="Georgia"/>
                <a:ea typeface="Georgia"/>
                <a:cs typeface="Georgia"/>
              </a:defRPr>
            </a:pPr>
            <a:r>
              <a:rPr sz="2850" b="1">
                <a:solidFill>
                  <a:srgbClr val="FFFFFF"/>
                </a:solidFill>
                <a:latin typeface="Georgia"/>
                <a:ea typeface="Georgia"/>
                <a:cs typeface="Georgia"/>
              </a:rPr>
              <a:t>Un prototipo completo oggi; una PWA installabile come passo successivo.</a:t>
            </a:r>
          </a:p>
        </p:txBody>
      </p:sp>
      <p:sp>
        <p:nvSpPr>
          <p:cNvPr id="5" name="architecture-1">
            <a:extLst>
              <a:ext uri="{FF2B5EF4-FFF2-40B4-BE49-F238E27FC236}">
                <a16:creationId xmlns:a16="http://schemas.microsoft.com/office/drawing/2014/main" id="{520F4A9C-8586-486F-874E-C434C24D98C8}"/>
              </a:ext>
            </a:extLst>
          </p:cNvPr>
          <p:cNvSpPr>
            <a:spLocks noGrp="1"/>
          </p:cNvSpPr>
          <p:nvPr/>
        </p:nvSpPr>
        <p:spPr>
          <a:xfrm>
            <a:off x="552450" y="2076450"/>
            <a:ext cx="2571750" cy="1581150"/>
          </a:xfrm>
          <a:prstGeom prst="roundRect">
            <a:avLst>
              <a:gd name="adj" fmla="val 4819"/>
            </a:avLst>
          </a:prstGeom>
          <a:solidFill>
            <a:srgbClr val="1B4A3C"/>
          </a:solidFill>
          <a:ln w="9525">
            <a:solidFill>
              <a:srgbClr val="466D60"/>
            </a:solidFill>
            <a:prstDash val="solid"/>
          </a:ln>
        </p:spPr>
        <p:txBody>
          <a:bodyPr/>
          <a:lstStyle/>
          <a:p>
            <a:endParaRPr lang="en-US"/>
          </a:p>
        </p:txBody>
      </p:sp>
      <p:sp>
        <p:nvSpPr>
          <p:cNvPr id="6" name="Oval 5">
            <a:extLst>
              <a:ext uri="{FF2B5EF4-FFF2-40B4-BE49-F238E27FC236}">
                <a16:creationId xmlns:a16="http://schemas.microsoft.com/office/drawing/2014/main" id="{A2B241A6-FAB5-458E-9EF5-FB9B0AE0B19F}"/>
              </a:ext>
            </a:extLst>
          </p:cNvPr>
          <p:cNvSpPr>
            <a:spLocks noGrp="1"/>
          </p:cNvSpPr>
          <p:nvPr/>
        </p:nvSpPr>
        <p:spPr>
          <a:xfrm>
            <a:off x="781050" y="2324100"/>
            <a:ext cx="514350" cy="514350"/>
          </a:xfrm>
          <a:prstGeom prst="ellipse">
            <a:avLst/>
          </a:prstGeom>
          <a:solidFill>
            <a:srgbClr val="466D86"/>
          </a:solidFill>
          <a:ln w="0">
            <a:solidFill>
              <a:srgbClr val="000000">
                <a:alpha val="0"/>
              </a:srgbClr>
            </a:solidFill>
            <a:prstDash val="solid"/>
          </a:ln>
        </p:spPr>
        <p:txBody>
          <a:bodyPr/>
          <a:lstStyle/>
          <a:p>
            <a:endParaRPr lang="en-US"/>
          </a:p>
        </p:txBody>
      </p:sp>
      <p:pic>
        <p:nvPicPr>
          <p:cNvPr id="7" name="Graphic 6"/>
          <p:cNvPicPr>
            <a:picLocks noChangeAspect="1"/>
          </p:cNvPicPr>
          <p:nvPr/>
        </p:nvPicPr>
        <p:blipFill>
          <a:blip>
            <a:extLst>
              <a:ext uri="{96DAC541-7B7A-43D3-8B79-37D633B846F1}">
                <asvg:svgBlip xmlns:asvg="http://schemas.microsoft.com/office/drawing/2016/SVG/main" r:embed="rId3"/>
              </a:ext>
            </a:extLst>
          </a:blip>
          <a:stretch/>
        </p:blipFill>
        <p:spPr>
          <a:xfrm>
            <a:off x="914400" y="2457450"/>
            <a:ext cx="247650" cy="247650"/>
          </a:xfrm>
          <a:prstGeom prst="rect">
            <a:avLst/>
          </a:prstGeom>
        </p:spPr>
      </p:pic>
      <p:sp>
        <p:nvSpPr>
          <p:cNvPr id="8" name="Rectangle 7">
            <a:extLst>
              <a:ext uri="{FF2B5EF4-FFF2-40B4-BE49-F238E27FC236}">
                <a16:creationId xmlns:a16="http://schemas.microsoft.com/office/drawing/2014/main" id="{54B15DE0-9F04-42A2-9870-3C89FC5736FD}"/>
              </a:ext>
            </a:extLst>
          </p:cNvPr>
          <p:cNvSpPr>
            <a:spLocks noGrp="1"/>
          </p:cNvSpPr>
          <p:nvPr/>
        </p:nvSpPr>
        <p:spPr>
          <a:xfrm>
            <a:off x="1466850" y="2247900"/>
            <a:ext cx="14287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FFFFF"/>
                </a:solidFill>
                <a:latin typeface="Georgia"/>
                <a:ea typeface="Georgia"/>
                <a:cs typeface="Georgia"/>
              </a:defRPr>
            </a:pPr>
            <a:r>
              <a:rPr sz="1650" b="1">
                <a:solidFill>
                  <a:srgbClr val="FFFFFF"/>
                </a:solidFill>
                <a:latin typeface="Georgia"/>
                <a:ea typeface="Georgia"/>
                <a:cs typeface="Georgia"/>
              </a:rPr>
              <a:t>React</a:t>
            </a:r>
          </a:p>
        </p:txBody>
      </p:sp>
      <p:sp>
        <p:nvSpPr>
          <p:cNvPr id="9" name="Rectangle 8">
            <a:extLst>
              <a:ext uri="{FF2B5EF4-FFF2-40B4-BE49-F238E27FC236}">
                <a16:creationId xmlns:a16="http://schemas.microsoft.com/office/drawing/2014/main" id="{5F4C13EC-DC47-4782-BDAB-F76792EBC180}"/>
              </a:ext>
            </a:extLst>
          </p:cNvPr>
          <p:cNvSpPr>
            <a:spLocks noGrp="1"/>
          </p:cNvSpPr>
          <p:nvPr/>
        </p:nvSpPr>
        <p:spPr>
          <a:xfrm>
            <a:off x="781050" y="2971800"/>
            <a:ext cx="21145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DDE5DD"/>
                </a:solidFill>
                <a:latin typeface="Aptos"/>
                <a:ea typeface="Aptos"/>
                <a:cs typeface="Aptos"/>
              </a:defRPr>
            </a:pPr>
            <a:r>
              <a:rPr sz="825" b="0">
                <a:solidFill>
                  <a:srgbClr val="DDE5DD"/>
                </a:solidFill>
                <a:latin typeface="Aptos"/>
                <a:ea typeface="Aptos"/>
                <a:cs typeface="Aptos"/>
              </a:rPr>
              <a:t>interfaccia responsive</a:t>
            </a:r>
          </a:p>
        </p:txBody>
      </p:sp>
      <p:sp>
        <p:nvSpPr>
          <p:cNvPr id="10" name="architecture-link-1">
            <a:extLst>
              <a:ext uri="{FF2B5EF4-FFF2-40B4-BE49-F238E27FC236}">
                <a16:creationId xmlns:a16="http://schemas.microsoft.com/office/drawing/2014/main" id="{D5487E55-AC3A-4B98-9F6C-B5605DDA1808}"/>
              </a:ext>
            </a:extLst>
          </p:cNvPr>
          <p:cNvSpPr>
            <a:spLocks noGrp="1"/>
          </p:cNvSpPr>
          <p:nvPr/>
        </p:nvSpPr>
        <p:spPr>
          <a:xfrm>
            <a:off x="3124200" y="2867025"/>
            <a:ext cx="457200" cy="19050"/>
          </a:xfrm>
          <a:prstGeom prst="rect">
            <a:avLst/>
          </a:prstGeom>
          <a:solidFill>
            <a:srgbClr val="B9D94A"/>
          </a:solidFill>
          <a:ln w="0">
            <a:solidFill>
              <a:srgbClr val="000000">
                <a:alpha val="0"/>
              </a:srgbClr>
            </a:solidFill>
            <a:prstDash val="solid"/>
          </a:ln>
        </p:spPr>
        <p:txBody>
          <a:bodyPr/>
          <a:lstStyle/>
          <a:p>
            <a:endParaRPr lang="en-US"/>
          </a:p>
        </p:txBody>
      </p:sp>
      <p:sp>
        <p:nvSpPr>
          <p:cNvPr id="11" name="architecture-link-1-end">
            <a:extLst>
              <a:ext uri="{FF2B5EF4-FFF2-40B4-BE49-F238E27FC236}">
                <a16:creationId xmlns:a16="http://schemas.microsoft.com/office/drawing/2014/main" id="{25132C6B-7545-4451-91A2-733A50A3DACE}"/>
              </a:ext>
            </a:extLst>
          </p:cNvPr>
          <p:cNvSpPr>
            <a:spLocks noGrp="1"/>
          </p:cNvSpPr>
          <p:nvPr/>
        </p:nvSpPr>
        <p:spPr>
          <a:xfrm>
            <a:off x="3524250" y="2819400"/>
            <a:ext cx="104775" cy="104775"/>
          </a:xfrm>
          <a:prstGeom prst="ellipse">
            <a:avLst/>
          </a:prstGeom>
          <a:solidFill>
            <a:srgbClr val="B9D94A"/>
          </a:solidFill>
          <a:ln w="0">
            <a:solidFill>
              <a:srgbClr val="000000">
                <a:alpha val="0"/>
              </a:srgbClr>
            </a:solidFill>
            <a:prstDash val="solid"/>
          </a:ln>
        </p:spPr>
        <p:txBody>
          <a:bodyPr/>
          <a:lstStyle/>
          <a:p>
            <a:endParaRPr lang="en-US"/>
          </a:p>
        </p:txBody>
      </p:sp>
      <p:sp>
        <p:nvSpPr>
          <p:cNvPr id="12" name="architecture-2">
            <a:extLst>
              <a:ext uri="{FF2B5EF4-FFF2-40B4-BE49-F238E27FC236}">
                <a16:creationId xmlns:a16="http://schemas.microsoft.com/office/drawing/2014/main" id="{C1BB392B-3B44-4224-9FF1-B775BC36BA96}"/>
              </a:ext>
            </a:extLst>
          </p:cNvPr>
          <p:cNvSpPr>
            <a:spLocks noGrp="1"/>
          </p:cNvSpPr>
          <p:nvPr/>
        </p:nvSpPr>
        <p:spPr>
          <a:xfrm>
            <a:off x="3581400" y="2076450"/>
            <a:ext cx="2571750" cy="1581150"/>
          </a:xfrm>
          <a:prstGeom prst="roundRect">
            <a:avLst>
              <a:gd name="adj" fmla="val 4819"/>
            </a:avLst>
          </a:prstGeom>
          <a:solidFill>
            <a:srgbClr val="1B4A3C"/>
          </a:solidFill>
          <a:ln w="9525">
            <a:solidFill>
              <a:srgbClr val="466D60"/>
            </a:solidFill>
            <a:prstDash val="solid"/>
          </a:ln>
        </p:spPr>
        <p:txBody>
          <a:bodyPr/>
          <a:lstStyle/>
          <a:p>
            <a:endParaRPr lang="en-US"/>
          </a:p>
        </p:txBody>
      </p:sp>
      <p:sp>
        <p:nvSpPr>
          <p:cNvPr id="13" name="Oval 12">
            <a:extLst>
              <a:ext uri="{FF2B5EF4-FFF2-40B4-BE49-F238E27FC236}">
                <a16:creationId xmlns:a16="http://schemas.microsoft.com/office/drawing/2014/main" id="{C70FD6D8-3E60-4D5F-9C31-B2ED59DA294B}"/>
              </a:ext>
            </a:extLst>
          </p:cNvPr>
          <p:cNvSpPr>
            <a:spLocks noGrp="1"/>
          </p:cNvSpPr>
          <p:nvPr/>
        </p:nvSpPr>
        <p:spPr>
          <a:xfrm>
            <a:off x="3810000" y="2324100"/>
            <a:ext cx="514350" cy="514350"/>
          </a:xfrm>
          <a:prstGeom prst="ellipse">
            <a:avLst/>
          </a:prstGeom>
          <a:solidFill>
            <a:srgbClr val="D56E42"/>
          </a:solidFill>
          <a:ln w="0">
            <a:solidFill>
              <a:srgbClr val="000000">
                <a:alpha val="0"/>
              </a:srgbClr>
            </a:solidFill>
            <a:prstDash val="solid"/>
          </a:ln>
        </p:spPr>
        <p:txBody>
          <a:bodyPr/>
          <a:lstStyle/>
          <a:p>
            <a:endParaRPr lang="en-US"/>
          </a:p>
        </p:txBody>
      </p:sp>
      <p:pic>
        <p:nvPicPr>
          <p:cNvPr id="14" name="Graphic 13"/>
          <p:cNvPicPr>
            <a:picLocks noChangeAspect="1"/>
          </p:cNvPicPr>
          <p:nvPr/>
        </p:nvPicPr>
        <p:blipFill>
          <a:blip>
            <a:extLst>
              <a:ext uri="{96DAC541-7B7A-43D3-8B79-37D633B846F1}">
                <asvg:svgBlip xmlns:asvg="http://schemas.microsoft.com/office/drawing/2016/SVG/main" r:embed="rId4"/>
              </a:ext>
            </a:extLst>
          </a:blip>
          <a:stretch/>
        </p:blipFill>
        <p:spPr>
          <a:xfrm>
            <a:off x="3943350" y="2457450"/>
            <a:ext cx="247650" cy="247650"/>
          </a:xfrm>
          <a:prstGeom prst="rect">
            <a:avLst/>
          </a:prstGeom>
        </p:spPr>
      </p:pic>
      <p:sp>
        <p:nvSpPr>
          <p:cNvPr id="15" name="Rectangle 14">
            <a:extLst>
              <a:ext uri="{FF2B5EF4-FFF2-40B4-BE49-F238E27FC236}">
                <a16:creationId xmlns:a16="http://schemas.microsoft.com/office/drawing/2014/main" id="{6F032B37-7725-45C4-B53B-14D8CAB9860C}"/>
              </a:ext>
            </a:extLst>
          </p:cNvPr>
          <p:cNvSpPr>
            <a:spLocks noGrp="1"/>
          </p:cNvSpPr>
          <p:nvPr/>
        </p:nvSpPr>
        <p:spPr>
          <a:xfrm>
            <a:off x="4495800" y="2247900"/>
            <a:ext cx="14287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FFFFF"/>
                </a:solidFill>
                <a:latin typeface="Georgia"/>
                <a:ea typeface="Georgia"/>
                <a:cs typeface="Georgia"/>
              </a:defRPr>
            </a:pPr>
            <a:r>
              <a:rPr sz="1650" b="1">
                <a:solidFill>
                  <a:srgbClr val="FFFFFF"/>
                </a:solidFill>
                <a:latin typeface="Georgia"/>
                <a:ea typeface="Georgia"/>
                <a:cs typeface="Georgia"/>
              </a:rPr>
              <a:t>FastAPI</a:t>
            </a:r>
          </a:p>
        </p:txBody>
      </p:sp>
      <p:sp>
        <p:nvSpPr>
          <p:cNvPr id="16" name="Rectangle 15">
            <a:extLst>
              <a:ext uri="{FF2B5EF4-FFF2-40B4-BE49-F238E27FC236}">
                <a16:creationId xmlns:a16="http://schemas.microsoft.com/office/drawing/2014/main" id="{AFBA7855-D5F6-4D38-AA34-F920BF21457B}"/>
              </a:ext>
            </a:extLst>
          </p:cNvPr>
          <p:cNvSpPr>
            <a:spLocks noGrp="1"/>
          </p:cNvSpPr>
          <p:nvPr/>
        </p:nvSpPr>
        <p:spPr>
          <a:xfrm>
            <a:off x="3810000" y="2971800"/>
            <a:ext cx="21145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DDE5DD"/>
                </a:solidFill>
                <a:latin typeface="Aptos"/>
                <a:ea typeface="Aptos"/>
                <a:cs typeface="Aptos"/>
              </a:defRPr>
            </a:pPr>
            <a:r>
              <a:rPr sz="825" b="0">
                <a:solidFill>
                  <a:srgbClr val="DDE5DD"/>
                </a:solidFill>
                <a:latin typeface="Aptos"/>
                <a:ea typeface="Aptos"/>
                <a:cs typeface="Aptos"/>
              </a:rPr>
              <a:t>API e servizi applicativi</a:t>
            </a:r>
          </a:p>
        </p:txBody>
      </p:sp>
      <p:sp>
        <p:nvSpPr>
          <p:cNvPr id="17" name="architecture-link-2">
            <a:extLst>
              <a:ext uri="{FF2B5EF4-FFF2-40B4-BE49-F238E27FC236}">
                <a16:creationId xmlns:a16="http://schemas.microsoft.com/office/drawing/2014/main" id="{873EC391-1AD8-4378-8750-0038CF146A90}"/>
              </a:ext>
            </a:extLst>
          </p:cNvPr>
          <p:cNvSpPr>
            <a:spLocks noGrp="1"/>
          </p:cNvSpPr>
          <p:nvPr/>
        </p:nvSpPr>
        <p:spPr>
          <a:xfrm>
            <a:off x="6153150" y="2867025"/>
            <a:ext cx="457200" cy="19050"/>
          </a:xfrm>
          <a:prstGeom prst="rect">
            <a:avLst/>
          </a:prstGeom>
          <a:solidFill>
            <a:srgbClr val="B9D94A"/>
          </a:solidFill>
          <a:ln w="0">
            <a:solidFill>
              <a:srgbClr val="000000">
                <a:alpha val="0"/>
              </a:srgbClr>
            </a:solidFill>
            <a:prstDash val="solid"/>
          </a:ln>
        </p:spPr>
        <p:txBody>
          <a:bodyPr/>
          <a:lstStyle/>
          <a:p>
            <a:endParaRPr lang="en-US"/>
          </a:p>
        </p:txBody>
      </p:sp>
      <p:sp>
        <p:nvSpPr>
          <p:cNvPr id="18" name="architecture-link-2-end">
            <a:extLst>
              <a:ext uri="{FF2B5EF4-FFF2-40B4-BE49-F238E27FC236}">
                <a16:creationId xmlns:a16="http://schemas.microsoft.com/office/drawing/2014/main" id="{CA8AC450-0EE4-4E4C-9339-BD7E91FA03A8}"/>
              </a:ext>
            </a:extLst>
          </p:cNvPr>
          <p:cNvSpPr>
            <a:spLocks noGrp="1"/>
          </p:cNvSpPr>
          <p:nvPr/>
        </p:nvSpPr>
        <p:spPr>
          <a:xfrm>
            <a:off x="6553200" y="2819400"/>
            <a:ext cx="104775" cy="104775"/>
          </a:xfrm>
          <a:prstGeom prst="ellipse">
            <a:avLst/>
          </a:prstGeom>
          <a:solidFill>
            <a:srgbClr val="B9D94A"/>
          </a:solidFill>
          <a:ln w="0">
            <a:solidFill>
              <a:srgbClr val="000000">
                <a:alpha val="0"/>
              </a:srgbClr>
            </a:solidFill>
            <a:prstDash val="solid"/>
          </a:ln>
        </p:spPr>
        <p:txBody>
          <a:bodyPr/>
          <a:lstStyle/>
          <a:p>
            <a:endParaRPr lang="en-US"/>
          </a:p>
        </p:txBody>
      </p:sp>
      <p:sp>
        <p:nvSpPr>
          <p:cNvPr id="19" name="architecture-3">
            <a:extLst>
              <a:ext uri="{FF2B5EF4-FFF2-40B4-BE49-F238E27FC236}">
                <a16:creationId xmlns:a16="http://schemas.microsoft.com/office/drawing/2014/main" id="{53F5F37F-3406-4C21-9C66-D3D751F3FF9A}"/>
              </a:ext>
            </a:extLst>
          </p:cNvPr>
          <p:cNvSpPr>
            <a:spLocks noGrp="1"/>
          </p:cNvSpPr>
          <p:nvPr/>
        </p:nvSpPr>
        <p:spPr>
          <a:xfrm>
            <a:off x="6610350" y="2076450"/>
            <a:ext cx="2571750" cy="1581150"/>
          </a:xfrm>
          <a:prstGeom prst="roundRect">
            <a:avLst>
              <a:gd name="adj" fmla="val 4819"/>
            </a:avLst>
          </a:prstGeom>
          <a:solidFill>
            <a:srgbClr val="1B4A3C"/>
          </a:solidFill>
          <a:ln w="9525">
            <a:solidFill>
              <a:srgbClr val="466D60"/>
            </a:solidFill>
            <a:prstDash val="solid"/>
          </a:ln>
        </p:spPr>
        <p:txBody>
          <a:bodyPr/>
          <a:lstStyle/>
          <a:p>
            <a:endParaRPr lang="en-US"/>
          </a:p>
        </p:txBody>
      </p:sp>
      <p:sp>
        <p:nvSpPr>
          <p:cNvPr id="20" name="Oval 19">
            <a:extLst>
              <a:ext uri="{FF2B5EF4-FFF2-40B4-BE49-F238E27FC236}">
                <a16:creationId xmlns:a16="http://schemas.microsoft.com/office/drawing/2014/main" id="{82042FF9-5560-4F9C-B261-75E6F93CDE17}"/>
              </a:ext>
            </a:extLst>
          </p:cNvPr>
          <p:cNvSpPr>
            <a:spLocks noGrp="1"/>
          </p:cNvSpPr>
          <p:nvPr/>
        </p:nvSpPr>
        <p:spPr>
          <a:xfrm>
            <a:off x="6838950" y="2324100"/>
            <a:ext cx="514350" cy="514350"/>
          </a:xfrm>
          <a:prstGeom prst="ellipse">
            <a:avLst/>
          </a:prstGeom>
          <a:solidFill>
            <a:srgbClr val="2F7D5B"/>
          </a:solidFill>
          <a:ln w="0">
            <a:solidFill>
              <a:srgbClr val="000000">
                <a:alpha val="0"/>
              </a:srgbClr>
            </a:solidFill>
            <a:prstDash val="solid"/>
          </a:ln>
        </p:spPr>
        <p:txBody>
          <a:bodyPr/>
          <a:lstStyle/>
          <a:p>
            <a:endParaRPr lang="en-US"/>
          </a:p>
        </p:txBody>
      </p:sp>
      <p:pic>
        <p:nvPicPr>
          <p:cNvPr id="21" name="Graphic 20"/>
          <p:cNvPicPr>
            <a:picLocks noChangeAspect="1"/>
          </p:cNvPicPr>
          <p:nvPr/>
        </p:nvPicPr>
        <p:blipFill>
          <a:blip>
            <a:extLst>
              <a:ext uri="{96DAC541-7B7A-43D3-8B79-37D633B846F1}">
                <asvg:svgBlip xmlns:asvg="http://schemas.microsoft.com/office/drawing/2016/SVG/main" r:embed="rId5"/>
              </a:ext>
            </a:extLst>
          </a:blip>
          <a:stretch/>
        </p:blipFill>
        <p:spPr>
          <a:xfrm>
            <a:off x="6972300" y="2457450"/>
            <a:ext cx="247650" cy="247650"/>
          </a:xfrm>
          <a:prstGeom prst="rect">
            <a:avLst/>
          </a:prstGeom>
        </p:spPr>
      </p:pic>
      <p:sp>
        <p:nvSpPr>
          <p:cNvPr id="22" name="Rectangle 21">
            <a:extLst>
              <a:ext uri="{FF2B5EF4-FFF2-40B4-BE49-F238E27FC236}">
                <a16:creationId xmlns:a16="http://schemas.microsoft.com/office/drawing/2014/main" id="{27D1EBB0-D37A-4B87-AE20-4C666BE56FA1}"/>
              </a:ext>
            </a:extLst>
          </p:cNvPr>
          <p:cNvSpPr>
            <a:spLocks noGrp="1"/>
          </p:cNvSpPr>
          <p:nvPr/>
        </p:nvSpPr>
        <p:spPr>
          <a:xfrm>
            <a:off x="7524750" y="2247900"/>
            <a:ext cx="14287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FFFFF"/>
                </a:solidFill>
                <a:latin typeface="Georgia"/>
                <a:ea typeface="Georgia"/>
                <a:cs typeface="Georgia"/>
              </a:defRPr>
            </a:pPr>
            <a:r>
              <a:rPr sz="1650" b="1">
                <a:solidFill>
                  <a:srgbClr val="FFFFFF"/>
                </a:solidFill>
                <a:latin typeface="Georgia"/>
                <a:ea typeface="Georgia"/>
                <a:cs typeface="Georgia"/>
              </a:rPr>
              <a:t>Dati + modelli</a:t>
            </a:r>
          </a:p>
        </p:txBody>
      </p:sp>
      <p:sp>
        <p:nvSpPr>
          <p:cNvPr id="23" name="Rectangle 22">
            <a:extLst>
              <a:ext uri="{FF2B5EF4-FFF2-40B4-BE49-F238E27FC236}">
                <a16:creationId xmlns:a16="http://schemas.microsoft.com/office/drawing/2014/main" id="{A5CBB6B7-26AC-4D76-A588-64E83A1074E6}"/>
              </a:ext>
            </a:extLst>
          </p:cNvPr>
          <p:cNvSpPr>
            <a:spLocks noGrp="1"/>
          </p:cNvSpPr>
          <p:nvPr/>
        </p:nvSpPr>
        <p:spPr>
          <a:xfrm>
            <a:off x="6838950" y="2971800"/>
            <a:ext cx="21145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DDE5DD"/>
                </a:solidFill>
                <a:latin typeface="Aptos"/>
                <a:ea typeface="Aptos"/>
                <a:cs typeface="Aptos"/>
              </a:defRPr>
            </a:pPr>
            <a:r>
              <a:rPr sz="825" b="0">
                <a:solidFill>
                  <a:srgbClr val="DDE5DD"/>
                </a:solidFill>
                <a:latin typeface="Aptos"/>
                <a:ea typeface="Aptos"/>
                <a:cs typeface="Aptos"/>
              </a:rPr>
              <a:t>SQLite · immagini · checkpoint</a:t>
            </a:r>
          </a:p>
        </p:txBody>
      </p:sp>
      <p:sp>
        <p:nvSpPr>
          <p:cNvPr id="24" name="pwa-panel">
            <a:extLst>
              <a:ext uri="{FF2B5EF4-FFF2-40B4-BE49-F238E27FC236}">
                <a16:creationId xmlns:a16="http://schemas.microsoft.com/office/drawing/2014/main" id="{08A58744-3361-4B4F-B500-E4846234D488}"/>
              </a:ext>
            </a:extLst>
          </p:cNvPr>
          <p:cNvSpPr>
            <a:spLocks noGrp="1"/>
          </p:cNvSpPr>
          <p:nvPr/>
        </p:nvSpPr>
        <p:spPr>
          <a:xfrm>
            <a:off x="9639300" y="1981200"/>
            <a:ext cx="2000250" cy="1790700"/>
          </a:xfrm>
          <a:prstGeom prst="roundRect">
            <a:avLst>
              <a:gd name="adj" fmla="val 4255"/>
            </a:avLst>
          </a:prstGeom>
          <a:solidFill>
            <a:srgbClr val="B9D94A"/>
          </a:solidFill>
          <a:ln w="0">
            <a:solidFill>
              <a:srgbClr val="000000">
                <a:alpha val="0"/>
              </a:srgbClr>
            </a:solidFill>
            <a:prstDash val="solid"/>
          </a:ln>
        </p:spPr>
        <p:txBody>
          <a:bodyPr/>
          <a:lstStyle/>
          <a:p>
            <a:endParaRPr lang="en-US"/>
          </a:p>
        </p:txBody>
      </p:sp>
      <p:pic>
        <p:nvPicPr>
          <p:cNvPr id="25" name="Graphic 24"/>
          <p:cNvPicPr>
            <a:picLocks noChangeAspect="1"/>
          </p:cNvPicPr>
          <p:nvPr/>
        </p:nvPicPr>
        <p:blipFill>
          <a:blip>
            <a:extLst>
              <a:ext uri="{96DAC541-7B7A-43D3-8B79-37D633B846F1}">
                <asvg:svgBlip xmlns:asvg="http://schemas.microsoft.com/office/drawing/2016/SVG/main" r:embed="rId6"/>
              </a:ext>
            </a:extLst>
          </a:blip>
          <a:stretch/>
        </p:blipFill>
        <p:spPr>
          <a:xfrm>
            <a:off x="10353675" y="2228850"/>
            <a:ext cx="571500" cy="571500"/>
          </a:xfrm>
          <a:prstGeom prst="rect">
            <a:avLst/>
          </a:prstGeom>
        </p:spPr>
      </p:pic>
      <p:sp>
        <p:nvSpPr>
          <p:cNvPr id="26" name="Rectangle 25">
            <a:extLst>
              <a:ext uri="{FF2B5EF4-FFF2-40B4-BE49-F238E27FC236}">
                <a16:creationId xmlns:a16="http://schemas.microsoft.com/office/drawing/2014/main" id="{E3CB12AD-DD53-4BE9-9DA0-C78128C20922}"/>
              </a:ext>
            </a:extLst>
          </p:cNvPr>
          <p:cNvSpPr>
            <a:spLocks noGrp="1"/>
          </p:cNvSpPr>
          <p:nvPr/>
        </p:nvSpPr>
        <p:spPr>
          <a:xfrm>
            <a:off x="9886950" y="2933700"/>
            <a:ext cx="1504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123C31"/>
                </a:solidFill>
                <a:latin typeface="Georgia"/>
                <a:ea typeface="Georgia"/>
                <a:cs typeface="Georgia"/>
              </a:defRPr>
            </a:pPr>
            <a:r>
              <a:rPr sz="1875" b="1">
                <a:solidFill>
                  <a:srgbClr val="123C31"/>
                </a:solidFill>
                <a:latin typeface="Georgia"/>
                <a:ea typeface="Georgia"/>
                <a:cs typeface="Georgia"/>
              </a:rPr>
              <a:t>PWA</a:t>
            </a:r>
          </a:p>
        </p:txBody>
      </p:sp>
      <p:sp>
        <p:nvSpPr>
          <p:cNvPr id="27" name="Rectangle 26">
            <a:extLst>
              <a:ext uri="{FF2B5EF4-FFF2-40B4-BE49-F238E27FC236}">
                <a16:creationId xmlns:a16="http://schemas.microsoft.com/office/drawing/2014/main" id="{D22FCE21-313F-453D-83C8-D85AA7ABA377}"/>
              </a:ext>
            </a:extLst>
          </p:cNvPr>
          <p:cNvSpPr>
            <a:spLocks noGrp="1"/>
          </p:cNvSpPr>
          <p:nvPr/>
        </p:nvSpPr>
        <p:spPr>
          <a:xfrm>
            <a:off x="9886950" y="3333750"/>
            <a:ext cx="15049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0">
                <a:solidFill>
                  <a:srgbClr val="123C31"/>
                </a:solidFill>
                <a:latin typeface="Aptos"/>
                <a:ea typeface="Aptos"/>
                <a:cs typeface="Aptos"/>
              </a:defRPr>
            </a:pPr>
            <a:r>
              <a:rPr sz="788" b="0">
                <a:solidFill>
                  <a:srgbClr val="123C31"/>
                </a:solidFill>
                <a:latin typeface="Aptos"/>
                <a:ea typeface="Aptos"/>
                <a:cs typeface="Aptos"/>
              </a:rPr>
              <a:t>installabile da browser</a:t>
            </a:r>
          </a:p>
        </p:txBody>
      </p:sp>
      <p:sp>
        <p:nvSpPr>
          <p:cNvPr id="28" name="closing-thesis">
            <a:extLst>
              <a:ext uri="{FF2B5EF4-FFF2-40B4-BE49-F238E27FC236}">
                <a16:creationId xmlns:a16="http://schemas.microsoft.com/office/drawing/2014/main" id="{838A0FF7-F352-44F8-9A8C-54B219F23506}"/>
              </a:ext>
            </a:extLst>
          </p:cNvPr>
          <p:cNvSpPr>
            <a:spLocks noGrp="1"/>
          </p:cNvSpPr>
          <p:nvPr/>
        </p:nvSpPr>
        <p:spPr>
          <a:xfrm>
            <a:off x="552450" y="4286250"/>
            <a:ext cx="11087100" cy="1352550"/>
          </a:xfrm>
          <a:prstGeom prst="roundRect">
            <a:avLst>
              <a:gd name="adj" fmla="val 5634"/>
            </a:avLst>
          </a:prstGeom>
          <a:solidFill>
            <a:srgbClr val="F4F0E7"/>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B994E793-02A3-4A5E-B1E4-75FE90E58D51}"/>
              </a:ext>
            </a:extLst>
          </p:cNvPr>
          <p:cNvSpPr>
            <a:spLocks noGrp="1"/>
          </p:cNvSpPr>
          <p:nvPr/>
        </p:nvSpPr>
        <p:spPr>
          <a:xfrm>
            <a:off x="895350" y="4552950"/>
            <a:ext cx="104013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175" b="1">
                <a:solidFill>
                  <a:srgbClr val="123C31"/>
                </a:solidFill>
                <a:latin typeface="Georgia"/>
                <a:ea typeface="Georgia"/>
                <a:cs typeface="Georgia"/>
              </a:defRPr>
            </a:pPr>
            <a:r>
              <a:rPr sz="2175" b="1">
                <a:solidFill>
                  <a:srgbClr val="123C31"/>
                </a:solidFill>
                <a:latin typeface="Georgia"/>
                <a:ea typeface="Georgia"/>
                <a:cs typeface="Georgia"/>
              </a:rPr>
              <a:t>Usare l’AI dove riduce davvero l’incertezza.</a:t>
            </a:r>
          </a:p>
        </p:txBody>
      </p:sp>
      <p:sp>
        <p:nvSpPr>
          <p:cNvPr id="30" name="Rectangle 29">
            <a:extLst>
              <a:ext uri="{FF2B5EF4-FFF2-40B4-BE49-F238E27FC236}">
                <a16:creationId xmlns:a16="http://schemas.microsoft.com/office/drawing/2014/main" id="{D6D026F8-A5FC-49D6-9560-6B1CCFA31F5C}"/>
              </a:ext>
            </a:extLst>
          </p:cNvPr>
          <p:cNvSpPr>
            <a:spLocks noGrp="1"/>
          </p:cNvSpPr>
          <p:nvPr/>
        </p:nvSpPr>
        <p:spPr>
          <a:xfrm>
            <a:off x="895350" y="5029200"/>
            <a:ext cx="104013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D56E42"/>
                </a:solidFill>
                <a:latin typeface="Georgia"/>
                <a:ea typeface="Georgia"/>
                <a:cs typeface="Georgia"/>
              </a:defRPr>
            </a:pPr>
            <a:r>
              <a:rPr sz="1800" b="1">
                <a:solidFill>
                  <a:srgbClr val="D56E42"/>
                </a:solidFill>
                <a:latin typeface="Georgia"/>
                <a:ea typeface="Georgia"/>
                <a:cs typeface="Georgia"/>
              </a:rPr>
              <a:t>Mantenere spiegabile tutto il resto.</a:t>
            </a:r>
          </a:p>
        </p:txBody>
      </p:sp>
      <p:sp>
        <p:nvSpPr>
          <p:cNvPr id="31" name="Rectangle 30">
            <a:extLst>
              <a:ext uri="{FF2B5EF4-FFF2-40B4-BE49-F238E27FC236}">
                <a16:creationId xmlns:a16="http://schemas.microsoft.com/office/drawing/2014/main" id="{58FFF625-2167-43A4-B1DF-9C0B96B1F678}"/>
              </a:ext>
            </a:extLst>
          </p:cNvPr>
          <p:cNvSpPr>
            <a:spLocks noGrp="1"/>
          </p:cNvSpPr>
          <p:nvPr/>
        </p:nvSpPr>
        <p:spPr>
          <a:xfrm>
            <a:off x="552450" y="5962650"/>
            <a:ext cx="11087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0">
                <a:solidFill>
                  <a:srgbClr val="DDE5DD"/>
                </a:solidFill>
                <a:latin typeface="Aptos"/>
                <a:ea typeface="Aptos"/>
                <a:cs typeface="Aptos"/>
              </a:defRPr>
            </a:pPr>
            <a:r>
              <a:rPr sz="788" b="0">
                <a:solidFill>
                  <a:srgbClr val="DDE5DD"/>
                </a:solidFill>
                <a:latin typeface="Aptos"/>
                <a:ea typeface="Aptos"/>
                <a:cs typeface="Aptos"/>
              </a:rPr>
              <a:t>Per produzione: autenticazione, storage cloud, privacy, monitoraggio e validazione su dati reali.</a:t>
            </a:r>
          </a:p>
        </p:txBody>
      </p:sp>
      <p:sp>
        <p:nvSpPr>
          <p:cNvPr id="32" name="footer-rule">
            <a:extLst>
              <a:ext uri="{FF2B5EF4-FFF2-40B4-BE49-F238E27FC236}">
                <a16:creationId xmlns:a16="http://schemas.microsoft.com/office/drawing/2014/main" id="{E1FF9DBD-55E4-44DD-9090-38F4CF4060A2}"/>
              </a:ext>
            </a:extLst>
          </p:cNvPr>
          <p:cNvSpPr>
            <a:spLocks noGrp="1"/>
          </p:cNvSpPr>
          <p:nvPr/>
        </p:nvSpPr>
        <p:spPr>
          <a:xfrm>
            <a:off x="552450" y="6457950"/>
            <a:ext cx="11087100" cy="9525"/>
          </a:xfrm>
          <a:prstGeom prst="rect">
            <a:avLst/>
          </a:prstGeom>
          <a:solidFill>
            <a:srgbClr val="3F685A"/>
          </a:solidFill>
          <a:ln w="0">
            <a:solidFill>
              <a:srgbClr val="000000">
                <a:alpha val="0"/>
              </a:srgbClr>
            </a:solidFill>
            <a:prstDash val="solid"/>
          </a:ln>
        </p:spPr>
        <p:txBody>
          <a:bodyPr/>
          <a:lstStyle/>
          <a:p>
            <a:endParaRPr lang="en-US"/>
          </a:p>
        </p:txBody>
      </p:sp>
      <p:sp>
        <p:nvSpPr>
          <p:cNvPr id="33" name="footer-source">
            <a:extLst>
              <a:ext uri="{FF2B5EF4-FFF2-40B4-BE49-F238E27FC236}">
                <a16:creationId xmlns:a16="http://schemas.microsoft.com/office/drawing/2014/main" id="{9D18ACA1-7412-405D-8A12-85721CBE64CE}"/>
              </a:ext>
            </a:extLst>
          </p:cNvPr>
          <p:cNvSpPr>
            <a:spLocks noGrp="1"/>
          </p:cNvSpPr>
          <p:nvPr/>
        </p:nvSpPr>
        <p:spPr>
          <a:xfrm>
            <a:off x="552450" y="6534150"/>
            <a:ext cx="10001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8FA99E"/>
                </a:solidFill>
                <a:latin typeface="Aptos"/>
                <a:ea typeface="Aptos"/>
                <a:cs typeface="Aptos"/>
              </a:defRPr>
            </a:pPr>
            <a:r>
              <a:rPr sz="563" b="0">
                <a:solidFill>
                  <a:srgbClr val="8FA99E"/>
                </a:solidFill>
                <a:latin typeface="Aptos"/>
                <a:ea typeface="Aptos"/>
                <a:cs typeface="Aptos"/>
              </a:rPr>
              <a:t>ClosetAI · dal possesso consapevole a decisioni più sostenibili</a:t>
            </a:r>
          </a:p>
        </p:txBody>
      </p:sp>
      <p:sp>
        <p:nvSpPr>
          <p:cNvPr id="34" name="page-marker">
            <a:extLst>
              <a:ext uri="{FF2B5EF4-FFF2-40B4-BE49-F238E27FC236}">
                <a16:creationId xmlns:a16="http://schemas.microsoft.com/office/drawing/2014/main" id="{F2FEAE14-88A2-4651-A07F-762727D4E769}"/>
              </a:ext>
            </a:extLst>
          </p:cNvPr>
          <p:cNvSpPr>
            <a:spLocks noGrp="1"/>
          </p:cNvSpPr>
          <p:nvPr/>
        </p:nvSpPr>
        <p:spPr>
          <a:xfrm>
            <a:off x="11087100" y="6505575"/>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8FA99E"/>
                </a:solidFill>
                <a:latin typeface="Georgia"/>
                <a:ea typeface="Georgia"/>
                <a:cs typeface="Georgia"/>
              </a:defRPr>
            </a:pPr>
            <a:r>
              <a:rPr sz="750" b="1">
                <a:solidFill>
                  <a:srgbClr val="8FA99E"/>
                </a:solidFill>
                <a:latin typeface="Georgia"/>
                <a:ea typeface="Georgia"/>
                <a:cs typeface="Georgia"/>
              </a:rPr>
              <a:t>14</a:t>
            </a:r>
          </a:p>
        </p:txBody>
      </p:sp>
    </p:spTree>
    <p:extLst>
      <p:ext uri="{BB962C8B-B14F-4D97-AF65-F5344CB8AC3E}">
        <p14:creationId xmlns:p14="http://schemas.microsoft.com/office/powerpoint/2010/main" val="330817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447C9-F5E3-C0DA-B573-F0FBDB116EBA}"/>
            </a:ext>
          </a:extLst>
        </p:cNvPr>
        <p:cNvGrpSpPr/>
        <p:nvPr/>
      </p:nvGrpSpPr>
      <p:grpSpPr>
        <a:xfrm>
          <a:off x="0" y="0"/>
          <a:ext cx="0" cy="0"/>
          <a:chOff x="0" y="0"/>
          <a:chExt cx="0" cy="0"/>
        </a:xfrm>
      </p:grpSpPr>
      <p:sp>
        <p:nvSpPr>
          <p:cNvPr id="43" name="background">
            <a:extLst>
              <a:ext uri="{FF2B5EF4-FFF2-40B4-BE49-F238E27FC236}">
                <a16:creationId xmlns:a16="http://schemas.microsoft.com/office/drawing/2014/main" id="{84CF46E3-EB26-F3F2-FA1D-FC25F4198B35}"/>
              </a:ext>
            </a:extLst>
          </p:cNvPr>
          <p:cNvSpPr>
            <a:spLocks noGrp="1"/>
          </p:cNvSpPr>
          <p:nvPr/>
        </p:nvSpPr>
        <p:spPr>
          <a:xfrm>
            <a:off x="0" y="4762"/>
            <a:ext cx="12192000" cy="6858000"/>
          </a:xfrm>
          <a:prstGeom prst="rect">
            <a:avLst/>
          </a:prstGeom>
          <a:solidFill>
            <a:srgbClr val="123C31"/>
          </a:solidFill>
          <a:ln w="0">
            <a:solidFill>
              <a:srgbClr val="000000">
                <a:alpha val="0"/>
              </a:srgbClr>
            </a:solidFill>
            <a:prstDash val="solid"/>
          </a:ln>
        </p:spPr>
        <p:txBody>
          <a:bodyPr/>
          <a:lstStyle/>
          <a:p>
            <a:endParaRPr lang="en-US"/>
          </a:p>
        </p:txBody>
      </p:sp>
      <p:sp>
        <p:nvSpPr>
          <p:cNvPr id="2" name="kicker-marker">
            <a:extLst>
              <a:ext uri="{FF2B5EF4-FFF2-40B4-BE49-F238E27FC236}">
                <a16:creationId xmlns:a16="http://schemas.microsoft.com/office/drawing/2014/main" id="{40BFE5D4-7BDE-A1F4-4492-742583F13979}"/>
              </a:ext>
            </a:extLst>
          </p:cNvPr>
          <p:cNvSpPr>
            <a:spLocks noGrp="1"/>
          </p:cNvSpPr>
          <p:nvPr/>
        </p:nvSpPr>
        <p:spPr>
          <a:xfrm>
            <a:off x="552450" y="400050"/>
            <a:ext cx="95250" cy="95250"/>
          </a:xfrm>
          <a:prstGeom prst="ellipse">
            <a:avLst/>
          </a:prstGeom>
          <a:solidFill>
            <a:srgbClr val="B9D94A"/>
          </a:solidFill>
          <a:ln w="0">
            <a:solidFill>
              <a:srgbClr val="000000">
                <a:alpha val="0"/>
              </a:srgbClr>
            </a:solidFill>
            <a:prstDash val="solid"/>
          </a:ln>
        </p:spPr>
        <p:txBody>
          <a:bodyPr/>
          <a:lstStyle/>
          <a:p>
            <a:endParaRPr lang="en-US"/>
          </a:p>
        </p:txBody>
      </p:sp>
      <p:sp>
        <p:nvSpPr>
          <p:cNvPr id="3" name="kicker-label">
            <a:extLst>
              <a:ext uri="{FF2B5EF4-FFF2-40B4-BE49-F238E27FC236}">
                <a16:creationId xmlns:a16="http://schemas.microsoft.com/office/drawing/2014/main" id="{1E622F92-0D06-5BB6-3682-B0BA11D1EB65}"/>
              </a:ext>
            </a:extLst>
          </p:cNvPr>
          <p:cNvSpPr>
            <a:spLocks noGrp="1"/>
          </p:cNvSpPr>
          <p:nvPr/>
        </p:nvSpPr>
        <p:spPr>
          <a:xfrm>
            <a:off x="762000" y="361950"/>
            <a:ext cx="571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1">
                <a:solidFill>
                  <a:srgbClr val="DDE5DD"/>
                </a:solidFill>
                <a:latin typeface="Aptos"/>
                <a:ea typeface="Aptos"/>
                <a:cs typeface="Aptos"/>
              </a:defRPr>
            </a:pPr>
            <a:r>
              <a:rPr sz="675" b="1">
                <a:solidFill>
                  <a:srgbClr val="DDE5DD"/>
                </a:solidFill>
                <a:latin typeface="Aptos"/>
                <a:ea typeface="Aptos"/>
                <a:cs typeface="Aptos"/>
              </a:rPr>
              <a:t>U S E R   S T O R Y   ·   7 .   A L L U N G A R E   L A   V I T A</a:t>
            </a:r>
          </a:p>
        </p:txBody>
      </p:sp>
      <p:sp>
        <p:nvSpPr>
          <p:cNvPr id="4" name="claim-title">
            <a:extLst>
              <a:ext uri="{FF2B5EF4-FFF2-40B4-BE49-F238E27FC236}">
                <a16:creationId xmlns:a16="http://schemas.microsoft.com/office/drawing/2014/main" id="{F8A1365C-BB13-3DD8-3C39-97C5643A42A2}"/>
              </a:ext>
            </a:extLst>
          </p:cNvPr>
          <p:cNvSpPr>
            <a:spLocks noGrp="1"/>
          </p:cNvSpPr>
          <p:nvPr/>
        </p:nvSpPr>
        <p:spPr>
          <a:xfrm>
            <a:off x="552450" y="723900"/>
            <a:ext cx="10287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075" b="1">
                <a:solidFill>
                  <a:srgbClr val="FFFFFF"/>
                </a:solidFill>
                <a:latin typeface="Georgia"/>
                <a:ea typeface="Georgia"/>
                <a:cs typeface="Georgia"/>
              </a:defRPr>
            </a:pPr>
            <a:r>
              <a:rPr lang="it-IT" sz="3075" b="1" dirty="0">
                <a:solidFill>
                  <a:srgbClr val="FFFFFF"/>
                </a:solidFill>
                <a:latin typeface="Georgia"/>
                <a:ea typeface="Georgia"/>
                <a:cs typeface="Georgia"/>
              </a:rPr>
              <a:t>Grazie </a:t>
            </a:r>
            <a:r>
              <a:rPr lang="it-IT" sz="3075" b="1" dirty="0" err="1">
                <a:solidFill>
                  <a:srgbClr val="FFFFFF"/>
                </a:solidFill>
                <a:latin typeface="Georgia"/>
                <a:ea typeface="Georgia"/>
                <a:cs typeface="Georgia"/>
              </a:rPr>
              <a:t>etc</a:t>
            </a:r>
            <a:r>
              <a:rPr lang="it-IT" sz="3075" b="1" dirty="0">
                <a:solidFill>
                  <a:srgbClr val="FFFFFF"/>
                </a:solidFill>
                <a:latin typeface="Georgia"/>
                <a:ea typeface="Georgia"/>
                <a:cs typeface="Georgia"/>
              </a:rPr>
              <a:t> </a:t>
            </a:r>
            <a:r>
              <a:rPr lang="it-IT" sz="3075" b="1" dirty="0" err="1">
                <a:solidFill>
                  <a:srgbClr val="FFFFFF"/>
                </a:solidFill>
                <a:latin typeface="Georgia"/>
                <a:ea typeface="Georgia"/>
                <a:cs typeface="Georgia"/>
              </a:rPr>
              <a:t>etc</a:t>
            </a:r>
            <a:endParaRPr sz="3075" b="1" dirty="0">
              <a:solidFill>
                <a:srgbClr val="FFFFFF"/>
              </a:solidFill>
              <a:latin typeface="Georgia"/>
              <a:ea typeface="Georgia"/>
              <a:cs typeface="Georgia"/>
            </a:endParaRPr>
          </a:p>
        </p:txBody>
      </p:sp>
      <p:sp>
        <p:nvSpPr>
          <p:cNvPr id="31" name="Rectangle 30">
            <a:extLst>
              <a:ext uri="{FF2B5EF4-FFF2-40B4-BE49-F238E27FC236}">
                <a16:creationId xmlns:a16="http://schemas.microsoft.com/office/drawing/2014/main" id="{22664A44-5B88-1930-5529-8D7290F4A79B}"/>
              </a:ext>
            </a:extLst>
          </p:cNvPr>
          <p:cNvSpPr>
            <a:spLocks noGrp="1"/>
          </p:cNvSpPr>
          <p:nvPr/>
        </p:nvSpPr>
        <p:spPr>
          <a:xfrm>
            <a:off x="7353300" y="2971800"/>
            <a:ext cx="1200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23C31"/>
                </a:solidFill>
                <a:latin typeface="Georgia"/>
                <a:ea typeface="Georgia"/>
                <a:cs typeface="Georgia"/>
              </a:defRPr>
            </a:pPr>
            <a:r>
              <a:rPr sz="1350" b="1">
                <a:solidFill>
                  <a:srgbClr val="123C31"/>
                </a:solidFill>
                <a:latin typeface="Georgia"/>
                <a:ea typeface="Georgia"/>
                <a:cs typeface="Georgia"/>
              </a:rPr>
              <a:t>media della</a:t>
            </a:r>
          </a:p>
          <a:p>
            <a:pPr algn="ctr">
              <a:defRPr sz="1350" b="1">
                <a:solidFill>
                  <a:srgbClr val="123C31"/>
                </a:solidFill>
                <a:latin typeface="Georgia"/>
                <a:ea typeface="Georgia"/>
                <a:cs typeface="Georgia"/>
              </a:defRPr>
            </a:pPr>
            <a:r>
              <a:rPr sz="1350" b="1">
                <a:solidFill>
                  <a:srgbClr val="123C31"/>
                </a:solidFill>
                <a:latin typeface="Georgia"/>
                <a:ea typeface="Georgia"/>
                <a:cs typeface="Georgia"/>
              </a:rPr>
              <a:t>categoria</a:t>
            </a:r>
          </a:p>
        </p:txBody>
      </p:sp>
      <p:sp>
        <p:nvSpPr>
          <p:cNvPr id="32" name="Rectangle 31">
            <a:extLst>
              <a:ext uri="{FF2B5EF4-FFF2-40B4-BE49-F238E27FC236}">
                <a16:creationId xmlns:a16="http://schemas.microsoft.com/office/drawing/2014/main" id="{51EF011C-640A-49F5-9511-F10B88640297}"/>
              </a:ext>
            </a:extLst>
          </p:cNvPr>
          <p:cNvSpPr>
            <a:spLocks noGrp="1"/>
          </p:cNvSpPr>
          <p:nvPr/>
        </p:nvSpPr>
        <p:spPr>
          <a:xfrm>
            <a:off x="8724900" y="3086100"/>
            <a:ext cx="361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250" b="1">
                <a:solidFill>
                  <a:srgbClr val="D56E42"/>
                </a:solidFill>
                <a:latin typeface="Georgia"/>
                <a:ea typeface="Georgia"/>
                <a:cs typeface="Georgia"/>
              </a:defRPr>
            </a:pPr>
            <a:endParaRPr sz="2250" b="1" dirty="0">
              <a:solidFill>
                <a:srgbClr val="D56E42"/>
              </a:solidFill>
              <a:latin typeface="Georgia"/>
              <a:ea typeface="Georgia"/>
              <a:cs typeface="Georgia"/>
            </a:endParaRPr>
          </a:p>
        </p:txBody>
      </p:sp>
      <p:sp>
        <p:nvSpPr>
          <p:cNvPr id="33" name="Rectangle 32">
            <a:extLst>
              <a:ext uri="{FF2B5EF4-FFF2-40B4-BE49-F238E27FC236}">
                <a16:creationId xmlns:a16="http://schemas.microsoft.com/office/drawing/2014/main" id="{9C5D3D35-B828-6767-018F-6BA0D26DDFBB}"/>
              </a:ext>
            </a:extLst>
          </p:cNvPr>
          <p:cNvSpPr>
            <a:spLocks noGrp="1"/>
          </p:cNvSpPr>
          <p:nvPr/>
        </p:nvSpPr>
        <p:spPr>
          <a:xfrm>
            <a:off x="9258300" y="2971800"/>
            <a:ext cx="1200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23C31"/>
                </a:solidFill>
                <a:latin typeface="Georgia"/>
                <a:ea typeface="Georgia"/>
                <a:cs typeface="Georgia"/>
              </a:defRPr>
            </a:pPr>
            <a:r>
              <a:rPr sz="1350" b="1">
                <a:solidFill>
                  <a:srgbClr val="123C31"/>
                </a:solidFill>
                <a:latin typeface="Georgia"/>
                <a:ea typeface="Georgia"/>
                <a:cs typeface="Georgia"/>
              </a:rPr>
              <a:t>fattore</a:t>
            </a:r>
          </a:p>
          <a:p>
            <a:pPr algn="ctr">
              <a:defRPr sz="1350" b="1">
                <a:solidFill>
                  <a:srgbClr val="123C31"/>
                </a:solidFill>
                <a:latin typeface="Georgia"/>
                <a:ea typeface="Georgia"/>
                <a:cs typeface="Georgia"/>
              </a:defRPr>
            </a:pPr>
            <a:r>
              <a:rPr sz="1350" b="1">
                <a:solidFill>
                  <a:srgbClr val="123C31"/>
                </a:solidFill>
                <a:latin typeface="Georgia"/>
                <a:ea typeface="Georgia"/>
                <a:cs typeface="Georgia"/>
              </a:rPr>
              <a:t>dell’azione</a:t>
            </a:r>
          </a:p>
        </p:txBody>
      </p:sp>
      <p:sp>
        <p:nvSpPr>
          <p:cNvPr id="34" name="Rectangle 33">
            <a:extLst>
              <a:ext uri="{FF2B5EF4-FFF2-40B4-BE49-F238E27FC236}">
                <a16:creationId xmlns:a16="http://schemas.microsoft.com/office/drawing/2014/main" id="{D3B9DF1F-AE68-EB2E-62F5-E5697948A356}"/>
              </a:ext>
            </a:extLst>
          </p:cNvPr>
          <p:cNvSpPr>
            <a:spLocks noGrp="1"/>
          </p:cNvSpPr>
          <p:nvPr/>
        </p:nvSpPr>
        <p:spPr>
          <a:xfrm>
            <a:off x="10572750" y="3086100"/>
            <a:ext cx="361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025" b="1">
                <a:solidFill>
                  <a:srgbClr val="65736B"/>
                </a:solidFill>
                <a:latin typeface="Georgia"/>
                <a:ea typeface="Georgia"/>
                <a:cs typeface="Georgia"/>
              </a:defRPr>
            </a:pPr>
            <a:endParaRPr sz="2025" b="1" dirty="0">
              <a:solidFill>
                <a:srgbClr val="65736B"/>
              </a:solidFill>
              <a:latin typeface="Georgia"/>
              <a:ea typeface="Georgia"/>
              <a:cs typeface="Georgia"/>
            </a:endParaRPr>
          </a:p>
        </p:txBody>
      </p:sp>
      <p:sp>
        <p:nvSpPr>
          <p:cNvPr id="40" name="footer-rule">
            <a:extLst>
              <a:ext uri="{FF2B5EF4-FFF2-40B4-BE49-F238E27FC236}">
                <a16:creationId xmlns:a16="http://schemas.microsoft.com/office/drawing/2014/main" id="{F0D75807-F1A8-6664-76AB-37C3F5C69ED4}"/>
              </a:ext>
            </a:extLst>
          </p:cNvPr>
          <p:cNvSpPr>
            <a:spLocks noGrp="1"/>
          </p:cNvSpPr>
          <p:nvPr/>
        </p:nvSpPr>
        <p:spPr>
          <a:xfrm>
            <a:off x="552450" y="6457950"/>
            <a:ext cx="11087100" cy="9525"/>
          </a:xfrm>
          <a:prstGeom prst="rect">
            <a:avLst/>
          </a:prstGeom>
          <a:solidFill>
            <a:srgbClr val="3F685A"/>
          </a:solidFill>
          <a:ln w="0">
            <a:solidFill>
              <a:srgbClr val="000000">
                <a:alpha val="0"/>
              </a:srgbClr>
            </a:solidFill>
            <a:prstDash val="solid"/>
          </a:ln>
        </p:spPr>
        <p:txBody>
          <a:bodyPr/>
          <a:lstStyle/>
          <a:p>
            <a:endParaRPr lang="en-US"/>
          </a:p>
        </p:txBody>
      </p:sp>
      <p:sp>
        <p:nvSpPr>
          <p:cNvPr id="41" name="footer-source">
            <a:extLst>
              <a:ext uri="{FF2B5EF4-FFF2-40B4-BE49-F238E27FC236}">
                <a16:creationId xmlns:a16="http://schemas.microsoft.com/office/drawing/2014/main" id="{9E8D246E-EF37-1F7F-74D6-FFD7F79C3494}"/>
              </a:ext>
            </a:extLst>
          </p:cNvPr>
          <p:cNvSpPr>
            <a:spLocks noGrp="1"/>
          </p:cNvSpPr>
          <p:nvPr/>
        </p:nvSpPr>
        <p:spPr>
          <a:xfrm>
            <a:off x="552450" y="6534150"/>
            <a:ext cx="100012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8FA99E"/>
                </a:solidFill>
                <a:latin typeface="Aptos"/>
                <a:ea typeface="Aptos"/>
                <a:cs typeface="Aptos"/>
              </a:defRPr>
            </a:pPr>
            <a:r>
              <a:rPr sz="563" b="0">
                <a:solidFill>
                  <a:srgbClr val="8FA99E"/>
                </a:solidFill>
                <a:latin typeface="Aptos"/>
                <a:ea typeface="Aptos"/>
                <a:cs typeface="Aptos"/>
              </a:rPr>
              <a:t>Azioni: riparazione · vendita · donazione · riciclo · stima CO₂eq di scenario</a:t>
            </a:r>
          </a:p>
        </p:txBody>
      </p:sp>
      <p:sp>
        <p:nvSpPr>
          <p:cNvPr id="42" name="page-marker">
            <a:extLst>
              <a:ext uri="{FF2B5EF4-FFF2-40B4-BE49-F238E27FC236}">
                <a16:creationId xmlns:a16="http://schemas.microsoft.com/office/drawing/2014/main" id="{576871AF-8A55-FE0F-1BC5-051124905F73}"/>
              </a:ext>
            </a:extLst>
          </p:cNvPr>
          <p:cNvSpPr>
            <a:spLocks noGrp="1"/>
          </p:cNvSpPr>
          <p:nvPr/>
        </p:nvSpPr>
        <p:spPr>
          <a:xfrm>
            <a:off x="11087100" y="6505575"/>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8FA99E"/>
                </a:solidFill>
                <a:latin typeface="Georgia"/>
                <a:ea typeface="Georgia"/>
                <a:cs typeface="Georgia"/>
              </a:defRPr>
            </a:pPr>
            <a:r>
              <a:rPr sz="750" b="1">
                <a:solidFill>
                  <a:srgbClr val="8FA99E"/>
                </a:solidFill>
                <a:latin typeface="Georgia"/>
                <a:ea typeface="Georgia"/>
                <a:cs typeface="Georgia"/>
              </a:rPr>
              <a:t>09</a:t>
            </a:r>
          </a:p>
        </p:txBody>
      </p:sp>
    </p:spTree>
    <p:extLst>
      <p:ext uri="{BB962C8B-B14F-4D97-AF65-F5344CB8AC3E}">
        <p14:creationId xmlns:p14="http://schemas.microsoft.com/office/powerpoint/2010/main" val="26920345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3915</Words>
  <Application>Microsoft Office PowerPoint</Application>
  <DocSecurity>0</DocSecurity>
  <PresentationFormat>Widescreen</PresentationFormat>
  <Paragraphs>312</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Calibri</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ClosetAI — Storia utente e scelte tecniche</dc:title>
  <dc:subject>Presentazione ufficiale su uso, cura, impatto e AI del guardaroba</dc:subject>
  <dc:creator>Walnut Exporter</dc:creator>
  <dc:description>Include 14 note orali in italiano, una per ogni slide.</dc:description>
  <cp:lastModifiedBy>MARCO DI BENEDETTO</cp:lastModifiedBy>
  <cp:revision>1</cp:revision>
  <dcterms:created xsi:type="dcterms:W3CDTF">2026-07-14T08:48:51Z</dcterms:created>
  <dcterms:modified xsi:type="dcterms:W3CDTF">2026-07-14T15:19:13Z</dcterms:modified>
</cp:coreProperties>
</file>